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61cce4b977346a7" Type="http://schemas.openxmlformats.org/package/2006/relationships/metadata/core-properties" Target="docProps/core.xml"/><Relationship Id="R9d29c09291304205" Type="http://schemas.openxmlformats.org/officeDocument/2006/relationships/officeDocument" Target="ppt/presentation.xml"/><Relationship Id="Rf4aee0b412c84c3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b33125bccc4153"/>
  </p:sldMasterIdLst>
  <p:notesMasterIdLst>
    <p:notesMasterId xmlns:r="http://schemas.openxmlformats.org/officeDocument/2006/relationships" r:id="Raaf45a8d1e8a4247"/>
  </p:notesMasterIdLst>
  <p:sldIdLst>
    <p:sldId xmlns:r="http://schemas.openxmlformats.org/officeDocument/2006/relationships" id="256" r:id="R1552a9d30d894601"/>
    <p:sldId xmlns:r="http://schemas.openxmlformats.org/officeDocument/2006/relationships" id="257" r:id="R88cf0ffc40644592"/>
    <p:sldId xmlns:r="http://schemas.openxmlformats.org/officeDocument/2006/relationships" id="258" r:id="R2e3acff76d2a4649"/>
    <p:sldId xmlns:r="http://schemas.openxmlformats.org/officeDocument/2006/relationships" id="259" r:id="R1953db77ebab4cc0"/>
    <p:sldId xmlns:r="http://schemas.openxmlformats.org/officeDocument/2006/relationships" id="260" r:id="R89915c8df1264054"/>
    <p:sldId xmlns:r="http://schemas.openxmlformats.org/officeDocument/2006/relationships" id="261" r:id="Rfdd1578d66fb43bd"/>
    <p:sldId xmlns:r="http://schemas.openxmlformats.org/officeDocument/2006/relationships" id="262" r:id="R5e8e6b76744049a6"/>
    <p:sldId xmlns:r="http://schemas.openxmlformats.org/officeDocument/2006/relationships" id="263" r:id="Rf594fc9cd60d45cd"/>
    <p:sldId xmlns:r="http://schemas.openxmlformats.org/officeDocument/2006/relationships" id="264" r:id="Rf9f3b73a294d4de7"/>
    <p:sldId xmlns:r="http://schemas.openxmlformats.org/officeDocument/2006/relationships" id="265" r:id="Ra3bb7fc128554ef3"/>
    <p:sldId xmlns:r="http://schemas.openxmlformats.org/officeDocument/2006/relationships" id="266" r:id="R7ebba8f029f74636"/>
    <p:sldId xmlns:r="http://schemas.openxmlformats.org/officeDocument/2006/relationships" id="267" r:id="R2fa390fbd7934b34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552a9d30d894601" Type="http://schemas.openxmlformats.org/officeDocument/2006/relationships/slide" Target="slides/slide1.xml"/><Relationship Id="R1953db77ebab4cc0" Type="http://schemas.openxmlformats.org/officeDocument/2006/relationships/slide" Target="slides/slide4.xml"/><Relationship Id="R2e3acff76d2a4649" Type="http://schemas.openxmlformats.org/officeDocument/2006/relationships/slide" Target="slides/slide3.xml"/><Relationship Id="R2fa390fbd7934b34" Type="http://schemas.openxmlformats.org/officeDocument/2006/relationships/slide" Target="slides/slide12.xml"/><Relationship Id="R54540036610c4a77" Type="http://schemas.openxmlformats.org/officeDocument/2006/relationships/viewProps" Target="viewProps.xml"/><Relationship Id="R5e8e6b76744049a6" Type="http://schemas.openxmlformats.org/officeDocument/2006/relationships/slide" Target="slides/slide7.xml"/><Relationship Id="R62ad21f748bd418f" Type="http://schemas.openxmlformats.org/officeDocument/2006/relationships/theme" Target="theme/theme1.xml"/><Relationship Id="R7ebba8f029f74636" Type="http://schemas.openxmlformats.org/officeDocument/2006/relationships/slide" Target="slides/slide11.xml"/><Relationship Id="R82b33125bccc4153" Type="http://schemas.openxmlformats.org/officeDocument/2006/relationships/slideMaster" Target="slideMasters/slideMaster1.xml"/><Relationship Id="R88cf0ffc40644592" Type="http://schemas.openxmlformats.org/officeDocument/2006/relationships/slide" Target="slides/slide2.xml"/><Relationship Id="R89915c8df1264054" Type="http://schemas.openxmlformats.org/officeDocument/2006/relationships/slide" Target="slides/slide5.xml"/><Relationship Id="R9ebae5218f934814" Type="http://schemas.openxmlformats.org/officeDocument/2006/relationships/tableStyles" Target="tableStyles.xml"/><Relationship Id="Ra3bb7fc128554ef3" Type="http://schemas.openxmlformats.org/officeDocument/2006/relationships/slide" Target="slides/slide10.xml"/><Relationship Id="Raaf45a8d1e8a4247" Type="http://schemas.openxmlformats.org/officeDocument/2006/relationships/notesMaster" Target="notesMasters/notesMaster1.xml"/><Relationship Id="Rb833ffc7fac74ce6" Type="http://schemas.openxmlformats.org/officeDocument/2006/relationships/presProps" Target="presProps.xml"/><Relationship Id="Rf594fc9cd60d45cd" Type="http://schemas.openxmlformats.org/officeDocument/2006/relationships/slide" Target="slides/slide8.xml"/><Relationship Id="Rf9f3b73a294d4de7" Type="http://schemas.openxmlformats.org/officeDocument/2006/relationships/slide" Target="slides/slide9.xml"/><Relationship Id="Rfdd1578d66fb43bd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586da5e3e9a747d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df045729170347db" Type="http://schemas.openxmlformats.org/officeDocument/2006/relationships/slide" Target="../slides/slide1.xml"/><Relationship Id="Rf5342ab6a08e496f" Type="http://schemas.openxmlformats.org/officeDocument/2006/relationships/notesMaster" Target="../notesMasters/notesMaster1.xml"/><Relationship Id="rId3" Type="http://schemas.openxmlformats.org/officeDocument/2006/relationships/hyperlink" Target="https://www.ai-expo.net/europe/agenda/ai-developer/" TargetMode="External"/></Relationships>
</file>

<file path=ppt/notesSlides/_rels/notesSlide2.xml.rels><?xml version='1.0' encoding='UTF-8' standalone='yes'?>
<Relationships xmlns="http://schemas.openxmlformats.org/package/2006/relationships"><Relationship Id="R214b4b87051d44bd" Type="http://schemas.openxmlformats.org/officeDocument/2006/relationships/notesMaster" Target="../notesMasters/notesMaster1.xml"/><Relationship Id="R95124968bc4d429d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96d4f50f5ca4ec4" Type="http://schemas.openxmlformats.org/officeDocument/2006/relationships/slide" Target="../slides/slide3.xml"/><Relationship Id="Rae12bf30cb01499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22cc9cf1fc44373" Type="http://schemas.openxmlformats.org/officeDocument/2006/relationships/slide" Target="../slides/slide4.xml"/><Relationship Id="R90e7600683b24984" Type="http://schemas.openxmlformats.org/officeDocument/2006/relationships/notesMaster" Target="../notesMasters/notesMaster1.xml"/><Relationship Id="rId3" Type="http://schemas.openxmlformats.org/officeDocument/2006/relationships/hyperlink" Target="https://registry.modelcontextprotocol.io/" TargetMode="External"/><Relationship Id="rId4" Type="http://schemas.openxmlformats.org/officeDocument/2006/relationships/hyperlink" Target="https://modelcontextprotocol.io/specification/2026-07-28/basic/authorization" TargetMode="External"/><Relationship Id="rId5" Type="http://schemas.openxmlformats.org/officeDocument/2006/relationships/hyperlink" Target="https://modelcontextprotocol.io/specification/2026-07-28/basic/authorization/security-considerations" TargetMode="External"/></Relationships>
</file>

<file path=ppt/notesSlides/_rels/notesSlide5.xml.rels><?xml version='1.0' encoding='UTF-8' standalone='yes'?>
<Relationships xmlns="http://schemas.openxmlformats.org/package/2006/relationships"><Relationship Id="R21fb91237d834a1c" Type="http://schemas.openxmlformats.org/officeDocument/2006/relationships/notesMaster" Target="../notesMasters/notesMaster1.xml"/><Relationship Id="Ra326baad5abb4d48" Type="http://schemas.openxmlformats.org/officeDocument/2006/relationships/slide" Target="../slides/slide5.xml"/><Relationship Id="rId3" Type="http://schemas.openxmlformats.org/officeDocument/2006/relationships/hyperlink" Target="https://nftpricefloor.com/bored-ape-yacht-club" TargetMode="External"/><Relationship Id="rId4" Type="http://schemas.openxmlformats.org/officeDocument/2006/relationships/hyperlink" Target="https://www.coingecko.com/en/coins/official-trump" TargetMode="External"/></Relationships>
</file>

<file path=ppt/notesSlides/_rels/notesSlide6.xml.rels><?xml version='1.0' encoding='UTF-8' standalone='yes'?>
<Relationships xmlns="http://schemas.openxmlformats.org/package/2006/relationships"><Relationship Id="R06e1df2a06244c0f" Type="http://schemas.openxmlformats.org/officeDocument/2006/relationships/notesMaster" Target="../notesMasters/notesMaster1.xml"/><Relationship Id="R131b54f7262641ed" Type="http://schemas.openxmlformats.org/officeDocument/2006/relationships/slide" Target="../slides/slide6.xml"/><Relationship Id="rId3" Type="http://schemas.openxmlformats.org/officeDocument/2006/relationships/hyperlink" Target="https://owasp.org/projects/mcp-top-10" TargetMode="External"/></Relationships>
</file>

<file path=ppt/notesSlides/_rels/notesSlide7.xml.rels><?xml version='1.0' encoding='UTF-8' standalone='yes'?>
<Relationships xmlns="http://schemas.openxmlformats.org/package/2006/relationships"><Relationship Id="R6908478e86db4e45" Type="http://schemas.openxmlformats.org/officeDocument/2006/relationships/slide" Target="../slides/slide7.xml"/><Relationship Id="Rea2ec231ef8d4fdd" Type="http://schemas.openxmlformats.org/officeDocument/2006/relationships/notesMaster" Target="../notesMasters/notesMaster1.xml"/><Relationship Id="rId3" Type="http://schemas.openxmlformats.org/officeDocument/2006/relationships/hyperlink" Target="https://zuplo.com/blog/mcp-survey" TargetMode="External"/><Relationship Id="rId4" Type="http://schemas.openxmlformats.org/officeDocument/2006/relationships/hyperlink" Target="https://arxiv.org/abs/2605.22333" TargetMode="External"/></Relationships>
</file>

<file path=ppt/notesSlides/_rels/notesSlide8.xml.rels><?xml version='1.0' encoding='UTF-8' standalone='yes'?>
<Relationships xmlns="http://schemas.openxmlformats.org/package/2006/relationships"><Relationship Id="R0bb5936f3d214deb" Type="http://schemas.openxmlformats.org/officeDocument/2006/relationships/slide" Target="../slides/slide8.xml"/><Relationship Id="Rb8134e8cc94846c3" Type="http://schemas.openxmlformats.org/officeDocument/2006/relationships/notesMaster" Target="../notesMasters/notesMaster1.xml"/><Relationship Id="rId3" Type="http://schemas.openxmlformats.org/officeDocument/2006/relationships/hyperlink" Target="https://zuplo.com/blog/mcp-survey" TargetMode="External"/><Relationship Id="rId4" Type="http://schemas.openxmlformats.org/officeDocument/2006/relationships/hyperlink" Target="https://arxiv.org/abs/2605.22333" TargetMode="External"/><Relationship Id="rId5" Type="http://schemas.openxmlformats.org/officeDocument/2006/relationships/hyperlink" Target="https://arxiv.org/abs/2608.10760" TargetMode="External"/><Relationship Id="rId6" Type="http://schemas.openxmlformats.org/officeDocument/2006/relationships/hyperlink" Target="https://owasp.org/projects/mcp-top-10" TargetMode="External"/><Relationship Id="rId7" Type="http://schemas.openxmlformats.org/officeDocument/2006/relationships/hyperlink" Target="https://modelcontextprotocol.io/specification/2026-07-28/basic/transports/streamable-http" TargetMode="External"/></Relationships>
</file>

<file path=ppt/notesSlides/_rels/notesSlide9.xml.rels><?xml version='1.0' encoding='UTF-8' standalone='yes'?>
<Relationships xmlns="http://schemas.openxmlformats.org/package/2006/relationships"><Relationship Id="R1de613988f9d4761" Type="http://schemas.openxmlformats.org/officeDocument/2006/relationships/slide" Target="../slides/slide9.xml"/><Relationship Id="Rec5cc190ad4b4a9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f1908011c664809" Type="http://schemas.openxmlformats.org/officeDocument/2006/relationships/slide" Target="../slides/slide10.xml"/><Relationship Id="Rfbda778014124fa8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3efb0e4b97f4c4b" Type="http://schemas.openxmlformats.org/officeDocument/2006/relationships/slide" Target="../slides/slide11.xml"/><Relationship Id="Rc869a210e4844572" Type="http://schemas.openxmlformats.org/officeDocument/2006/relationships/notesMaster" Target="../notesMasters/notesMaster1.xml"/><Relationship Id="rId3" Type="http://schemas.openxmlformats.org/officeDocument/2006/relationships/hyperlink" Target="https://arxiv.org/abs/2608.10760" TargetMode="External"/><Relationship Id="rId4" Type="http://schemas.openxmlformats.org/officeDocument/2006/relationships/hyperlink" Target="https://modelcontextprotocol.io/specification/2026-07-28/architecture" TargetMode="External"/></Relationships>
</file>

<file path=ppt/notesSlides/_rels/notesSlide12.xml.rels><?xml version='1.0' encoding='UTF-8' standalone='yes'?>
<Relationships xmlns="http://schemas.openxmlformats.org/package/2006/relationships"><Relationship Id="Rc985cbf87d064c47" Type="http://schemas.openxmlformats.org/officeDocument/2006/relationships/notesMaster" Target="../notesMasters/notesMaster1.xml"/><Relationship Id="Recd6b5ec28314ee5" Type="http://schemas.openxmlformats.org/officeDocument/2006/relationships/slide" Target="../slides/slide12.xml"/><Relationship Id="rId3" Type="http://schemas.openxmlformats.org/officeDocument/2006/relationships/hyperlink" Target="https://www.ai-expo.net/europe/agenda/ai-developer/" TargetMode="External"/><Relationship Id="rId4" Type="http://schemas.openxmlformats.org/officeDocument/2006/relationships/hyperlink" Target="https://kolygri.github.io" TargetMode="External"/><Relationship Id="rId5" Type="http://schemas.openxmlformats.org/officeDocument/2006/relationships/hyperlink" Target="https://www.linkedin.com/in/kolygri/" TargetMode="Externa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Hello, AI developers.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I’m about to fulfil a lifelong dream by saying: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I’m the only person standing between you and lunch.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who am I?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I’m Konstantin Grigorov, a Principal Data and AI Engineer at Shell Trading, and today I want to tell you a story about what happens after the MCP demo works.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We’re going to follow essentially the same architecture through two very different worlds.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First, a nine-person startup, where speed and getting the Friday demo working are completely rational priorities.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then the enterprise, where the question changes from: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the agent answer?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to: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Should this identity get this answer, from this data — and can we prove that everything was handled correctly?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story is fictional, but the engineering lessons come from real implementations.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So, let’s move to the legally safest slide in the presentation and keep the lawyers happy.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Like something you’d see at the beginning of a film: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a fictional story inspired by true events.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https://www.ai-expo.net/europe/agenda/ai-developer/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You’ve just joined a nine-person startup.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Funding is secured.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There’s an investor demo on Friday.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 objective is actually quite simple: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Connect an AI assistant to useful data through MCP and allow customers to ask questions in natural language.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this stage, the problem is not the enterprise operating model.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problem is: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connect the model to real data and return something useful before either the money or everyone’s patience runs out?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is a completely legitimate phase.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Every serious platform starts somewhere.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danger is in the assumptions underneath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trust our users to an extent.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Everybody logs in more or less the same way.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One team understands the entire system.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 are only a handful of tools to manage.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while the system is small, those assumptions work surprisingly well.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problem begins when the organisation grows, but nobody notices that the assumptions are no longer true.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That’s what I think of as: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assumption debt.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what does the first credible version actually look like?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the top left, the user is working inside a host application — ChatGPT, Copilot, or another agent interface.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Inside that host, an MCP client manages the connection to our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model then enters a tool loop.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Effectively, it says: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 need this next step.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 need this next step.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 have enough information to answer.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Our implementation is deliberately quite small.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Let’s say around 25 narrow tools.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With every request, we carry the user identity, so we always know who is asking.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also keep useful metadata in memory — things like catalogue information and database schemas.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means the system can discover what is available without constantly going back to the database, reducing both latency and unnecessary load.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then we reach probably the most important part of this architecture: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SQL policy layer.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Before anything reaches the data, we inspect the query.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make sure it is read-only.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identify the relational assets it wants to access.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we check whether this user is actually authorised to access them.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Only then does the query reach the database.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Once we have the result, we can return it in whatever format is useful: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tables, CSVs, Excel files, charts, even maps.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the key idea behind this entire design is very simple: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model interprets the question. Code controls what actually happens.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distinction matters.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are not trying to make the model perfectly reliable.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are putting a: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deterministic spine around a probabilistic model.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Anything that genuinely needs to be guaranteed is handled by code.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for a small team, that works surprisingly well.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now we have to answer a different question.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We’ve built this amazing service.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How does anybody find it — and how do they decide whether they should trust it?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 are several ways someone might discover an MCP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 are official or vendor-curated registries and directories.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 are community directories, GitHub repositories, forums and discussion boards.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 might go directly to the publisher.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Maybe Figma publishes an MCP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Maybe one of your data vendors tells you they now expose their product through MCP.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inside an enterprise, there is another route which becomes increasingly important: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organisational allow-list.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Your administrators have already decided which tools are approved for use.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discovery is only the first step.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real journey is: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Discover. 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Verify. 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Authenticate. 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Scope. 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Observe.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verify who published the server, the source, and ideally the version we are approving.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runtime, we authenticate the person or workload trying to use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narrow what they are allowed to do.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then we observe what actually happens.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authentication mechanism depends on how we connect.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For a local server, we may use credentials already available in the local environment.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For a remote service, we may use OAuth, bearer tokens, or delegated credentials.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behind all of that sits the identity provider, managing who the users are, which roles they have, and whether they should still have access.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leads to the warning at the bottom: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registry is not an endorsement.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Being able to find an MCP server does not mean you should be using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sounds incredibly obvious.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I’m just not convinced everyone is behaving as though it is.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Once we move into an enterprise, the question changes from: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Where is the MCP server?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to: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Is it approved?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Who is using it?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What are they allowed to do?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see what happened?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eventually — how much is this costing us?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https://registry.modelcontextprotocol.io/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4"/>
              </a:rPr>
              <a:t>https://modelcontextprotocol.io/specification/2026-07-28/basic/authorization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2="http://schemas.openxmlformats.org/officeDocument/2006/relationships" ns2:id="rId5"/>
              </a:rPr>
              <a:t>https://modelcontextprotocol.io/specification/2026-07-28/basic/authorization/security-considerations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Fortunately, our startup is doing well.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Our MCP has now been discovered by, let’s say, 8,000 users.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one of them is a very prominent venture capitalist.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His portfolio includes traditional, conservative assets such as: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Bored Ape NFTs and TRUMP coin.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 for laugh]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story is fictional.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price charts in the top-right, unfortunately, are real.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as I’m told, investors in volatile assets are extremely disciplined people.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They think very carefully about diversification, liquidity…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…and the floor price of a cartoon ape at three o’clock in the morning.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 for laugh]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not investment advice.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volatile assets are useful for our story because they make consequences visible very quickly.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because I come from the trading space and spend time around people responsible for portfolios and valuable data, they tend to ask some very practical questions.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another user see my data — and how long is that data retained?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this agent invoke a durable action on my behalf?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the system gives me an answer, can I reproduce it and understand exactly where it came from?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Those questions turn a clever demo into a product with a: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contained blast radius.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https://nftpricefloor.com/bored-ape-yacht-club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4"/>
              </a:rPr>
              <a:t>https://www.coingecko.com/en/coins/official-trump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Fortunately, some of the foundations are already there.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Our SQL operations are read-only.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Authorisation is checked against every relational asset involved in a query, regardless of how deeply nested that query becomes.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generated files stay in controlled memory rather than allowing the model to invent arbitrary paths on the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Those controls matter because the model can propose an operation.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deterministic code decides whether that operation may actually execute.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where that deterministic spine becomes useful.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Customer acquisition has just converted: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security, isolation and evidence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from roadmap items into product requirements.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Nothing fundamental changed about MCP.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What changed was: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value and sensitivity on the other side of the tool call.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production expands the control surface.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number of things we need to guarantee starts growing.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First: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identity and access.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need to know who made the request and what they were actually allowed to use.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Being successfully logged in does not mean you are allowed to access every dataset.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Second: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least privilege.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Give somebody the minimum access required to perform their job, and expand only when necessary.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In our example, SQL remains read-only, and we inspect exactly which relations the query intends to touch.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Third: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guardrails.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Immediately before execution, we inspect the query.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allow safe reads.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reject writes.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reject external data sources.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reject attempts to escape the permitted data perimeter.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if we cannot confidently determine whether something is safe?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don’t run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Fourth: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audit and telemetry.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record what was requested, which route it took, and what happened.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Did it succeed?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Did it fail?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Which controls were applied?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there is an important second-order problem: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logs can contain sensitive information too.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your observability infrastructure also becomes part of your security boundary.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 we have: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evidence and provenance.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particularly important in trading.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the system gives me an answer, I want to know: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Which data did it use?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Which query did it execute?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Where did the data come from?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makes the answer dramatically easier to investigate, reproduce and defend.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finally: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testing and release gates.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don’t only test the happy path.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deliberately send unsafe requests and verify that they are rejected.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implementation behind this story ended up with around 470 automated tests.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in AI systems, I think T D D becomes particularly valuable because the model itself is probabilistic.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deterministic boundary around it: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should not be.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all of this takes us to the point at the bottom: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startup can build these controls inside one product.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enterprise problem is different.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Now we need those controls to work consistently across: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many products,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many MCP servers,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many data owners.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Which gives us the simplest equation in the talk: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Trust equals control plus evidence.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isn’t enough to say the system is safe.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need controls that make it safe…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…and evidence demonstrating that those controls actually worked.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https://owasp.org/projects/mcp-top-10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look at the journey we’ve just taken.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started with a perfectly reasonable question: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How do I connect my AI assistant to useful data before Friday?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few slides later, we’re discussing delegated identity, policy enforcement, tenant isolation, provenance, audit, gateways and incident response.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is not because MCP failed.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is what happens when useful technology encounters: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valuable data and real users.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Security is not a workstream. Security is the work.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survey of MCP builders in late 2025 found that security and access control were the top challenge for roughly half of respondents.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38% said security was actively blocking adoption.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24% reported running servers with no authentication.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Now, this was a self-selected survey on one vendor’s network, so I wouldn’t treat those numbers as absolute measurements of the entire MCP ecosystem.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I would treat them as a pretty strong signal.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message is that security is difficult.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when security becomes difficult, engineers are sometimes tempted to perceive it as an obstacle and simply go around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Another study looked at 7,973 live remote MCP servers.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found that around 40% exposed tools without authentication.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even where authentication existed, the implementations were not necessarily secure.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Because there is another important distinction here: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authenticated does not mean authorised.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 can validate a cryptographic signature perfectly and still make the wrong security decision.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Imagine an implementation that receives a bearer token, resolves the signing key and successfully verifies the signature.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Cryptographically, everything looks fine.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what if we don’t correctly validate the audience, the issuer, the expiry, or the scope?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 we have proved that somebody issued a valid token.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haven’t necessarily proved that: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identity is allowed to perform this action against this resource.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this is what I mean when I say that authorisation is contextual.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cryptography is important.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cryptography isn’t necessarily the hardest part.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difficult question is: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Who is asking, what are they asking for, against which resource, and under what authority?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the takeaway from this slide is relatively simple.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There are a lot of MCP services appearing very quickly.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Some of them will have vulnerabilities.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Some will have weak authentication.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Some will authenticate correctly but authorise incorrectly.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if you’re bringing these systems into an enterprise: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follow the standards, validate the complete security context, and assume that discovery does not imply safety.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is the beginning of the enterprise story.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Which brings us to a very familiar request.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https://zuplo.com/blog/mcp-survey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4"/>
              </a:rPr>
              <a:t>https://arxiv.org/abs/2605.22333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founder asks: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“Can we add enterprise SSO?”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 engineer says: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“Sure. That should be manageable.”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 security joins the conversation.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“Great. We also need delegated identity, human and machine identities, entitlements, token exchange, audit, tenant isolation and offboarding.”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suddenly: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“This might take longer.”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becomes the most accurate estimate on the roadmap.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 FOR LAUGH]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Because enterprise SSO sounds like one feature.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the real requirement is much larger: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Who is asking, what authority travels with the request, and which controls still apply when that request reaches the data?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is why the architecture on the right introduces an enterprise MCP gateway.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our target production pattern.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gives us a common place to authenticate the caller, carry delegated identity, enforce baseline policy and bring the telemetry together.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Four jobs: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Authenticate the caller.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Delegate identity.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Enforce policy.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Unify telemetry.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the gateway does not replace the checks inside the domain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server still needs to understand its data and enforce the authorisation rules closest to execution.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will come back to that division of responsibility in the target architecture.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there is already one useful scaling choice in the implementation: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stateless HTTP.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Requests do not depend on hidden server state, and we do not need to send every request back to the same replica.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makes it easier to scale the service horizontally.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Optional session context can still help associate the original question with later tool calls.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that is different from requiring a particular server instance to remember everything for the request to work.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paper reference on the slide gives us a production pattern to explore further.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 QR code points to the OWASP MCP Top 10.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Token leakage, scope creep, tool poisoning, weak authorisation and excessive context sharing are all reminders that the risk extends beyond the individual tool.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gateway can reduce the exposed toolset, apply common controls and make calls observable.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it also becomes a valuable control point itself.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it must protect credentials, preserve isolation and fail closed when it cannot safely proceed.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is the enterprise inflection point.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are now operating a system of identities, tools and data owners.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Security gets the request through the right door.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Now let’s return to our portfolio manager’s next question: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I trust the answer?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5"/>
              </a:rPr>
              <a:t>https://arxiv.org/abs/2608.10760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6"/>
              </a:rPr>
              <a:t>https://owasp.org/projects/mcp-top-10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2="http://schemas.openxmlformats.org/officeDocument/2006/relationships" ns2:id="rId7"/>
              </a:rPr>
              <a:t>https://modelcontextprotocol.io/specification/2026-07-28/basic/transports/streamable-http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Now let’s go back to our portfolio manager.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Security answers one set of questions.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he has another very practical concern: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I trust the answer?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for us, accuracy starts before generation.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first thing we do is preserve the original question.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assign the request an ID so that we can keep the route observable.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then our routing layer decides the next required step.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For common, high-value questions, we don’t immediately ask the model to invent a solution.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first check a set of trusted SQL templates.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Think about a family of natural-language questions that ultimately mean the same thing.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wording may change.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if the business question is the same, we can map those different formulations onto the same trusted SQL.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we are taking something probabilistic at the language layer…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connecting it to something much more deterministic at the execution layer.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Embeddings can help us select the appropriate template.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this distinction is important: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embeddings can select a template. They don’t invent one.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no trusted template matches, we move into discovery.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Here we use a weighted hybrid approach.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Roughly 70% lexical matching — precise phrases and terms —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30% vector similarity.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vector similarity gives us a useful property.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Natural language has now been transformed into something we can compare mathematically.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can calculate similarity.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can rank candidates.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importantly, we can expose some evidence for why a particular data asset was selected.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 comes schema verification.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From the metadata we loaded at startup, we know the available relations, columns and types.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before execution, the SQL is checked against the schema, parsed by our SQL parser and authorised for this particular user.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remember the separation we established earlier: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server recommends the next step. The client chooses the tool.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Safety does not depend on the model making the perfect decision.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Validation and authorisation are enforced separately.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access is denied, the request stops.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the system is sufficiently uncertain about what the user means, we ask for clarification rather than pretending that we know.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brings us to the confidence gate at the bottom.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is effectively the system asking: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Do I have enough evidence to continue automatically?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confidence gate protects accuracy.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SQL validation and authorisation protect safety and access.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Those are different problems, and I think keeping them separate is important.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remember our portfolio manager’s other requirement: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I reproduce this?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Repeatability doesn’t mean expecting the LLM to produce exactly the same sentence every time.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Repeatability comes from preserving: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request, the route, the query, the data and the evidence.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reproduce the decision path, not necessarily every word of the generated response.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ultimately this is a confidence game.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more evidence the system can build, the more confidently it can proceed.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If it cannot build enough evidence, saying: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“I don’t know”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is substantially more useful than confidently hallucinating an answer.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now we arrive at a problem that, ideally, we should actually have considered before we wrote any code.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spent all this time asking: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this user access the data?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the query execute safely?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reproduce the result?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there is an earlier question: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Are we contractually allowed to use this data in this way at all?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In an enterprise, particularly when working with third-party data, access is not simply a technical problem.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is also a licensing problem.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Some data providers have very specific contractual terms around AI use, machine-learning use, derived data, copying, retention and storage location.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some of them are understandably not particularly enthusiastic about an agent quietly processing their entire product.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a data contract asks a different question.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Not simply: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Does this dataset look relevant?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May this identity, through this application, for this purpose, use this information?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distinction between relevance and permission is extremely important.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 dataset can be the perfect semantic match…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still be completely unavailable to this user for this purpose.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if authorisation fails, we don’t ask the model to improvise.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service returns access denied.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result becomes terminal.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 client is told to stop.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This also affects architecture.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Where possible, rather than moving licensed data through multiple systems, a much cleaner pattern is: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bring the compute to the data rather than bringing the data to the compute.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Own the mechanics around retrieving and processing it.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Minimise unnecessary copies.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Use governed views.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Use private inference where required.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use synthetic data for evaluation where the real licensed data is unnecessary.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Because by the time you discover the contractual restriction after you’ve built the architecture around copying the data everywhere…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 already have a considerably more expensive problem.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licensing isn’t something we bolt onto the end.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is part of the data boundary from the beginning.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finally, after this startup-to-enterprise journey, we arrive at our target architecture.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first glance, it may look like we’ve simply added a few boxes.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hopefully, by this point, the meaning behind those boxes is much clearer.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the top we have our consumers.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Chat applications.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IDEs.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Human users.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Agents.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unattended automation.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both human and machine identities can enter the system.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In the middle, we have our gateway and common control plane.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this exists because once we have many MCP servers, it doesn’t make sense for every team to independently reinvent: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authentication and delegation,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discovery and registry,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baseline policy,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guardrails,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audit and telemetry.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Those are horizontal concerns.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Consistency has enormous value there.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But underneath that gateway sit our domain MCP servers.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this is where the product teams live.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They understand their data.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They understand the business language.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They understand which analytical tools make sense.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They understand their trusted templates, metadata, schemas, output formats and the authorisation rules that need to be enforced close to execution.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importantly: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MCP does not replace your APIs.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Your APIs still exist.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MCP gives models and agents a standardised way to discover and interact with those capabilities.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the central platform team does not need to become the owner of every business rule in the company.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 provides the common machinery: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identity, registry, baseline policy, telemetry, incident response and platform tooling.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the domain teams retain ownership of: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domain semantics and execution rules.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gives us the architectural principle behind this entire slide: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horizontal controls at the gateway; domain rules at the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Or, in four words: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central governance, federated execution.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That allows governance to scale without turning the platform team into the owner of every tool in the organisation.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https://arxiv.org/abs/2608.10760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4"/>
              </a:rPr>
              <a:t>https://modelcontextprotocol.io/specification/2026-07-28/architecture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  <p:txBody xmlns:a="http://schemas.openxmlformats.org/drawingml/2006/main">
          <a:bodyPr/>
          <a:p/>
        </p:txBody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this has been our journey.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We started with a nine-person startup and a very reasonable objective: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something useful work before Friday.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[SHORT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At that stage, our concerns were mostly about the product.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answer the question?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call the right tool?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Is the UX good?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keep latency and cost under control?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Can we actually deliver something useful?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Then the same architecture entered the enterprise.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suddenly the control surface expanded.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Now we had to think about: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identity,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authorisation,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licensing,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policy,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audit,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provenance,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operations,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evidence.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eventually, once we had many MCP servers, we had to ask: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How does an organisation operate this as a system, rather than as a collection of independent demos?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that entire journey is simple enough to remember in three steps: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work.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repeatable.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governable.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Start with the smallest useful server.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Keep the tools narrow.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uncertainty visible.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Preserve the original request and the route.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Put deterministic authorisation and validation around probabilistic behaviour.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establish your policy and evidence boundaries before adoption makes changing them expensive.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Because in a startup, control means constraining the model, the route and the output well enough to ship something useful.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In an enterprise, the control surface becomes much larger.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You need to control: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every identity, every tool, every dataset — and retain the evidence of what happened.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So if there is one idea I want you to take home, it is this: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The journey from demo to enterprise isn’t about removing the probabilistic nature of AI.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It’s about building enough deterministic structure around it that we can actually trust it with something valuable.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[LONGER 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work.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repeatable.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Make it governable.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And hopefully, if we get all three right…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one day we can all retire on a nice yacht somewhere.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[PAUSE FOR LAUGH]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>Thank you.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latin typeface="Inter"/>
              </a:rPr>
              <a:t>[References]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0="http://schemas.openxmlformats.org/officeDocument/2006/relationships" ns0:id="rId3"/>
              </a:rPr>
              <a:t>https://www.ai-expo.net/europe/agenda/ai-developer/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1="http://schemas.openxmlformats.org/officeDocument/2006/relationships" ns1:id="rId4"/>
              </a:rPr>
              <a:t>https://kolygri.github.io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Inter"/>
                <a:hlinkClick xmlns:ns2="http://schemas.openxmlformats.org/officeDocument/2006/relationships" ns2:id="rId5"/>
              </a:rPr>
              <a:t>https://www.linkedin.com/in/kolygri/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ad555d761a434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1dc3f082ebf4e8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_DARK"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d34c1bfc06e4fa1" Type="http://schemas.openxmlformats.org/officeDocument/2006/relationships/theme" Target="theme/theme2.xml"/><Relationship Id="R4585d9c6920343a4" Type="http://schemas.openxmlformats.org/officeDocument/2006/relationships/slideLayout" Target="../slideLayouts/slideLayout2.xml"/><Relationship Id="Rb7b7915315284b7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b7915315284b76"/>
    <p:sldLayoutId xmlns:r="http://schemas.openxmlformats.org/officeDocument/2006/relationships" id="2147483650" r:id="R4585d9c6920343a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5c3761e0e5049f2" Type="http://schemas.openxmlformats.org/officeDocument/2006/relationships/image" Target="../media/image2.png"/><Relationship Id="R116a7450f0c04872" Type="http://schemas.openxmlformats.org/officeDocument/2006/relationships/slideLayout" Target="../slideLayouts/slideLayout2.xml"/><Relationship Id="R122d3effc4944ffa" Type="http://schemas.openxmlformats.org/officeDocument/2006/relationships/image" Target="../media/image5.svg"/><Relationship Id="R2690adc0c1694fad" Type="http://schemas.openxmlformats.org/officeDocument/2006/relationships/image" Target="../media/image4.svg"/><Relationship Id="R2b6479efc6ea41ec" Type="http://schemas.openxmlformats.org/officeDocument/2006/relationships/notesSlide" Target="../notesSlides/notesSlide1.xml"/><Relationship Id="R3cd8b540fc9644cb" Type="http://schemas.openxmlformats.org/officeDocument/2006/relationships/image" Target="../media/image3.svg"/><Relationship Id="R4d99d1fc2b8b4022" Type="http://schemas.openxmlformats.org/officeDocument/2006/relationships/image" Target="../media/image3.png"/><Relationship Id="R901d73e29f394a1b" Type="http://schemas.openxmlformats.org/officeDocument/2006/relationships/image" Target="../media/image4.png"/><Relationship Id="R9cb68a8fb76b4de6" Type="http://schemas.openxmlformats.org/officeDocument/2006/relationships/image" Target="../media/image5.png"/><Relationship Id="Rb6df553a144947df" Type="http://schemas.openxmlformats.org/officeDocument/2006/relationships/image" Target="../media/image2.svg"/><Relationship Id="Ree20b9bada984c6f" Type="http://schemas.openxmlformats.org/officeDocument/2006/relationships/image" Target="../media/image.png"/><Relationship Id="Rf86146d59eaf4e8d" Type="http://schemas.openxmlformats.org/officeDocument/2006/relationships/image" Target="../media/image.svg"/></Relationships>
</file>

<file path=ppt/slides/_rels/slide2.xml.rels><?xml version='1.0' encoding='UTF-8' standalone='yes'?>
<Relationships xmlns="http://schemas.openxmlformats.org/package/2006/relationships"><Relationship Id="R08547b905a4e4a6b" Type="http://schemas.openxmlformats.org/officeDocument/2006/relationships/image" Target="../media/image6.svg"/><Relationship Id="R122ccfc0bf1a48b5" Type="http://schemas.openxmlformats.org/officeDocument/2006/relationships/notesSlide" Target="../notesSlides/notesSlide2.xml"/><Relationship Id="R1e14338c0a5342f2" Type="http://schemas.openxmlformats.org/officeDocument/2006/relationships/image" Target="../media/image8.svg"/><Relationship Id="R32f80189f18c4470" Type="http://schemas.openxmlformats.org/officeDocument/2006/relationships/image" Target="../media/image8.png"/><Relationship Id="R897f532e4d2a45b4" Type="http://schemas.openxmlformats.org/officeDocument/2006/relationships/image" Target="../media/image6.png"/><Relationship Id="R9c734eb29a5948b2" Type="http://schemas.openxmlformats.org/officeDocument/2006/relationships/slideLayout" Target="../slideLayouts/slideLayout2.xml"/><Relationship Id="Ra0a2d81ca3a348a6" Type="http://schemas.openxmlformats.org/officeDocument/2006/relationships/image" Target="../media/image9.png"/><Relationship Id="Ra2641139957c4c99" Type="http://schemas.openxmlformats.org/officeDocument/2006/relationships/image" Target="../media/image9.svg"/><Relationship Id="Rc675b8909be54f80" Type="http://schemas.openxmlformats.org/officeDocument/2006/relationships/image" Target="../media/image7.svg"/><Relationship Id="Rdcd670c8cf634af0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06c7fe855d3d4e6c" Type="http://schemas.openxmlformats.org/officeDocument/2006/relationships/image" Target="../media/image13.svg"/><Relationship Id="R0c5078bfef9145d5" Type="http://schemas.openxmlformats.org/officeDocument/2006/relationships/image" Target="../media/image18.png"/><Relationship Id="R1021c50a69114798" Type="http://schemas.openxmlformats.org/officeDocument/2006/relationships/image" Target="../media/image15.png"/><Relationship Id="R278d0aa2ae094ba4" Type="http://schemas.openxmlformats.org/officeDocument/2006/relationships/image" Target="../media/image12.png"/><Relationship Id="R2925bc0dfcb048b9" Type="http://schemas.openxmlformats.org/officeDocument/2006/relationships/image" Target="../media/image4.svg"/><Relationship Id="R3a682771cf3d4a3f" Type="http://schemas.openxmlformats.org/officeDocument/2006/relationships/notesSlide" Target="../notesSlides/notesSlide3.xml"/><Relationship Id="R430df412e3d94a48" Type="http://schemas.openxmlformats.org/officeDocument/2006/relationships/image" Target="../media/image2.svg"/><Relationship Id="R44ecc9a6b9334eeb" Type="http://schemas.openxmlformats.org/officeDocument/2006/relationships/image" Target="../media/image20.svg"/><Relationship Id="R4c590be13bcc429f" Type="http://schemas.openxmlformats.org/officeDocument/2006/relationships/image" Target="../media/image18.svg"/><Relationship Id="R4f7d9f60efef4ba4" Type="http://schemas.openxmlformats.org/officeDocument/2006/relationships/image" Target="../media/image16.png"/><Relationship Id="R54e705ae1ae04526" Type="http://schemas.openxmlformats.org/officeDocument/2006/relationships/image" Target="../media/image3.svg"/><Relationship Id="R5afd7bf7d5e94854" Type="http://schemas.openxmlformats.org/officeDocument/2006/relationships/image" Target="../media/image20.png"/><Relationship Id="R5d3d9d3be97547e7" Type="http://schemas.openxmlformats.org/officeDocument/2006/relationships/image" Target="../media/image13.png"/><Relationship Id="R621514b1f7f24f3b" Type="http://schemas.openxmlformats.org/officeDocument/2006/relationships/image" Target="../media/image10.svg"/><Relationship Id="R631b744c27274051" Type="http://schemas.openxmlformats.org/officeDocument/2006/relationships/image" Target="../media/image15.svg"/><Relationship Id="R728a42c041454a45" Type="http://schemas.openxmlformats.org/officeDocument/2006/relationships/slideLayout" Target="../slideLayouts/slideLayout2.xml"/><Relationship Id="R8ad2e7d218f04afb" Type="http://schemas.openxmlformats.org/officeDocument/2006/relationships/image" Target="../media/image16.svg"/><Relationship Id="R97ed0f7a03f74a9f" Type="http://schemas.openxmlformats.org/officeDocument/2006/relationships/image" Target="../media/image14.png"/><Relationship Id="Rae68b42661f643df" Type="http://schemas.openxmlformats.org/officeDocument/2006/relationships/image" Target="../media/image17.png"/><Relationship Id="Rb10ca487c6554e7f" Type="http://schemas.openxmlformats.org/officeDocument/2006/relationships/image" Target="../media/image19.png"/><Relationship Id="Rbab2765d5b564cfd" Type="http://schemas.openxmlformats.org/officeDocument/2006/relationships/image" Target="../media/image3.png"/><Relationship Id="Rbe7922d4c5404a50" Type="http://schemas.openxmlformats.org/officeDocument/2006/relationships/image" Target="../media/image4.png"/><Relationship Id="Rc233993cfed74a51" Type="http://schemas.openxmlformats.org/officeDocument/2006/relationships/image" Target="../media/image12.svg"/><Relationship Id="Rcbd7aeb3d2904398" Type="http://schemas.openxmlformats.org/officeDocument/2006/relationships/image" Target="../media/image11.png"/><Relationship Id="Rcc9d1d6d9ffe492f" Type="http://schemas.openxmlformats.org/officeDocument/2006/relationships/image" Target="../media/image10.png"/><Relationship Id="Rcedcee849ce44c3e" Type="http://schemas.openxmlformats.org/officeDocument/2006/relationships/image" Target="../media/image11.svg"/><Relationship Id="Rdb1c5b458b544662" Type="http://schemas.openxmlformats.org/officeDocument/2006/relationships/image" Target="../media/image19.svg"/><Relationship Id="Rded267d9fc4b4ff8" Type="http://schemas.openxmlformats.org/officeDocument/2006/relationships/image" Target="../media/image17.svg"/><Relationship Id="Re03bf9f7015a40a2" Type="http://schemas.openxmlformats.org/officeDocument/2006/relationships/image" Target="../media/image2.png"/><Relationship Id="Re9925d8957e64643" Type="http://schemas.openxmlformats.org/officeDocument/2006/relationships/image" Target="../media/image14.svg"/></Relationships>
</file>

<file path=ppt/slides/_rels/slide4.xml.rels><?xml version='1.0' encoding='UTF-8' standalone='yes'?>
<Relationships xmlns="http://schemas.openxmlformats.org/package/2006/relationships"><Relationship Id="R0b8d984cbcb9403c" Type="http://schemas.openxmlformats.org/officeDocument/2006/relationships/image" Target="../media/image28.svg"/><Relationship Id="R114239ebdc1e4497" Type="http://schemas.openxmlformats.org/officeDocument/2006/relationships/image" Target="../media/image32.png"/><Relationship Id="R210d226dfe0b4857" Type="http://schemas.openxmlformats.org/officeDocument/2006/relationships/image" Target="../media/image23.png"/><Relationship Id="R29778e6100c84f4e" Type="http://schemas.openxmlformats.org/officeDocument/2006/relationships/image" Target="../media/image33.png"/><Relationship Id="R2b82426e2c634dad" Type="http://schemas.openxmlformats.org/officeDocument/2006/relationships/image" Target="../media/image28.png"/><Relationship Id="R3ce747788c284c24" Type="http://schemas.openxmlformats.org/officeDocument/2006/relationships/image" Target="../media/image15.png"/><Relationship Id="R4a070eded5eb4739" Type="http://schemas.openxmlformats.org/officeDocument/2006/relationships/image" Target="../media/image22.svg"/><Relationship Id="R50edb2e4433a478f" Type="http://schemas.openxmlformats.org/officeDocument/2006/relationships/image" Target="../media/image29.png"/><Relationship Id="R55bf1d42733648fe" Type="http://schemas.openxmlformats.org/officeDocument/2006/relationships/image" Target="../media/image29.svg"/><Relationship Id="R5661fae225f3483e" Type="http://schemas.openxmlformats.org/officeDocument/2006/relationships/image" Target="../media/image31.png"/><Relationship Id="R5c996ac9a03845bc" Type="http://schemas.openxmlformats.org/officeDocument/2006/relationships/image" Target="../media/image27.png"/><Relationship Id="R641656ebd3724606" Type="http://schemas.openxmlformats.org/officeDocument/2006/relationships/image" Target="../media/image15.svg"/><Relationship Id="R67b7b137aa7a4050" Type="http://schemas.openxmlformats.org/officeDocument/2006/relationships/image" Target="../media/image31.svg"/><Relationship Id="R697847da3dd34521" Type="http://schemas.openxmlformats.org/officeDocument/2006/relationships/image" Target="../media/image26.png"/><Relationship Id="R6bdbfe610a2c416b" Type="http://schemas.openxmlformats.org/officeDocument/2006/relationships/image" Target="../media/image24.svg"/><Relationship Id="R722540535054416e" Type="http://schemas.openxmlformats.org/officeDocument/2006/relationships/image" Target="../media/image30.svg"/><Relationship Id="R82307b1d9a084cf3" Type="http://schemas.openxmlformats.org/officeDocument/2006/relationships/image" Target="../media/image32.svg"/><Relationship Id="R8b7f608896d94171" Type="http://schemas.openxmlformats.org/officeDocument/2006/relationships/image" Target="../media/image25.svg"/><Relationship Id="Ra0030dbd915a48a5" Type="http://schemas.openxmlformats.org/officeDocument/2006/relationships/image" Target="../media/image27.svg"/><Relationship Id="Ra4d42e24fae3434b" Type="http://schemas.openxmlformats.org/officeDocument/2006/relationships/image" Target="../media/image21.png"/><Relationship Id="Ra97d5870ce494bed" Type="http://schemas.openxmlformats.org/officeDocument/2006/relationships/image" Target="../media/image25.png"/><Relationship Id="Rb7d2af13d56b4800" Type="http://schemas.openxmlformats.org/officeDocument/2006/relationships/image" Target="../media/image24.png"/><Relationship Id="Rc367954304c04e0a" Type="http://schemas.openxmlformats.org/officeDocument/2006/relationships/slideLayout" Target="../slideLayouts/slideLayout2.xml"/><Relationship Id="Rcd6ff64e4f524d17" Type="http://schemas.openxmlformats.org/officeDocument/2006/relationships/notesSlide" Target="../notesSlides/notesSlide4.xml"/><Relationship Id="Rce16b5a8595444b1" Type="http://schemas.openxmlformats.org/officeDocument/2006/relationships/image" Target="../media/image33.svg"/><Relationship Id="Re01d003e257c4ec0" Type="http://schemas.openxmlformats.org/officeDocument/2006/relationships/image" Target="../media/image22.png"/><Relationship Id="Rebee09e680f745b3" Type="http://schemas.openxmlformats.org/officeDocument/2006/relationships/image" Target="../media/image26.svg"/><Relationship Id="Rf28b2071931e48c1" Type="http://schemas.openxmlformats.org/officeDocument/2006/relationships/image" Target="../media/image21.svg"/><Relationship Id="Rf77ab9f27981404a" Type="http://schemas.openxmlformats.org/officeDocument/2006/relationships/image" Target="../media/image30.png"/><Relationship Id="Rfd0c47e5fdfe49f6" Type="http://schemas.openxmlformats.org/officeDocument/2006/relationships/image" Target="../media/image23.svg"/></Relationships>
</file>

<file path=ppt/slides/_rels/slide5.xml.rels><?xml version='1.0' encoding='UTF-8' standalone='yes'?>
<Relationships xmlns="http://schemas.openxmlformats.org/package/2006/relationships"><Relationship Id="R12de90f7592e45f4" Type="http://schemas.openxmlformats.org/officeDocument/2006/relationships/image" Target="../media/image34.svg"/><Relationship Id="R21b34ff0614d4136" Type="http://schemas.openxmlformats.org/officeDocument/2006/relationships/image" Target="../media/image35.png"/><Relationship Id="R37f76918a52c4cb5" Type="http://schemas.openxmlformats.org/officeDocument/2006/relationships/image" Target="../media/image35.svg"/><Relationship Id="R4f511f96355c48bf" Type="http://schemas.openxmlformats.org/officeDocument/2006/relationships/image" Target="../media/image37.png"/><Relationship Id="R573a72ac9f7046f4" Type="http://schemas.openxmlformats.org/officeDocument/2006/relationships/image" Target="../media/image36.png"/><Relationship Id="R586cae27e11f463a" Type="http://schemas.openxmlformats.org/officeDocument/2006/relationships/image" Target="../media/image36.svg"/><Relationship Id="R597e126bba3d4e5a" Type="http://schemas.openxmlformats.org/officeDocument/2006/relationships/image" Target="../media/image34.png"/><Relationship Id="Rabb926b976324650" Type="http://schemas.openxmlformats.org/officeDocument/2006/relationships/notesSlide" Target="../notesSlides/notesSlide5.xml"/><Relationship Id="Rad95eeadd5674a3b" Type="http://schemas.openxmlformats.org/officeDocument/2006/relationships/image" Target="../media/image37.svg"/><Relationship Id="Rc8942bb3cc2545c6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287461fd68c842c3" Type="http://schemas.openxmlformats.org/officeDocument/2006/relationships/image" Target="../media/image38.svg"/><Relationship Id="R2abe3e39a5274e03" Type="http://schemas.openxmlformats.org/officeDocument/2006/relationships/image" Target="../media/image38.png"/><Relationship Id="R3764d70cb8c84752" Type="http://schemas.openxmlformats.org/officeDocument/2006/relationships/notesSlide" Target="../notesSlides/notesSlide6.xml"/><Relationship Id="R4af855fcd15d48e1" Type="http://schemas.openxmlformats.org/officeDocument/2006/relationships/image" Target="../media/image41.svg"/><Relationship Id="R6c815470e2224a24" Type="http://schemas.openxmlformats.org/officeDocument/2006/relationships/image" Target="../media/image4.png"/><Relationship Id="R82381ddc33c9485a" Type="http://schemas.openxmlformats.org/officeDocument/2006/relationships/image" Target="../media/image40.png"/><Relationship Id="Ra55625daf9a541b0" Type="http://schemas.openxmlformats.org/officeDocument/2006/relationships/image" Target="../media/image39.png"/><Relationship Id="Ra85251dbb6a4480f" Type="http://schemas.openxmlformats.org/officeDocument/2006/relationships/slideLayout" Target="../slideLayouts/slideLayout2.xml"/><Relationship Id="Rabf0073787524105" Type="http://schemas.openxmlformats.org/officeDocument/2006/relationships/image" Target="../media/image41.png"/><Relationship Id="Raedc894377544dc3" Type="http://schemas.openxmlformats.org/officeDocument/2006/relationships/image" Target="../media/image39.svg"/><Relationship Id="Rbf7a89c1efdd45d5" Type="http://schemas.openxmlformats.org/officeDocument/2006/relationships/image" Target="../media/image4.svg"/><Relationship Id="Rc44bb7b902ed4f69" Type="http://schemas.openxmlformats.org/officeDocument/2006/relationships/image" Target="../media/image28.svg"/><Relationship Id="Rc95f79b60e7c4743" Type="http://schemas.openxmlformats.org/officeDocument/2006/relationships/image" Target="../media/image40.svg"/><Relationship Id="Rd1af80388ddb4b47" Type="http://schemas.openxmlformats.org/officeDocument/2006/relationships/image" Target="../media/image28.png"/><Relationship Id="Re4cac93881bf4319" Type="http://schemas.openxmlformats.org/officeDocument/2006/relationships/image" Target="../media/image42.svg"/><Relationship Id="Rfa85596a37734a45" Type="http://schemas.openxmlformats.org/officeDocument/2006/relationships/image" Target="../media/image42.png"/></Relationships>
</file>

<file path=ppt/slides/_rels/slide7.xml.rels><?xml version='1.0' encoding='UTF-8' standalone='yes'?>
<Relationships xmlns="http://schemas.openxmlformats.org/package/2006/relationships"><Relationship Id="R0fb46be785ef46ad" Type="http://schemas.openxmlformats.org/officeDocument/2006/relationships/image" Target="../media/image43.png"/><Relationship Id="R125be38f5ff84194" Type="http://schemas.openxmlformats.org/officeDocument/2006/relationships/image" Target="../media/image14.svg"/><Relationship Id="R5a56983c6acb4f3e" Type="http://schemas.openxmlformats.org/officeDocument/2006/relationships/slideLayout" Target="../slideLayouts/slideLayout2.xml"/><Relationship Id="R666e11a4721c458e" Type="http://schemas.openxmlformats.org/officeDocument/2006/relationships/image" Target="../media/image44.png"/><Relationship Id="Raa05bc8ed7e54543" Type="http://schemas.openxmlformats.org/officeDocument/2006/relationships/image" Target="../media/image14.png"/><Relationship Id="Rb72117e0ce494a6a" Type="http://schemas.openxmlformats.org/officeDocument/2006/relationships/image" Target="../media/image44.svg"/><Relationship Id="Rb8500fc1ae8b4eee" Type="http://schemas.openxmlformats.org/officeDocument/2006/relationships/image" Target="../media/image43.svg"/><Relationship Id="Re19ec530c0a24b2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041d92c958124bc7" Type="http://schemas.openxmlformats.org/officeDocument/2006/relationships/image" Target="../media/image47.png"/><Relationship Id="R0debd9b0f8654a32" Type="http://schemas.openxmlformats.org/officeDocument/2006/relationships/image" Target="../media/image46.png"/><Relationship Id="R243baac00ac54a8f" Type="http://schemas.openxmlformats.org/officeDocument/2006/relationships/image" Target="../media/image30.svg"/><Relationship Id="R256159e23bb54ae1" Type="http://schemas.openxmlformats.org/officeDocument/2006/relationships/image" Target="../media/image12.svg"/><Relationship Id="R2ad9f23da30041d0" Type="http://schemas.openxmlformats.org/officeDocument/2006/relationships/image" Target="../media/image28.svg"/><Relationship Id="R32fc357b3e5249be" Type="http://schemas.openxmlformats.org/officeDocument/2006/relationships/image" Target="../media/image45.png"/><Relationship Id="R33e24315c2fa4798" Type="http://schemas.openxmlformats.org/officeDocument/2006/relationships/image" Target="../media/image28.png"/><Relationship Id="R3965b1ecb8234f61" Type="http://schemas.openxmlformats.org/officeDocument/2006/relationships/notesSlide" Target="../notesSlides/notesSlide8.xml"/><Relationship Id="R3dd8185f79104836" Type="http://schemas.openxmlformats.org/officeDocument/2006/relationships/image" Target="../media/image12.png"/><Relationship Id="R3f600d875a834cb8" Type="http://schemas.openxmlformats.org/officeDocument/2006/relationships/image" Target="../media/image48.png"/><Relationship Id="R46d95ae2004b4dca" Type="http://schemas.openxmlformats.org/officeDocument/2006/relationships/image" Target="../media/image45.svg"/><Relationship Id="R5f276cfb5bce431f" Type="http://schemas.openxmlformats.org/officeDocument/2006/relationships/image" Target="../media/image46.svg"/><Relationship Id="R6c162c1300bc4bdf" Type="http://schemas.openxmlformats.org/officeDocument/2006/relationships/image" Target="../media/image47.svg"/><Relationship Id="R78688f5896f84c63" Type="http://schemas.openxmlformats.org/officeDocument/2006/relationships/image" Target="../media/image48.svg"/><Relationship Id="R9296b0610b81436a" Type="http://schemas.openxmlformats.org/officeDocument/2006/relationships/image" Target="../media/image30.png"/><Relationship Id="R99b83153ffb64cff" Type="http://schemas.openxmlformats.org/officeDocument/2006/relationships/image" Target="../media/image50.png"/><Relationship Id="R9de88ff09be64b00" Type="http://schemas.openxmlformats.org/officeDocument/2006/relationships/slideLayout" Target="../slideLayouts/slideLayout2.xml"/><Relationship Id="Re4cca076e70f4fd5" Type="http://schemas.openxmlformats.org/officeDocument/2006/relationships/image" Target="../media/image49.png"/><Relationship Id="Re4e2555e80e24227" Type="http://schemas.openxmlformats.org/officeDocument/2006/relationships/image" Target="../media/image49.svg"/></Relationships>
</file>

<file path=ppt/slides/_rels/slide9.xml.rels><?xml version='1.0' encoding='UTF-8' standalone='yes'?>
<Relationships xmlns="http://schemas.openxmlformats.org/package/2006/relationships"><Relationship Id="R044ac2e8ba8340c2" Type="http://schemas.openxmlformats.org/officeDocument/2006/relationships/image" Target="../media/image56.svg"/><Relationship Id="R42e3eb2d611949b3" Type="http://schemas.openxmlformats.org/officeDocument/2006/relationships/image" Target="../media/image55.svg"/><Relationship Id="R4b1868dc2c0c45eb" Type="http://schemas.openxmlformats.org/officeDocument/2006/relationships/image" Target="../media/image51.svg"/><Relationship Id="R53236960037744aa" Type="http://schemas.openxmlformats.org/officeDocument/2006/relationships/image" Target="../media/image26.svg"/><Relationship Id="R59a2c6f62cbd4b6a" Type="http://schemas.openxmlformats.org/officeDocument/2006/relationships/notesSlide" Target="../notesSlides/notesSlide9.xml"/><Relationship Id="R5bfcf219abdd4ab2" Type="http://schemas.openxmlformats.org/officeDocument/2006/relationships/image" Target="../media/image56.png"/><Relationship Id="R68039241eef74848" Type="http://schemas.openxmlformats.org/officeDocument/2006/relationships/image" Target="../media/image54.svg"/><Relationship Id="R6e2208bdee7c499a" Type="http://schemas.openxmlformats.org/officeDocument/2006/relationships/image" Target="../media/image51.png"/><Relationship Id="R7cf2e3849aaf4120" Type="http://schemas.openxmlformats.org/officeDocument/2006/relationships/image" Target="../media/image52.svg"/><Relationship Id="R91cf6058c4fc455d" Type="http://schemas.openxmlformats.org/officeDocument/2006/relationships/slideLayout" Target="../slideLayouts/slideLayout2.xml"/><Relationship Id="Ra1dbf575bdde472f" Type="http://schemas.openxmlformats.org/officeDocument/2006/relationships/image" Target="../media/image54.png"/><Relationship Id="Ra5368a767c6f4cd1" Type="http://schemas.openxmlformats.org/officeDocument/2006/relationships/image" Target="../media/image53.svg"/><Relationship Id="Rb7341384215f4ddf" Type="http://schemas.openxmlformats.org/officeDocument/2006/relationships/image" Target="../media/image53.png"/><Relationship Id="Rc69decdf2ad547f5" Type="http://schemas.openxmlformats.org/officeDocument/2006/relationships/image" Target="../media/image26.png"/><Relationship Id="Rd1c6e21899174fb8" Type="http://schemas.openxmlformats.org/officeDocument/2006/relationships/image" Target="../media/image55.png"/><Relationship Id="Rdebac9cbdb68435e" Type="http://schemas.openxmlformats.org/officeDocument/2006/relationships/image" Target="../media/image50.svg"/><Relationship Id="Re271e882f59c47cb" Type="http://schemas.openxmlformats.org/officeDocument/2006/relationships/image" Target="../media/image52.png"/><Relationship Id="Rfc09b0718bb8471e" Type="http://schemas.openxmlformats.org/officeDocument/2006/relationships/image" Target="../media/image57.png"/></Relationships>
</file>

<file path=ppt/slides/_rels/slide10.xml.rels><?xml version='1.0' encoding='UTF-8' standalone='yes'?>
<Relationships xmlns="http://schemas.openxmlformats.org/package/2006/relationships"><Relationship Id="R0244f73dd7094894" Type="http://schemas.openxmlformats.org/officeDocument/2006/relationships/image" Target="../media/image62.svg"/><Relationship Id="R10b543de922e4e64" Type="http://schemas.openxmlformats.org/officeDocument/2006/relationships/image" Target="../media/image61.svg"/><Relationship Id="R1b03a5176595402b" Type="http://schemas.openxmlformats.org/officeDocument/2006/relationships/image" Target="../media/image63.png"/><Relationship Id="R212ac1b2e5554eab" Type="http://schemas.openxmlformats.org/officeDocument/2006/relationships/image" Target="../media/image63.svg"/><Relationship Id="R2a1157fdc955462e" Type="http://schemas.openxmlformats.org/officeDocument/2006/relationships/image" Target="../media/image62.png"/><Relationship Id="R2ae82a99806c4145" Type="http://schemas.openxmlformats.org/officeDocument/2006/relationships/image" Target="../media/image58.svg"/><Relationship Id="R45e61048645a43a6" Type="http://schemas.openxmlformats.org/officeDocument/2006/relationships/slideLayout" Target="../slideLayouts/slideLayout2.xml"/><Relationship Id="R4e13566568a0444e" Type="http://schemas.openxmlformats.org/officeDocument/2006/relationships/image" Target="../media/image22.svg"/><Relationship Id="R5bb0e7bc85dc4dab" Type="http://schemas.openxmlformats.org/officeDocument/2006/relationships/image" Target="../media/image60.png"/><Relationship Id="R68551ad5cd3244bb" Type="http://schemas.openxmlformats.org/officeDocument/2006/relationships/image" Target="../media/image55.svg"/><Relationship Id="R6f4c8357c31548eb" Type="http://schemas.openxmlformats.org/officeDocument/2006/relationships/image" Target="../media/image58.png"/><Relationship Id="R712e517d75cb47b2" Type="http://schemas.openxmlformats.org/officeDocument/2006/relationships/image" Target="../media/image57.svg"/><Relationship Id="R76282dd0d494465c" Type="http://schemas.openxmlformats.org/officeDocument/2006/relationships/image" Target="../media/image56.png"/><Relationship Id="R83eac6229e5f4393" Type="http://schemas.openxmlformats.org/officeDocument/2006/relationships/image" Target="../media/image59.svg"/><Relationship Id="R85e892c93fa740c6" Type="http://schemas.openxmlformats.org/officeDocument/2006/relationships/notesSlide" Target="../notesSlides/notesSlide10.xml"/><Relationship Id="R914ea072706a4935" Type="http://schemas.openxmlformats.org/officeDocument/2006/relationships/image" Target="../media/image59.png"/><Relationship Id="Rb6d6613a64934f16" Type="http://schemas.openxmlformats.org/officeDocument/2006/relationships/image" Target="../media/image22.png"/><Relationship Id="Rc3c7cb809e26469d" Type="http://schemas.openxmlformats.org/officeDocument/2006/relationships/image" Target="../media/image64.png"/><Relationship Id="Rf8c587a82cf64a56" Type="http://schemas.openxmlformats.org/officeDocument/2006/relationships/image" Target="../media/image60.svg"/><Relationship Id="Rfdc6fc8c6bd84eab" Type="http://schemas.openxmlformats.org/officeDocument/2006/relationships/image" Target="../media/image61.png"/></Relationships>
</file>

<file path=ppt/slides/_rels/slide11.xml.rels><?xml version='1.0' encoding='UTF-8' standalone='yes'?>
<Relationships xmlns="http://schemas.openxmlformats.org/package/2006/relationships"><Relationship Id="R01a82c0e1d6941a9" Type="http://schemas.openxmlformats.org/officeDocument/2006/relationships/image" Target="../media/image67.svg"/><Relationship Id="R0a438766c468415d" Type="http://schemas.openxmlformats.org/officeDocument/2006/relationships/image" Target="../media/image74.png"/><Relationship Id="R10e869caa39645a5" Type="http://schemas.openxmlformats.org/officeDocument/2006/relationships/image" Target="../media/image64.svg"/><Relationship Id="R19768f76c2e44d59" Type="http://schemas.openxmlformats.org/officeDocument/2006/relationships/image" Target="../media/image69.svg"/><Relationship Id="R1c076f2160c6462b" Type="http://schemas.openxmlformats.org/officeDocument/2006/relationships/image" Target="../media/image73.svg"/><Relationship Id="R2f079cbffd564547" Type="http://schemas.openxmlformats.org/officeDocument/2006/relationships/image" Target="../media/image72.svg"/><Relationship Id="R338e6ee5f75646ad" Type="http://schemas.openxmlformats.org/officeDocument/2006/relationships/image" Target="../media/image71.svg"/><Relationship Id="R3a7b67423ed04a9f" Type="http://schemas.openxmlformats.org/officeDocument/2006/relationships/image" Target="../media/image49.png"/><Relationship Id="R3e485ef7b4eb41e7" Type="http://schemas.openxmlformats.org/officeDocument/2006/relationships/image" Target="../media/image28.png"/><Relationship Id="R5c099e288beb4daa" Type="http://schemas.openxmlformats.org/officeDocument/2006/relationships/image" Target="../media/image41.svg"/><Relationship Id="R6b3658a99d3b4241" Type="http://schemas.openxmlformats.org/officeDocument/2006/relationships/image" Target="../media/image70.png"/><Relationship Id="R6fe91198d2154651" Type="http://schemas.openxmlformats.org/officeDocument/2006/relationships/image" Target="../media/image47.png"/><Relationship Id="R6ffec70392cc496d" Type="http://schemas.openxmlformats.org/officeDocument/2006/relationships/image" Target="../media/image66.svg"/><Relationship Id="R7089fe3c034546a3" Type="http://schemas.openxmlformats.org/officeDocument/2006/relationships/notesSlide" Target="../notesSlides/notesSlide11.xml"/><Relationship Id="R7127da5b3a5346bb" Type="http://schemas.openxmlformats.org/officeDocument/2006/relationships/slideLayout" Target="../slideLayouts/slideLayout2.xml"/><Relationship Id="R72cdead9b2344ee0" Type="http://schemas.openxmlformats.org/officeDocument/2006/relationships/image" Target="../media/image70.svg"/><Relationship Id="R7f80e27fb6a24c99" Type="http://schemas.openxmlformats.org/officeDocument/2006/relationships/image" Target="../media/image68.svg"/><Relationship Id="R7f8719faf2474fc5" Type="http://schemas.openxmlformats.org/officeDocument/2006/relationships/image" Target="../media/image68.png"/><Relationship Id="R80ae3bfdadf74887" Type="http://schemas.openxmlformats.org/officeDocument/2006/relationships/image" Target="../media/image66.png"/><Relationship Id="R87a39713b5174388" Type="http://schemas.openxmlformats.org/officeDocument/2006/relationships/image" Target="../media/image65.svg"/><Relationship Id="Ra04681dd8bb04bb0" Type="http://schemas.openxmlformats.org/officeDocument/2006/relationships/image" Target="../media/image28.svg"/><Relationship Id="Rb01461020586460c" Type="http://schemas.openxmlformats.org/officeDocument/2006/relationships/image" Target="../media/image47.svg"/><Relationship Id="Rb430e892eb0a4c54" Type="http://schemas.openxmlformats.org/officeDocument/2006/relationships/image" Target="../media/image73.png"/><Relationship Id="Rb5ff90b2baf743a5" Type="http://schemas.openxmlformats.org/officeDocument/2006/relationships/image" Target="../media/image49.svg"/><Relationship Id="Rbc14f78120954f57" Type="http://schemas.openxmlformats.org/officeDocument/2006/relationships/image" Target="../media/image69.png"/><Relationship Id="Rc0a066b160ff46a9" Type="http://schemas.openxmlformats.org/officeDocument/2006/relationships/image" Target="../media/image71.png"/><Relationship Id="Rc33a7d69b4044908" Type="http://schemas.openxmlformats.org/officeDocument/2006/relationships/image" Target="../media/image22.svg"/><Relationship Id="Rcdaca4f936294752" Type="http://schemas.openxmlformats.org/officeDocument/2006/relationships/image" Target="../media/image74.svg"/><Relationship Id="Rce67ad20b1454a9e" Type="http://schemas.openxmlformats.org/officeDocument/2006/relationships/image" Target="../media/image56.png"/><Relationship Id="Rcf4e9212d658466c" Type="http://schemas.openxmlformats.org/officeDocument/2006/relationships/image" Target="../media/image67.png"/><Relationship Id="Rcfc46897c8174630" Type="http://schemas.openxmlformats.org/officeDocument/2006/relationships/image" Target="../media/image75.png"/><Relationship Id="Rd290fd7f11d84e45" Type="http://schemas.openxmlformats.org/officeDocument/2006/relationships/image" Target="../media/image41.png"/><Relationship Id="Rdb36c29065314669" Type="http://schemas.openxmlformats.org/officeDocument/2006/relationships/image" Target="../media/image2.png"/><Relationship Id="Rdd6247fa7797483e" Type="http://schemas.openxmlformats.org/officeDocument/2006/relationships/image" Target="../media/image2.svg"/><Relationship Id="Re57092adf7b14a89" Type="http://schemas.openxmlformats.org/officeDocument/2006/relationships/image" Target="../media/image65.png"/><Relationship Id="Red719644e2654268" Type="http://schemas.openxmlformats.org/officeDocument/2006/relationships/image" Target="../media/image22.png"/><Relationship Id="Rf0fe83bb3f134479" Type="http://schemas.openxmlformats.org/officeDocument/2006/relationships/image" Target="../media/image72.png"/><Relationship Id="Rfd75d139c9ec4131" Type="http://schemas.openxmlformats.org/officeDocument/2006/relationships/image" Target="../media/image55.svg"/></Relationships>
</file>

<file path=ppt/slides/_rels/slide12.xml.rels><?xml version='1.0' encoding='UTF-8' standalone='yes'?>
<Relationships xmlns="http://schemas.openxmlformats.org/package/2006/relationships"><Relationship Id="R0ff1344f3e7548d6" Type="http://schemas.openxmlformats.org/officeDocument/2006/relationships/image" Target="../media/image76.svg"/><Relationship Id="R4f1b40157c07414b" Type="http://schemas.openxmlformats.org/officeDocument/2006/relationships/image" Target="../media/image79.png"/><Relationship Id="R89e53ad73f8b422b" Type="http://schemas.openxmlformats.org/officeDocument/2006/relationships/notesSlide" Target="../notesSlides/notesSlide12.xml"/><Relationship Id="Ra2003dec8c9b4ebc" Type="http://schemas.openxmlformats.org/officeDocument/2006/relationships/image" Target="../media/image78.png"/><Relationship Id="Rb40cc111a00647de" Type="http://schemas.openxmlformats.org/officeDocument/2006/relationships/image" Target="../media/image77.png"/><Relationship Id="Rdbe345731f414053" Type="http://schemas.openxmlformats.org/officeDocument/2006/relationships/slideLayout" Target="../slideLayouts/slideLayout2.xml"/><Relationship Id="Rddbdda686f864e7f" Type="http://schemas.openxmlformats.org/officeDocument/2006/relationships/image" Target="../media/image75.svg"/><Relationship Id="Rfd2ba09dd134445a" Type="http://schemas.openxmlformats.org/officeDocument/2006/relationships/image" Target="../media/image76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0b9bada984c6f">
            <a:extLst>
              <a:ext uri="{96DAC541-7B7A-43D3-8B79-37D633B846F1}">
                <asvg:svgBlip xmlns:asvg="http://schemas.microsoft.com/office/drawing/2016/SVG/main" r:embed="Rf86146d59eaf4e8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032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B4C530CF-C3A3-43C9-A565-5E0D3F5B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502920"/>
            <a:ext cx="4572000" cy="457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0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4D33EC1-1D51-41AC-BDE6-7A26C846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097280"/>
            <a:ext cx="2651760" cy="265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12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645E2AE3-0086-4C14-AE46-D67F377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700016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8700162-571E-4914-BD5F-2F6A27C9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315968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  <a:effectLst xmlns:a="http://schemas.openxmlformats.org/drawingml/2006/main">
            <a:outerShdw blurRad="25400" dist="15240" dir="2700000" algn="bl" rotWithShape="0">
              <a:srgbClr val="000000">
                <a:alpha val="26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3761e0e5049f2">
            <a:extLst>
              <a:ext uri="{96DAC541-7B7A-43D3-8B79-37D633B846F1}">
                <asvg:svgBlip xmlns:asvg="http://schemas.microsoft.com/office/drawing/2016/SVG/main" r:embed="Rb6df553a144947d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04304" y="4544568"/>
            <a:ext cx="365760" cy="292608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9F343B93-51E0-4F2B-9774-EA0E521B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9692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3A20EEA0-FD81-49B9-8E1A-B6BD8D66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45643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5B7CFF"/>
            </a:solidFill>
            <a:prstDash val="solid"/>
          </a:ln>
          <a:effectLst xmlns:a="http://schemas.openxmlformats.org/drawingml/2006/main">
            <a:outerShdw blurRad="322580000" dist="193548000"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9d1fc2b8b4022">
            <a:extLst>
              <a:ext uri="{96DAC541-7B7A-43D3-8B79-37D633B846F1}">
                <asvg:svgBlip xmlns:asvg="http://schemas.microsoft.com/office/drawing/2016/SVG/main" r:embed="R3cd8b540fc9644c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0456" y="3685032"/>
            <a:ext cx="365760" cy="292608"/>
          </a:xfrm>
          <a:prstGeom xmlns:a="http://schemas.openxmlformats.org/drawingml/2006/main" prst="rect">
            <a:avLst/>
          </a:prstGeom>
        </p:spPr>
      </p:pic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B992B329-CE1C-4365-8686-2F822E1D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962656"/>
            <a:ext cx="88696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8D3E70B2-D6F5-41AF-87EC-5E7DCED3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578608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F7B955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d73e29f394a1b">
            <a:extLst>
              <a:ext uri="{96DAC541-7B7A-43D3-8B79-37D633B846F1}">
                <asvg:svgBlip xmlns:asvg="http://schemas.microsoft.com/office/drawing/2016/SVG/main" r:embed="R2690adc0c1694fa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82328" y="277063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Shape 8">
            <a:extLst xmlns:a="http://schemas.openxmlformats.org/drawingml/2006/main">
              <a:ext uri="{FF2B5EF4-FFF2-40B4-BE49-F238E27FC236}">
                <a16:creationId xmlns:a16="http://schemas.microsoft.com/office/drawing/2014/main" id="{433447C7-7BA1-40E9-A849-AFDD7F44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171907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BE0B5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68a8fb76b4de6">
            <a:extLst>
              <a:ext uri="{96DAC541-7B7A-43D3-8B79-37D633B846F1}">
                <asvg:svgBlip xmlns:asvg="http://schemas.microsoft.com/office/drawing/2016/SVG/main" r:embed="R122d3effc4944ff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84764" y="1911096"/>
            <a:ext cx="320040" cy="365760"/>
          </a:xfrm>
          <a:prstGeom xmlns:a="http://schemas.openxmlformats.org/drawingml/2006/main" prst="rect">
            <a:avLst/>
          </a:prstGeom>
        </p:spPr>
      </p:pic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E6B3A90C-3C79-4599-94EF-B776FBDA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5285232"/>
            <a:ext cx="1463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20">
                <a:solidFill>
                  <a:srgbClr val="35D4E7"/>
                </a:solidFill>
                <a:latin typeface="Inter"/>
                <a:ea typeface="Inter"/>
                <a:cs typeface="Inter"/>
              </a:rPr>
              <a:t>STARTUP</a:t>
            </a:r>
            <a:endParaRPr sz="900"/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9D170CE-8F6C-47F3-9AD3-911CBF3D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2952" y="896112"/>
            <a:ext cx="1554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20">
                <a:solidFill>
                  <a:srgbClr val="F7B955"/>
                </a:solidFill>
                <a:latin typeface="Inter"/>
                <a:ea typeface="Inter"/>
                <a:cs typeface="Inter"/>
              </a:rPr>
              <a:t>ENTERPRISE</a:t>
            </a:r>
            <a:endParaRPr sz="900"/>
          </a:p>
        </p:txBody>
      </p:sp>
      <p:sp>
        <p:nvSpPr>
          <p:cNvPr id="18" name="Text 11">
            <a:extLst xmlns:a="http://schemas.openxmlformats.org/drawingml/2006/main">
              <a:ext uri="{FF2B5EF4-FFF2-40B4-BE49-F238E27FC236}">
                <a16:creationId xmlns:a16="http://schemas.microsoft.com/office/drawing/2014/main" id="{83F0386C-45CC-40A0-B3B7-F1E7BF84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"/>
            <a:ext cx="5852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50">
                <a:solidFill>
                  <a:srgbClr val="35D4E7"/>
                </a:solidFill>
                <a:latin typeface="Inter"/>
                <a:ea typeface="Inter"/>
                <a:cs typeface="Inter"/>
              </a:rPr>
              <a:t>AI &amp; BIG DATA EXPO EUROPE · AI DEVELOPER</a:t>
            </a:r>
            <a:endParaRPr sz="1000"/>
          </a:p>
        </p:txBody>
      </p:sp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760C866E-A790-4042-893D-A7A7EDCA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115568"/>
            <a:ext cx="59436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Beyond the Demo:</a:t>
            </a:r>
            <a:endParaRPr sz="3400"/>
          </a:p>
        </p:txBody>
      </p:sp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0DFCB79F-79CD-476A-8BD7-1AF6450A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764792"/>
            <a:ext cx="6126480" cy="1335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Building Trusted AI Agents</a:t>
            </a:r>
            <a:endParaRPr sz="3100"/>
          </a:p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with MCP</a:t>
            </a:r>
            <a:endParaRPr sz="3100"/>
          </a:p>
        </p:txBody>
      </p:sp>
      <p:sp>
        <p:nvSpPr>
          <p:cNvPr id="21" name="Shape 14">
            <a:extLst xmlns:a="http://schemas.openxmlformats.org/drawingml/2006/main">
              <a:ext uri="{FF2B5EF4-FFF2-40B4-BE49-F238E27FC236}">
                <a16:creationId xmlns:a16="http://schemas.microsoft.com/office/drawing/2014/main" id="{86CE963E-C285-46C1-9FE0-431E3E0B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64992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5D41686D-BB75-45F2-B471-A6EBEF2D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84448"/>
            <a:ext cx="5303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A7B5C8"/>
                </a:solidFill>
                <a:latin typeface="Inter"/>
                <a:ea typeface="Inter"/>
                <a:cs typeface="Inter"/>
              </a:rPr>
              <a:t>A startup story, an enterprise reality,</a:t>
            </a:r>
            <a:endParaRPr sz="1700"/>
          </a:p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A7B5C8"/>
                </a:solidFill>
                <a:latin typeface="Inter"/>
                <a:ea typeface="Inter"/>
                <a:cs typeface="Inter"/>
              </a:rPr>
              <a:t>and lessons from real implementations.</a:t>
            </a:r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2EAEA79A-2344-494F-85E2-D55CF062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64608"/>
            <a:ext cx="38404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</a:t>
            </a: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onstantin</a:t>
            </a: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e</a:t>
            </a: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 </a:t>
            </a: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Grigoro</a:t>
            </a: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ff</a:t>
            </a:r>
            <a:endParaRPr sz="1700"/>
          </a:p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BC4F65F4-D9FC-429D-8FBE-60D95642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30368"/>
            <a:ext cx="5394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5C8"/>
                </a:solidFill>
                <a:latin typeface="Inter"/>
                <a:ea typeface="Inter"/>
                <a:cs typeface="Inter"/>
              </a:rPr>
              <a:t>Principal Data &amp; AI Engineer · Shell Trading &amp; Supply</a:t>
            </a:r>
            <a:endParaRPr sz="115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BD89A3D3-CD56-4AB9-82BF-EB94F51C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79008"/>
            <a:ext cx="254203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D4E7">
              <a:alpha val="13000"/>
            </a:srgbClr>
          </a:solidFill>
          <a:ln xmlns:a="http://schemas.openxmlformats.org/drawingml/2006/main" w="12700">
            <a:solidFill>
              <a:srgbClr val="35D4E7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78EA1772-FDA4-447B-85EC-EE30AD81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78815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20 OCT 2026 · RAI AMSTERDAM</a:t>
            </a:r>
            <a:endParaRPr sz="92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CBAB54F3-F4F1-4C42-9A2C-3A6D7A95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5779008"/>
            <a:ext cx="252374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B7CFF">
              <a:alpha val="13000"/>
            </a:srgbClr>
          </a:solidFill>
          <a:ln xmlns:a="http://schemas.openxmlformats.org/drawingml/2006/main" w="12700">
            <a:solidFill>
              <a:srgbClr val="5B7CFF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AE9680C4-782A-4E77-8E0F-9EA7FA59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788152"/>
            <a:ext cx="23774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BFCBFF"/>
                </a:solidFill>
                <a:latin typeface="Inter"/>
                <a:ea typeface="Inter"/>
                <a:cs typeface="Inter"/>
              </a:rPr>
              <a:t>AI DEVELOPER · 12:05–12:35</a:t>
            </a:r>
            <a:endParaRPr sz="920"/>
          </a:p>
        </p:txBody>
      </p:sp>
    </p:spTree>
    <p:extLst>
      <p:ext uri="{BB962C8B-B14F-4D97-AF65-F5344CB8AC3E}">
        <p14:creationId xmlns:p14="http://schemas.microsoft.com/office/powerpoint/2010/main" val="17795347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f532e4d2a45b4">
            <a:extLst>
              <a:ext uri="{96DAC541-7B7A-43D3-8B79-37D633B846F1}">
                <asvg:svgBlip xmlns:asvg="http://schemas.microsoft.com/office/drawing/2016/SVG/main" r:embed="R08547b905a4e4a6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D8C7B86-B14C-4F16-9919-B23C9D15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THE SET-UP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D553D91-2FEE-42C1-A088-65094632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Fictional story. Real failure modes.</a:t>
            </a:r>
            <a:endParaRPr sz="28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C8F2BCB-08EC-4BC5-B102-98720B54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5669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You’ve joined a nine-person startup.</a:t>
            </a:r>
            <a:endParaRPr sz="2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9CBFCAB-ABE0-435D-8C3A-2BBF485F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852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A7B5C8"/>
                </a:solidFill>
                <a:latin typeface="Inter"/>
                <a:ea typeface="Inter"/>
                <a:cs typeface="Inter"/>
              </a:rPr>
              <a:t>Team of 9. Funding secured. Friday demo.</a:t>
            </a:r>
            <a:endParaRPr sz="17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E993861-2AD0-4FAB-B203-A639F9A5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33472"/>
            <a:ext cx="434340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D4E7">
              <a:alpha val="14000"/>
            </a:srgbClr>
          </a:solidFill>
          <a:ln xmlns:a="http://schemas.openxmlformats.org/drawingml/2006/main" w="12700">
            <a:solidFill>
              <a:srgbClr val="35D4E7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CE517C2-F547-4ECA-A4F7-8F832CAF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42616"/>
            <a:ext cx="419709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GOAL: CONNECT AN LLM TO REAL DATA THROUGH MCP</a:t>
            </a:r>
            <a:endParaRPr sz="1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5DAF6F9-E986-437E-8DCF-6BDC733D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444752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670c8cf634af0">
            <a:extLst>
              <a:ext uri="{96DAC541-7B7A-43D3-8B79-37D633B846F1}">
                <asvg:svgBlip xmlns:asvg="http://schemas.microsoft.com/office/drawing/2016/SVG/main" r:embed="Rc675b8909be54f8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0" y="1647749"/>
            <a:ext cx="292608" cy="234086"/>
          </a:xfrm>
          <a:prstGeom xmlns:a="http://schemas.openxmlformats.org/drawingml/2006/main" prst="rect">
            <a:avLst/>
          </a:prstGeom>
        </p:spPr>
      </p:pic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7164CDC-66A9-4DBB-A86D-BD32052F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170432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0" y="1344168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15720886-8C7C-47B8-89AF-37AEF61F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481328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84080" y="1655064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Shape 9">
            <a:extLst xmlns:a="http://schemas.openxmlformats.org/drawingml/2006/main">
              <a:ext uri="{FF2B5EF4-FFF2-40B4-BE49-F238E27FC236}">
                <a16:creationId xmlns:a16="http://schemas.microsoft.com/office/drawing/2014/main" id="{42369259-17CD-4D4F-9AFC-28A24BAD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133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2d81ca3a348a6">
            <a:extLst>
              <a:ext uri="{96DAC541-7B7A-43D3-8B79-37D633B846F1}">
                <asvg:svgBlip xmlns:asvg="http://schemas.microsoft.com/office/drawing/2016/SVG/main" r:embed="Ra2641139957c4c9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62488" y="1307592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Shape 10">
            <a:extLst xmlns:a="http://schemas.openxmlformats.org/drawingml/2006/main">
              <a:ext uri="{FF2B5EF4-FFF2-40B4-BE49-F238E27FC236}">
                <a16:creationId xmlns:a16="http://schemas.microsoft.com/office/drawing/2014/main" id="{4F7E4242-EBD8-485A-AC74-C755C861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25146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688336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Shape 11">
            <a:extLst xmlns:a="http://schemas.openxmlformats.org/drawingml/2006/main">
              <a:ext uri="{FF2B5EF4-FFF2-40B4-BE49-F238E27FC236}">
                <a16:creationId xmlns:a16="http://schemas.microsoft.com/office/drawing/2014/main" id="{783BF81D-5BB1-4E91-893B-B2993D3A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359152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0" y="2532888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Shape 12">
            <a:extLst xmlns:a="http://schemas.openxmlformats.org/drawingml/2006/main">
              <a:ext uri="{FF2B5EF4-FFF2-40B4-BE49-F238E27FC236}">
                <a16:creationId xmlns:a16="http://schemas.microsoft.com/office/drawing/2014/main" id="{F71F9EA3-0F3C-45F0-A88C-26712E61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523744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2d81ca3a348a6">
            <a:extLst>
              <a:ext uri="{96DAC541-7B7A-43D3-8B79-37D633B846F1}">
                <asvg:svgBlip xmlns:asvg="http://schemas.microsoft.com/office/drawing/2016/SVG/main" r:embed="Ra2641139957c4c9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05288" y="2697480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203D3DB0-7326-4D09-B563-5ACB5998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584448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03920" y="3758184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Shape 14">
            <a:extLst xmlns:a="http://schemas.openxmlformats.org/drawingml/2006/main">
              <a:ext uri="{FF2B5EF4-FFF2-40B4-BE49-F238E27FC236}">
                <a16:creationId xmlns:a16="http://schemas.microsoft.com/office/drawing/2014/main" id="{E776A0BD-BAC8-4B2A-9DBB-22699710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69417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641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2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0189f18c4470">
            <a:extLst>
              <a:ext uri="{96DAC541-7B7A-43D3-8B79-37D633B846F1}">
                <asvg:svgBlip xmlns:asvg="http://schemas.microsoft.com/office/drawing/2016/SVG/main" r:embed="R1e14338c0a5342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20656" y="3867912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27" name="Text 15">
            <a:extLst xmlns:a="http://schemas.openxmlformats.org/drawingml/2006/main">
              <a:ext uri="{FF2B5EF4-FFF2-40B4-BE49-F238E27FC236}">
                <a16:creationId xmlns:a16="http://schemas.microsoft.com/office/drawing/2014/main" id="{2A3F6597-8CAF-4124-A879-64E36063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950208"/>
            <a:ext cx="777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9</a:t>
            </a:r>
            <a:endParaRPr sz="3200"/>
          </a:p>
        </p:txBody>
      </p:sp>
      <p:sp>
        <p:nvSpPr>
          <p:cNvPr id="28" name="Text 16">
            <a:extLst xmlns:a="http://schemas.openxmlformats.org/drawingml/2006/main">
              <a:ext uri="{FF2B5EF4-FFF2-40B4-BE49-F238E27FC236}">
                <a16:creationId xmlns:a16="http://schemas.microsoft.com/office/drawing/2014/main" id="{2ADE88DB-40E7-4D84-B5E8-196EF95C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9568" y="451713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 spc="120">
                <a:solidFill>
                  <a:srgbClr val="A7B5C8"/>
                </a:solidFill>
                <a:latin typeface="Inter"/>
                <a:ea typeface="Inter"/>
                <a:cs typeface="Inter"/>
              </a:rPr>
              <a:t>PEOPLE</a:t>
            </a:r>
            <a:endParaRPr sz="900"/>
          </a:p>
        </p:txBody>
      </p:sp>
      <p:sp>
        <p:nvSpPr>
          <p:cNvPr id="29" name="Shape 17">
            <a:extLst xmlns:a="http://schemas.openxmlformats.org/drawingml/2006/main">
              <a:ext uri="{FF2B5EF4-FFF2-40B4-BE49-F238E27FC236}">
                <a16:creationId xmlns:a16="http://schemas.microsoft.com/office/drawing/2014/main" id="{4CB364E7-C24B-4FDE-B33F-22532D16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13632"/>
            <a:ext cx="562356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C182A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8">
            <a:extLst xmlns:a="http://schemas.openxmlformats.org/drawingml/2006/main">
              <a:ext uri="{FF2B5EF4-FFF2-40B4-BE49-F238E27FC236}">
                <a16:creationId xmlns:a16="http://schemas.microsoft.com/office/drawing/2014/main" id="{6CEEDA73-1B4C-4E60-A5D5-D5E7BD2D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224528"/>
            <a:ext cx="504748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i="1">
                <a:solidFill>
                  <a:srgbClr val="EAF0F8"/>
                </a:solidFill>
                <a:latin typeface="Inter"/>
                <a:ea typeface="Inter"/>
                <a:cs typeface="Inter"/>
              </a:rPr>
              <a:t>Trusted users. One identity path. One team.</a:t>
            </a:r>
            <a:endParaRPr sz="1550"/>
          </a:p>
          <a:p xmlns:a="http://schemas.openxmlformats.org/drawingml/2006/main">
            <a:pPr marL="0" indent="0" algn="l">
              <a:buNone/>
            </a:pPr>
            <a:r>
              <a:rPr sz="1550" i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 tool catalogue small enough to understand.</a:t>
            </a:r>
          </a:p>
        </p:txBody>
      </p:sp>
      <p:sp>
        <p:nvSpPr>
          <p:cNvPr id="31" name="Shape 19">
            <a:extLst xmlns:a="http://schemas.openxmlformats.org/drawingml/2006/main">
              <a:ext uri="{FF2B5EF4-FFF2-40B4-BE49-F238E27FC236}">
                <a16:creationId xmlns:a16="http://schemas.microsoft.com/office/drawing/2014/main" id="{B81EF492-DFD2-40A0-9D13-66B73613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4919472"/>
            <a:ext cx="19019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47C">
              <a:alpha val="15000"/>
            </a:srgbClr>
          </a:solidFill>
          <a:ln xmlns:a="http://schemas.openxmlformats.org/drawingml/2006/main" w="12700">
            <a:solidFill>
              <a:srgbClr val="FF647C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0">
            <a:extLst xmlns:a="http://schemas.openxmlformats.org/drawingml/2006/main">
              <a:ext uri="{FF2B5EF4-FFF2-40B4-BE49-F238E27FC236}">
                <a16:creationId xmlns:a16="http://schemas.microsoft.com/office/drawing/2014/main" id="{6F8FD627-F484-4111-BBDC-695CCE8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928616"/>
            <a:ext cx="175564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647C"/>
                </a:solidFill>
                <a:latin typeface="Inter"/>
                <a:ea typeface="Inter"/>
                <a:cs typeface="Inter"/>
              </a:rPr>
              <a:t>ASSUMPTION DEBT</a:t>
            </a:r>
            <a:endParaRPr sz="950"/>
          </a:p>
        </p:txBody>
      </p:sp>
      <p:sp>
        <p:nvSpPr>
          <p:cNvPr id="33" name="Text 21">
            <a:extLst xmlns:a="http://schemas.openxmlformats.org/drawingml/2006/main">
              <a:ext uri="{FF2B5EF4-FFF2-40B4-BE49-F238E27FC236}">
                <a16:creationId xmlns:a16="http://schemas.microsoft.com/office/drawing/2014/main" id="{1A6DA6A9-7020-4E4C-8318-BB199E61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5340096"/>
            <a:ext cx="37033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A7B5C8"/>
                </a:solidFill>
                <a:latin typeface="Inter"/>
                <a:ea typeface="Inter"/>
                <a:cs typeface="Inter"/>
              </a:rPr>
              <a:t>Small solutions are safe only while</a:t>
            </a:r>
            <a:endParaRPr sz="1350"/>
          </a:p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A7B5C8"/>
                </a:solidFill>
                <a:latin typeface="Inter"/>
                <a:ea typeface="Inter"/>
                <a:cs typeface="Inter"/>
              </a:rPr>
              <a:t>their hidden assumptions remain true.</a:t>
            </a:r>
            <a:endParaRPr sz="1350"/>
          </a:p>
        </p:txBody>
      </p:sp>
      <p:sp>
        <p:nvSpPr>
          <p:cNvPr id="34" name="Shape 22">
            <a:extLst xmlns:a="http://schemas.openxmlformats.org/drawingml/2006/main">
              <a:ext uri="{FF2B5EF4-FFF2-40B4-BE49-F238E27FC236}">
                <a16:creationId xmlns:a16="http://schemas.microsoft.com/office/drawing/2014/main" id="{F5D9B00E-CD0D-49F2-8C97-FB277C2B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23">
            <a:extLst xmlns:a="http://schemas.openxmlformats.org/drawingml/2006/main">
              <a:ext uri="{FF2B5EF4-FFF2-40B4-BE49-F238E27FC236}">
                <a16:creationId xmlns:a16="http://schemas.microsoft.com/office/drawing/2014/main" id="{04F3568E-AA48-4ED3-8812-8CE1F1B8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 · PRODUCT</a:t>
            </a:r>
            <a:endParaRPr sz="850"/>
          </a:p>
        </p:txBody>
      </p:sp>
      <p:sp>
        <p:nvSpPr>
          <p:cNvPr id="36" name="Text 24">
            <a:extLst xmlns:a="http://schemas.openxmlformats.org/drawingml/2006/main">
              <a:ext uri="{FF2B5EF4-FFF2-40B4-BE49-F238E27FC236}">
                <a16:creationId xmlns:a16="http://schemas.microsoft.com/office/drawing/2014/main" id="{DD91F67B-3090-415B-A14A-347739A7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37" name="Text 25">
            <a:extLst xmlns:a="http://schemas.openxmlformats.org/drawingml/2006/main">
              <a:ext uri="{FF2B5EF4-FFF2-40B4-BE49-F238E27FC236}">
                <a16:creationId xmlns:a16="http://schemas.microsoft.com/office/drawing/2014/main" id="{ABD40AEA-2FB8-45CD-8B21-6D7584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02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1558960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d1d6d9ffe492f">
            <a:extLst>
              <a:ext uri="{96DAC541-7B7A-43D3-8B79-37D633B846F1}">
                <asvg:svgBlip xmlns:asvg="http://schemas.microsoft.com/office/drawing/2016/SVG/main" r:embed="R621514b1f7f24f3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46E8B83-87C8-41BD-B903-5C579FE1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MAKE IT WORK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D419FD5-7F07-4DB9-B48A-7AA1FCFA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 practical MCP implementation</a:t>
            </a:r>
            <a:endParaRPr sz="265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086CA592-D6D3-40F6-99AC-C87E9E38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89888"/>
            <a:ext cx="1600200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38AA015-8F3D-451A-A4EB-2909FDCF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36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18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3bf9f7015a40a2">
            <a:extLst>
              <a:ext uri="{96DAC541-7B7A-43D3-8B79-37D633B846F1}">
                <asvg:svgBlip xmlns:asvg="http://schemas.microsoft.com/office/drawing/2016/SVG/main" r:embed="R430df412e3d94a4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1647749"/>
            <a:ext cx="201168" cy="160934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C1406B-B08E-4613-9DC8-2F5E8680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" y="1554480"/>
            <a:ext cx="84124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Host app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FDCFF02-F004-4B1B-83A2-68D64C89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" y="1837944"/>
            <a:ext cx="8412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A7B5C8"/>
                </a:solidFill>
                <a:latin typeface="Inter"/>
                <a:ea typeface="Inter"/>
                <a:cs typeface="Inter"/>
              </a:rPr>
              <a:t>ChatGPT / Copilot</a:t>
            </a:r>
            <a:endParaRPr sz="8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C5493C3-BE12-45A7-9DD2-F8BF77BD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1389888"/>
            <a:ext cx="1691640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1E90ADE-7986-441B-A109-3A34F7DF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1536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2765d5b564cfd">
            <a:extLst>
              <a:ext uri="{96DAC541-7B7A-43D3-8B79-37D633B846F1}">
                <asvg:svgBlip xmlns:asvg="http://schemas.microsoft.com/office/drawing/2016/SVG/main" r:embed="R54e705ae1ae0452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24328" y="1647749"/>
            <a:ext cx="201168" cy="160934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D45EC831-D186-4972-B34A-C5049C59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554480"/>
            <a:ext cx="932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MCP client</a:t>
            </a:r>
            <a:endParaRPr sz="12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7239F81E-7BE0-4878-BEF1-AC93EE9B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837944"/>
            <a:ext cx="93268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Connection to server</a:t>
            </a:r>
            <a:endParaRPr sz="8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0B90F2A5-C7F5-4C08-88B6-964ADD89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389888"/>
            <a:ext cx="1874520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523643D7-FBB6-420E-9FB9-E9AFF946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1536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79FF">
              <a:alpha val="18000"/>
            </a:srgbClr>
          </a:solidFill>
          <a:ln xmlns:a="http://schemas.openxmlformats.org/drawingml/2006/main" w="12700">
            <a:solidFill>
              <a:srgbClr val="A87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aeb3d2904398">
            <a:extLst>
              <a:ext uri="{96DAC541-7B7A-43D3-8B79-37D633B846F1}">
                <asvg:svgBlip xmlns:asvg="http://schemas.microsoft.com/office/drawing/2016/SVG/main" r:embed="Rcedcee849ce44c3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8576" y="16276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A24658AD-20F7-4901-B34E-EAA094ED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1554480"/>
            <a:ext cx="111556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Tool loop</a:t>
            </a:r>
            <a:endParaRPr sz="12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00B80172-DF58-46DB-B4BA-5627494E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1837944"/>
            <a:ext cx="11155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Model chooses</a:t>
            </a:r>
            <a:endParaRPr sz="880"/>
          </a:p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next tool</a:t>
            </a:r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7B1515D3-DEC0-4B02-9F8E-9FE5974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389888"/>
            <a:ext cx="1783080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BE0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F91B2D6F-5427-4B48-85E8-DC899F3A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1536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E0B5">
              <a:alpha val="18000"/>
            </a:srgbClr>
          </a:solidFill>
          <a:ln xmlns:a="http://schemas.openxmlformats.org/drawingml/2006/main" w="12700">
            <a:solidFill>
              <a:srgbClr val="3BE0B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8d0aa2ae094ba4">
            <a:extLst>
              <a:ext uri="{96DAC541-7B7A-43D3-8B79-37D633B846F1}">
                <asvg:svgBlip xmlns:asvg="http://schemas.microsoft.com/office/drawing/2016/SVG/main" r:embed="Rc233993cfed74a5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6276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1F48DE19-E965-437A-9738-9D7D62FC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554480"/>
            <a:ext cx="102412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8303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MCP service</a:t>
            </a:r>
            <a:endParaRPr sz="12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301393DF-F43B-46D0-9791-673CE4EA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1837944"/>
            <a:ext cx="10241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25 narrow tools</a:t>
            </a:r>
            <a:endParaRPr sz="88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73E9A047-D24C-47AF-B68C-FB30683B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936" y="1389888"/>
            <a:ext cx="1773936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2683301F-3B45-4779-A6C3-8950994C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1536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>
              <a:alpha val="18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922d4c5404a50">
            <a:extLst>
              <a:ext uri="{96DAC541-7B7A-43D3-8B79-37D633B846F1}">
                <asvg:svgBlip xmlns:asvg="http://schemas.microsoft.com/office/drawing/2016/SVG/main" r:embed="R2925bc0dfcb048b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60536" y="16276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FAFFFBD2-06B3-434C-B367-4F85912A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554480"/>
            <a:ext cx="101498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SQL policy</a:t>
            </a:r>
            <a:endParaRPr sz="1200"/>
          </a:p>
        </p:txBody>
      </p:sp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5F559E3C-26FB-4AE0-9DAF-05E1673C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837944"/>
            <a:ext cx="101498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Parse + authorise</a:t>
            </a:r>
            <a:endParaRPr sz="880"/>
          </a:p>
        </p:txBody>
      </p:sp>
      <p:sp>
        <p:nvSpPr>
          <p:cNvPr id="31" name="Shape 23">
            <a:extLst xmlns:a="http://schemas.openxmlformats.org/drawingml/2006/main">
              <a:ext uri="{FF2B5EF4-FFF2-40B4-BE49-F238E27FC236}">
                <a16:creationId xmlns:a16="http://schemas.microsoft.com/office/drawing/2014/main" id="{74B2AAF3-6B3C-4839-ACB7-B6869884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1389888"/>
            <a:ext cx="987552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63E6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Shape 24">
            <a:extLst xmlns:a="http://schemas.openxmlformats.org/drawingml/2006/main">
              <a:ext uri="{FF2B5EF4-FFF2-40B4-BE49-F238E27FC236}">
                <a16:creationId xmlns:a16="http://schemas.microsoft.com/office/drawing/2014/main" id="{F178C43E-DEA9-4083-A960-164834F5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1632" y="153619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E69C">
              <a:alpha val="18000"/>
            </a:srgbClr>
          </a:solidFill>
          <a:ln xmlns:a="http://schemas.openxmlformats.org/drawingml/2006/main" w="12700">
            <a:solidFill>
              <a:srgbClr val="63E69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d9d3be97547e7">
            <a:extLst>
              <a:ext uri="{96DAC541-7B7A-43D3-8B79-37D633B846F1}">
                <asvg:svgBlip xmlns:asvg="http://schemas.microsoft.com/office/drawing/2016/SVG/main" r:embed="R06c7fe855d3d4e6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65358" y="1618488"/>
            <a:ext cx="160020" cy="182880"/>
          </a:xfrm>
          <a:prstGeom xmlns:a="http://schemas.openxmlformats.org/drawingml/2006/main" prst="rect">
            <a:avLst/>
          </a:prstGeom>
        </p:spPr>
      </p:pic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8913FA0D-A246-46E2-BEE4-7C9B9C2B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1554480"/>
            <a:ext cx="4572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Data</a:t>
            </a:r>
            <a:endParaRPr sz="1020"/>
          </a:p>
        </p:txBody>
      </p:sp>
      <p:sp>
        <p:nvSpPr>
          <p:cNvPr id="35" name="Shape 26">
            <a:extLst xmlns:a="http://schemas.openxmlformats.org/drawingml/2006/main">
              <a:ext uri="{FF2B5EF4-FFF2-40B4-BE49-F238E27FC236}">
                <a16:creationId xmlns:a16="http://schemas.microsoft.com/office/drawing/2014/main" id="{650D0BDF-FB74-44CE-91DC-4EE9A607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87452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Shape 27">
            <a:extLst xmlns:a="http://schemas.openxmlformats.org/drawingml/2006/main">
              <a:ext uri="{FF2B5EF4-FFF2-40B4-BE49-F238E27FC236}">
                <a16:creationId xmlns:a16="http://schemas.microsoft.com/office/drawing/2014/main" id="{D499D7F2-5D96-40B8-9607-A9BD98F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7368" y="187452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Shape 28">
            <a:extLst xmlns:a="http://schemas.openxmlformats.org/drawingml/2006/main">
              <a:ext uri="{FF2B5EF4-FFF2-40B4-BE49-F238E27FC236}">
                <a16:creationId xmlns:a16="http://schemas.microsoft.com/office/drawing/2014/main" id="{54B0E59C-E095-4318-93B5-2CCEA894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874520"/>
            <a:ext cx="3017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Shape 29">
            <a:extLst xmlns:a="http://schemas.openxmlformats.org/drawingml/2006/main">
              <a:ext uri="{FF2B5EF4-FFF2-40B4-BE49-F238E27FC236}">
                <a16:creationId xmlns:a16="http://schemas.microsoft.com/office/drawing/2014/main" id="{AC4D682A-3C64-406F-991C-D7733DFC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87452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FB1AE81D-0CA3-4F5C-90D0-AA4411B7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1874520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Shape 31">
            <a:extLst xmlns:a="http://schemas.openxmlformats.org/drawingml/2006/main">
              <a:ext uri="{FF2B5EF4-FFF2-40B4-BE49-F238E27FC236}">
                <a16:creationId xmlns:a16="http://schemas.microsoft.com/office/drawing/2014/main" id="{B411408D-0949-434F-8862-0900E695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3584448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ed0f7a03f74a9f">
            <a:extLst>
              <a:ext uri="{96DAC541-7B7A-43D3-8B79-37D633B846F1}">
                <asvg:svgBlip xmlns:asvg="http://schemas.microsoft.com/office/drawing/2016/SVG/main" r:embed="Re9925d8957e6464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3232" y="291693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42" name="Text 32">
            <a:extLst xmlns:a="http://schemas.openxmlformats.org/drawingml/2006/main">
              <a:ext uri="{FF2B5EF4-FFF2-40B4-BE49-F238E27FC236}">
                <a16:creationId xmlns:a16="http://schemas.microsoft.com/office/drawing/2014/main" id="{BC36EB6C-886A-45CC-8F68-DC084557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871216"/>
            <a:ext cx="104241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Identity context</a:t>
            </a:r>
            <a:endParaRPr sz="1250"/>
          </a:p>
        </p:txBody>
      </p:sp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BA09146D-D89B-4573-A40E-6995C5AD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71216"/>
            <a:ext cx="17739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User identity on every call</a:t>
            </a:r>
            <a:endParaRPr sz="940"/>
          </a:p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43EF1EDF-E103-41A1-97B2-A9AE7D8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576" y="2743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B7CFF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Shape 35">
            <a:extLst xmlns:a="http://schemas.openxmlformats.org/drawingml/2006/main">
              <a:ext uri="{FF2B5EF4-FFF2-40B4-BE49-F238E27FC236}">
                <a16:creationId xmlns:a16="http://schemas.microsoft.com/office/drawing/2014/main" id="{E4E2BF34-7045-441C-A215-AC935668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95935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4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1c50a69114798">
            <a:extLst>
              <a:ext uri="{96DAC541-7B7A-43D3-8B79-37D633B846F1}">
                <asvg:svgBlip xmlns:asvg="http://schemas.microsoft.com/office/drawing/2016/SVG/main" r:embed="R631b744c2727405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90288" y="291693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47" name="Text 36">
            <a:extLst xmlns:a="http://schemas.openxmlformats.org/drawingml/2006/main">
              <a:ext uri="{FF2B5EF4-FFF2-40B4-BE49-F238E27FC236}">
                <a16:creationId xmlns:a16="http://schemas.microsoft.com/office/drawing/2014/main" id="{7AE346DD-D721-4189-AEB9-90CF373A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2871216"/>
            <a:ext cx="168249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Cached metadata</a:t>
            </a:r>
            <a:endParaRPr sz="1250"/>
          </a:p>
        </p:txBody>
      </p:sp>
      <p:sp>
        <p:nvSpPr>
          <p:cNvPr id="48" name="Text 37">
            <a:extLst xmlns:a="http://schemas.openxmlformats.org/drawingml/2006/main">
              <a:ext uri="{FF2B5EF4-FFF2-40B4-BE49-F238E27FC236}">
                <a16:creationId xmlns:a16="http://schemas.microsoft.com/office/drawing/2014/main" id="{E5FFD709-9BF5-4F32-B72D-52F03B76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71216"/>
            <a:ext cx="15361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7B5C8"/>
                </a:solidFill>
                <a:latin typeface="Inter"/>
                <a:ea typeface="Inter"/>
                <a:cs typeface="Inter"/>
              </a:rPr>
              <a:t>Catalogue + schemas</a:t>
            </a:r>
            <a:endParaRPr sz="940"/>
          </a:p>
        </p:txBody>
      </p:sp>
      <p:sp>
        <p:nvSpPr>
          <p:cNvPr id="49" name="Shape 38">
            <a:extLst xmlns:a="http://schemas.openxmlformats.org/drawingml/2006/main">
              <a:ext uri="{FF2B5EF4-FFF2-40B4-BE49-F238E27FC236}">
                <a16:creationId xmlns:a16="http://schemas.microsoft.com/office/drawing/2014/main" id="{1FC2137C-3F4E-445C-80B2-A24537C0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743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879FF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Text 39">
            <a:extLst xmlns:a="http://schemas.openxmlformats.org/drawingml/2006/main">
              <a:ext uri="{FF2B5EF4-FFF2-40B4-BE49-F238E27FC236}">
                <a16:creationId xmlns:a16="http://schemas.microsoft.com/office/drawing/2014/main" id="{F35B18B4-A7C4-497D-B532-7642E257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803904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20">
                <a:solidFill>
                  <a:srgbClr val="72839A"/>
                </a:solidFill>
                <a:latin typeface="Inter"/>
                <a:ea typeface="Inter"/>
                <a:cs typeface="Inter"/>
              </a:rPr>
              <a:t>OUTPUT ADAPTERS</a:t>
            </a:r>
            <a:endParaRPr sz="900"/>
          </a:p>
        </p:txBody>
      </p:sp>
      <p:sp>
        <p:nvSpPr>
          <p:cNvPr id="51" name="Shape 40">
            <a:extLst xmlns:a="http://schemas.openxmlformats.org/drawingml/2006/main">
              <a:ext uri="{FF2B5EF4-FFF2-40B4-BE49-F238E27FC236}">
                <a16:creationId xmlns:a16="http://schemas.microsoft.com/office/drawing/2014/main" id="{B9673729-E0EB-4C89-B14E-72242045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96512"/>
            <a:ext cx="841248" cy="859536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0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7d9f60efef4ba4">
            <a:extLst>
              <a:ext uri="{96DAC541-7B7A-43D3-8B79-37D633B846F1}">
                <asvg:svgBlip xmlns:asvg="http://schemas.microsoft.com/office/drawing/2016/SVG/main" r:embed="R8ad2e7d218f04af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30568" y="425196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53" name="Text 41">
            <a:extLst xmlns:a="http://schemas.openxmlformats.org/drawingml/2006/main">
              <a:ext uri="{FF2B5EF4-FFF2-40B4-BE49-F238E27FC236}">
                <a16:creationId xmlns:a16="http://schemas.microsoft.com/office/drawing/2014/main" id="{3B9EE602-A3E4-4668-83F9-A467D1B8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599432"/>
            <a:ext cx="694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Table</a:t>
            </a:r>
            <a:endParaRPr sz="850"/>
          </a:p>
        </p:txBody>
      </p:sp>
      <p:sp>
        <p:nvSpPr>
          <p:cNvPr id="54" name="Shape 42">
            <a:extLst xmlns:a="http://schemas.openxmlformats.org/drawingml/2006/main">
              <a:ext uri="{FF2B5EF4-FFF2-40B4-BE49-F238E27FC236}">
                <a16:creationId xmlns:a16="http://schemas.microsoft.com/office/drawing/2014/main" id="{B3D37E52-9861-44B0-8377-BFB7992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4096512"/>
            <a:ext cx="841248" cy="859536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3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8b42661f643df">
            <a:extLst>
              <a:ext uri="{96DAC541-7B7A-43D3-8B79-37D633B846F1}">
                <asvg:svgBlip xmlns:asvg="http://schemas.microsoft.com/office/drawing/2016/SVG/main" r:embed="Rded267d9fc4b4ff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91272" y="425196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56" name="Text 43">
            <a:extLst xmlns:a="http://schemas.openxmlformats.org/drawingml/2006/main">
              <a:ext uri="{FF2B5EF4-FFF2-40B4-BE49-F238E27FC236}">
                <a16:creationId xmlns:a16="http://schemas.microsoft.com/office/drawing/2014/main" id="{5D644452-5F20-4396-8706-7621B80F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4599432"/>
            <a:ext cx="694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CSV</a:t>
            </a:r>
            <a:endParaRPr sz="850"/>
          </a:p>
        </p:txBody>
      </p:sp>
      <p:sp>
        <p:nvSpPr>
          <p:cNvPr id="57" name="Shape 44">
            <a:extLst xmlns:a="http://schemas.openxmlformats.org/drawingml/2006/main">
              <a:ext uri="{FF2B5EF4-FFF2-40B4-BE49-F238E27FC236}">
                <a16:creationId xmlns:a16="http://schemas.microsoft.com/office/drawing/2014/main" id="{0F3307D7-7CC2-47E8-9270-848EDDA2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96512"/>
            <a:ext cx="841248" cy="859536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6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078bfef9145d5">
            <a:extLst>
              <a:ext uri="{96DAC541-7B7A-43D3-8B79-37D633B846F1}">
                <asvg:svgBlip xmlns:asvg="http://schemas.microsoft.com/office/drawing/2016/SVG/main" r:embed="R4c590be13bcc429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0838" y="4251960"/>
            <a:ext cx="233172" cy="310896"/>
          </a:xfrm>
          <a:prstGeom xmlns:a="http://schemas.openxmlformats.org/drawingml/2006/main" prst="rect">
            <a:avLst/>
          </a:prstGeom>
        </p:spPr>
      </p:pic>
      <p:sp>
        <p:nvSpPr>
          <p:cNvPr id="59" name="Text 45">
            <a:extLst xmlns:a="http://schemas.openxmlformats.org/drawingml/2006/main">
              <a:ext uri="{FF2B5EF4-FFF2-40B4-BE49-F238E27FC236}">
                <a16:creationId xmlns:a16="http://schemas.microsoft.com/office/drawing/2014/main" id="{ACD471E6-ED84-4A22-8051-8FE9EE96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4599432"/>
            <a:ext cx="694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Excel</a:t>
            </a:r>
            <a:endParaRPr sz="850"/>
          </a:p>
        </p:txBody>
      </p:sp>
      <p:sp>
        <p:nvSpPr>
          <p:cNvPr id="60" name="Shape 46">
            <a:extLst xmlns:a="http://schemas.openxmlformats.org/drawingml/2006/main">
              <a:ext uri="{FF2B5EF4-FFF2-40B4-BE49-F238E27FC236}">
                <a16:creationId xmlns:a16="http://schemas.microsoft.com/office/drawing/2014/main" id="{D796693E-3674-4F56-B407-9C03696D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4096512"/>
            <a:ext cx="841248" cy="859536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9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ca487c6554e7f">
            <a:extLst>
              <a:ext uri="{96DAC541-7B7A-43D3-8B79-37D633B846F1}">
                <asvg:svgBlip xmlns:asvg="http://schemas.microsoft.com/office/drawing/2016/SVG/main" r:embed="Rdb1c5b458b54466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2680" y="425196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62" name="Text 47">
            <a:extLst xmlns:a="http://schemas.openxmlformats.org/drawingml/2006/main">
              <a:ext uri="{FF2B5EF4-FFF2-40B4-BE49-F238E27FC236}">
                <a16:creationId xmlns:a16="http://schemas.microsoft.com/office/drawing/2014/main" id="{38423C1D-FE7C-4728-938F-E8B5B67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4599432"/>
            <a:ext cx="694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Chart</a:t>
            </a:r>
            <a:endParaRPr sz="850"/>
          </a:p>
        </p:txBody>
      </p:sp>
      <p:sp>
        <p:nvSpPr>
          <p:cNvPr id="63" name="Shape 48">
            <a:extLst xmlns:a="http://schemas.openxmlformats.org/drawingml/2006/main">
              <a:ext uri="{FF2B5EF4-FFF2-40B4-BE49-F238E27FC236}">
                <a16:creationId xmlns:a16="http://schemas.microsoft.com/office/drawing/2014/main" id="{49F76173-46F3-4527-9C59-42B9B057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4096512"/>
            <a:ext cx="841248" cy="859536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2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d7bf7d5e94854">
            <a:extLst>
              <a:ext uri="{96DAC541-7B7A-43D3-8B79-37D633B846F1}">
                <asvg:svgBlip xmlns:asvg="http://schemas.microsoft.com/office/drawing/2016/SVG/main" r:embed="R44ecc9a6b9334ee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73384" y="425196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65" name="Text 49">
            <a:extLst xmlns:a="http://schemas.openxmlformats.org/drawingml/2006/main">
              <a:ext uri="{FF2B5EF4-FFF2-40B4-BE49-F238E27FC236}">
                <a16:creationId xmlns:a16="http://schemas.microsoft.com/office/drawing/2014/main" id="{49B1FBF8-8B71-4035-85A5-26F799F3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4599432"/>
            <a:ext cx="694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Map</a:t>
            </a:r>
            <a:endParaRPr sz="850"/>
          </a:p>
        </p:txBody>
      </p:sp>
      <p:sp>
        <p:nvSpPr>
          <p:cNvPr id="66" name="Shape 50">
            <a:extLst xmlns:a="http://schemas.openxmlformats.org/drawingml/2006/main">
              <a:ext uri="{FF2B5EF4-FFF2-40B4-BE49-F238E27FC236}">
                <a16:creationId xmlns:a16="http://schemas.microsoft.com/office/drawing/2014/main" id="{ECDB4237-98BB-4077-9B62-F9D5C7C7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85616"/>
            <a:ext cx="5440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0A1729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Text 51">
            <a:extLst xmlns:a="http://schemas.openxmlformats.org/drawingml/2006/main">
              <a:ext uri="{FF2B5EF4-FFF2-40B4-BE49-F238E27FC236}">
                <a16:creationId xmlns:a16="http://schemas.microsoft.com/office/drawing/2014/main" id="{BC0B7780-E07F-4CBA-91CF-E91DB767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07822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20">
                <a:solidFill>
                  <a:srgbClr val="35D4E7"/>
                </a:solidFill>
                <a:latin typeface="Inter"/>
                <a:ea typeface="Inter"/>
                <a:cs typeface="Inter"/>
              </a:rPr>
              <a:t>THE DESIGN PRINCIPLE</a:t>
            </a:r>
            <a:endParaRPr sz="900"/>
          </a:p>
        </p:txBody>
      </p:sp>
      <p:sp>
        <p:nvSpPr>
          <p:cNvPr id="68" name="Text 52">
            <a:extLst xmlns:a="http://schemas.openxmlformats.org/drawingml/2006/main">
              <a:ext uri="{FF2B5EF4-FFF2-40B4-BE49-F238E27FC236}">
                <a16:creationId xmlns:a16="http://schemas.microsoft.com/office/drawing/2014/main" id="{779F9341-E2B6-4866-9206-B4AE1C62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407408"/>
            <a:ext cx="4791456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 deterministic spine around a probabilistic model.</a:t>
            </a:r>
            <a:endParaRPr sz="2050"/>
          </a:p>
        </p:txBody>
      </p:sp>
      <p:sp>
        <p:nvSpPr>
          <p:cNvPr id="69" name="Text 53">
            <a:extLst xmlns:a="http://schemas.openxmlformats.org/drawingml/2006/main">
              <a:ext uri="{FF2B5EF4-FFF2-40B4-BE49-F238E27FC236}">
                <a16:creationId xmlns:a16="http://schemas.microsoft.com/office/drawing/2014/main" id="{9D4B8379-932F-4A3C-B35E-FBE4EC12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901184"/>
            <a:ext cx="4663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7B5C8"/>
                </a:solidFill>
                <a:latin typeface="Inter"/>
                <a:ea typeface="Inter"/>
                <a:cs typeface="Inter"/>
              </a:rPr>
              <a:t>The model interprets language. Code constrains execution.</a:t>
            </a:r>
            <a:endParaRPr sz="1150"/>
          </a:p>
        </p:txBody>
      </p:sp>
      <p:sp>
        <p:nvSpPr>
          <p:cNvPr id="70" name="Shape 54">
            <a:extLst xmlns:a="http://schemas.openxmlformats.org/drawingml/2006/main">
              <a:ext uri="{FF2B5EF4-FFF2-40B4-BE49-F238E27FC236}">
                <a16:creationId xmlns:a16="http://schemas.microsoft.com/office/drawing/2014/main" id="{A48B9D63-EF54-4144-8E30-C46C7F01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5303520"/>
            <a:ext cx="5084064" cy="402336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5D4E7">
              <a:alpha val="14000"/>
            </a:srgbClr>
          </a:solidFill>
          <a:ln xmlns:a="http://schemas.openxmlformats.org/drawingml/2006/main" w="12700">
            <a:solidFill>
              <a:srgbClr val="35D4E7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Text 55">
            <a:extLst xmlns:a="http://schemas.openxmlformats.org/drawingml/2006/main">
              <a:ext uri="{FF2B5EF4-FFF2-40B4-BE49-F238E27FC236}">
                <a16:creationId xmlns:a16="http://schemas.microsoft.com/office/drawing/2014/main" id="{48B2C870-180A-492D-9819-D4AF50F8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5312664"/>
            <a:ext cx="4937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STARTUP QUESTION: HOW DO WE CONTROL WHAT THE MODEL DOES?</a:t>
            </a:r>
            <a:endParaRPr sz="1020"/>
          </a:p>
        </p:txBody>
      </p:sp>
      <p:sp>
        <p:nvSpPr>
          <p:cNvPr id="72" name="Shape 56">
            <a:extLst xmlns:a="http://schemas.openxmlformats.org/drawingml/2006/main">
              <a:ext uri="{FF2B5EF4-FFF2-40B4-BE49-F238E27FC236}">
                <a16:creationId xmlns:a16="http://schemas.microsoft.com/office/drawing/2014/main" id="{1FBF2530-AC69-48EB-98CE-3770EAD1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3" name="Text 57">
            <a:extLst xmlns:a="http://schemas.openxmlformats.org/drawingml/2006/main">
              <a:ext uri="{FF2B5EF4-FFF2-40B4-BE49-F238E27FC236}">
                <a16:creationId xmlns:a16="http://schemas.microsoft.com/office/drawing/2014/main" id="{18BE19C1-D2CF-4508-91B9-A008FD66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 · PRODUCT</a:t>
            </a:r>
            <a:endParaRPr sz="850"/>
          </a:p>
        </p:txBody>
      </p:sp>
      <p:sp>
        <p:nvSpPr>
          <p:cNvPr id="74" name="Text 58">
            <a:extLst xmlns:a="http://schemas.openxmlformats.org/drawingml/2006/main">
              <a:ext uri="{FF2B5EF4-FFF2-40B4-BE49-F238E27FC236}">
                <a16:creationId xmlns:a16="http://schemas.microsoft.com/office/drawing/2014/main" id="{C2D87EB2-268F-406A-AA72-F967586B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75" name="Text 59">
            <a:extLst xmlns:a="http://schemas.openxmlformats.org/drawingml/2006/main">
              <a:ext uri="{FF2B5EF4-FFF2-40B4-BE49-F238E27FC236}">
                <a16:creationId xmlns:a16="http://schemas.microsoft.com/office/drawing/2014/main" id="{4DD33FF8-21B1-43C1-942E-E58C9543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03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76542695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42e24fae3434b">
            <a:extLst>
              <a:ext uri="{96DAC541-7B7A-43D3-8B79-37D633B846F1}">
                <asvg:svgBlip xmlns:asvg="http://schemas.microsoft.com/office/drawing/2016/SVG/main" r:embed="Rf28b2071931e48c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83DA379-14B0-4CD1-AB98-CCE30C0C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FIND · CONNECT · VERIFY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652F017-3C04-4FF1-A5A5-F75D2286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Discovery outpaces approval</a:t>
            </a:r>
            <a:endParaRPr sz="265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B895753-B32E-4CDF-A576-41C8B7D6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17320"/>
            <a:ext cx="2029968" cy="1069848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d003e257c4ec0">
            <a:extLst>
              <a:ext uri="{96DAC541-7B7A-43D3-8B79-37D633B846F1}">
                <asvg:svgBlip xmlns:asvg="http://schemas.microsoft.com/office/drawing/2016/SVG/main" r:embed="R4a070eded5eb473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1635760"/>
            <a:ext cx="310896" cy="27635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CD44C6E1-8CC8-4CCA-B8B9-74EDA8BC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1554480"/>
            <a:ext cx="12618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Registries</a:t>
            </a:r>
            <a:endParaRPr sz="122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58FD7A9-F88C-4478-96C3-EE8D63A1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1892808"/>
            <a:ext cx="126187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A7B5C8"/>
                </a:solidFill>
                <a:latin typeface="Inter"/>
                <a:ea typeface="Inter"/>
                <a:cs typeface="Inter"/>
              </a:rPr>
              <a:t>Official + vendor-curated</a:t>
            </a:r>
            <a:endParaRPr sz="88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604A9C0-0EFD-4986-A082-4F80DF55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1417320"/>
            <a:ext cx="2029968" cy="1069848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d226dfe0b4857">
            <a:extLst>
              <a:ext uri="{96DAC541-7B7A-43D3-8B79-37D633B846F1}">
                <asvg:svgBlip xmlns:asvg="http://schemas.microsoft.com/office/drawing/2016/SVG/main" r:embed="Rfd0c47e5fdfe49f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17520" y="161848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955A954D-37C2-4662-89A4-1F97B5B4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554480"/>
            <a:ext cx="12618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Community</a:t>
            </a:r>
            <a:endParaRPr sz="1220"/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825EE183-72BE-4290-B109-DCC69863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892808"/>
            <a:ext cx="126187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Directories + search</a:t>
            </a:r>
            <a:endParaRPr sz="880"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1851AFE2-C053-4716-9A06-0D0428B7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417320"/>
            <a:ext cx="2029968" cy="1069848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e747788c284c24">
            <a:extLst>
              <a:ext uri="{96DAC541-7B7A-43D3-8B79-37D633B846F1}">
                <asvg:svgBlip xmlns:asvg="http://schemas.microsoft.com/office/drawing/2016/SVG/main" r:embed="R641656ebd372460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03520" y="161848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6C61ED67-FD4D-45A8-8F43-D9774627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1554480"/>
            <a:ext cx="12618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Publisher</a:t>
            </a:r>
            <a:endParaRPr sz="1220"/>
          </a:p>
        </p:txBody>
      </p:sp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B68A5EA5-C4E9-46C2-93CF-C30FF636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1892808"/>
            <a:ext cx="126187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Publisher + source</a:t>
            </a:r>
            <a:endParaRPr sz="88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D0E51B76-F072-4269-BE22-A3E38AC6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417320"/>
            <a:ext cx="2029968" cy="1069848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d2af13d56b4800">
            <a:extLst>
              <a:ext uri="{96DAC541-7B7A-43D3-8B79-37D633B846F1}">
                <asvg:svgBlip xmlns:asvg="http://schemas.microsoft.com/office/drawing/2016/SVG/main" r:embed="R6bdbfe610a2c416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0" y="1649578"/>
            <a:ext cx="310896" cy="248717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551849FB-78B0-461D-B34B-F59777AE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1554480"/>
            <a:ext cx="12618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Allowlist</a:t>
            </a:r>
            <a:endParaRPr sz="1220"/>
          </a:p>
        </p:txBody>
      </p:sp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70411AD8-4166-4C0F-911B-FFDB9FAC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1892808"/>
            <a:ext cx="126187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Approved versions</a:t>
            </a:r>
            <a:endParaRPr sz="880"/>
          </a:p>
        </p:txBody>
      </p:sp>
      <p:sp>
        <p:nvSpPr>
          <p:cNvPr id="21" name="Shape 14">
            <a:extLst xmlns:a="http://schemas.openxmlformats.org/drawingml/2006/main">
              <a:ext uri="{FF2B5EF4-FFF2-40B4-BE49-F238E27FC236}">
                <a16:creationId xmlns:a16="http://schemas.microsoft.com/office/drawing/2014/main" id="{6083DBFE-4CCC-4D9C-AADA-5B3C4C4D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1417320"/>
            <a:ext cx="2029968" cy="1069848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F6F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d5870ce494bed">
            <a:extLst>
              <a:ext uri="{96DAC541-7B7A-43D3-8B79-37D633B846F1}">
                <asvg:svgBlip xmlns:asvg="http://schemas.microsoft.com/office/drawing/2016/SVG/main" r:embed="R8b7f608896d9417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5520" y="161848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5">
            <a:extLst xmlns:a="http://schemas.openxmlformats.org/drawingml/2006/main">
              <a:ext uri="{FF2B5EF4-FFF2-40B4-BE49-F238E27FC236}">
                <a16:creationId xmlns:a16="http://schemas.microsoft.com/office/drawing/2014/main" id="{1E1FB0B9-A8D0-4EFF-9AE1-7BEF6A36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856" y="1554480"/>
            <a:ext cx="12618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Runtime</a:t>
            </a:r>
            <a:endParaRPr sz="1220"/>
          </a:p>
        </p:txBody>
      </p:sp>
      <p:sp>
        <p:nvSpPr>
          <p:cNvPr id="24" name="Text 16">
            <a:extLst xmlns:a="http://schemas.openxmlformats.org/drawingml/2006/main">
              <a:ext uri="{FF2B5EF4-FFF2-40B4-BE49-F238E27FC236}">
                <a16:creationId xmlns:a16="http://schemas.microsoft.com/office/drawing/2014/main" id="{C3C1BDC9-A1CA-4ACA-8597-BEEBD33E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856" y="1892808"/>
            <a:ext cx="126187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A7B5C8"/>
                </a:solidFill>
                <a:latin typeface="Inter"/>
                <a:ea typeface="Inter"/>
                <a:cs typeface="Inter"/>
              </a:rPr>
              <a:t>Scope + telemetry</a:t>
            </a:r>
            <a:endParaRPr sz="880"/>
          </a:p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55892504-7B31-4DC1-910A-80F6C83C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880360"/>
            <a:ext cx="11045952" cy="987552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A1729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18">
            <a:extLst xmlns:a="http://schemas.openxmlformats.org/drawingml/2006/main">
              <a:ext uri="{FF2B5EF4-FFF2-40B4-BE49-F238E27FC236}">
                <a16:creationId xmlns:a16="http://schemas.microsoft.com/office/drawing/2014/main" id="{D2837279-9E22-4A5F-A8B5-883064CC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1810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18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7847da3dd34521">
            <a:extLst>
              <a:ext uri="{96DAC541-7B7A-43D3-8B79-37D633B846F1}">
                <asvg:svgBlip xmlns:asvg="http://schemas.microsoft.com/office/drawing/2016/SVG/main" r:embed="Rebee09e680f745b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840" y="32278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30357C09-945A-4C8C-A973-4E06C15E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464" y="3154680"/>
            <a:ext cx="1143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DISCOVER</a:t>
            </a:r>
            <a:endParaRPr sz="105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8FE972FD-F2D5-4772-A1EB-ED032EB2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328416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21">
            <a:extLst xmlns:a="http://schemas.openxmlformats.org/drawingml/2006/main">
              <a:ext uri="{FF2B5EF4-FFF2-40B4-BE49-F238E27FC236}">
                <a16:creationId xmlns:a16="http://schemas.microsoft.com/office/drawing/2014/main" id="{7DB5F3F2-0810-4FBB-B4DC-0ABDA1F4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96" y="311810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E0B5">
              <a:alpha val="18000"/>
            </a:srgbClr>
          </a:solidFill>
          <a:ln xmlns:a="http://schemas.openxmlformats.org/drawingml/2006/main" w="12700">
            <a:solidFill>
              <a:srgbClr val="3BE0B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96ac9a03845bc">
            <a:extLst>
              <a:ext uri="{96DAC541-7B7A-43D3-8B79-37D633B846F1}">
                <asvg:svgBlip xmlns:asvg="http://schemas.microsoft.com/office/drawing/2016/SVG/main" r:embed="Ra0030dbd915a48a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63824" y="32278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32" name="Text 22">
            <a:extLst xmlns:a="http://schemas.openxmlformats.org/drawingml/2006/main">
              <a:ext uri="{FF2B5EF4-FFF2-40B4-BE49-F238E27FC236}">
                <a16:creationId xmlns:a16="http://schemas.microsoft.com/office/drawing/2014/main" id="{8519D016-318D-48A4-AE99-E6BE20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154680"/>
            <a:ext cx="1143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VERIFY</a:t>
            </a:r>
            <a:endParaRPr sz="1050"/>
          </a:p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164B499C-37A6-4C75-9C0F-CF794671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328416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70A1645D-45D1-4F62-889F-C11E9CA0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1810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9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2426e2c634dad">
            <a:extLst>
              <a:ext uri="{96DAC541-7B7A-43D3-8B79-37D633B846F1}">
                <asvg:svgBlip xmlns:asvg="http://schemas.microsoft.com/office/drawing/2016/SVG/main" r:embed="R0b8d984cbcb9403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1808" y="32278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36" name="Text 25">
            <a:extLst xmlns:a="http://schemas.openxmlformats.org/drawingml/2006/main">
              <a:ext uri="{FF2B5EF4-FFF2-40B4-BE49-F238E27FC236}">
                <a16:creationId xmlns:a16="http://schemas.microsoft.com/office/drawing/2014/main" id="{094F94A0-816D-420E-BE69-6E1FFE6D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154680"/>
            <a:ext cx="1143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AUTHENTICATE</a:t>
            </a:r>
            <a:endParaRPr sz="1050"/>
          </a:p>
        </p:txBody>
      </p:sp>
      <p:sp>
        <p:nvSpPr>
          <p:cNvPr id="37" name="Shape 26">
            <a:extLst xmlns:a="http://schemas.openxmlformats.org/drawingml/2006/main">
              <a:ext uri="{FF2B5EF4-FFF2-40B4-BE49-F238E27FC236}">
                <a16:creationId xmlns:a16="http://schemas.microsoft.com/office/drawing/2014/main" id="{51143362-E8C7-4231-BCC8-D8EC6114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3328416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Shape 27">
            <a:extLst xmlns:a="http://schemas.openxmlformats.org/drawingml/2006/main">
              <a:ext uri="{FF2B5EF4-FFF2-40B4-BE49-F238E27FC236}">
                <a16:creationId xmlns:a16="http://schemas.microsoft.com/office/drawing/2014/main" id="{BAA83DB7-1081-424C-B9C3-93BD2810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311810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>
              <a:alpha val="18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3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db2e4433a478f">
            <a:extLst>
              <a:ext uri="{96DAC541-7B7A-43D3-8B79-37D633B846F1}">
                <asvg:svgBlip xmlns:asvg="http://schemas.microsoft.com/office/drawing/2016/SVG/main" r:embed="R55bf1d42733648f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79792" y="3227832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0" name="Text 28">
            <a:extLst xmlns:a="http://schemas.openxmlformats.org/drawingml/2006/main">
              <a:ext uri="{FF2B5EF4-FFF2-40B4-BE49-F238E27FC236}">
                <a16:creationId xmlns:a16="http://schemas.microsoft.com/office/drawing/2014/main" id="{E68EEACE-2477-4EBA-A7BC-EE610E61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3154680"/>
            <a:ext cx="1143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SCOPE</a:t>
            </a:r>
            <a:endParaRPr sz="1050"/>
          </a:p>
        </p:txBody>
      </p:sp>
      <p:sp>
        <p:nvSpPr>
          <p:cNvPr id="41" name="Shape 29">
            <a:extLst xmlns:a="http://schemas.openxmlformats.org/drawingml/2006/main">
              <a:ext uri="{FF2B5EF4-FFF2-40B4-BE49-F238E27FC236}">
                <a16:creationId xmlns:a16="http://schemas.microsoft.com/office/drawing/2014/main" id="{599C9F6B-61E2-45E2-8144-4AF552C7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328416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0">
            <a:extLst xmlns:a="http://schemas.openxmlformats.org/drawingml/2006/main">
              <a:ext uri="{FF2B5EF4-FFF2-40B4-BE49-F238E27FC236}">
                <a16:creationId xmlns:a16="http://schemas.microsoft.com/office/drawing/2014/main" id="{44CC654E-DE38-4B2C-868C-81DE9CE1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311810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79FF">
              <a:alpha val="18000"/>
            </a:srgbClr>
          </a:solidFill>
          <a:ln xmlns:a="http://schemas.openxmlformats.org/drawingml/2006/main" w="12700">
            <a:solidFill>
              <a:srgbClr val="A87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7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ab9f27981404a">
            <a:extLst>
              <a:ext uri="{96DAC541-7B7A-43D3-8B79-37D633B846F1}">
                <asvg:svgBlip xmlns:asvg="http://schemas.microsoft.com/office/drawing/2016/SVG/main" r:embed="R722540535054416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7776" y="3239008"/>
            <a:ext cx="201168" cy="178816"/>
          </a:xfrm>
          <a:prstGeom xmlns:a="http://schemas.openxmlformats.org/drawingml/2006/main" prst="rect">
            <a:avLst/>
          </a:prstGeom>
        </p:spPr>
      </p:pic>
      <p:sp>
        <p:nvSpPr>
          <p:cNvPr id="44" name="Text 31">
            <a:extLst xmlns:a="http://schemas.openxmlformats.org/drawingml/2006/main">
              <a:ext uri="{FF2B5EF4-FFF2-40B4-BE49-F238E27FC236}">
                <a16:creationId xmlns:a16="http://schemas.microsoft.com/office/drawing/2014/main" id="{3E38E3E1-837D-4260-A8E7-0886003C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54680"/>
            <a:ext cx="1143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OBSERVE</a:t>
            </a:r>
            <a:endParaRPr sz="1050"/>
          </a:p>
        </p:txBody>
      </p:sp>
      <p:sp>
        <p:nvSpPr>
          <p:cNvPr id="45" name="Shape 32">
            <a:extLst xmlns:a="http://schemas.openxmlformats.org/drawingml/2006/main">
              <a:ext uri="{FF2B5EF4-FFF2-40B4-BE49-F238E27FC236}">
                <a16:creationId xmlns:a16="http://schemas.microsoft.com/office/drawing/2014/main" id="{7E1C19B3-570A-46A0-8231-B33DF040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79392"/>
            <a:ext cx="3456432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Shape 33">
            <a:extLst xmlns:a="http://schemas.openxmlformats.org/drawingml/2006/main">
              <a:ext uri="{FF2B5EF4-FFF2-40B4-BE49-F238E27FC236}">
                <a16:creationId xmlns:a16="http://schemas.microsoft.com/office/drawing/2014/main" id="{88423E90-CD4C-495E-B8FB-BAF1C62F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18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1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1fae225f3483e">
            <a:extLst>
              <a:ext uri="{96DAC541-7B7A-43D3-8B79-37D633B846F1}">
                <asvg:svgBlip xmlns:asvg="http://schemas.microsoft.com/office/drawing/2016/SVG/main" r:embed="R67b7b137aa7a405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2104" y="4548632"/>
            <a:ext cx="237744" cy="211328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B82F8EA1-9BE0-43DD-85B6-A568EEC7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44398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Local</a:t>
            </a:r>
            <a:endParaRPr sz="145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21A89D64-8996-4E99-8327-6C551E33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773168"/>
            <a:ext cx="2578608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Credentials from the local environment</a:t>
            </a:r>
            <a:endParaRPr sz="1050"/>
          </a:p>
        </p:txBody>
      </p:sp>
      <p:sp>
        <p:nvSpPr>
          <p:cNvPr id="50" name="Shape 36">
            <a:extLst xmlns:a="http://schemas.openxmlformats.org/drawingml/2006/main">
              <a:ext uri="{FF2B5EF4-FFF2-40B4-BE49-F238E27FC236}">
                <a16:creationId xmlns:a16="http://schemas.microsoft.com/office/drawing/2014/main" id="{3702C404-27E0-4C25-A875-694A52C0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4443984"/>
            <a:ext cx="566928" cy="228600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35D4E7">
              <a:alpha val="18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Text 37">
            <a:extLst xmlns:a="http://schemas.openxmlformats.org/drawingml/2006/main">
              <a:ext uri="{FF2B5EF4-FFF2-40B4-BE49-F238E27FC236}">
                <a16:creationId xmlns:a16="http://schemas.microsoft.com/office/drawing/2014/main" id="{624F2B6B-B0AA-4A89-911C-6CB1C756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4453128"/>
            <a:ext cx="420624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DEV</a:t>
            </a:r>
            <a:endParaRPr sz="850"/>
          </a:p>
        </p:txBody>
      </p:sp>
      <p:sp>
        <p:nvSpPr>
          <p:cNvPr id="52" name="Shape 38">
            <a:extLst xmlns:a="http://schemas.openxmlformats.org/drawingml/2006/main">
              <a:ext uri="{FF2B5EF4-FFF2-40B4-BE49-F238E27FC236}">
                <a16:creationId xmlns:a16="http://schemas.microsoft.com/office/drawing/2014/main" id="{EE480530-3A22-4944-AD87-AECCDF83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4279392"/>
            <a:ext cx="3456432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hape 39">
            <a:extLst xmlns:a="http://schemas.openxmlformats.org/drawingml/2006/main">
              <a:ext uri="{FF2B5EF4-FFF2-40B4-BE49-F238E27FC236}">
                <a16:creationId xmlns:a16="http://schemas.microsoft.com/office/drawing/2014/main" id="{65C9135C-ED9D-4886-B147-15D0BC44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43484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239ebdc1e4497">
            <a:extLst>
              <a:ext uri="{96DAC541-7B7A-43D3-8B79-37D633B846F1}">
                <asvg:svgBlip xmlns:asvg="http://schemas.microsoft.com/office/drawing/2016/SVG/main" r:embed="R82307b1d9a084cf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6864" y="453542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55" name="Text 40">
            <a:extLst xmlns:a="http://schemas.openxmlformats.org/drawingml/2006/main">
              <a:ext uri="{FF2B5EF4-FFF2-40B4-BE49-F238E27FC236}">
                <a16:creationId xmlns:a16="http://schemas.microsoft.com/office/drawing/2014/main" id="{B69EFD9E-D48D-4330-9DCA-AD53643B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44398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Remote</a:t>
            </a:r>
            <a:endParaRPr sz="1450"/>
          </a:p>
        </p:txBody>
      </p:sp>
      <p:sp>
        <p:nvSpPr>
          <p:cNvPr id="56" name="Text 41">
            <a:extLst xmlns:a="http://schemas.openxmlformats.org/drawingml/2006/main">
              <a:ext uri="{FF2B5EF4-FFF2-40B4-BE49-F238E27FC236}">
                <a16:creationId xmlns:a16="http://schemas.microsoft.com/office/drawing/2014/main" id="{03486D4F-07DE-4F1C-928F-DB18337B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773168"/>
            <a:ext cx="2578608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OAuth · bearer tokens · delegated credentials</a:t>
            </a:r>
            <a:endParaRPr sz="1050"/>
          </a:p>
        </p:txBody>
      </p:sp>
      <p:sp>
        <p:nvSpPr>
          <p:cNvPr id="57" name="Shape 42">
            <a:extLst xmlns:a="http://schemas.openxmlformats.org/drawingml/2006/main">
              <a:ext uri="{FF2B5EF4-FFF2-40B4-BE49-F238E27FC236}">
                <a16:creationId xmlns:a16="http://schemas.microsoft.com/office/drawing/2014/main" id="{1E7E78EF-5C1E-4F97-932A-ABD0C3C7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443984"/>
            <a:ext cx="566928" cy="228600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Text 43">
            <a:extLst xmlns:a="http://schemas.openxmlformats.org/drawingml/2006/main">
              <a:ext uri="{FF2B5EF4-FFF2-40B4-BE49-F238E27FC236}">
                <a16:creationId xmlns:a16="http://schemas.microsoft.com/office/drawing/2014/main" id="{AF031C38-6574-4AF0-BA7A-6E56CBBE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453128"/>
            <a:ext cx="420624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5B7CFF"/>
                </a:solidFill>
                <a:latin typeface="Inter"/>
                <a:ea typeface="Inter"/>
                <a:cs typeface="Inter"/>
              </a:rPr>
              <a:t>HTTP</a:t>
            </a:r>
            <a:endParaRPr sz="850"/>
          </a:p>
        </p:txBody>
      </p:sp>
      <p:sp>
        <p:nvSpPr>
          <p:cNvPr id="59" name="Shape 44">
            <a:extLst xmlns:a="http://schemas.openxmlformats.org/drawingml/2006/main">
              <a:ext uri="{FF2B5EF4-FFF2-40B4-BE49-F238E27FC236}">
                <a16:creationId xmlns:a16="http://schemas.microsoft.com/office/drawing/2014/main" id="{C0E8EE53-9062-4D4F-B629-A6B4F0D6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4279392"/>
            <a:ext cx="3456432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Shape 45">
            <a:extLst xmlns:a="http://schemas.openxmlformats.org/drawingml/2006/main">
              <a:ext uri="{FF2B5EF4-FFF2-40B4-BE49-F238E27FC236}">
                <a16:creationId xmlns:a16="http://schemas.microsoft.com/office/drawing/2014/main" id="{F84A2B57-7674-465B-AA1D-D0DD8001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43484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>
              <a:alpha val="18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45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78e6100c84f4e">
            <a:extLst>
              <a:ext uri="{96DAC541-7B7A-43D3-8B79-37D633B846F1}">
                <asvg:svgBlip xmlns:asvg="http://schemas.microsoft.com/office/drawing/2016/SVG/main" r:embed="Rce16b5a8595444b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51342" y="4535424"/>
            <a:ext cx="178308" cy="237744"/>
          </a:xfrm>
          <a:prstGeom xmlns:a="http://schemas.openxmlformats.org/drawingml/2006/main" prst="rect">
            <a:avLst/>
          </a:prstGeom>
        </p:spPr>
      </p:pic>
      <p:sp>
        <p:nvSpPr>
          <p:cNvPr id="62" name="Text 46">
            <a:extLst xmlns:a="http://schemas.openxmlformats.org/drawingml/2006/main">
              <a:ext uri="{FF2B5EF4-FFF2-40B4-BE49-F238E27FC236}">
                <a16:creationId xmlns:a16="http://schemas.microsoft.com/office/drawing/2014/main" id="{9D7D1A89-B9FA-4E9E-9F2B-2CF56503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44398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Users</a:t>
            </a:r>
            <a:endParaRPr sz="1450"/>
          </a:p>
        </p:txBody>
      </p:sp>
      <p:sp>
        <p:nvSpPr>
          <p:cNvPr id="63" name="Text 47">
            <a:extLst xmlns:a="http://schemas.openxmlformats.org/drawingml/2006/main">
              <a:ext uri="{FF2B5EF4-FFF2-40B4-BE49-F238E27FC236}">
                <a16:creationId xmlns:a16="http://schemas.microsoft.com/office/drawing/2014/main" id="{37EF4812-0ACE-4229-834D-DCC98774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773168"/>
            <a:ext cx="2578608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Identity provider manages sign-in, roles and offboarding</a:t>
            </a:r>
            <a:endParaRPr sz="1050"/>
          </a:p>
        </p:txBody>
      </p:sp>
      <p:sp>
        <p:nvSpPr>
          <p:cNvPr id="64" name="Shape 48">
            <a:extLst xmlns:a="http://schemas.openxmlformats.org/drawingml/2006/main">
              <a:ext uri="{FF2B5EF4-FFF2-40B4-BE49-F238E27FC236}">
                <a16:creationId xmlns:a16="http://schemas.microsoft.com/office/drawing/2014/main" id="{D1B8FE81-9885-4F8C-A039-A1A766C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3928" y="4443984"/>
            <a:ext cx="566928" cy="228600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F7B955">
              <a:alpha val="18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5" name="Text 49">
            <a:extLst xmlns:a="http://schemas.openxmlformats.org/drawingml/2006/main">
              <a:ext uri="{FF2B5EF4-FFF2-40B4-BE49-F238E27FC236}">
                <a16:creationId xmlns:a16="http://schemas.microsoft.com/office/drawing/2014/main" id="{72796DEC-7DAA-4E91-B1C3-51D397C7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4453128"/>
            <a:ext cx="420624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IDP</a:t>
            </a:r>
            <a:endParaRPr sz="850"/>
          </a:p>
        </p:txBody>
      </p:sp>
      <p:sp>
        <p:nvSpPr>
          <p:cNvPr id="66" name="Shape 50">
            <a:extLst xmlns:a="http://schemas.openxmlformats.org/drawingml/2006/main">
              <a:ext uri="{FF2B5EF4-FFF2-40B4-BE49-F238E27FC236}">
                <a16:creationId xmlns:a16="http://schemas.microsoft.com/office/drawing/2014/main" id="{58608659-BDD4-400E-A58C-9C6619CB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5870448"/>
            <a:ext cx="3749040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647C">
              <a:alpha val="14000"/>
            </a:srgbClr>
          </a:solidFill>
          <a:ln xmlns:a="http://schemas.openxmlformats.org/drawingml/2006/main" w="12700">
            <a:solidFill>
              <a:srgbClr val="FF647C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Text 51">
            <a:extLst xmlns:a="http://schemas.openxmlformats.org/drawingml/2006/main">
              <a:ext uri="{FF2B5EF4-FFF2-40B4-BE49-F238E27FC236}">
                <a16:creationId xmlns:a16="http://schemas.microsoft.com/office/drawing/2014/main" id="{7DDA179F-9D1E-4925-8AD1-ADCFF1D9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879592"/>
            <a:ext cx="3602736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FF647C"/>
                </a:solidFill>
                <a:latin typeface="Inter"/>
                <a:ea typeface="Inter"/>
                <a:cs typeface="Inter"/>
              </a:rPr>
              <a:t>REGISTRY ≠ ENDORSEMENT</a:t>
            </a:r>
            <a:endParaRPr sz="1120"/>
          </a:p>
        </p:txBody>
      </p:sp>
      <p:sp>
        <p:nvSpPr>
          <p:cNvPr id="68" name="Shape 52">
            <a:extLst xmlns:a="http://schemas.openxmlformats.org/drawingml/2006/main">
              <a:ext uri="{FF2B5EF4-FFF2-40B4-BE49-F238E27FC236}">
                <a16:creationId xmlns:a16="http://schemas.microsoft.com/office/drawing/2014/main" id="{E78F2D87-A69B-45A3-A510-2A8A7E5A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Text 53">
            <a:extLst xmlns:a="http://schemas.openxmlformats.org/drawingml/2006/main">
              <a:ext uri="{FF2B5EF4-FFF2-40B4-BE49-F238E27FC236}">
                <a16:creationId xmlns:a16="http://schemas.microsoft.com/office/drawing/2014/main" id="{1BF5AC95-5E4E-4CC4-9897-1060F811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 · PRODUCT</a:t>
            </a:r>
            <a:endParaRPr sz="850"/>
          </a:p>
        </p:txBody>
      </p:sp>
      <p:sp>
        <p:nvSpPr>
          <p:cNvPr id="70" name="Text 54">
            <a:extLst xmlns:a="http://schemas.openxmlformats.org/drawingml/2006/main">
              <a:ext uri="{FF2B5EF4-FFF2-40B4-BE49-F238E27FC236}">
                <a16:creationId xmlns:a16="http://schemas.microsoft.com/office/drawing/2014/main" id="{7F48E98E-9224-496D-810F-DBCB28F1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71" name="Text 55">
            <a:extLst xmlns:a="http://schemas.openxmlformats.org/drawingml/2006/main">
              <a:ext uri="{FF2B5EF4-FFF2-40B4-BE49-F238E27FC236}">
                <a16:creationId xmlns:a16="http://schemas.microsoft.com/office/drawing/2014/main" id="{2C19A38B-79E4-460F-AC3B-983BF513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04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21216379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e126bba3d4e5a">
            <a:extLst>
              <a:ext uri="{96DAC541-7B7A-43D3-8B79-37D633B846F1}">
                <asvg:svgBlip xmlns:asvg="http://schemas.microsoft.com/office/drawing/2016/SVG/main" r:embed="R12de90f7592e45f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DCF8140-3E40-45CB-AA58-3F964CFA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BORED APES · MEME COINS · VERY CALM MARKETS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CDB3A7E-3FE5-4E4B-9A49-A5BC194E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Customer acquisition: the VC arrives</a:t>
            </a:r>
            <a:endParaRPr sz="27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C7A88CFA-F9AC-4289-BB0B-6E9D577E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17320"/>
            <a:ext cx="3794760" cy="4480560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11182A"/>
          </a:solidFill>
          <a:ln xmlns:a="http://schemas.openxmlformats.org/drawingml/2006/main" w="12700">
            <a:solidFill>
              <a:srgbClr val="A879FF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AD2CFA4-D58B-4F92-90A6-138813C2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1907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879FF">
              <a:alpha val="17000"/>
            </a:srgbClr>
          </a:solidFill>
          <a:ln xmlns:a="http://schemas.openxmlformats.org/drawingml/2006/main" w="12700">
            <a:solidFill>
              <a:srgbClr val="A879FF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573F9D7-8A18-48BC-AA6C-A3171C85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728216"/>
            <a:ext cx="133502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D8C5FF"/>
                </a:solidFill>
                <a:latin typeface="Inter"/>
                <a:ea typeface="Inter"/>
                <a:cs typeface="Inter"/>
              </a:rPr>
              <a:t>PRIORITY CUSTOMER</a:t>
            </a:r>
            <a:endParaRPr sz="86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1DFD081-B848-439B-8971-4AB129D9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2176272"/>
            <a:ext cx="2075688" cy="2075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5B50"/>
          </a:solidFill>
          <a:ln xmlns:a="http://schemas.openxmlformats.org/drawingml/2006/main" w="12700">
            <a:solidFill>
              <a:srgbClr val="FF6FA8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9F1FCC8-065D-49F4-BCC4-F0785DAE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578608"/>
            <a:ext cx="512064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4E46"/>
          </a:solidFill>
          <a:ln xmlns:a="http://schemas.openxmlformats.org/drawingml/2006/main" w="12700">
            <a:solidFill>
              <a:srgbClr val="6E4E4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1E4E83E-DFE2-4DC2-888C-104B5756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24" y="2578608"/>
            <a:ext cx="512064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4E46"/>
          </a:solidFill>
          <a:ln xmlns:a="http://schemas.openxmlformats.org/drawingml/2006/main" w="12700">
            <a:solidFill>
              <a:srgbClr val="6E4E4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4844E6C-2F42-4FC5-945B-84216472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3081528"/>
            <a:ext cx="1344168" cy="8321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7A68"/>
          </a:solidFill>
          <a:ln xmlns:a="http://schemas.openxmlformats.org/drawingml/2006/main" w="12700">
            <a:solidFill>
              <a:srgbClr val="A37A6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803527-F38F-4821-BCBA-B77B8A39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352" y="2615184"/>
            <a:ext cx="713232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A13"/>
          </a:solidFill>
          <a:ln xmlns:a="http://schemas.openxmlformats.org/drawingml/2006/main" w="12700">
            <a:solidFill>
              <a:srgbClr val="050A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8EC5F4F3-C747-427A-85AB-A57DE54C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615184"/>
            <a:ext cx="713232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50A13"/>
          </a:solidFill>
          <a:ln xmlns:a="http://schemas.openxmlformats.org/drawingml/2006/main" w="12700">
            <a:solidFill>
              <a:srgbClr val="050A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713FF56-0EDA-43B6-9B66-FE1075A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584" y="2770632"/>
            <a:ext cx="1097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050A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175B8529-D0E1-4835-BCA4-1B3794FD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3346704"/>
            <a:ext cx="594360" cy="32004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A37A68">
              <a:alpha val="0"/>
            </a:srgbClr>
          </a:solidFill>
          <a:ln xmlns:a="http://schemas.openxmlformats.org/drawingml/2006/main" w="12700">
            <a:solidFill>
              <a:srgbClr val="050A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01A2786-B29C-4F86-B492-F1BAD723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0000">
            <a:off x="2852928" y="3867912"/>
            <a:ext cx="5303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VC</a:t>
            </a:r>
            <a:endParaRPr sz="20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1806F94E-7376-4771-A985-54872531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99432"/>
            <a:ext cx="321868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“Can your agent analyse</a:t>
            </a:r>
            <a:endParaRPr sz="1700"/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my portfolio?”</a:t>
            </a:r>
            <a:endParaRPr sz="17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E9F1FB4-D0FC-4529-BA06-3850B074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40096"/>
            <a:ext cx="321868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Nothing clarifies product priorities</a:t>
            </a:r>
            <a:endParaRPr sz="1120"/>
          </a:p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like consequences.</a:t>
            </a:r>
            <a:endParaRPr sz="112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727CF2CE-4996-40A2-88FF-6C328E52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1417320"/>
            <a:ext cx="3246120" cy="2039112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7E1AF01-7C98-4D83-8D0D-FAFB3EC9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1673352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35D4E7"/>
                </a:solidFill>
                <a:latin typeface="Inter"/>
                <a:ea typeface="Inter"/>
                <a:cs typeface="Inter"/>
              </a:rPr>
              <a:t>BAYC FLOOR · ETH</a:t>
            </a:r>
            <a:endParaRPr sz="10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389645C9-D6B6-4CD4-A583-A3E6708B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990088"/>
            <a:ext cx="24505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9272E3B1-4C69-4EB3-A622-71E78639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011680"/>
            <a:ext cx="0" cy="9784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8AC9AA6-8284-47EB-BFA3-5CA9526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889504"/>
            <a:ext cx="10332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B8A05B9-CDFF-4A1C-8FF6-32354C25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2130552"/>
            <a:ext cx="1133856" cy="6949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4B7994B7-05A6-4041-8DE7-8A729648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8254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26C8B1C-2923-4A95-80AD-D26700C4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184" y="206654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CB21609-7E58-49F1-9018-12BFC543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76148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3E6742C-2C8C-468F-9331-630B34E4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05409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7B5C8"/>
                </a:solidFill>
                <a:latin typeface="Inter"/>
                <a:ea typeface="Inter"/>
                <a:cs typeface="Inter"/>
              </a:rPr>
              <a:t>0.08</a:t>
            </a:r>
            <a:endParaRPr sz="8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EA0DD4E3-2BF6-47E5-9C2C-3E110F59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1874520"/>
            <a:ext cx="56692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~145</a:t>
            </a:r>
            <a:endParaRPr sz="85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0FF5EF1-475E-4591-B11D-39C0EF24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2898648"/>
            <a:ext cx="5303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7B5C8"/>
                </a:solidFill>
                <a:latin typeface="Inter"/>
                <a:ea typeface="Inter"/>
                <a:cs typeface="Inter"/>
              </a:rPr>
              <a:t>~6.2</a:t>
            </a:r>
            <a:endParaRPr sz="85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C22E1D2-44FC-40CC-BDFB-359C1AA8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2095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2021</a:t>
            </a:r>
            <a:endParaRPr sz="78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204D5EF-876D-43B6-BCC3-DC0C1AB8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592" y="32095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2022</a:t>
            </a:r>
            <a:endParaRPr sz="78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BDA03A2-D9EE-4E7F-8F67-8E0FC0EF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304" y="32095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2026</a:t>
            </a:r>
            <a:endParaRPr sz="78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84ABFA9B-D18F-411D-957D-03D202AD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417320"/>
            <a:ext cx="3310128" cy="2039112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F70B4003-1523-4DDC-BC94-73FDDB55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216" y="1673352"/>
            <a:ext cx="1828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7B955"/>
                </a:solidFill>
                <a:latin typeface="Inter"/>
                <a:ea typeface="Inter"/>
                <a:cs typeface="Inter"/>
              </a:rPr>
              <a:t>TRUMP COIN · USD</a:t>
            </a:r>
            <a:endParaRPr sz="100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DE576B70-73ED-4144-927E-5B92783A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990088"/>
            <a:ext cx="24688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F4CFE0D2-D5B6-4BF2-AF93-887C905C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011680"/>
            <a:ext cx="0" cy="9784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7D1D679F-444C-4B60-A5E3-7788B89D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139696"/>
            <a:ext cx="2020824" cy="7132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CEE7C5DA-96A1-4BDA-907F-73694A3A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207568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19A39427-B098-432E-9957-63B8151A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532888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502343D0-D7CE-489B-86BA-B19345FE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9336" y="2788920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AFF8135F-1AFC-4004-9F3B-41071CB9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9280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$73.43</a:t>
            </a:r>
            <a:endParaRPr sz="850"/>
          </a:p>
        </p:txBody>
      </p:sp>
      <p:sp>
        <p:nvSpPr>
          <p:cNvPr id="43" name="Text 40">
            <a:extLst xmlns:a="http://schemas.openxmlformats.org/drawingml/2006/main">
              <a:ext uri="{FF2B5EF4-FFF2-40B4-BE49-F238E27FC236}">
                <a16:creationId xmlns:a16="http://schemas.microsoft.com/office/drawing/2014/main" id="{39D581A6-C347-45D8-BD50-9C64AF08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86584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7B5C8"/>
                </a:solidFill>
                <a:latin typeface="Inter"/>
                <a:ea typeface="Inter"/>
                <a:cs typeface="Inter"/>
              </a:rPr>
              <a:t>~$4.8</a:t>
            </a:r>
            <a:endParaRPr sz="850"/>
          </a:p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6A7053F0-9F23-44B5-BEB6-52F71B89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2907792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7B5C8"/>
                </a:solidFill>
                <a:latin typeface="Inter"/>
                <a:ea typeface="Inter"/>
                <a:cs typeface="Inter"/>
              </a:rPr>
              <a:t>~$2.0</a:t>
            </a:r>
            <a:endParaRPr sz="85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5027566-6250-4CCE-B0F3-934018A7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209544"/>
            <a:ext cx="685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JAN 25</a:t>
            </a:r>
            <a:endParaRPr sz="780"/>
          </a:p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D7C37DE3-9F73-4C6C-9D85-69D634FE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9544"/>
            <a:ext cx="685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DEC 25</a:t>
            </a:r>
            <a:endParaRPr sz="780"/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E46FD72B-F4DE-45AA-A929-085351AB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016" y="3209544"/>
            <a:ext cx="685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SEP 26</a:t>
            </a:r>
            <a:endParaRPr sz="780"/>
          </a:p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F1BCB6DC-2693-4F43-B226-B6A76ACF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3785616"/>
            <a:ext cx="6922008" cy="2112264"/>
          </a:xfrm>
          <a:prstGeom xmlns:a="http://schemas.openxmlformats.org/drawingml/2006/main" prst="roundRect">
            <a:avLst>
              <a:gd name="adj" fmla="val 3463"/>
            </a:avLst>
          </a:prstGeom>
          <a:solidFill xmlns:a="http://schemas.openxmlformats.org/drawingml/2006/main">
            <a:srgbClr val="0D182B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54EA4B8B-FDF9-4D31-BFAC-ACB8D502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4087368"/>
            <a:ext cx="2286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10">
                <a:solidFill>
                  <a:srgbClr val="FF6FA8"/>
                </a:solidFill>
                <a:latin typeface="Inter"/>
                <a:ea typeface="Inter"/>
                <a:cs typeface="Inter"/>
              </a:rPr>
              <a:t>THE REQUIREMENTS CHANGE</a:t>
            </a:r>
            <a:endParaRPr sz="900"/>
          </a:p>
        </p:txBody>
      </p:sp>
      <p:pic>
        <p:nvPicPr>
          <p:cNvPr id="11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34ff0614d4136">
            <a:extLst>
              <a:ext uri="{96DAC541-7B7A-43D3-8B79-37D633B846F1}">
                <asvg:svgBlip xmlns:asvg="http://schemas.microsoft.com/office/drawing/2016/SVG/main" r:embed="R37f76918a52c4cb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4502404"/>
            <a:ext cx="228600" cy="203200"/>
          </a:xfrm>
          <a:prstGeom xmlns:a="http://schemas.openxmlformats.org/drawingml/2006/main" prst="rect">
            <a:avLst/>
          </a:prstGeom>
        </p:spPr>
      </p:pic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3A698963-49F1-4022-BD8F-A9EE62B2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4480560"/>
            <a:ext cx="5394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8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Who can see my data? How long is it kept?</a:t>
            </a:r>
            <a:endParaRPr sz="1250"/>
          </a:p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243BD13F-95AF-4F97-BEFE-4A5225E6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451713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a72ac9f7046f4">
            <a:extLst>
              <a:ext uri="{96DAC541-7B7A-43D3-8B79-37D633B846F1}">
                <asvg:svgBlip xmlns:asvg="http://schemas.microsoft.com/office/drawing/2016/SVG/main" r:embed="R586cae27e11f463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5200" y="4919472"/>
            <a:ext cx="200025" cy="228600"/>
          </a:xfrm>
          <a:prstGeom xmlns:a="http://schemas.openxmlformats.org/drawingml/2006/main" prst="rect">
            <a:avLst/>
          </a:prstGeom>
        </p:spPr>
      </p:pic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7D241636-0F45-47CE-97D9-5754BF1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4910328"/>
            <a:ext cx="539496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Can the agent take a durable action?</a:t>
            </a:r>
            <a:endParaRPr sz="1250"/>
          </a:p>
        </p:txBody>
      </p:sp>
      <p:sp>
        <p:nvSpPr>
          <p:cNvPr id="55" name="Shape 50">
            <a:extLst xmlns:a="http://schemas.openxmlformats.org/drawingml/2006/main">
              <a:ext uri="{FF2B5EF4-FFF2-40B4-BE49-F238E27FC236}">
                <a16:creationId xmlns:a16="http://schemas.microsoft.com/office/drawing/2014/main" id="{7580A5FD-1D8A-47C3-8248-513B3AC2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49469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11f96355c48bf">
            <a:extLst>
              <a:ext uri="{96DAC541-7B7A-43D3-8B79-37D633B846F1}">
                <asvg:svgBlip xmlns:asvg="http://schemas.microsoft.com/office/drawing/2016/SVG/main" r:embed="Rad95eeadd5674a3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5349240"/>
            <a:ext cx="228600" cy="228600"/>
          </a:xfrm>
          <a:prstGeom xmlns:a="http://schemas.openxmlformats.org/drawingml/2006/main" prst="rect">
            <a:avLst/>
          </a:prstGeom>
        </p:spPr>
      </p:pic>
      <p:sp>
        <p:nvSpPr>
          <p:cNvPr id="57" name="Text 51">
            <a:extLst xmlns:a="http://schemas.openxmlformats.org/drawingml/2006/main">
              <a:ext uri="{FF2B5EF4-FFF2-40B4-BE49-F238E27FC236}">
                <a16:creationId xmlns:a16="http://schemas.microsoft.com/office/drawing/2014/main" id="{8045A710-45CC-45F7-88EC-A32C6DEB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5340096"/>
            <a:ext cx="3429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Can I reproduce the answer?</a:t>
            </a:r>
            <a:endParaRPr sz="1250"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9619EAF8-88C7-4EDC-A142-643ED11D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537667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79FF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Text 53">
            <a:extLst xmlns:a="http://schemas.openxmlformats.org/drawingml/2006/main">
              <a:ext uri="{FF2B5EF4-FFF2-40B4-BE49-F238E27FC236}">
                <a16:creationId xmlns:a16="http://schemas.microsoft.com/office/drawing/2014/main" id="{B9E85CC5-9003-417E-B0E6-87AC09DC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5660136"/>
            <a:ext cx="28346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80" i="1">
                <a:solidFill>
                  <a:srgbClr val="72839A"/>
                </a:solidFill>
                <a:latin typeface="Inter"/>
                <a:ea typeface="Inter"/>
                <a:cs typeface="Inter"/>
              </a:rPr>
              <a:t>Milestone illustration, not a daily price series.</a:t>
            </a:r>
            <a:endParaRPr sz="780"/>
          </a:p>
        </p:txBody>
      </p:sp>
      <p:sp>
        <p:nvSpPr>
          <p:cNvPr id="60" name="Shape 54">
            <a:extLst xmlns:a="http://schemas.openxmlformats.org/drawingml/2006/main">
              <a:ext uri="{FF2B5EF4-FFF2-40B4-BE49-F238E27FC236}">
                <a16:creationId xmlns:a16="http://schemas.microsoft.com/office/drawing/2014/main" id="{AF10D755-B85E-48F5-95B3-81DC74D8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8B51A0B2-65C9-4C43-9D64-B0EE4509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 · PRODUCT</a:t>
            </a:r>
            <a:endParaRPr sz="8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31BBD849-9694-4AAB-865D-9499CC27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63" name="Text 57">
            <a:extLst xmlns:a="http://schemas.openxmlformats.org/drawingml/2006/main">
              <a:ext uri="{FF2B5EF4-FFF2-40B4-BE49-F238E27FC236}">
                <a16:creationId xmlns:a16="http://schemas.microsoft.com/office/drawing/2014/main" id="{7A5E860A-17D0-402C-BAF6-EDDCA7F4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05</a:t>
            </a:r>
            <a:endParaRPr sz="850"/>
          </a:p>
        </p:txBody>
      </p:sp>
      <p:sp xmlns:a="http://schemas.openxmlformats.org/drawingml/2006/main">
        <p:nvSpPr>
          <p:cNvPr id="123" name="Transcript cue: CONTAINED BLAST RADIUS"/>
          <p:cNvSpPr txBox="1"/>
          <p:nvPr/>
        </p:nvSpPr>
        <p:spPr>
          <a:xfrm>
            <a:off x="5001768" y="562356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4CBE0"/>
                </a:solidFill>
                <a:latin typeface="Inter"/>
              </a:rPr>
              <a:t>CONTAINED BLAST RADIUS</a:t>
            </a:r>
          </a:p>
        </p:txBody>
      </p:sp>
    </p:spTree>
    <p:extLst>
      <p:ext uri="{BB962C8B-B14F-4D97-AF65-F5344CB8AC3E}">
        <p14:creationId xmlns:p14="http://schemas.microsoft.com/office/powerpoint/2010/main" val="10837012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e3e39a5274e03">
            <a:extLst>
              <a:ext uri="{96DAC541-7B7A-43D3-8B79-37D633B846F1}">
                <asvg:svgBlip xmlns:asvg="http://schemas.microsoft.com/office/drawing/2016/SVG/main" r:embed="R287461fd68c842c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01F3DB4-0586-47D7-A14D-A9DB10C5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FROM CAPABILITY TO CONTROL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E7A35E4-4D8D-4871-97AE-8147328F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Production expands the control surface</a:t>
            </a:r>
            <a:endParaRPr sz="265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01FE2A1-03CE-40F2-A796-D58AA966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533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65839B-3738-4A61-8AD7-DFC17FD7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f80388ddb4b47">
            <a:extLst>
              <a:ext uri="{96DAC541-7B7A-43D3-8B79-37D633B846F1}">
                <asvg:svgBlip xmlns:asvg="http://schemas.microsoft.com/office/drawing/2016/SVG/main" r:embed="Rc44bb7b902ed4f6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2104" y="16093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932E7DA-F812-4BA7-8006-AA8E3211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5179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Identity &amp; entitlements</a:t>
            </a:r>
            <a:endParaRPr sz="145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4480214-DA5B-4842-9743-E8B13861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8470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Caller identity · dataset access</a:t>
            </a:r>
            <a:endParaRPr sz="105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321DA25-ED18-4C63-BF74-09F433BD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13533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8F4310B-C2B5-45E0-9B39-96970BA5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15087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E0B5">
              <a:alpha val="18000"/>
            </a:srgbClr>
          </a:solidFill>
          <a:ln xmlns:a="http://schemas.openxmlformats.org/drawingml/2006/main" w="12700">
            <a:solidFill>
              <a:srgbClr val="3BE0B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625daf9a541b0">
            <a:extLst>
              <a:ext uri="{96DAC541-7B7A-43D3-8B79-37D633B846F1}">
                <asvg:svgBlip xmlns:asvg="http://schemas.microsoft.com/office/drawing/2016/SVG/main" r:embed="Raedc894377544dc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17720" y="1633118"/>
            <a:ext cx="237744" cy="190195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04247129-ED64-41A4-A6DC-BF85353F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15179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Least privilege</a:t>
            </a:r>
            <a:endParaRPr sz="145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AEC49314-C3EC-4102-AFFA-6686B079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18470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Read-only SQL · exact relations</a:t>
            </a:r>
            <a:endParaRPr sz="105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8F78653E-AF97-4E8A-BA2A-0C81C7C6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3533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444B0FC9-D42A-4C75-9521-F682BA65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5087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>
              <a:alpha val="18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15470e2224a24">
            <a:extLst>
              <a:ext uri="{96DAC541-7B7A-43D3-8B79-37D633B846F1}">
                <asvg:svgBlip xmlns:asvg="http://schemas.microsoft.com/office/drawing/2016/SVG/main" r:embed="Rbf7a89c1efdd45d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03336" y="16093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CE32BC5B-4616-46AD-8412-F72BF98A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5179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Guardrails</a:t>
            </a:r>
            <a:endParaRPr sz="145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7C10FB1-D3F7-417E-A672-7ABFB322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470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Safe reads · reject writes · fail closed</a:t>
            </a:r>
            <a:endParaRPr sz="10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56263E2C-1F88-4870-BB5B-8E81E57F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9535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A2E614FD-66F5-46CB-860F-0D86EC4B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79FF">
              <a:alpha val="18000"/>
            </a:srgbClr>
          </a:solidFill>
          <a:ln xmlns:a="http://schemas.openxmlformats.org/drawingml/2006/main" w="12700">
            <a:solidFill>
              <a:srgbClr val="A87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81ddc33c9485a">
            <a:extLst>
              <a:ext uri="{96DAC541-7B7A-43D3-8B79-37D633B846F1}">
                <asvg:svgBlip xmlns:asvg="http://schemas.microsoft.com/office/drawing/2016/SVG/main" r:embed="Rc95f79b60e7c474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2104" y="3222752"/>
            <a:ext cx="237744" cy="211328"/>
          </a:xfrm>
          <a:prstGeom xmlns:a="http://schemas.openxmlformats.org/drawingml/2006/main" prst="rect">
            <a:avLst/>
          </a:prstGeom>
        </p:spPr>
      </p:pic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00DD3E5A-F84F-4862-AE5E-08C61949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1181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Audit &amp; telemetry</a:t>
            </a:r>
            <a:endParaRPr sz="1450"/>
          </a:p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34C33EA0-9B15-4919-B5A2-93824E36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4472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Request · route · outcome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Logs are part of the security boundary</a:t>
            </a:r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FF261CF9-3517-402A-A651-33C965E6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29535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D5783B24-9B9A-41CF-ADD9-FC6C93FA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1089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18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0073787524105">
            <a:extLst>
              <a:ext uri="{96DAC541-7B7A-43D3-8B79-37D633B846F1}">
                <asvg:svgBlip xmlns:asvg="http://schemas.microsoft.com/office/drawing/2016/SVG/main" r:embed="R4af855fcd15d48e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17720" y="3222752"/>
            <a:ext cx="237744" cy="211328"/>
          </a:xfrm>
          <a:prstGeom xmlns:a="http://schemas.openxmlformats.org/drawingml/2006/main" prst="rect">
            <a:avLst/>
          </a:prstGeom>
        </p:spPr>
      </p:pic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3295DA71-0798-433E-89FF-6BB4DC9F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31181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Evidence &amp; provenance</a:t>
            </a:r>
            <a:endParaRPr sz="1450"/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7A95EAD9-F1AD-45E6-BA09-DA94DA91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34472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Dataset · SQL · source metadata</a:t>
            </a:r>
            <a:endParaRPr sz="1050"/>
          </a:p>
        </p:txBody>
      </p:sp>
      <p:sp>
        <p:nvSpPr>
          <p:cNvPr id="30" name="Shape 22">
            <a:extLst xmlns:a="http://schemas.openxmlformats.org/drawingml/2006/main">
              <a:ext uri="{FF2B5EF4-FFF2-40B4-BE49-F238E27FC236}">
                <a16:creationId xmlns:a16="http://schemas.microsoft.com/office/drawing/2014/main" id="{05E0D767-9F78-414B-86B2-EB369B6F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953512"/>
            <a:ext cx="3456432" cy="1261872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Shape 23">
            <a:extLst xmlns:a="http://schemas.openxmlformats.org/drawingml/2006/main">
              <a:ext uri="{FF2B5EF4-FFF2-40B4-BE49-F238E27FC236}">
                <a16:creationId xmlns:a16="http://schemas.microsoft.com/office/drawing/2014/main" id="{FEE21A79-E160-4C3A-B979-658FEB87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10896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E69C">
              <a:alpha val="18000"/>
            </a:srgbClr>
          </a:solidFill>
          <a:ln xmlns:a="http://schemas.openxmlformats.org/drawingml/2006/main" w="12700">
            <a:solidFill>
              <a:srgbClr val="63E69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5596a37734a45">
            <a:extLst>
              <a:ext uri="{96DAC541-7B7A-43D3-8B79-37D633B846F1}">
                <asvg:svgBlip xmlns:asvg="http://schemas.microsoft.com/office/drawing/2016/SVG/main" r:embed="Re4cac93881bf431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8195" y="3209544"/>
            <a:ext cx="208026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13C19DAF-7604-416A-9773-A9DAAB2F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1810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Tests &amp; release gates</a:t>
            </a:r>
            <a:endParaRPr sz="145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664AC24-C675-494A-9ED9-C8B2998D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447288"/>
            <a:ext cx="257860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~470 automated tests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7B5C8"/>
                </a:solidFill>
                <a:latin typeface="Inter"/>
                <a:ea typeface="Inter"/>
                <a:cs typeface="Inter"/>
              </a:rPr>
              <a:t>Unsafe requests must be rejected</a:t>
            </a:r>
          </a:p>
        </p:txBody>
      </p:sp>
      <p:sp>
        <p:nvSpPr>
          <p:cNvPr id="35" name="Shape 26">
            <a:extLst xmlns:a="http://schemas.openxmlformats.org/drawingml/2006/main">
              <a:ext uri="{FF2B5EF4-FFF2-40B4-BE49-F238E27FC236}">
                <a16:creationId xmlns:a16="http://schemas.microsoft.com/office/drawing/2014/main" id="{B33BEDB2-853F-4A5C-8A74-C733DE59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36592"/>
            <a:ext cx="11045952" cy="1115568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0B182B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Shape 27">
            <a:extLst xmlns:a="http://schemas.openxmlformats.org/drawingml/2006/main">
              <a:ext uri="{FF2B5EF4-FFF2-40B4-BE49-F238E27FC236}">
                <a16:creationId xmlns:a16="http://schemas.microsoft.com/office/drawing/2014/main" id="{D2D7A1D3-0E1D-4FEB-A068-AE652124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47488"/>
            <a:ext cx="10789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D4E7">
              <a:alpha val="16000"/>
            </a:srgbClr>
          </a:solidFill>
          <a:ln xmlns:a="http://schemas.openxmlformats.org/drawingml/2006/main" w="12700">
            <a:solidFill>
              <a:srgbClr val="35D4E7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BD07C4F2-2DC1-42BC-BB15-B3553193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56632"/>
            <a:ext cx="9326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STARTUP</a:t>
            </a:r>
            <a:endParaRPr sz="950"/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944B2911-F659-4D5F-A580-B7298C76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47488"/>
            <a:ext cx="2880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Implement controls inside one product.</a:t>
            </a:r>
            <a:endParaRPr sz="1300"/>
          </a:p>
        </p:txBody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84C066E1-F6BE-4542-8AF6-27F2AA81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5230368"/>
            <a:ext cx="7498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Shape 31">
            <a:extLst xmlns:a="http://schemas.openxmlformats.org/drawingml/2006/main">
              <a:ext uri="{FF2B5EF4-FFF2-40B4-BE49-F238E27FC236}">
                <a16:creationId xmlns:a16="http://schemas.microsoft.com/office/drawing/2014/main" id="{90FE0CC8-C85D-441F-BBEF-0D7B3D4A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5047488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7B955">
              <a:alpha val="16000"/>
            </a:srgbClr>
          </a:solidFill>
          <a:ln xmlns:a="http://schemas.openxmlformats.org/drawingml/2006/main" w="12700">
            <a:solidFill>
              <a:srgbClr val="F7B955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E631E74B-5347-479A-AA5E-BCBB286D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5056632"/>
            <a:ext cx="12070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ENTERPRISE</a:t>
            </a:r>
            <a:endParaRPr sz="950"/>
          </a:p>
        </p:txBody>
      </p:sp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AEB18A20-E821-4BED-B801-8106CB07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6" y="5047488"/>
            <a:ext cx="340156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Enforce controls consistently across every product.</a:t>
            </a:r>
            <a:endParaRPr sz="1300"/>
          </a:p>
        </p:txBody>
      </p:sp>
      <p:sp>
        <p:nvSpPr>
          <p:cNvPr id="43" name="Shape 34">
            <a:extLst xmlns:a="http://schemas.openxmlformats.org/drawingml/2006/main">
              <a:ext uri="{FF2B5EF4-FFF2-40B4-BE49-F238E27FC236}">
                <a16:creationId xmlns:a16="http://schemas.microsoft.com/office/drawing/2014/main" id="{08614A52-2F4C-45C6-B99D-01E37163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989320"/>
            <a:ext cx="4224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B7CFF">
              <a:alpha val="14000"/>
            </a:srgbClr>
          </a:solidFill>
          <a:ln xmlns:a="http://schemas.openxmlformats.org/drawingml/2006/main" w="12700">
            <a:solidFill>
              <a:srgbClr val="5B7CFF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12997F6F-769E-4A8B-BC76-2D2F8CE1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792" y="5998464"/>
            <a:ext cx="407822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 b="1">
                <a:solidFill>
                  <a:srgbClr val="BFCBFF"/>
                </a:solidFill>
                <a:latin typeface="Inter"/>
                <a:ea typeface="Inter"/>
                <a:cs typeface="Inter"/>
              </a:rPr>
              <a:t>TRUST = CONTROL + EVIDENCE</a:t>
            </a:r>
            <a:endParaRPr sz="103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1DE320EF-4A9D-404A-94D4-88C7885E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Text 37">
            <a:extLst xmlns:a="http://schemas.openxmlformats.org/drawingml/2006/main">
              <a:ext uri="{FF2B5EF4-FFF2-40B4-BE49-F238E27FC236}">
                <a16:creationId xmlns:a16="http://schemas.microsoft.com/office/drawing/2014/main" id="{8DC2736D-CA23-4E44-9427-C6C5F6BF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BRIDGE · PRODUCT → PLATFORM</a:t>
            </a:r>
            <a:endParaRPr sz="850"/>
          </a:p>
        </p:txBody>
      </p:sp>
      <p:sp>
        <p:nvSpPr>
          <p:cNvPr id="47" name="Text 38">
            <a:extLst xmlns:a="http://schemas.openxmlformats.org/drawingml/2006/main">
              <a:ext uri="{FF2B5EF4-FFF2-40B4-BE49-F238E27FC236}">
                <a16:creationId xmlns:a16="http://schemas.microsoft.com/office/drawing/2014/main" id="{585C1AF2-80CC-4D96-B830-C8DA014F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20B9E302-1A86-4A59-BABF-3729EA1F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06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9458267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46be785ef46ad">
            <a:extLst>
              <a:ext uri="{96DAC541-7B7A-43D3-8B79-37D633B846F1}">
                <asvg:svgBlip xmlns:asvg="http://schemas.microsoft.com/office/drawing/2016/SVG/main" r:embed="Rb8500fc1ae8b4ee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40DC2BDB-CB02-49A1-B71F-775B7534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WHAT BUILDERS REPORT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6A0239D-1AEB-4D27-B578-D492E255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Security is not a workstream. It is the work.</a:t>
            </a:r>
            <a:endParaRPr sz="27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E824390-C460-4A9B-9ECF-740A2FBE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234440"/>
            <a:ext cx="37947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800" b="1">
                <a:solidFill>
                  <a:srgbClr val="FF647C"/>
                </a:solidFill>
                <a:latin typeface="Inter"/>
                <a:ea typeface="Inter"/>
                <a:cs typeface="Inter"/>
              </a:rPr>
              <a:t>50%</a:t>
            </a:r>
            <a:endParaRPr sz="9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66D6F2D-8DD0-4397-8398-66B30AD4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85292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of surveyed MCP builders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DFB7CC2-E56A-4D53-BFB8-1D53BF18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273552"/>
            <a:ext cx="3749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A7B5C8"/>
                </a:solidFill>
                <a:latin typeface="Inter"/>
                <a:ea typeface="Inter"/>
                <a:cs typeface="Inter"/>
              </a:rPr>
              <a:t>cite security / access control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A7B5C8"/>
                </a:solidFill>
                <a:latin typeface="Inter"/>
                <a:ea typeface="Inter"/>
                <a:cs typeface="Inter"/>
              </a:rPr>
              <a:t>as their top challenge.</a:t>
            </a:r>
            <a:endParaRPr sz="18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02561DCB-D9CE-4348-AB75-47575962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353312"/>
            <a:ext cx="6720840" cy="2029968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101B2D"/>
          </a:solidFill>
          <a:ln xmlns:a="http://schemas.openxmlformats.org/drawingml/2006/main" w="12700">
            <a:solidFill>
              <a:srgbClr val="FF647C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e11a4721c458e">
            <a:extLst>
              <a:ext uri="{96DAC541-7B7A-43D3-8B79-37D633B846F1}">
                <asvg:svgBlip xmlns:asvg="http://schemas.microsoft.com/office/drawing/2016/SVG/main" r:embed="Rb72117e0ce494a6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9512" y="1746504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E9DFDC5-00A8-4397-B115-8F347F2F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572768"/>
            <a:ext cx="4983480" cy="11155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“Security and access control is the top challenge</a:t>
            </a:r>
            <a:endParaRPr sz="2100"/>
          </a:p>
          <a:p xmlns:a="http://schemas.openxmlformats.org/drawingml/2006/main">
            <a:pPr marL="0" indent="0">
              <a:buNone/>
            </a:pPr>
            <a:r>
              <a:rPr sz="20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for builders, cited by 50% of respondents.”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F081670-44B5-463A-B5FD-69B44AF2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048" y="2852928"/>
            <a:ext cx="4251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72839A"/>
                </a:solidFill>
                <a:latin typeface="Inter"/>
                <a:ea typeface="Inter"/>
                <a:cs typeface="Inter"/>
              </a:rPr>
              <a:t>Zuplo · State of MCP survey · fielded Nov–Dec 2025 · self-selected, no N published</a:t>
            </a:r>
            <a:endParaRPr sz="92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5717B94-B27A-4899-BBE0-7380F442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58184"/>
            <a:ext cx="3163824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51F3F50-4E2E-4E25-BC63-2E3B4C86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950208"/>
            <a:ext cx="111556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38%</a:t>
            </a:r>
            <a:endParaRPr sz="26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F46CA12-C621-40BB-80B3-DBA03322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950208"/>
            <a:ext cx="1554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blocked by security concerns</a:t>
            </a:r>
            <a:endParaRPr sz="108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43E6DEC-6763-430F-8BA5-D6846F96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3163824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BF978A7-4786-41A3-B79E-CC30833C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3950208"/>
            <a:ext cx="111556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A879FF"/>
                </a:solidFill>
                <a:latin typeface="Inter"/>
                <a:ea typeface="Inter"/>
                <a:cs typeface="Inter"/>
              </a:rPr>
              <a:t>~24%</a:t>
            </a:r>
            <a:endParaRPr sz="26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80334C1-4933-4EA7-B9F9-7EF41542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3950208"/>
            <a:ext cx="1554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of respondents run servers</a:t>
            </a:r>
            <a:endParaRPr sz="1080"/>
          </a:p>
          <a:p xmlns:a="http://schemas.openxmlformats.org/drawingml/2006/main">
            <a:pPr marL="0" indent="0">
              <a:buNone/>
            </a:pPr>
            <a:r>
              <a:rPr sz="108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with no authentication</a:t>
            </a:r>
            <a:endParaRPr sz="108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30857C0-0FB1-4400-A52C-2E42AAEA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08576"/>
            <a:ext cx="3639312" cy="1060704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A1729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05bc8ed7e54543">
            <a:extLst>
              <a:ext uri="{96DAC541-7B7A-43D3-8B79-37D633B846F1}">
                <asvg:svgBlip xmlns:asvg="http://schemas.microsoft.com/office/drawing/2016/SVG/main" r:embed="R125be38f5ff8419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552" y="4882896"/>
            <a:ext cx="301752" cy="301752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71563751-DBB9-4942-853F-AC429E89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754880"/>
            <a:ext cx="2724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Authenticated ≠ authorised.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Issuer · audience · expiry · scope</a:t>
            </a: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D9B2885-6E7C-45DB-8398-F26E4DC9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328" y="5394960"/>
            <a:ext cx="6684264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647C">
              <a:alpha val="14000"/>
            </a:srgbClr>
          </a:solidFill>
          <a:ln xmlns:a="http://schemas.openxmlformats.org/drawingml/2006/main" w="12700">
            <a:solidFill>
              <a:srgbClr val="FF647C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B6FF10A7-6AE1-407C-89F0-68D66A3D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404104"/>
            <a:ext cx="65379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30" b="1">
                <a:solidFill>
                  <a:srgbClr val="FF647C"/>
                </a:solidFill>
                <a:latin typeface="Inter"/>
                <a:ea typeface="Inter"/>
                <a:cs typeface="Inter"/>
              </a:rPr>
              <a:t>MEASURED, NOT SELF-REPORTED: 40.55% OF 7,973 LIVE SERVERS EXPOSE TOOLS WITH NO AUTH · arXiv:2605.22333</a:t>
            </a:r>
            <a:endParaRPr sz="1130"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ED56C05C-3596-444B-BEA5-1FEAF0B5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02A8685C-0A3E-4490-B13C-69C77C02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II · ENTERPRISE</a:t>
            </a:r>
            <a:endParaRPr sz="850"/>
          </a:p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0FE36094-6B4E-4191-BADB-DAC1F40F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EEA42C9-06E3-4195-88D7-DAC789CE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07</a:t>
            </a:r>
            <a:endParaRPr sz="850"/>
          </a:p>
        </p:txBody>
      </p:sp>
      <p:sp xmlns:a="http://schemas.openxmlformats.org/drawingml/2006/main">
        <p:nvSpPr>
          <p:cNvPr id="48" name="Merged security cue"/>
          <p:cNvSpPr txBox="1"/>
          <p:nvPr/>
        </p:nvSpPr>
        <p:spPr>
          <a:xfrm>
            <a:off x="749808" y="5989320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4CBE0"/>
                </a:solidFill>
                <a:latin typeface="Inter"/>
              </a:rPr>
              <a:t>IDENTITY · ACTION · RESOURCE · AUTHORITY — VALIDATE THE COMPLETE CONTEXT</a:t>
            </a:r>
          </a:p>
        </p:txBody>
      </p:sp>
    </p:spTree>
    <p:extLst>
      <p:ext uri="{BB962C8B-B14F-4D97-AF65-F5344CB8AC3E}">
        <p14:creationId xmlns:p14="http://schemas.microsoft.com/office/powerpoint/2010/main" val="118975310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c357b3e5249be">
            <a:extLst>
              <a:ext uri="{96DAC541-7B7A-43D3-8B79-37D633B846F1}">
                <asvg:svgBlip xmlns:asvg="http://schemas.microsoft.com/office/drawing/2016/SVG/main" r:embed="R46d95ae2004b4dc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23312D4F-1592-4E22-9B12-D1F5552D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THE ENTERPRISE INFLECTION POINT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091AC09-F4A8-4451-B87E-A4673D91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“This might take longer.”</a:t>
            </a:r>
            <a:endParaRPr sz="29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A9F172F-9CB0-44FA-9C7B-45DA702A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5687568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0E192B"/>
          </a:solidFill>
          <a:ln xmlns:a="http://schemas.openxmlformats.org/drawingml/2006/main" w="12700">
            <a:solidFill>
              <a:srgbClr val="293A51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DA2FCB9B-1DA2-4509-A822-E4F514D5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1572768"/>
            <a:ext cx="117043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B7CFF">
              <a:alpha val="15000"/>
            </a:srgbClr>
          </a:solidFill>
          <a:ln xmlns:a="http://schemas.openxmlformats.org/drawingml/2006/main" w="12700">
            <a:solidFill>
              <a:srgbClr val="5B7CFF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83FFA0D-2141-4EAB-8624-78C57CBF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1581912"/>
            <a:ext cx="10241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70" b="1">
                <a:solidFill>
                  <a:srgbClr val="C8D2FF"/>
                </a:solidFill>
                <a:latin typeface="Inter"/>
                <a:ea typeface="Inter"/>
                <a:cs typeface="Inter"/>
              </a:rPr>
              <a:t>PROJECT CHAT</a:t>
            </a:r>
            <a:endParaRPr sz="87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C2978EE-1215-4F02-9EF5-58B90FF0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56232"/>
            <a:ext cx="1005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 b="1">
                <a:solidFill>
                  <a:srgbClr val="5B7CFF"/>
                </a:solidFill>
                <a:latin typeface="Inter"/>
                <a:ea typeface="Inter"/>
                <a:cs typeface="Inter"/>
              </a:rPr>
              <a:t>Founder</a:t>
            </a:r>
            <a:endParaRPr sz="83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7CD80C7-3D57-4723-83F7-F7ABE16F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084832"/>
            <a:ext cx="36118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7CFF">
              <a:alpha val="16000"/>
            </a:srgbClr>
          </a:solidFill>
          <a:ln xmlns:a="http://schemas.openxmlformats.org/drawingml/2006/main" w="12700">
            <a:solidFill>
              <a:srgbClr val="5B7CFF">
                <a:alpha val="5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80FECB9-609F-4817-AD0F-4C74D314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2194560"/>
            <a:ext cx="328269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10">
                <a:solidFill>
                  <a:srgbClr val="EAF0F8"/>
                </a:solidFill>
                <a:latin typeface="Inter"/>
                <a:ea typeface="Inter"/>
                <a:cs typeface="Inter"/>
              </a:rPr>
              <a:t>Can we add enterprise SSO?</a:t>
            </a:r>
            <a:endParaRPr sz="121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5F0135A-0817-4770-A5FA-D6198F62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2312" y="2633472"/>
            <a:ext cx="1005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 b="1">
                <a:solidFill>
                  <a:srgbClr val="3BE0B5"/>
                </a:solidFill>
                <a:latin typeface="Inter"/>
                <a:ea typeface="Inter"/>
                <a:cs typeface="Inter"/>
              </a:rPr>
              <a:t>Engineer</a:t>
            </a:r>
            <a:endParaRPr sz="83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2E3E98B-A8E2-423E-BC19-1B141DAD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862072"/>
            <a:ext cx="3822192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BE0B5">
              <a:alpha val="16000"/>
            </a:srgbClr>
          </a:solidFill>
          <a:ln xmlns:a="http://schemas.openxmlformats.org/drawingml/2006/main" w="12700">
            <a:solidFill>
              <a:srgbClr val="3BE0B5">
                <a:alpha val="5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4795974-C9B1-488C-A4D2-538FCADE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2971800"/>
            <a:ext cx="349300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10">
                <a:solidFill>
                  <a:srgbClr val="EAF0F8"/>
                </a:solidFill>
                <a:latin typeface="Inter"/>
                <a:ea typeface="Inter"/>
                <a:cs typeface="Inter"/>
              </a:rPr>
              <a:t>Sure. That should be manageable.</a:t>
            </a:r>
            <a:endParaRPr sz="121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CEDDF8F-4DA1-4713-A87F-DB6DE651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456432"/>
            <a:ext cx="1005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Security</a:t>
            </a:r>
            <a:endParaRPr sz="83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A42995F-E1E5-4085-80FD-BC6F07FD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685032"/>
            <a:ext cx="4645152" cy="85953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7B955">
              <a:alpha val="16000"/>
            </a:srgbClr>
          </a:solidFill>
          <a:ln xmlns:a="http://schemas.openxmlformats.org/drawingml/2006/main" w="12700">
            <a:solidFill>
              <a:srgbClr val="F7B955">
                <a:alpha val="5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31A7246-6B42-48DF-9288-47B4E587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3794760"/>
            <a:ext cx="43159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EAF0F8"/>
                </a:solidFill>
                <a:latin typeface="Inter"/>
                <a:ea typeface="Inter"/>
                <a:cs typeface="Inter"/>
              </a:rPr>
              <a:t>Great. Also delegated identity, user + non-user personas, entitlements, token exchange, audit, tenant isolation, offboarding…</a:t>
            </a:r>
            <a:endParaRPr sz="10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18985573-1C83-4071-B880-3C42F1F1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4636008"/>
            <a:ext cx="1005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 b="1">
                <a:solidFill>
                  <a:srgbClr val="FF647C"/>
                </a:solidFill>
                <a:latin typeface="Inter"/>
                <a:ea typeface="Inter"/>
                <a:cs typeface="Inter"/>
              </a:rPr>
              <a:t>Engineer</a:t>
            </a:r>
            <a:endParaRPr sz="83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57ABF722-2BE3-4126-A89E-7C809053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864" y="4864608"/>
            <a:ext cx="3310128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647C">
              <a:alpha val="16000"/>
            </a:srgbClr>
          </a:solidFill>
          <a:ln xmlns:a="http://schemas.openxmlformats.org/drawingml/2006/main" w="12700">
            <a:solidFill>
              <a:srgbClr val="FF647C">
                <a:alpha val="5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5F1C601-5584-4C9D-8EF4-17A81A23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4974336"/>
            <a:ext cx="298094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1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This might take longer.</a:t>
            </a:r>
            <a:endParaRPr sz="121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0D5B2820-B15A-46B9-BE9E-9A54EA0C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1298448"/>
            <a:ext cx="501091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0D192B"/>
          </a:solidFill>
          <a:ln xmlns:a="http://schemas.openxmlformats.org/drawingml/2006/main" w="12700">
            <a:solidFill>
              <a:srgbClr val="A879FF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E91E848E-E820-436B-9B72-C8B79D83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609344"/>
            <a:ext cx="3154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10">
                <a:solidFill>
                  <a:srgbClr val="A879FF"/>
                </a:solidFill>
                <a:latin typeface="Inter"/>
                <a:ea typeface="Inter"/>
                <a:cs typeface="Inter"/>
              </a:rPr>
              <a:t>TARGET: ENTERPRISE MCP GATEWAY</a:t>
            </a:r>
            <a:endParaRPr sz="10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984D278-1959-4C04-85ED-4B0F57D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2039112"/>
            <a:ext cx="1353312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4E2E7F94-F472-4D37-8B94-A4C1387B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18541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18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bd9b0f8654a32">
            <a:extLst>
              <a:ext uri="{96DAC541-7B7A-43D3-8B79-37D633B846F1}">
                <asvg:svgBlip xmlns:asvg="http://schemas.microsoft.com/office/drawing/2016/SVG/main" r:embed="R5f276cfb5bce431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5472" y="2296973"/>
            <a:ext cx="201168" cy="160934"/>
          </a:xfrm>
          <a:prstGeom xmlns:a="http://schemas.openxmlformats.org/drawingml/2006/main" prst="rect">
            <a:avLst/>
          </a:prstGeom>
        </p:spPr>
      </p:pic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3B25258-698D-4187-9571-7A7B0432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2203704"/>
            <a:ext cx="5943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Client</a:t>
            </a:r>
            <a:endParaRPr sz="12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BFF7D34-689D-40DA-96BB-9FAA9F8E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441448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2D5F4A6-0000-48FB-9EE0-55117EEC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8512" y="1901952"/>
            <a:ext cx="1984248" cy="1124712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16213A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d92c958124bc7">
            <a:extLst>
              <a:ext uri="{96DAC541-7B7A-43D3-8B79-37D633B846F1}">
                <asvg:svgBlip xmlns:asvg="http://schemas.microsoft.com/office/drawing/2016/SVG/main" r:embed="R6c162c1300bc4bd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42248" y="216712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E77EC616-F0A2-4077-BD02-BC87AC5B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2048256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GATEWAY</a:t>
            </a:r>
            <a:endParaRPr sz="1250"/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44A02A76-481D-4684-9B44-386A76DF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2368296"/>
            <a:ext cx="1143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70">
                <a:solidFill>
                  <a:srgbClr val="A7B5C8"/>
                </a:solidFill>
                <a:latin typeface="Inter"/>
                <a:ea typeface="Inter"/>
                <a:cs typeface="Inter"/>
              </a:rPr>
              <a:t>identity · policy · audit</a:t>
            </a:r>
            <a:endParaRPr sz="870"/>
          </a:p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7C26A11F-1621-4173-A617-7C2EC7DA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1904" y="2441448"/>
            <a:ext cx="3840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Shape 27">
            <a:extLst xmlns:a="http://schemas.openxmlformats.org/drawingml/2006/main">
              <a:ext uri="{FF2B5EF4-FFF2-40B4-BE49-F238E27FC236}">
                <a16:creationId xmlns:a16="http://schemas.microsoft.com/office/drawing/2014/main" id="{1BAFE618-D04E-4305-B823-0E41D23B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951" y="2039112"/>
            <a:ext cx="457193" cy="82296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BE0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Shape 28">
            <a:extLst xmlns:a="http://schemas.openxmlformats.org/drawingml/2006/main">
              <a:ext uri="{FF2B5EF4-FFF2-40B4-BE49-F238E27FC236}">
                <a16:creationId xmlns:a16="http://schemas.microsoft.com/office/drawing/2014/main" id="{6200C8D5-93E7-47AF-AC5F-F0E93BA9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9104" y="218541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E0B5">
              <a:alpha val="18000"/>
            </a:srgbClr>
          </a:solidFill>
          <a:ln xmlns:a="http://schemas.openxmlformats.org/drawingml/2006/main" w="12700">
            <a:solidFill>
              <a:srgbClr val="3BE0B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d8185f79104836">
            <a:extLst>
              <a:ext uri="{96DAC541-7B7A-43D3-8B79-37D633B846F1}">
                <asvg:svgBlip xmlns:asvg="http://schemas.microsoft.com/office/drawing/2016/SVG/main" r:embed="R256159e23bb54ae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1400" y="2267712"/>
            <a:ext cx="182880" cy="182880"/>
          </a:xfrm>
          <a:prstGeom xmlns:a="http://schemas.openxmlformats.org/drawingml/2006/main" prst="rect">
            <a:avLst/>
          </a:prstGeom>
        </p:spPr>
      </p:pic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29A233ED-C85A-4C73-8368-16B17692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3152" y="2203704"/>
            <a:ext cx="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020"/>
          </a:p>
        </p:txBody>
      </p:sp>
      <p:pic>
        <p:nvPicPr>
          <p:cNvPr id="9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24315c2fa4798">
            <a:extLst>
              <a:ext uri="{96DAC541-7B7A-43D3-8B79-37D633B846F1}">
                <asvg:svgBlip xmlns:asvg="http://schemas.microsoft.com/office/drawing/2016/SVG/main" r:embed="R2ad9f23da30041d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03720" y="342900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F78FE42F-7512-40D9-8355-827E6753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3419856"/>
            <a:ext cx="14447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Authenticate once</a:t>
            </a:r>
            <a:endParaRPr sz="1020"/>
          </a:p>
        </p:txBody>
      </p:sp>
      <p:pic>
        <p:nvPicPr>
          <p:cNvPr id="10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0d875a834cb8">
            <a:extLst>
              <a:ext uri="{96DAC541-7B7A-43D3-8B79-37D633B846F1}">
                <asvg:svgBlip xmlns:asvg="http://schemas.microsoft.com/office/drawing/2016/SVG/main" r:embed="R78688f5896f84c6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97112" y="342900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9C43CDD4-6A85-49B6-A4A5-72AF97AA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3419856"/>
            <a:ext cx="14447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Delegate identity</a:t>
            </a:r>
            <a:endParaRPr sz="1020"/>
          </a:p>
        </p:txBody>
      </p:sp>
      <p:pic>
        <p:nvPicPr>
          <p:cNvPr id="10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ca076e70f4fd5">
            <a:extLst>
              <a:ext uri="{96DAC541-7B7A-43D3-8B79-37D633B846F1}">
                <asvg:svgBlip xmlns:asvg="http://schemas.microsoft.com/office/drawing/2016/SVG/main" r:embed="Re4e2555e80e2422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03720" y="404164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98D3CED2-DF37-4760-97C1-23081F7D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032504"/>
            <a:ext cx="14447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Enforce policy</a:t>
            </a:r>
            <a:endParaRPr sz="1020"/>
          </a:p>
        </p:txBody>
      </p:sp>
      <p:pic>
        <p:nvPicPr>
          <p:cNvPr id="104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6b0610b81436a">
            <a:extLst>
              <a:ext uri="{96DAC541-7B7A-43D3-8B79-37D633B846F1}">
                <asvg:svgBlip xmlns:asvg="http://schemas.microsoft.com/office/drawing/2016/SVG/main" r:embed="R243baac00ac54a8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97112" y="4055872"/>
            <a:ext cx="256032" cy="227584"/>
          </a:xfrm>
          <a:prstGeom xmlns:a="http://schemas.openxmlformats.org/drawingml/2006/main" prst="rect">
            <a:avLst/>
          </a:prstGeom>
        </p:spPr>
      </p:pic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00FFAC1F-452E-4693-80A0-F5DC5E79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4032504"/>
            <a:ext cx="14447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Unify telemetry</a:t>
            </a:r>
            <a:endParaRPr sz="1020"/>
          </a:p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9139D486-10AD-4E86-921E-F6A267A6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718304"/>
            <a:ext cx="3273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879FF">
              <a:alpha val="13000"/>
            </a:srgbClr>
          </a:solidFill>
          <a:ln xmlns:a="http://schemas.openxmlformats.org/drawingml/2006/main" w="12700">
            <a:solidFill>
              <a:srgbClr val="A879FF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87CA8C91-E981-487E-BEB6-A349CEDD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4727448"/>
            <a:ext cx="312724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D9C9FF"/>
                </a:solidFill>
                <a:latin typeface="Inter"/>
                <a:ea typeface="Inter"/>
                <a:cs typeface="Inter"/>
              </a:rPr>
              <a:t>arXiv:2608.10760 · production pattern</a:t>
            </a:r>
            <a:endParaRPr sz="860"/>
          </a:p>
        </p:txBody>
      </p:sp>
      <p:pic>
        <p:nvPicPr>
          <p:cNvPr id="108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83153ffb64c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497312" y="4224528"/>
            <a:ext cx="749808" cy="749808"/>
          </a:xfrm>
          <a:prstGeom xmlns:a="http://schemas.openxmlformats.org/drawingml/2006/main" prst="rect">
            <a:avLst/>
          </a:prstGeom>
        </p:spPr>
      </p:pic>
      <p:sp>
        <p:nvSpPr>
          <p:cNvPr id="47" name="Text 36">
            <a:extLst xmlns:a="http://schemas.openxmlformats.org/drawingml/2006/main">
              <a:ext uri="{FF2B5EF4-FFF2-40B4-BE49-F238E27FC236}">
                <a16:creationId xmlns:a16="http://schemas.microsoft.com/office/drawing/2014/main" id="{A184D280-8F25-4143-8F3B-A9893E1A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5010912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A7B5C8"/>
                </a:solidFill>
                <a:latin typeface="Inter"/>
                <a:ea typeface="Inter"/>
                <a:cs typeface="Inter"/>
              </a:rPr>
              <a:t>OWASP MCP TOP 10</a:t>
            </a:r>
            <a:endParaRPr sz="750"/>
          </a:p>
        </p:txBody>
      </p:sp>
      <p:sp>
        <p:nvSpPr>
          <p:cNvPr id="48" name="Shape 37">
            <a:extLst xmlns:a="http://schemas.openxmlformats.org/drawingml/2006/main">
              <a:ext uri="{FF2B5EF4-FFF2-40B4-BE49-F238E27FC236}">
                <a16:creationId xmlns:a16="http://schemas.microsoft.com/office/drawing/2014/main" id="{3FABCF59-888D-4085-9362-2B77F751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175504"/>
            <a:ext cx="349300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35D4E7">
              <a:alpha val="14000"/>
            </a:srgbClr>
          </a:solidFill>
          <a:ln xmlns:a="http://schemas.openxmlformats.org/drawingml/2006/main" w="12700">
            <a:solidFill>
              <a:srgbClr val="35D4E7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Text 38">
            <a:extLst xmlns:a="http://schemas.openxmlformats.org/drawingml/2006/main">
              <a:ext uri="{FF2B5EF4-FFF2-40B4-BE49-F238E27FC236}">
                <a16:creationId xmlns:a16="http://schemas.microsoft.com/office/drawing/2014/main" id="{F1E7127F-E82F-48B4-AF15-4434FC1B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872" y="5184648"/>
            <a:ext cx="33467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IMPLEMENTED: STATELESS HTTP</a:t>
            </a:r>
            <a:endParaRPr sz="900"/>
          </a:p>
        </p:txBody>
      </p:sp>
      <p:sp>
        <p:nvSpPr>
          <p:cNvPr id="50" name="Text 39">
            <a:extLst xmlns:a="http://schemas.openxmlformats.org/drawingml/2006/main">
              <a:ext uri="{FF2B5EF4-FFF2-40B4-BE49-F238E27FC236}">
                <a16:creationId xmlns:a16="http://schemas.microsoft.com/office/drawing/2014/main" id="{F4DB8B88-33F1-4556-A1DF-D887905A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501640"/>
            <a:ext cx="431596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A7B5C8"/>
                </a:solidFill>
                <a:latin typeface="Inter"/>
                <a:ea typeface="Inter"/>
                <a:cs typeface="Inter"/>
              </a:rPr>
              <a:t>Stateless requests scale cleanly; session context remains optional.</a:t>
            </a:r>
            <a:endParaRPr sz="920"/>
          </a:p>
        </p:txBody>
      </p:sp>
      <p:sp>
        <p:nvSpPr>
          <p:cNvPr id="51" name="Shape 40">
            <a:extLst xmlns:a="http://schemas.openxmlformats.org/drawingml/2006/main">
              <a:ext uri="{FF2B5EF4-FFF2-40B4-BE49-F238E27FC236}">
                <a16:creationId xmlns:a16="http://schemas.microsoft.com/office/drawing/2014/main" id="{5A4439EC-7A62-40C6-AF18-4BAA1736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Text 41">
            <a:extLst xmlns:a="http://schemas.openxmlformats.org/drawingml/2006/main">
              <a:ext uri="{FF2B5EF4-FFF2-40B4-BE49-F238E27FC236}">
                <a16:creationId xmlns:a16="http://schemas.microsoft.com/office/drawing/2014/main" id="{C4FD2D8F-9A9A-43ED-AA11-254C90E7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II · ENTERPRISE</a:t>
            </a:r>
            <a:endParaRPr sz="850"/>
          </a:p>
        </p:txBody>
      </p:sp>
      <p:sp>
        <p:nvSpPr>
          <p:cNvPr id="53" name="Text 42">
            <a:extLst xmlns:a="http://schemas.openxmlformats.org/drawingml/2006/main">
              <a:ext uri="{FF2B5EF4-FFF2-40B4-BE49-F238E27FC236}">
                <a16:creationId xmlns:a16="http://schemas.microsoft.com/office/drawing/2014/main" id="{696A7ECD-F893-4204-BA29-2053D513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54" name="Text 43">
            <a:extLst xmlns:a="http://schemas.openxmlformats.org/drawingml/2006/main">
              <a:ext uri="{FF2B5EF4-FFF2-40B4-BE49-F238E27FC236}">
                <a16:creationId xmlns:a16="http://schemas.microsoft.com/office/drawing/2014/main" id="{53EB597D-EA76-421C-9806-1C97AB6C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08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207051530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208bdee7c499a">
            <a:extLst>
              <a:ext uri="{96DAC541-7B7A-43D3-8B79-37D633B846F1}">
                <asvg:svgBlip xmlns:asvg="http://schemas.microsoft.com/office/drawing/2016/SVG/main" r:embed="Rdebac9cbdb68435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AC1FDDB-5EDD-412C-8717-2744EF37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FROM PLAUSIBLE TO REPEATABLE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BDAC1CB-35CC-4EFE-BBC9-EE6C7CC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Accuracy starts with routing and ends with evidence</a:t>
            </a:r>
            <a:endParaRPr sz="255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6111F7DD-1E90-4E91-91ED-F393E81D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63E6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9C08F7F-D132-4A75-AAB1-7B9A1F7F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54533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E69C">
              <a:alpha val="20000"/>
            </a:srgbClr>
          </a:solidFill>
          <a:ln xmlns:a="http://schemas.openxmlformats.org/drawingml/2006/main" w="12700">
            <a:solidFill>
              <a:srgbClr val="63E69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C110805-5250-4913-A1C7-47526757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609344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63E69C"/>
                </a:solidFill>
                <a:latin typeface="Inter"/>
                <a:ea typeface="Inter"/>
                <a:cs typeface="Inter"/>
              </a:rPr>
              <a:t>1</a:t>
            </a:r>
            <a:endParaRPr sz="1000"/>
          </a:p>
        </p:txBody>
      </p:sp>
      <p:pic>
        <p:nvPicPr>
          <p:cNvPr id="8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1e882f59c47cb">
            <a:extLst>
              <a:ext uri="{96DAC541-7B7A-43D3-8B79-37D633B846F1}">
                <asvg:svgBlip xmlns:asvg="http://schemas.microsoft.com/office/drawing/2016/SVG/main" r:embed="R4b1868dc2c0c45e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89304" y="154533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E106075-1CE5-450B-9DB4-1024DB29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1517904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Preserve the prompt</a:t>
            </a:r>
            <a:endParaRPr sz="131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2D97C73-6012-401C-88C2-422C1DB4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1865376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Original wording + request ID</a:t>
            </a:r>
            <a:endParaRPr sz="94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24C401C-CB95-4688-9388-43CAF1AA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1371600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AD61570-4FB5-4552-8AD1-E587A5F8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4533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B955">
              <a:alpha val="20000"/>
            </a:srgbClr>
          </a:solidFill>
          <a:ln xmlns:a="http://schemas.openxmlformats.org/drawingml/2006/main" w="12700">
            <a:solidFill>
              <a:srgbClr val="F7B95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CF6F5E4-7F42-4B98-85AA-913F54DB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09344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2</a:t>
            </a:r>
            <a:endParaRPr sz="1000"/>
          </a:p>
        </p:txBody>
      </p:sp>
      <p:pic>
        <p:nvPicPr>
          <p:cNvPr id="8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41384215f4ddf">
            <a:extLst>
              <a:ext uri="{96DAC541-7B7A-43D3-8B79-37D633B846F1}">
                <asvg:svgBlip xmlns:asvg="http://schemas.microsoft.com/office/drawing/2016/SVG/main" r:embed="R7cf2e3849aaf412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11496" y="1576426"/>
            <a:ext cx="310896" cy="248717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341DF93-BC13-4EE2-AC2C-67610A26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517904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Explicit route</a:t>
            </a:r>
            <a:endParaRPr sz="131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48AEFDB6-CA49-4990-BD5A-8334F247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865376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Return one required next step</a:t>
            </a:r>
            <a:endParaRPr sz="94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820288B3-8906-457A-9936-3E4AC5CA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1371600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840C91C0-46E6-4ABD-A6ED-7F8DD891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154533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D4E7">
              <a:alpha val="20000"/>
            </a:srgbClr>
          </a:solidFill>
          <a:ln xmlns:a="http://schemas.openxmlformats.org/drawingml/2006/main" w="12700">
            <a:solidFill>
              <a:srgbClr val="35D4E7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5A102A7-D2B0-4317-948A-EAC32078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1609344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3</a:t>
            </a:r>
            <a:endParaRPr sz="1000"/>
          </a:p>
        </p:txBody>
      </p:sp>
      <p:pic>
        <p:nvPicPr>
          <p:cNvPr id="9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decdf2ad547f5">
            <a:extLst>
              <a:ext uri="{96DAC541-7B7A-43D3-8B79-37D633B846F1}">
                <asvg:svgBlip xmlns:asvg="http://schemas.microsoft.com/office/drawing/2016/SVG/main" r:embed="R53236960037744a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33688" y="154533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19BD3036-3804-4C43-8724-3CE44CC6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1517904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Trusted template</a:t>
            </a:r>
            <a:endParaRPr sz="131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9816EC1-29E1-402B-B3BB-53A6A3A5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1865376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Embeddings select trusted SQL;</a:t>
            </a:r>
            <a:endParaRPr sz="94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A7B5C8"/>
                </a:solidFill>
                <a:latin typeface="Inter"/>
                <a:ea typeface="Inter"/>
                <a:cs typeface="Inter"/>
              </a:rPr>
              <a:t>they do not invent it.</a:t>
            </a:r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BB715E0F-DEBA-4404-86B1-AD93BD6E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852928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CEAF391A-E43B-4E64-A904-6DF597E8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02666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79FF">
              <a:alpha val="20000"/>
            </a:srgbClr>
          </a:solidFill>
          <a:ln xmlns:a="http://schemas.openxmlformats.org/drawingml/2006/main" w="12700">
            <a:solidFill>
              <a:srgbClr val="A87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3E496B62-C7AD-4F37-8E17-55F98B4F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090672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A879FF"/>
                </a:solidFill>
                <a:latin typeface="Inter"/>
                <a:ea typeface="Inter"/>
                <a:cs typeface="Inter"/>
              </a:rPr>
              <a:t>4</a:t>
            </a:r>
            <a:endParaRPr sz="1000"/>
          </a:p>
        </p:txBody>
      </p:sp>
      <p:pic>
        <p:nvPicPr>
          <p:cNvPr id="9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bf575bdde472f">
            <a:extLst>
              <a:ext uri="{96DAC541-7B7A-43D3-8B79-37D633B846F1}">
                <asvg:svgBlip xmlns:asvg="http://schemas.microsoft.com/office/drawing/2016/SVG/main" r:embed="Ra5368a767c6f4cd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89304" y="3026664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B81AC6E6-95D5-4B07-A650-C3CCD561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999232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Hybrid retrieval</a:t>
            </a:r>
            <a:endParaRPr sz="131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9982A59A-C313-4B83-ABA3-CA4399B8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3346704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70% lexical · 30% vector</a:t>
            </a:r>
            <a:endParaRPr sz="94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7336543A-3D14-4E64-BCD5-6517FB28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2852928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572E7916-15D1-4ED6-A7BA-58E98DE3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02666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CFF">
              <a:alpha val="20000"/>
            </a:srgbClr>
          </a:solidFill>
          <a:ln xmlns:a="http://schemas.openxmlformats.org/drawingml/2006/main" w="12700">
            <a:solidFill>
              <a:srgbClr val="5B7C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6B4F5309-0F40-4E89-9CE1-85C4F62A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090672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5B7CFF"/>
                </a:solidFill>
                <a:latin typeface="Inter"/>
                <a:ea typeface="Inter"/>
                <a:cs typeface="Inter"/>
              </a:rPr>
              <a:t>5</a:t>
            </a:r>
            <a:endParaRPr sz="1000"/>
          </a:p>
        </p:txBody>
      </p:sp>
      <p:pic>
        <p:nvPicPr>
          <p:cNvPr id="10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6e21899174fb8">
            <a:extLst>
              <a:ext uri="{96DAC541-7B7A-43D3-8B79-37D633B846F1}">
                <asvg:svgBlip xmlns:asvg="http://schemas.microsoft.com/office/drawing/2016/SVG/main" r:embed="R68039241eef7484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11496" y="3026664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6D3F0C57-3E8C-455A-A0CE-9C617685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99232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Schema + safety</a:t>
            </a:r>
            <a:endParaRPr sz="1310"/>
          </a:p>
        </p:txBody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5294EE2B-2486-4C5E-90AD-30B14D77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346704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Verify schema · parse · authorise</a:t>
            </a:r>
            <a:endParaRPr sz="940"/>
          </a:p>
        </p:txBody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292168C9-1DAC-4C35-A94D-BF385A29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852928"/>
            <a:ext cx="3447288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F6F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Shape 28">
            <a:extLst xmlns:a="http://schemas.openxmlformats.org/drawingml/2006/main">
              <a:ext uri="{FF2B5EF4-FFF2-40B4-BE49-F238E27FC236}">
                <a16:creationId xmlns:a16="http://schemas.microsoft.com/office/drawing/2014/main" id="{DF1B2DA4-ACB5-40DC-A4C7-9B8E60CE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02666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A8">
              <a:alpha val="20000"/>
            </a:srgbClr>
          </a:solidFill>
          <a:ln xmlns:a="http://schemas.openxmlformats.org/drawingml/2006/main" w="12700">
            <a:solidFill>
              <a:srgbClr val="FF6FA8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9AF28FB9-6E3A-40C1-9CFF-459DA994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912" y="3090672"/>
            <a:ext cx="3840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6FA8"/>
                </a:solidFill>
                <a:latin typeface="Inter"/>
                <a:ea typeface="Inter"/>
                <a:cs typeface="Inter"/>
              </a:rPr>
              <a:t>6</a:t>
            </a:r>
            <a:endParaRPr sz="1000"/>
          </a:p>
        </p:txBody>
      </p:sp>
      <p:pic>
        <p:nvPicPr>
          <p:cNvPr id="110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cf219abdd4ab2">
            <a:extLst>
              <a:ext uri="{96DAC541-7B7A-43D3-8B79-37D633B846F1}">
                <asvg:svgBlip xmlns:asvg="http://schemas.microsoft.com/office/drawing/2016/SVG/main" r:embed="R42e3eb2d611949b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119" y="3026664"/>
            <a:ext cx="272034" cy="310896"/>
          </a:xfrm>
          <a:prstGeom xmlns:a="http://schemas.openxmlformats.org/drawingml/2006/main" prst="rect">
            <a:avLst/>
          </a:prstGeom>
        </p:spPr>
      </p:pic>
      <p:sp>
        <p:nvSpPr>
          <p:cNvPr id="39" name="Text 30">
            <a:extLst xmlns:a="http://schemas.openxmlformats.org/drawingml/2006/main">
              <a:ext uri="{FF2B5EF4-FFF2-40B4-BE49-F238E27FC236}">
                <a16:creationId xmlns:a16="http://schemas.microsoft.com/office/drawing/2014/main" id="{E58C82BC-5C46-4808-A6AD-89E751A1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999232"/>
            <a:ext cx="2121408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1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Execute + evidence</a:t>
            </a:r>
            <a:endParaRPr sz="1310"/>
          </a:p>
        </p:txBody>
      </p:sp>
      <p:sp>
        <p:nvSpPr>
          <p:cNvPr id="40" name="Text 31">
            <a:extLst xmlns:a="http://schemas.openxmlformats.org/drawingml/2006/main">
              <a:ext uri="{FF2B5EF4-FFF2-40B4-BE49-F238E27FC236}">
                <a16:creationId xmlns:a16="http://schemas.microsoft.com/office/drawing/2014/main" id="{0B4B0FA5-22A7-4114-A02D-C7C4BD16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346704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A7B5C8"/>
                </a:solidFill>
                <a:latin typeface="Inter"/>
                <a:ea typeface="Inter"/>
                <a:cs typeface="Inter"/>
              </a:rPr>
              <a:t>Read-only result + evidence</a:t>
            </a:r>
            <a:endParaRPr sz="940"/>
          </a:p>
        </p:txBody>
      </p:sp>
      <p:sp>
        <p:nvSpPr>
          <p:cNvPr id="41" name="Shape 32">
            <a:extLst xmlns:a="http://schemas.openxmlformats.org/drawingml/2006/main">
              <a:ext uri="{FF2B5EF4-FFF2-40B4-BE49-F238E27FC236}">
                <a16:creationId xmlns:a16="http://schemas.microsoft.com/office/drawing/2014/main" id="{76CFCE24-0ECC-457D-8417-D0580AA0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4553712"/>
            <a:ext cx="7461504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82B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018C3BDD-77AC-4080-BE00-30D935FA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18888"/>
            <a:ext cx="15727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10">
                <a:solidFill>
                  <a:srgbClr val="72839A"/>
                </a:solidFill>
                <a:latin typeface="Inter"/>
                <a:ea typeface="Inter"/>
                <a:cs typeface="Inter"/>
              </a:rPr>
              <a:t>CONFIDENCE GATE</a:t>
            </a:r>
            <a:endParaRPr sz="900"/>
          </a:p>
        </p:txBody>
      </p:sp>
      <p:sp>
        <p:nvSpPr>
          <p:cNvPr id="43" name="Shape 34">
            <a:extLst xmlns:a="http://schemas.openxmlformats.org/drawingml/2006/main">
              <a:ext uri="{FF2B5EF4-FFF2-40B4-BE49-F238E27FC236}">
                <a16:creationId xmlns:a16="http://schemas.microsoft.com/office/drawing/2014/main" id="{CC3AF1F6-3DDC-4D52-8A38-7C00ED23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7C"/>
          </a:solidFill>
          <a:ln xmlns:a="http://schemas.openxmlformats.org/drawingml/2006/main" w="12700">
            <a:solidFill>
              <a:srgbClr val="FF647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Shape 35">
            <a:extLst xmlns:a="http://schemas.openxmlformats.org/drawingml/2006/main">
              <a:ext uri="{FF2B5EF4-FFF2-40B4-BE49-F238E27FC236}">
                <a16:creationId xmlns:a16="http://schemas.microsoft.com/office/drawing/2014/main" id="{F6EACB3C-3550-4FE5-90B7-618E76D6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816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E64"/>
          </a:solidFill>
          <a:ln xmlns:a="http://schemas.openxmlformats.org/drawingml/2006/main" w="12700">
            <a:solidFill>
              <a:srgbClr val="FF9E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0C34119A-6AD6-4A16-BE14-5533A3DB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B955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59064561-237E-4A72-AB2E-5EE38AE7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4E7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A201AC82-EDB9-433D-9CDC-6B13334B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E0B5"/>
          </a:solidFill>
          <a:ln xmlns:a="http://schemas.openxmlformats.org/drawingml/2006/main" w="12700">
            <a:solidFill>
              <a:srgbClr val="3BE0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Shape 39">
            <a:extLst xmlns:a="http://schemas.openxmlformats.org/drawingml/2006/main">
              <a:ext uri="{FF2B5EF4-FFF2-40B4-BE49-F238E27FC236}">
                <a16:creationId xmlns:a16="http://schemas.microsoft.com/office/drawing/2014/main" id="{844D6E33-9F19-42D4-A495-0A733008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837176"/>
            <a:ext cx="557784" cy="2194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E69C"/>
          </a:solidFill>
          <a:ln xmlns:a="http://schemas.openxmlformats.org/drawingml/2006/main" w="12700">
            <a:solidFill>
              <a:srgbClr val="63E6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Text 40">
            <a:extLst xmlns:a="http://schemas.openxmlformats.org/drawingml/2006/main">
              <a:ext uri="{FF2B5EF4-FFF2-40B4-BE49-F238E27FC236}">
                <a16:creationId xmlns:a16="http://schemas.microsoft.com/office/drawing/2014/main" id="{03D90A67-366A-495B-ADB8-B8D68DC9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5129784"/>
            <a:ext cx="731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LOW</a:t>
            </a:r>
            <a:endParaRPr sz="780"/>
          </a:p>
        </p:txBody>
      </p:sp>
      <p:sp>
        <p:nvSpPr>
          <p:cNvPr id="50" name="Text 41">
            <a:extLst xmlns:a="http://schemas.openxmlformats.org/drawingml/2006/main">
              <a:ext uri="{FF2B5EF4-FFF2-40B4-BE49-F238E27FC236}">
                <a16:creationId xmlns:a16="http://schemas.microsoft.com/office/drawing/2014/main" id="{9670BF5A-544C-4FCE-8446-64C3C009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5129784"/>
            <a:ext cx="731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80">
                <a:solidFill>
                  <a:srgbClr val="72839A"/>
                </a:solidFill>
                <a:latin typeface="Inter"/>
                <a:ea typeface="Inter"/>
                <a:cs typeface="Inter"/>
              </a:rPr>
              <a:t>HIGH</a:t>
            </a:r>
            <a:endParaRPr sz="780"/>
          </a:p>
        </p:txBody>
      </p:sp>
      <p:pic>
        <p:nvPicPr>
          <p:cNvPr id="12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9b0718bb8471e">
            <a:extLst>
              <a:ext uri="{96DAC541-7B7A-43D3-8B79-37D633B846F1}">
                <asvg:svgBlip xmlns:asvg="http://schemas.microsoft.com/office/drawing/2016/SVG/main" r:embed="R044ac2e8ba8340c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11112" y="479145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16A42ED8-15FE-422E-8D67-3949237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754880"/>
            <a:ext cx="84124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94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No confident match?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Ask or stop.</a:t>
            </a:r>
          </a:p>
        </p:txBody>
      </p:sp>
      <p:sp>
        <p:nvSpPr>
          <p:cNvPr id="53" name="Shape 43">
            <a:extLst xmlns:a="http://schemas.openxmlformats.org/drawingml/2006/main">
              <a:ext uri="{FF2B5EF4-FFF2-40B4-BE49-F238E27FC236}">
                <a16:creationId xmlns:a16="http://schemas.microsoft.com/office/drawing/2014/main" id="{D9B58A33-7F2F-4731-8AC6-DC1909C9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4553712"/>
            <a:ext cx="3218688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5182D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Text 44">
            <a:extLst xmlns:a="http://schemas.openxmlformats.org/drawingml/2006/main">
              <a:ext uri="{FF2B5EF4-FFF2-40B4-BE49-F238E27FC236}">
                <a16:creationId xmlns:a16="http://schemas.microsoft.com/office/drawing/2014/main" id="{EA8EAF50-7705-42F9-96AE-0536A60B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4791456"/>
            <a:ext cx="113385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63E69C"/>
                </a:solidFill>
                <a:latin typeface="Inter"/>
                <a:ea typeface="Inter"/>
                <a:cs typeface="Inter"/>
              </a:rPr>
              <a:t>SERVER</a:t>
            </a:r>
            <a:endParaRPr sz="900"/>
          </a:p>
        </p:txBody>
      </p:sp>
      <p:sp>
        <p:nvSpPr>
          <p:cNvPr id="55" name="Text 45">
            <a:extLst xmlns:a="http://schemas.openxmlformats.org/drawingml/2006/main">
              <a:ext uri="{FF2B5EF4-FFF2-40B4-BE49-F238E27FC236}">
                <a16:creationId xmlns:a16="http://schemas.microsoft.com/office/drawing/2014/main" id="{81F21E52-AAFF-4611-AFA3-3B26FA90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9368" y="5102352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returns next step</a:t>
            </a:r>
            <a:endParaRPr sz="1150"/>
          </a:p>
        </p:txBody>
      </p:sp>
      <p:sp>
        <p:nvSpPr>
          <p:cNvPr id="56" name="Shape 46">
            <a:extLst xmlns:a="http://schemas.openxmlformats.org/drawingml/2006/main">
              <a:ext uri="{FF2B5EF4-FFF2-40B4-BE49-F238E27FC236}">
                <a16:creationId xmlns:a16="http://schemas.microsoft.com/office/drawing/2014/main" id="{1904A91E-850C-49B5-8449-C1701D7A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9528" y="5074920"/>
            <a:ext cx="393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Text 47">
            <a:extLst xmlns:a="http://schemas.openxmlformats.org/drawingml/2006/main">
              <a:ext uri="{FF2B5EF4-FFF2-40B4-BE49-F238E27FC236}">
                <a16:creationId xmlns:a16="http://schemas.microsoft.com/office/drawing/2014/main" id="{054402F3-796D-41E4-BCFC-9103ED84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4791456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00">
                <a:solidFill>
                  <a:srgbClr val="5B7CFF"/>
                </a:solidFill>
                <a:latin typeface="Inter"/>
                <a:ea typeface="Inter"/>
                <a:cs typeface="Inter"/>
              </a:rPr>
              <a:t>CLIENT</a:t>
            </a:r>
            <a:endParaRPr sz="900"/>
          </a:p>
        </p:txBody>
      </p:sp>
      <p:sp>
        <p:nvSpPr>
          <p:cNvPr id="58" name="Text 48">
            <a:extLst xmlns:a="http://schemas.openxmlformats.org/drawingml/2006/main">
              <a:ext uri="{FF2B5EF4-FFF2-40B4-BE49-F238E27FC236}">
                <a16:creationId xmlns:a16="http://schemas.microsoft.com/office/drawing/2014/main" id="{83EFA4F0-539B-4046-9459-4752FCA7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5102352"/>
            <a:ext cx="868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calls next tool</a:t>
            </a:r>
            <a:endParaRPr sz="1010"/>
          </a:p>
        </p:txBody>
      </p:sp>
      <p:sp>
        <p:nvSpPr>
          <p:cNvPr id="59" name="Text 49">
            <a:extLst xmlns:a="http://schemas.openxmlformats.org/drawingml/2006/main">
              <a:ext uri="{FF2B5EF4-FFF2-40B4-BE49-F238E27FC236}">
                <a16:creationId xmlns:a16="http://schemas.microsoft.com/office/drawing/2014/main" id="{80701CD0-C065-4380-B847-6BCC9C8E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687568"/>
            <a:ext cx="5285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i="1">
                <a:solidFill>
                  <a:srgbClr val="72839A"/>
                </a:solidFill>
                <a:latin typeface="Inter"/>
                <a:ea typeface="Inter"/>
                <a:cs typeface="Inter"/>
              </a:rPr>
              <a:t>Confidence protects accuracy; validation and authorisation protect safety.</a:t>
            </a:r>
            <a:endParaRPr sz="780"/>
          </a:p>
        </p:txBody>
      </p:sp>
      <p:sp>
        <p:nvSpPr>
          <p:cNvPr id="60" name="Shape 50">
            <a:extLst xmlns:a="http://schemas.openxmlformats.org/drawingml/2006/main">
              <a:ext uri="{FF2B5EF4-FFF2-40B4-BE49-F238E27FC236}">
                <a16:creationId xmlns:a16="http://schemas.microsoft.com/office/drawing/2014/main" id="{FFAA4F87-B888-4F99-903E-C223293C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5916168"/>
            <a:ext cx="7552944" cy="329184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35D4E7">
              <a:alpha val="12000"/>
            </a:srgbClr>
          </a:solidFill>
          <a:ln xmlns:a="http://schemas.openxmlformats.org/drawingml/2006/main" w="12700">
            <a:solidFill>
              <a:srgbClr val="35D4E7">
                <a:alpha val="32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Text 51">
            <a:extLst xmlns:a="http://schemas.openxmlformats.org/drawingml/2006/main">
              <a:ext uri="{FF2B5EF4-FFF2-40B4-BE49-F238E27FC236}">
                <a16:creationId xmlns:a16="http://schemas.microsoft.com/office/drawing/2014/main" id="{EC4670F4-0758-4A65-83C3-96C28999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584" y="5925312"/>
            <a:ext cx="7406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REPEATABILITY: REQUEST · ROUTE · QUERY · DATA · EVIDENCE</a:t>
            </a:r>
            <a:endParaRPr sz="970"/>
          </a:p>
        </p:txBody>
      </p:sp>
      <p:sp>
        <p:nvSpPr>
          <p:cNvPr id="62" name="Shape 52">
            <a:extLst xmlns:a="http://schemas.openxmlformats.org/drawingml/2006/main">
              <a:ext uri="{FF2B5EF4-FFF2-40B4-BE49-F238E27FC236}">
                <a16:creationId xmlns:a16="http://schemas.microsoft.com/office/drawing/2014/main" id="{40B0AA9E-C18D-42C7-824C-E70B4163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Text 53">
            <a:extLst xmlns:a="http://schemas.openxmlformats.org/drawingml/2006/main">
              <a:ext uri="{FF2B5EF4-FFF2-40B4-BE49-F238E27FC236}">
                <a16:creationId xmlns:a16="http://schemas.microsoft.com/office/drawing/2014/main" id="{89F5F37F-9CB1-4E0D-96B0-19D957FD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II · ENTERPRISE</a:t>
            </a:r>
            <a:endParaRPr sz="850"/>
          </a:p>
        </p:txBody>
      </p:sp>
      <p:sp>
        <p:nvSpPr>
          <p:cNvPr id="64" name="Text 54">
            <a:extLst xmlns:a="http://schemas.openxmlformats.org/drawingml/2006/main">
              <a:ext uri="{FF2B5EF4-FFF2-40B4-BE49-F238E27FC236}">
                <a16:creationId xmlns:a16="http://schemas.microsoft.com/office/drawing/2014/main" id="{CECD7E6D-9740-495E-95C8-B5E99A04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65" name="Text 55">
            <a:extLst xmlns:a="http://schemas.openxmlformats.org/drawingml/2006/main">
              <a:ext uri="{FF2B5EF4-FFF2-40B4-BE49-F238E27FC236}">
                <a16:creationId xmlns:a16="http://schemas.microsoft.com/office/drawing/2014/main" id="{4E778191-509B-4B61-BDEC-96F3878F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09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12079306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c8357c31548eb">
            <a:extLst>
              <a:ext uri="{96DAC541-7B7A-43D3-8B79-37D633B846F1}">
                <asvg:svgBlip xmlns:asvg="http://schemas.microsoft.com/office/drawing/2016/SVG/main" r:embed="R712e517d75cb47b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F3A6E48-3655-4B6E-A179-72E9D159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LICENSE AND ACCESS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A3CD34E-CEF6-4D96-B6B0-9495DA3B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 data contract enters the routing layer</a:t>
            </a:r>
            <a:endParaRPr sz="29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3DBE6F5C-74AE-4435-959E-5ED72141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35024"/>
            <a:ext cx="3794760" cy="4526280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131722"/>
          </a:solidFill>
          <a:ln xmlns:a="http://schemas.openxmlformats.org/drawingml/2006/main" w="12700">
            <a:solidFill>
              <a:srgbClr val="FF647C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ea072706a4935">
            <a:extLst>
              <a:ext uri="{96DAC541-7B7A-43D3-8B79-37D633B846F1}">
                <asvg:svgBlip xmlns:asvg="http://schemas.microsoft.com/office/drawing/2016/SVG/main" r:embed="R2ae82a99806c414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404" y="1673352"/>
            <a:ext cx="356616" cy="475488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821FD0D8-36DA-430D-BB3B-073E94DA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1700784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F647C"/>
                </a:solidFill>
                <a:latin typeface="Inter"/>
                <a:ea typeface="Inter"/>
                <a:cs typeface="Inter"/>
              </a:rPr>
              <a:t>VENDOR DATA AGREEMENT</a:t>
            </a:r>
            <a:endParaRPr sz="1100"/>
          </a:p>
        </p:txBody>
      </p:sp>
      <p:pic>
        <p:nvPicPr>
          <p:cNvPr id="6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e7bc85dc4dab">
            <a:extLst>
              <a:ext uri="{96DAC541-7B7A-43D3-8B79-37D633B846F1}">
                <asvg:svgBlip xmlns:asvg="http://schemas.microsoft.com/office/drawing/2016/SVG/main" r:embed="R83eac6229e5f43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232257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B66D42B8-5009-45DF-9961-27888EFE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95144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AI / machine-learning use</a:t>
            </a:r>
            <a:endParaRPr sz="1240"/>
          </a:p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e7bc85dc4dab">
            <a:extLst>
              <a:ext uri="{96DAC541-7B7A-43D3-8B79-37D633B846F1}">
                <asvg:svgBlip xmlns:asvg="http://schemas.microsoft.com/office/drawing/2016/SVG/main" r:embed="R83eac6229e5f43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283464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1" name="Text 5">
            <a:extLst xmlns:a="http://schemas.openxmlformats.org/drawingml/2006/main">
              <a:ext uri="{FF2B5EF4-FFF2-40B4-BE49-F238E27FC236}">
                <a16:creationId xmlns:a16="http://schemas.microsoft.com/office/drawing/2014/main" id="{D462551A-6B49-471E-858E-C56C7A60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07208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Copying and retention</a:t>
            </a:r>
            <a:endParaRPr sz="1240"/>
          </a:p>
        </p:txBody>
      </p:sp>
      <p:pic>
        <p:nvPicPr>
          <p:cNvPr id="7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e7bc85dc4dab">
            <a:extLst>
              <a:ext uri="{96DAC541-7B7A-43D3-8B79-37D633B846F1}">
                <asvg:svgBlip xmlns:asvg="http://schemas.microsoft.com/office/drawing/2016/SVG/main" r:embed="R83eac6229e5f43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334670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6">
            <a:extLst xmlns:a="http://schemas.openxmlformats.org/drawingml/2006/main">
              <a:ext uri="{FF2B5EF4-FFF2-40B4-BE49-F238E27FC236}">
                <a16:creationId xmlns:a16="http://schemas.microsoft.com/office/drawing/2014/main" id="{E2BD7819-9A1E-4B9D-90B0-79349E6A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319272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Storage location</a:t>
            </a:r>
            <a:endParaRPr sz="1240"/>
          </a:p>
        </p:txBody>
      </p:sp>
      <p:pic>
        <p:nvPicPr>
          <p:cNvPr id="7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e7bc85dc4dab">
            <a:extLst>
              <a:ext uri="{96DAC541-7B7A-43D3-8B79-37D633B846F1}">
                <asvg:svgBlip xmlns:asvg="http://schemas.microsoft.com/office/drawing/2016/SVG/main" r:embed="R83eac6229e5f43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385876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5" name="Text 7">
            <a:extLst xmlns:a="http://schemas.openxmlformats.org/drawingml/2006/main">
              <a:ext uri="{FF2B5EF4-FFF2-40B4-BE49-F238E27FC236}">
                <a16:creationId xmlns:a16="http://schemas.microsoft.com/office/drawing/2014/main" id="{229BA583-5B2C-44D3-867E-0FED65A5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831336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Licensed identity and purpose</a:t>
            </a:r>
            <a:endParaRPr sz="1240"/>
          </a:p>
        </p:txBody>
      </p:sp>
      <p:pic>
        <p:nvPicPr>
          <p:cNvPr id="7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0e7bc85dc4dab">
            <a:extLst>
              <a:ext uri="{96DAC541-7B7A-43D3-8B79-37D633B846F1}">
                <asvg:svgBlip xmlns:asvg="http://schemas.microsoft.com/office/drawing/2016/SVG/main" r:embed="R83eac6229e5f439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43708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7" name="Text 8">
            <a:extLst xmlns:a="http://schemas.openxmlformats.org/drawingml/2006/main">
              <a:ext uri="{FF2B5EF4-FFF2-40B4-BE49-F238E27FC236}">
                <a16:creationId xmlns:a16="http://schemas.microsoft.com/office/drawing/2014/main" id="{44869675-5D6C-436C-A943-B994BC1B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34340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Use of derived data</a:t>
            </a:r>
            <a:endParaRPr sz="1240"/>
          </a:p>
        </p:txBody>
      </p:sp>
      <p:sp>
        <p:nvSpPr>
          <p:cNvPr id="18" name="Text 9">
            <a:extLst xmlns:a="http://schemas.openxmlformats.org/drawingml/2006/main">
              <a:ext uri="{FF2B5EF4-FFF2-40B4-BE49-F238E27FC236}">
                <a16:creationId xmlns:a16="http://schemas.microsoft.com/office/drawing/2014/main" id="{EEB43060-BBDC-4859-9179-D0C1FF8F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084064"/>
            <a:ext cx="314553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 policy must shape routing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before the model sees the data.</a:t>
            </a:r>
            <a:endParaRPr sz="1500"/>
          </a:p>
        </p:txBody>
      </p:sp>
      <p:sp>
        <p:nvSpPr>
          <p:cNvPr id="19" name="Text 10">
            <a:extLst xmlns:a="http://schemas.openxmlformats.org/drawingml/2006/main">
              <a:ext uri="{FF2B5EF4-FFF2-40B4-BE49-F238E27FC236}">
                <a16:creationId xmlns:a16="http://schemas.microsoft.com/office/drawing/2014/main" id="{950B4A1B-575E-40BE-B9DB-7DB49F57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371600"/>
            <a:ext cx="66294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Separate relevance from permission.</a:t>
            </a:r>
            <a:endParaRPr sz="2300"/>
          </a:p>
        </p:txBody>
      </p:sp>
      <p:sp>
        <p:nvSpPr>
          <p:cNvPr id="20" name="Shape 11">
            <a:extLst xmlns:a="http://schemas.openxmlformats.org/drawingml/2006/main">
              <a:ext uri="{FF2B5EF4-FFF2-40B4-BE49-F238E27FC236}">
                <a16:creationId xmlns:a16="http://schemas.microsoft.com/office/drawing/2014/main" id="{6A75EAD1-56E2-4D3D-B34C-344C2703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33472"/>
            <a:ext cx="6510528" cy="86868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6fc8c6bd84eab">
            <a:extLst>
              <a:ext uri="{96DAC541-7B7A-43D3-8B79-37D633B846F1}">
                <asvg:svgBlip xmlns:asvg="http://schemas.microsoft.com/office/drawing/2016/SVG/main" r:embed="Rf8c587a82cf64a5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83480" y="2880360"/>
            <a:ext cx="292608" cy="260096"/>
          </a:xfrm>
          <a:prstGeom xmlns:a="http://schemas.openxmlformats.org/drawingml/2006/main" prst="rect">
            <a:avLst/>
          </a:prstGeom>
        </p:spPr>
      </p:pic>
      <p:sp>
        <p:nvSpPr>
          <p:cNvPr id="22" name="Text 12">
            <a:extLst xmlns:a="http://schemas.openxmlformats.org/drawingml/2006/main">
              <a:ext uri="{FF2B5EF4-FFF2-40B4-BE49-F238E27FC236}">
                <a16:creationId xmlns:a16="http://schemas.microsoft.com/office/drawing/2014/main" id="{FD83992A-71C7-4958-BB57-4F6A2DE0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761488"/>
            <a:ext cx="5577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Access denied → stop</a:t>
            </a:r>
            <a:endParaRPr sz="1180"/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86C4E4A8-1A2C-4E02-AB31-79EC29DD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145536"/>
            <a:ext cx="5577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7B5C8"/>
                </a:solidFill>
                <a:latin typeface="Inter"/>
                <a:ea typeface="Inter"/>
                <a:cs typeface="Inter"/>
              </a:rPr>
              <a:t>Terminal result · the client is told to stop</a:t>
            </a:r>
            <a:endParaRPr sz="880"/>
          </a:p>
        </p:txBody>
      </p:sp>
      <p:sp>
        <p:nvSpPr>
          <p:cNvPr id="28" name="Shape 17">
            <a:extLst xmlns:a="http://schemas.openxmlformats.org/drawingml/2006/main">
              <a:ext uri="{FF2B5EF4-FFF2-40B4-BE49-F238E27FC236}">
                <a16:creationId xmlns:a16="http://schemas.microsoft.com/office/drawing/2014/main" id="{8C372B24-E0B8-4431-8DDF-5A3B5182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49039"/>
            <a:ext cx="6510528" cy="950976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0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157fdc955462e">
            <a:extLst>
              <a:ext uri="{96DAC541-7B7A-43D3-8B79-37D633B846F1}">
                <asvg:svgBlip xmlns:asvg="http://schemas.microsoft.com/office/drawing/2016/SVG/main" r:embed="R10b543de922e4e6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01768" y="4050791"/>
            <a:ext cx="256032" cy="292608"/>
          </a:xfrm>
          <a:prstGeom xmlns:a="http://schemas.openxmlformats.org/drawingml/2006/main" prst="rect">
            <a:avLst/>
          </a:prstGeom>
        </p:spPr>
      </p:pic>
      <p:sp>
        <p:nvSpPr>
          <p:cNvPr id="30" name="Text 18">
            <a:extLst xmlns:a="http://schemas.openxmlformats.org/drawingml/2006/main">
              <a:ext uri="{FF2B5EF4-FFF2-40B4-BE49-F238E27FC236}">
                <a16:creationId xmlns:a16="http://schemas.microsoft.com/office/drawing/2014/main" id="{40CB5AA6-4704-4902-8374-D84BF865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895344"/>
            <a:ext cx="55778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Bring compute to the data</a:t>
            </a:r>
            <a:endParaRPr sz="1180"/>
          </a:p>
        </p:txBody>
      </p:sp>
      <p:sp>
        <p:nvSpPr>
          <p:cNvPr id="31" name="Text 19">
            <a:extLst xmlns:a="http://schemas.openxmlformats.org/drawingml/2006/main">
              <a:ext uri="{FF2B5EF4-FFF2-40B4-BE49-F238E27FC236}">
                <a16:creationId xmlns:a16="http://schemas.microsoft.com/office/drawing/2014/main" id="{0FFD0185-BF7B-438C-A6E6-1ED858A4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4315968"/>
            <a:ext cx="5577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7B5C8"/>
                </a:solidFill>
                <a:latin typeface="Inter"/>
                <a:ea typeface="Inter"/>
                <a:cs typeface="Inter"/>
              </a:rPr>
              <a:t>Minimise copies · process within the permitted boundary</a:t>
            </a:r>
            <a:endParaRPr sz="880"/>
          </a:p>
        </p:txBody>
      </p:sp>
      <p:sp>
        <p:nvSpPr>
          <p:cNvPr id="44" name="Shape 29">
            <a:extLst xmlns:a="http://schemas.openxmlformats.org/drawingml/2006/main">
              <a:ext uri="{FF2B5EF4-FFF2-40B4-BE49-F238E27FC236}">
                <a16:creationId xmlns:a16="http://schemas.microsoft.com/office/drawing/2014/main" id="{80508A93-D0C8-41F1-9AAD-99D051BB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696712"/>
            <a:ext cx="4343400" cy="393192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7B955">
              <a:alpha val="15000"/>
            </a:srgbClr>
          </a:solidFill>
          <a:ln xmlns:a="http://schemas.openxmlformats.org/drawingml/2006/main" w="12700">
            <a:solidFill>
              <a:srgbClr val="F7B955">
                <a:alpha val="3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Text 30">
            <a:extLst xmlns:a="http://schemas.openxmlformats.org/drawingml/2006/main">
              <a:ext uri="{FF2B5EF4-FFF2-40B4-BE49-F238E27FC236}">
                <a16:creationId xmlns:a16="http://schemas.microsoft.com/office/drawing/2014/main" id="{624E2C9E-B815-4905-B67C-9DDF97E7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5705856"/>
            <a:ext cx="4197096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CONTRACT TERMS BECOME POLICY INPUTS</a:t>
            </a:r>
            <a:endParaRPr sz="1040"/>
          </a:p>
        </p:txBody>
      </p:sp>
      <p:sp>
        <p:nvSpPr>
          <p:cNvPr id="46" name="Shape 31">
            <a:extLst xmlns:a="http://schemas.openxmlformats.org/drawingml/2006/main">
              <a:ext uri="{FF2B5EF4-FFF2-40B4-BE49-F238E27FC236}">
                <a16:creationId xmlns:a16="http://schemas.microsoft.com/office/drawing/2014/main" id="{5D0B8E89-C83B-44A7-9C2C-6574BBBF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32">
            <a:extLst xmlns:a="http://schemas.openxmlformats.org/drawingml/2006/main">
              <a:ext uri="{FF2B5EF4-FFF2-40B4-BE49-F238E27FC236}">
                <a16:creationId xmlns:a16="http://schemas.microsoft.com/office/drawing/2014/main" id="{9D22F23D-D1CE-4A9E-97C6-10D34F59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II · ENTERPRISE</a:t>
            </a:r>
            <a:endParaRPr sz="850"/>
          </a:p>
        </p:txBody>
      </p:sp>
      <p:sp>
        <p:nvSpPr>
          <p:cNvPr id="48" name="Text 33">
            <a:extLst xmlns:a="http://schemas.openxmlformats.org/drawingml/2006/main">
              <a:ext uri="{FF2B5EF4-FFF2-40B4-BE49-F238E27FC236}">
                <a16:creationId xmlns:a16="http://schemas.microsoft.com/office/drawing/2014/main" id="{D0C2E174-C8BD-4C67-9314-2C45C6A0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49" name="Text 34">
            <a:extLst xmlns:a="http://schemas.openxmlformats.org/drawingml/2006/main">
              <a:ext uri="{FF2B5EF4-FFF2-40B4-BE49-F238E27FC236}">
                <a16:creationId xmlns:a16="http://schemas.microsoft.com/office/drawing/2014/main" id="{E9BFC96D-79F1-48FF-9D99-1EB80300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10</a:t>
            </a:r>
            <a:endParaRPr sz="850"/>
          </a:p>
        </p:txBody>
      </p:sp>
      <p:sp xmlns:a="http://schemas.openxmlformats.org/drawingml/2006/main">
        <p:nvSpPr>
          <p:cNvPr id="91" name="Transcript cue: This identity · this application · this purpo"/>
          <p:cNvSpPr txBox="1"/>
          <p:nvPr/>
        </p:nvSpPr>
        <p:spPr>
          <a:xfrm>
            <a:off x="4800600" y="2093976"/>
            <a:ext cx="6519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B5C8"/>
                </a:solidFill>
                <a:latin typeface="Inter"/>
              </a:rPr>
              <a:t>This identity · this application · this purpose</a:t>
            </a:r>
          </a:p>
        </p:txBody>
      </p:sp>
      <p:sp xmlns:a="http://schemas.openxmlformats.org/drawingml/2006/main">
        <p:nvSpPr>
          <p:cNvPr id="92" name="Transcript cue: Governed views · private inference · syntheti"/>
          <p:cNvSpPr txBox="1"/>
          <p:nvPr/>
        </p:nvSpPr>
        <p:spPr>
          <a:xfrm>
            <a:off x="4800600" y="5074920"/>
            <a:ext cx="65379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70" b="0">
                <a:solidFill>
                  <a:srgbClr val="F7FAFF"/>
                </a:solidFill>
                <a:latin typeface="Inter"/>
              </a:rPr>
              <a:t>Governed views · private inference · synthetic evaluation</a:t>
            </a:r>
          </a:p>
        </p:txBody>
      </p:sp>
    </p:spTree>
    <p:extLst>
      <p:ext uri="{BB962C8B-B14F-4D97-AF65-F5344CB8AC3E}">
        <p14:creationId xmlns:p14="http://schemas.microsoft.com/office/powerpoint/2010/main" val="17950957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092adf7b14a89">
            <a:extLst>
              <a:ext uri="{96DAC541-7B7A-43D3-8B79-37D633B846F1}">
                <asvg:svgBlip xmlns:asvg="http://schemas.microsoft.com/office/drawing/2016/SVG/main" r:embed="R10e869caa39645a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73F6EF8B-A9CD-4766-9610-6F605EBD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TARGET STATE · CENTRAL GOVERNANCE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54785B0-4B16-4D2C-A37E-D9333D11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 platform around a domain MCP server</a:t>
            </a:r>
            <a:endParaRPr sz="27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A65A612-8EB6-4EE5-B717-BBE6543A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16152"/>
            <a:ext cx="2103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70" b="1" spc="100">
                <a:solidFill>
                  <a:srgbClr val="72839A"/>
                </a:solidFill>
                <a:latin typeface="Inter"/>
                <a:ea typeface="Inter"/>
                <a:cs typeface="Inter"/>
              </a:rPr>
              <a:t>CHANNELS + PERSONAS</a:t>
            </a:r>
            <a:endParaRPr sz="87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F3F07C0-9010-43D7-AFE6-81D55C43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90472"/>
            <a:ext cx="1627632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6c29065314669">
            <a:extLst>
              <a:ext uri="{96DAC541-7B7A-43D3-8B79-37D633B846F1}">
                <asvg:svgBlip xmlns:asvg="http://schemas.microsoft.com/office/drawing/2016/SVG/main" r:embed="Rdd6247fa7797483e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8099"/>
            <a:ext cx="256032" cy="204826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C8ABEF6-3C1E-45FB-BC58-569BFD53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16642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3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Chat / Teams</a:t>
            </a:r>
            <a:endParaRPr sz="103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8238BAD7-AFA9-4AD4-8E30-4940F5A1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1490472"/>
            <a:ext cx="1627632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e3bfdadf74887">
            <a:extLst>
              <a:ext uri="{96DAC541-7B7A-43D3-8B79-37D633B846F1}">
                <asvg:svgBlip xmlns:asvg="http://schemas.microsoft.com/office/drawing/2016/SVG/main" r:embed="R87a39713b517438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0904" y="1708099"/>
            <a:ext cx="256032" cy="204826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EDC067EF-D8AA-4468-AA3E-C7860ACD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642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3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IDE</a:t>
            </a:r>
            <a:endParaRPr sz="1030"/>
          </a:p>
        </p:txBody>
      </p:sp>
      <p:sp>
        <p:nvSpPr>
          <p:cNvPr id="12" name="Shape 7">
            <a:extLst xmlns:a="http://schemas.openxmlformats.org/drawingml/2006/main">
              <a:ext uri="{FF2B5EF4-FFF2-40B4-BE49-F238E27FC236}">
                <a16:creationId xmlns:a16="http://schemas.microsoft.com/office/drawing/2014/main" id="{E6DF0461-CD28-4A95-9541-2DD842C2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490472"/>
            <a:ext cx="1627632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e9212d658466c">
            <a:extLst>
              <a:ext uri="{96DAC541-7B7A-43D3-8B79-37D633B846F1}">
                <asvg:svgBlip xmlns:asvg="http://schemas.microsoft.com/office/drawing/2016/SVG/main" r:embed="R6ffec70392cc496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4004" y="1682496"/>
            <a:ext cx="192024" cy="256032"/>
          </a:xfrm>
          <a:prstGeom xmlns:a="http://schemas.openxmlformats.org/drawingml/2006/main" prst="rect">
            <a:avLst/>
          </a:prstGeom>
        </p:spPr>
      </p:pic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BB24D499-9440-455B-8870-3589F8F1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16642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3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Agents</a:t>
            </a:r>
            <a:endParaRPr sz="1030"/>
          </a:p>
        </p:txBody>
      </p:sp>
      <p:sp>
        <p:nvSpPr>
          <p:cNvPr id="15" name="Shape 9">
            <a:extLst xmlns:a="http://schemas.openxmlformats.org/drawingml/2006/main">
              <a:ext uri="{FF2B5EF4-FFF2-40B4-BE49-F238E27FC236}">
                <a16:creationId xmlns:a16="http://schemas.microsoft.com/office/drawing/2014/main" id="{602D932A-CF7A-4A4B-8270-B905E23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490472"/>
            <a:ext cx="1627632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8719faf2474fc5">
            <a:extLst>
              <a:ext uri="{96DAC541-7B7A-43D3-8B79-37D633B846F1}">
                <asvg:svgBlip xmlns:asvg="http://schemas.microsoft.com/office/drawing/2016/SVG/main" r:embed="R01a82c0e1d6941a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83096" y="168249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4011834-57A9-4975-83F8-341A30F8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16642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3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Automation</a:t>
            </a:r>
            <a:endParaRPr sz="1030"/>
          </a:p>
        </p:txBody>
      </p:sp>
      <p:sp>
        <p:nvSpPr>
          <p:cNvPr id="18" name="Shape 11">
            <a:extLst xmlns:a="http://schemas.openxmlformats.org/drawingml/2006/main">
              <a:ext uri="{FF2B5EF4-FFF2-40B4-BE49-F238E27FC236}">
                <a16:creationId xmlns:a16="http://schemas.microsoft.com/office/drawing/2014/main" id="{6A4C8F8B-D069-48F6-9B1A-0559B939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490472"/>
            <a:ext cx="3182112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41B2A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4f78120954f57">
            <a:extLst>
              <a:ext uri="{96DAC541-7B7A-43D3-8B79-37D633B846F1}">
                <asvg:svgBlip xmlns:asvg="http://schemas.microsoft.com/office/drawing/2016/SVG/main" r:embed="R7f80e27fb6a24c9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0224" y="1708099"/>
            <a:ext cx="256032" cy="204826"/>
          </a:xfrm>
          <a:prstGeom xmlns:a="http://schemas.openxmlformats.org/drawingml/2006/main" prst="rect">
            <a:avLst/>
          </a:prstGeom>
        </p:spPr>
      </p:pic>
      <p:sp>
        <p:nvSpPr>
          <p:cNvPr id="20" name="Text 12">
            <a:extLst xmlns:a="http://schemas.openxmlformats.org/drawingml/2006/main">
              <a:ext uri="{FF2B5EF4-FFF2-40B4-BE49-F238E27FC236}">
                <a16:creationId xmlns:a16="http://schemas.microsoft.com/office/drawing/2014/main" id="{B7A44212-2FDD-4D07-899C-4AE49AA6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655064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User + agent identities</a:t>
            </a:r>
            <a:endParaRPr sz="1120"/>
          </a:p>
        </p:txBody>
      </p:sp>
      <p:sp>
        <p:nvSpPr>
          <p:cNvPr id="21" name="Shape 13">
            <a:extLst xmlns:a="http://schemas.openxmlformats.org/drawingml/2006/main">
              <a:ext uri="{FF2B5EF4-FFF2-40B4-BE49-F238E27FC236}">
                <a16:creationId xmlns:a16="http://schemas.microsoft.com/office/drawing/2014/main" id="{415BAEC6-85AD-4570-ADCC-6749713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32888"/>
            <a:ext cx="1101852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3213A"/>
          </a:solidFill>
          <a:ln xmlns:a="http://schemas.openxmlformats.org/drawingml/2006/main" w="12700">
            <a:solidFill>
              <a:srgbClr val="5B7CFF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954CA539-343F-4FF9-B689-18A07B5A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88920"/>
            <a:ext cx="23317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5B7CFF"/>
                </a:solidFill>
                <a:latin typeface="Inter"/>
                <a:ea typeface="Inter"/>
                <a:cs typeface="Inter"/>
              </a:rPr>
              <a:t>ENTERPRISE AI / MCP GATEWAY</a:t>
            </a:r>
            <a:endParaRPr sz="1200"/>
          </a:p>
        </p:txBody>
      </p:sp>
      <p:pic>
        <p:nvPicPr>
          <p:cNvPr id="11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85ef7b4eb41e7">
            <a:extLst>
              <a:ext uri="{96DAC541-7B7A-43D3-8B79-37D633B846F1}">
                <asvg:svgBlip xmlns:asvg="http://schemas.microsoft.com/office/drawing/2016/SVG/main" r:embed="Ra04681dd8bb04bb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82112" y="2770632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B342121A-DE17-4A0A-BAEB-D46DA368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697480"/>
            <a:ext cx="1143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Auth + delegation</a:t>
            </a:r>
            <a:endParaRPr sz="940"/>
          </a:p>
        </p:txBody>
      </p:sp>
      <p:pic>
        <p:nvPicPr>
          <p:cNvPr id="11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b67423ed04a9f">
            <a:extLst>
              <a:ext uri="{96DAC541-7B7A-43D3-8B79-37D633B846F1}">
                <asvg:svgBlip xmlns:asvg="http://schemas.microsoft.com/office/drawing/2016/SVG/main" r:embed="Rb5ff90b2baf743a5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00600" y="2770632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15222017-9EEA-4A8D-B111-8C6C7F47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697480"/>
            <a:ext cx="1143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Baseline policy</a:t>
            </a:r>
            <a:endParaRPr sz="940"/>
          </a:p>
        </p:txBody>
      </p:sp>
      <p:pic>
        <p:nvPicPr>
          <p:cNvPr id="119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19644e2654268">
            <a:extLst>
              <a:ext uri="{96DAC541-7B7A-43D3-8B79-37D633B846F1}">
                <asvg:svgBlip xmlns:asvg="http://schemas.microsoft.com/office/drawing/2016/SVG/main" r:embed="Rc33a7d69b404490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786380"/>
            <a:ext cx="283464" cy="251968"/>
          </a:xfrm>
          <a:prstGeom xmlns:a="http://schemas.openxmlformats.org/drawingml/2006/main" prst="rect">
            <a:avLst/>
          </a:prstGeom>
        </p:spPr>
      </p:pic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0A2E04A-553E-40A9-84F2-F096B1E5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697480"/>
            <a:ext cx="1143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Registry + discovery</a:t>
            </a:r>
            <a:endParaRPr sz="940"/>
          </a:p>
        </p:txBody>
      </p:sp>
      <p:pic>
        <p:nvPicPr>
          <p:cNvPr id="121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91198d2154651">
            <a:extLst>
              <a:ext uri="{96DAC541-7B7A-43D3-8B79-37D633B846F1}">
                <asvg:svgBlip xmlns:asvg="http://schemas.microsoft.com/office/drawing/2016/SVG/main" r:embed="Rb01461020586460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7576" y="2770632"/>
            <a:ext cx="283464" cy="283464"/>
          </a:xfrm>
          <a:prstGeom xmlns:a="http://schemas.openxmlformats.org/drawingml/2006/main" prst="rect">
            <a:avLst/>
          </a:prstGeom>
        </p:spPr>
      </p:pic>
      <p:sp>
        <p:nvSpPr>
          <p:cNvPr id="30" name="Text 18">
            <a:extLst xmlns:a="http://schemas.openxmlformats.org/drawingml/2006/main">
              <a:ext uri="{FF2B5EF4-FFF2-40B4-BE49-F238E27FC236}">
                <a16:creationId xmlns:a16="http://schemas.microsoft.com/office/drawing/2014/main" id="{EB905741-6093-4C21-9301-90C3C1D0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97480"/>
            <a:ext cx="1143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Guardrails</a:t>
            </a:r>
            <a:endParaRPr sz="940"/>
          </a:p>
        </p:txBody>
      </p:sp>
      <p:pic>
        <p:nvPicPr>
          <p:cNvPr id="123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658a99d3b4241">
            <a:extLst>
              <a:ext uri="{96DAC541-7B7A-43D3-8B79-37D633B846F1}">
                <asvg:svgBlip xmlns:asvg="http://schemas.microsoft.com/office/drawing/2016/SVG/main" r:embed="R19768f76c2e44d5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6064" y="2786380"/>
            <a:ext cx="283464" cy="251968"/>
          </a:xfrm>
          <a:prstGeom xmlns:a="http://schemas.openxmlformats.org/drawingml/2006/main" prst="rect">
            <a:avLst/>
          </a:prstGeom>
        </p:spPr>
      </p:pic>
      <p:sp>
        <p:nvSpPr>
          <p:cNvPr id="32" name="Text 19">
            <a:extLst xmlns:a="http://schemas.openxmlformats.org/drawingml/2006/main">
              <a:ext uri="{FF2B5EF4-FFF2-40B4-BE49-F238E27FC236}">
                <a16:creationId xmlns:a16="http://schemas.microsoft.com/office/drawing/2014/main" id="{484F2CC5-CA4C-4FA0-BE3A-4F5B9634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0968" y="2697480"/>
            <a:ext cx="1143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Audit + telemetry</a:t>
            </a:r>
            <a:endParaRPr sz="940"/>
          </a:p>
        </p:txBody>
      </p:sp>
      <p:sp>
        <p:nvSpPr>
          <p:cNvPr id="33" name="Text 20">
            <a:extLst xmlns:a="http://schemas.openxmlformats.org/drawingml/2006/main">
              <a:ext uri="{FF2B5EF4-FFF2-40B4-BE49-F238E27FC236}">
                <a16:creationId xmlns:a16="http://schemas.microsoft.com/office/drawing/2014/main" id="{2D192EAE-78CF-4E6D-8A5C-77A6407C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3255264"/>
            <a:ext cx="701344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A7B5C8"/>
                </a:solidFill>
                <a:latin typeface="Inter"/>
                <a:ea typeface="Inter"/>
                <a:cs typeface="Inter"/>
              </a:rPr>
              <a:t>Common controls · domain-owned execution</a:t>
            </a:r>
            <a:endParaRPr sz="920"/>
          </a:p>
        </p:txBody>
      </p:sp>
      <p:sp>
        <p:nvSpPr>
          <p:cNvPr id="34" name="Text 21">
            <a:extLst xmlns:a="http://schemas.openxmlformats.org/drawingml/2006/main">
              <a:ext uri="{FF2B5EF4-FFF2-40B4-BE49-F238E27FC236}">
                <a16:creationId xmlns:a16="http://schemas.microsoft.com/office/drawing/2014/main" id="{0B915EDB-55DB-46A0-8C02-BCA43292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50792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24CBE0"/>
                </a:solidFill>
                <a:latin typeface="Inter"/>
              </a:rPr>
              <a:t>DOMAIN MCP SERVERS</a:t>
            </a:r>
            <a:endParaRPr sz="870"/>
          </a:p>
        </p:txBody>
      </p:sp>
      <p:sp>
        <p:nvSpPr>
          <p:cNvPr id="35" name="Shape 22">
            <a:extLst xmlns:a="http://schemas.openxmlformats.org/drawingml/2006/main">
              <a:ext uri="{FF2B5EF4-FFF2-40B4-BE49-F238E27FC236}">
                <a16:creationId xmlns:a16="http://schemas.microsoft.com/office/drawing/2014/main" id="{F10C0097-E687-408A-903B-17E06BCB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15968"/>
            <a:ext cx="187452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5D4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28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a066b160ff46a9">
            <a:extLst>
              <a:ext uri="{96DAC541-7B7A-43D3-8B79-37D633B846F1}">
                <asvg:svgBlip xmlns:asvg="http://schemas.microsoft.com/office/drawing/2016/SVG/main" r:embed="R72cdead9b2344ee0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4535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7" name="Text 23">
            <a:extLst xmlns:a="http://schemas.openxmlformats.org/drawingml/2006/main">
              <a:ext uri="{FF2B5EF4-FFF2-40B4-BE49-F238E27FC236}">
                <a16:creationId xmlns:a16="http://schemas.microsoft.com/office/drawing/2014/main" id="{0A650F33-A6DC-4F42-A4C5-F43C3A2F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4507992"/>
            <a:ext cx="117043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Domain data</a:t>
            </a:r>
            <a:endParaRPr sz="1020"/>
          </a:p>
        </p:txBody>
      </p:sp>
      <p:sp>
        <p:nvSpPr>
          <p:cNvPr id="38" name="Shape 24">
            <a:extLst xmlns:a="http://schemas.openxmlformats.org/drawingml/2006/main">
              <a:ext uri="{FF2B5EF4-FFF2-40B4-BE49-F238E27FC236}">
                <a16:creationId xmlns:a16="http://schemas.microsoft.com/office/drawing/2014/main" id="{535E9368-8DB9-42F2-9773-26B6B99B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4056" y="4315968"/>
            <a:ext cx="187452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A87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1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fe83bb3f134479">
            <a:extLst>
              <a:ext uri="{96DAC541-7B7A-43D3-8B79-37D633B846F1}">
                <asvg:svgBlip xmlns:asvg="http://schemas.microsoft.com/office/drawing/2016/SVG/main" r:embed="R338e6ee5f75646a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8648" y="453542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40" name="Text 25">
            <a:extLst xmlns:a="http://schemas.openxmlformats.org/drawingml/2006/main">
              <a:ext uri="{FF2B5EF4-FFF2-40B4-BE49-F238E27FC236}">
                <a16:creationId xmlns:a16="http://schemas.microsoft.com/office/drawing/2014/main" id="{0BB5A30E-BE5A-46EE-97F1-5CEB215F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07992"/>
            <a:ext cx="117043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Analytics</a:t>
            </a:r>
            <a:endParaRPr sz="1020"/>
          </a:p>
        </p:txBody>
      </p:sp>
      <p:sp>
        <p:nvSpPr>
          <p:cNvPr id="41" name="Shape 26">
            <a:extLst xmlns:a="http://schemas.openxmlformats.org/drawingml/2006/main">
              <a:ext uri="{FF2B5EF4-FFF2-40B4-BE49-F238E27FC236}">
                <a16:creationId xmlns:a16="http://schemas.microsoft.com/office/drawing/2014/main" id="{481327ED-C4F0-49A7-87AA-E2EB290E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315968"/>
            <a:ext cx="187452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5B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4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0e892eb0a4c54">
            <a:extLst>
              <a:ext uri="{96DAC541-7B7A-43D3-8B79-37D633B846F1}">
                <asvg:svgBlip xmlns:asvg="http://schemas.microsoft.com/office/drawing/2016/SVG/main" r:embed="R2f079cbffd564547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70348" y="4535424"/>
            <a:ext cx="192024" cy="256032"/>
          </a:xfrm>
          <a:prstGeom xmlns:a="http://schemas.openxmlformats.org/drawingml/2006/main" prst="rect">
            <a:avLst/>
          </a:prstGeom>
        </p:spPr>
      </p:pic>
      <p:sp>
        <p:nvSpPr>
          <p:cNvPr id="43" name="Text 27">
            <a:extLst xmlns:a="http://schemas.openxmlformats.org/drawingml/2006/main">
              <a:ext uri="{FF2B5EF4-FFF2-40B4-BE49-F238E27FC236}">
                <a16:creationId xmlns:a16="http://schemas.microsoft.com/office/drawing/2014/main" id="{334CFD3E-7E21-4BD9-97C0-561CB92A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4507992"/>
            <a:ext cx="117043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Domain tools</a:t>
            </a:r>
            <a:endParaRPr sz="1020"/>
          </a:p>
        </p:txBody>
      </p:sp>
      <p:sp>
        <p:nvSpPr>
          <p:cNvPr id="44" name="Shape 28">
            <a:extLst xmlns:a="http://schemas.openxmlformats.org/drawingml/2006/main">
              <a:ext uri="{FF2B5EF4-FFF2-40B4-BE49-F238E27FC236}">
                <a16:creationId xmlns:a16="http://schemas.microsoft.com/office/drawing/2014/main" id="{95C7D3D3-6A9C-45AD-8D3D-B502B18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315968"/>
            <a:ext cx="187452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1B2E"/>
          </a:solidFill>
          <a:ln xmlns:a="http://schemas.openxmlformats.org/drawingml/2006/main" w="12700">
            <a:solidFill>
              <a:srgbClr val="3BE0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7" name="Imag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38766c468415d">
            <a:extLst>
              <a:ext uri="{96DAC541-7B7A-43D3-8B79-37D633B846F1}">
                <asvg:svgBlip xmlns:asvg="http://schemas.microsoft.com/office/drawing/2016/SVG/main" r:embed="R1c076f2160c6462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94042" y="4535424"/>
            <a:ext cx="224028" cy="256032"/>
          </a:xfrm>
          <a:prstGeom xmlns:a="http://schemas.openxmlformats.org/drawingml/2006/main" prst="rect">
            <a:avLst/>
          </a:prstGeom>
        </p:spPr>
      </p:pic>
      <p:sp>
        <p:nvSpPr>
          <p:cNvPr id="46" name="Text 29">
            <a:extLst xmlns:a="http://schemas.openxmlformats.org/drawingml/2006/main">
              <a:ext uri="{FF2B5EF4-FFF2-40B4-BE49-F238E27FC236}">
                <a16:creationId xmlns:a16="http://schemas.microsoft.com/office/drawing/2014/main" id="{560414E6-D7BC-4E8F-9906-5BC8847F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507992"/>
            <a:ext cx="117043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API access</a:t>
            </a:r>
            <a:endParaRPr sz="1020"/>
          </a:p>
        </p:txBody>
      </p:sp>
      <p:sp>
        <p:nvSpPr>
          <p:cNvPr id="47" name="Shape 30">
            <a:extLst xmlns:a="http://schemas.openxmlformats.org/drawingml/2006/main">
              <a:ext uri="{FF2B5EF4-FFF2-40B4-BE49-F238E27FC236}">
                <a16:creationId xmlns:a16="http://schemas.microsoft.com/office/drawing/2014/main" id="{112A537B-AB38-4AEC-9ECA-D6BD65AF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404104"/>
            <a:ext cx="813816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C182A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Text 31">
            <a:extLst xmlns:a="http://schemas.openxmlformats.org/drawingml/2006/main">
              <a:ext uri="{FF2B5EF4-FFF2-40B4-BE49-F238E27FC236}">
                <a16:creationId xmlns:a16="http://schemas.microsoft.com/office/drawing/2014/main" id="{2620B98D-E58E-42BB-96A3-49686090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596128"/>
            <a:ext cx="12984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00">
                <a:solidFill>
                  <a:srgbClr val="72839A"/>
                </a:solidFill>
                <a:latin typeface="Inter"/>
                <a:ea typeface="Inter"/>
                <a:cs typeface="Inter"/>
              </a:rPr>
              <a:t>SYSTEMS + DATA</a:t>
            </a:r>
            <a:endParaRPr sz="850"/>
          </a:p>
        </p:txBody>
      </p:sp>
      <p:sp>
        <p:nvSpPr>
          <p:cNvPr id="49" name="Text 32">
            <a:extLst xmlns:a="http://schemas.openxmlformats.org/drawingml/2006/main">
              <a:ext uri="{FF2B5EF4-FFF2-40B4-BE49-F238E27FC236}">
                <a16:creationId xmlns:a16="http://schemas.microsoft.com/office/drawing/2014/main" id="{7C75F1F0-FD1F-4E5A-BC20-5CD6CA35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559552"/>
            <a:ext cx="5897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Existing APIs and data · MCP connects agents to these capabilities</a:t>
            </a:r>
            <a:endParaRPr sz="1050"/>
          </a:p>
        </p:txBody>
      </p:sp>
      <p:sp>
        <p:nvSpPr>
          <p:cNvPr id="50" name="Shape 33">
            <a:extLst xmlns:a="http://schemas.openxmlformats.org/drawingml/2006/main">
              <a:ext uri="{FF2B5EF4-FFF2-40B4-BE49-F238E27FC236}">
                <a16:creationId xmlns:a16="http://schemas.microsoft.com/office/drawing/2014/main" id="{0E58C1ED-64F1-4934-B011-ACDF7E4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4315968"/>
            <a:ext cx="2450592" cy="1655064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121A2B"/>
          </a:solidFill>
          <a:ln xmlns:a="http://schemas.openxmlformats.org/drawingml/2006/main" w="12700">
            <a:solidFill>
              <a:srgbClr val="F7B9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Text 34">
            <a:extLst xmlns:a="http://schemas.openxmlformats.org/drawingml/2006/main">
              <a:ext uri="{FF2B5EF4-FFF2-40B4-BE49-F238E27FC236}">
                <a16:creationId xmlns:a16="http://schemas.microsoft.com/office/drawing/2014/main" id="{AA3E92BF-9451-4C42-80DF-7919C54F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70" b="1" spc="100">
                <a:solidFill>
                  <a:srgbClr val="F7B955"/>
                </a:solidFill>
                <a:latin typeface="Inter"/>
                <a:ea typeface="Inter"/>
                <a:cs typeface="Inter"/>
              </a:rPr>
              <a:t>PLATFORM TEAM</a:t>
            </a:r>
            <a:endParaRPr sz="870"/>
          </a:p>
        </p:txBody>
      </p:sp>
      <p:pic>
        <p:nvPicPr>
          <p:cNvPr id="144" name="Imag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0fd7f11d84e45">
            <a:extLst>
              <a:ext uri="{96DAC541-7B7A-43D3-8B79-37D633B846F1}">
                <asvg:svgBlip xmlns:asvg="http://schemas.microsoft.com/office/drawing/2016/SVG/main" r:embed="R5c099e288beb4daa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0" y="4929632"/>
            <a:ext cx="182880" cy="162560"/>
          </a:xfrm>
          <a:prstGeom xmlns:a="http://schemas.openxmlformats.org/drawingml/2006/main" prst="rect">
            <a:avLst/>
          </a:prstGeom>
        </p:spPr>
      </p:pic>
      <p:sp>
        <p:nvSpPr>
          <p:cNvPr id="53" name="Text 35">
            <a:extLst xmlns:a="http://schemas.openxmlformats.org/drawingml/2006/main">
              <a:ext uri="{FF2B5EF4-FFF2-40B4-BE49-F238E27FC236}">
                <a16:creationId xmlns:a16="http://schemas.microsoft.com/office/drawing/2014/main" id="{BBB0B7BD-F382-4D44-9802-F9CE2C5A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901184"/>
            <a:ext cx="15727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Platform tooling</a:t>
            </a:r>
            <a:endParaRPr sz="920"/>
          </a:p>
        </p:txBody>
      </p:sp>
      <p:pic>
        <p:nvPicPr>
          <p:cNvPr id="146" name="Imag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7ad20b1454a9e">
            <a:extLst>
              <a:ext uri="{96DAC541-7B7A-43D3-8B79-37D633B846F1}">
                <asvg:svgBlip xmlns:asvg="http://schemas.microsoft.com/office/drawing/2016/SVG/main" r:embed="Rfd75d139c9ec413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29750" y="5230368"/>
            <a:ext cx="160020" cy="182880"/>
          </a:xfrm>
          <a:prstGeom xmlns:a="http://schemas.openxmlformats.org/drawingml/2006/main" prst="rect">
            <a:avLst/>
          </a:prstGeom>
        </p:spPr>
      </p:pic>
      <p:sp>
        <p:nvSpPr>
          <p:cNvPr id="55" name="Text 36">
            <a:extLst xmlns:a="http://schemas.openxmlformats.org/drawingml/2006/main">
              <a:ext uri="{FF2B5EF4-FFF2-40B4-BE49-F238E27FC236}">
                <a16:creationId xmlns:a16="http://schemas.microsoft.com/office/drawing/2014/main" id="{0E0E06A5-4862-444E-A2FD-6A90BF8A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212080"/>
            <a:ext cx="15727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Incident response</a:t>
            </a:r>
            <a:endParaRPr sz="920"/>
          </a:p>
        </p:txBody>
      </p:sp>
      <p:pic>
        <p:nvPicPr>
          <p:cNvPr id="148" name="Image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46897c8174630">
            <a:extLst>
              <a:ext uri="{96DAC541-7B7A-43D3-8B79-37D633B846F1}">
                <asvg:svgBlip xmlns:asvg="http://schemas.microsoft.com/office/drawing/2016/SVG/main" r:embed="Rcdaca4f93629475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0" y="5559552"/>
            <a:ext cx="182880" cy="146304"/>
          </a:xfrm>
          <a:prstGeom xmlns:a="http://schemas.openxmlformats.org/drawingml/2006/main" prst="rect">
            <a:avLst/>
          </a:prstGeom>
        </p:spPr>
      </p:pic>
      <p:sp>
        <p:nvSpPr>
          <p:cNvPr id="57" name="Text 37">
            <a:extLst xmlns:a="http://schemas.openxmlformats.org/drawingml/2006/main">
              <a:ext uri="{FF2B5EF4-FFF2-40B4-BE49-F238E27FC236}">
                <a16:creationId xmlns:a16="http://schemas.microsoft.com/office/drawing/2014/main" id="{E8744B14-4B7F-41BB-AECE-C0707E3F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522976"/>
            <a:ext cx="15727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EAF0F8"/>
                </a:solidFill>
                <a:latin typeface="Inter"/>
                <a:ea typeface="Inter"/>
                <a:cs typeface="Inter"/>
              </a:rPr>
              <a:t>Telemetry</a:t>
            </a:r>
            <a:endParaRPr sz="920"/>
          </a:p>
        </p:txBody>
      </p:sp>
      <p:sp>
        <p:nvSpPr>
          <p:cNvPr id="58" name="Shape 38">
            <a:extLst xmlns:a="http://schemas.openxmlformats.org/drawingml/2006/main">
              <a:ext uri="{FF2B5EF4-FFF2-40B4-BE49-F238E27FC236}">
                <a16:creationId xmlns:a16="http://schemas.microsoft.com/office/drawing/2014/main" id="{4C41FE41-C0E2-4AD2-B12D-2509518B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2203704"/>
            <a:ext cx="0" cy="3200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39">
            <a:extLst xmlns:a="http://schemas.openxmlformats.org/drawingml/2006/main">
              <a:ext uri="{FF2B5EF4-FFF2-40B4-BE49-F238E27FC236}">
                <a16:creationId xmlns:a16="http://schemas.microsoft.com/office/drawing/2014/main" id="{CAB76694-A0D2-454F-AB50-65F83594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2203704"/>
            <a:ext cx="0" cy="3200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Shape 40">
            <a:extLst xmlns:a="http://schemas.openxmlformats.org/drawingml/2006/main">
              <a:ext uri="{FF2B5EF4-FFF2-40B4-BE49-F238E27FC236}">
                <a16:creationId xmlns:a16="http://schemas.microsoft.com/office/drawing/2014/main" id="{2E73441F-55F5-4545-9440-AA1CB30B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203704"/>
            <a:ext cx="0" cy="3200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Shape 41">
            <a:extLst xmlns:a="http://schemas.openxmlformats.org/drawingml/2006/main">
              <a:ext uri="{FF2B5EF4-FFF2-40B4-BE49-F238E27FC236}">
                <a16:creationId xmlns:a16="http://schemas.microsoft.com/office/drawing/2014/main" id="{4F81DA21-FC78-4659-B704-9990B2B7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3176" y="2203704"/>
            <a:ext cx="0" cy="3200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2" name="Shape 42">
            <a:extLst xmlns:a="http://schemas.openxmlformats.org/drawingml/2006/main">
              <a:ext uri="{FF2B5EF4-FFF2-40B4-BE49-F238E27FC236}">
                <a16:creationId xmlns:a16="http://schemas.microsoft.com/office/drawing/2014/main" id="{5DCCBDC2-768A-40E1-B187-166AE70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3767328"/>
            <a:ext cx="0" cy="5303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Shape 43">
            <a:extLst xmlns:a="http://schemas.openxmlformats.org/drawingml/2006/main">
              <a:ext uri="{FF2B5EF4-FFF2-40B4-BE49-F238E27FC236}">
                <a16:creationId xmlns:a16="http://schemas.microsoft.com/office/drawing/2014/main" id="{F98F2CA1-C1B6-4833-81BC-0A641D76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3767328"/>
            <a:ext cx="0" cy="5303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Shape 44">
            <a:extLst xmlns:a="http://schemas.openxmlformats.org/drawingml/2006/main">
              <a:ext uri="{FF2B5EF4-FFF2-40B4-BE49-F238E27FC236}">
                <a16:creationId xmlns:a16="http://schemas.microsoft.com/office/drawing/2014/main" id="{3EBAC907-8BDA-4B36-A19A-EA800A34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3767328"/>
            <a:ext cx="0" cy="5303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5" name="Shape 45">
            <a:extLst xmlns:a="http://schemas.openxmlformats.org/drawingml/2006/main">
              <a:ext uri="{FF2B5EF4-FFF2-40B4-BE49-F238E27FC236}">
                <a16:creationId xmlns:a16="http://schemas.microsoft.com/office/drawing/2014/main" id="{851ECA87-C650-43F5-83AB-347AAF35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767328"/>
            <a:ext cx="0" cy="5303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6" name="Shape 46">
            <a:extLst xmlns:a="http://schemas.openxmlformats.org/drawingml/2006/main">
              <a:ext uri="{FF2B5EF4-FFF2-40B4-BE49-F238E27FC236}">
                <a16:creationId xmlns:a16="http://schemas.microsoft.com/office/drawing/2014/main" id="{2DCE5E8C-5C33-477C-86C7-FBA87971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5102352"/>
            <a:ext cx="0" cy="2926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Shape 47">
            <a:extLst xmlns:a="http://schemas.openxmlformats.org/drawingml/2006/main">
              <a:ext uri="{FF2B5EF4-FFF2-40B4-BE49-F238E27FC236}">
                <a16:creationId xmlns:a16="http://schemas.microsoft.com/office/drawing/2014/main" id="{97725E26-D2B7-4F8A-AD89-8C8C157F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102352"/>
            <a:ext cx="0" cy="2926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Shape 48">
            <a:extLst xmlns:a="http://schemas.openxmlformats.org/drawingml/2006/main">
              <a:ext uri="{FF2B5EF4-FFF2-40B4-BE49-F238E27FC236}">
                <a16:creationId xmlns:a16="http://schemas.microsoft.com/office/drawing/2014/main" id="{307E6EE2-359D-46E9-A97C-5F19ED6A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5102352"/>
            <a:ext cx="0" cy="2926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Shape 49">
            <a:extLst xmlns:a="http://schemas.openxmlformats.org/drawingml/2006/main">
              <a:ext uri="{FF2B5EF4-FFF2-40B4-BE49-F238E27FC236}">
                <a16:creationId xmlns:a16="http://schemas.microsoft.com/office/drawing/2014/main" id="{A7B5CCE1-BB1E-4CA6-AA1F-41A37251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102352"/>
            <a:ext cx="0" cy="2926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0" name="Shape 50">
            <a:extLst xmlns:a="http://schemas.openxmlformats.org/drawingml/2006/main">
              <a:ext uri="{FF2B5EF4-FFF2-40B4-BE49-F238E27FC236}">
                <a16:creationId xmlns:a16="http://schemas.microsoft.com/office/drawing/2014/main" id="{E5D74683-E4A7-4CDF-AD4C-F5B32B8B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624" y="6044184"/>
            <a:ext cx="4498848" cy="320040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3BE0B5">
              <a:alpha val="13000"/>
            </a:srgbClr>
          </a:solidFill>
          <a:ln xmlns:a="http://schemas.openxmlformats.org/drawingml/2006/main" w="12700">
            <a:solidFill>
              <a:srgbClr val="3BE0B5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Text 51">
            <a:extLst xmlns:a="http://schemas.openxmlformats.org/drawingml/2006/main">
              <a:ext uri="{FF2B5EF4-FFF2-40B4-BE49-F238E27FC236}">
                <a16:creationId xmlns:a16="http://schemas.microsoft.com/office/drawing/2014/main" id="{DF9AF5AB-A5A1-4E08-8D1D-734DF8E7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6053328"/>
            <a:ext cx="4352544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70" b="1">
                <a:solidFill>
                  <a:srgbClr val="3BE0B5"/>
                </a:solidFill>
                <a:latin typeface="Inter"/>
                <a:ea typeface="Inter"/>
                <a:cs typeface="Inter"/>
              </a:rPr>
              <a:t>CENTRAL GOVERNANCE · FEDERATED EXECUTION</a:t>
            </a:r>
            <a:endParaRPr sz="1020"/>
          </a:p>
        </p:txBody>
      </p:sp>
      <p:sp>
        <p:nvSpPr>
          <p:cNvPr id="72" name="Shape 52">
            <a:extLst xmlns:a="http://schemas.openxmlformats.org/drawingml/2006/main">
              <a:ext uri="{FF2B5EF4-FFF2-40B4-BE49-F238E27FC236}">
                <a16:creationId xmlns:a16="http://schemas.microsoft.com/office/drawing/2014/main" id="{CD756713-4D44-4574-A9D8-C2694301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3" name="Text 53">
            <a:extLst xmlns:a="http://schemas.openxmlformats.org/drawingml/2006/main">
              <a:ext uri="{FF2B5EF4-FFF2-40B4-BE49-F238E27FC236}">
                <a16:creationId xmlns:a16="http://schemas.microsoft.com/office/drawing/2014/main" id="{52F09B70-0EA7-49EC-A38C-A257663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ACT II · ENTERPRISE</a:t>
            </a:r>
            <a:endParaRPr sz="850"/>
          </a:p>
        </p:txBody>
      </p:sp>
      <p:sp>
        <p:nvSpPr>
          <p:cNvPr id="74" name="Text 54">
            <a:extLst xmlns:a="http://schemas.openxmlformats.org/drawingml/2006/main">
              <a:ext uri="{FF2B5EF4-FFF2-40B4-BE49-F238E27FC236}">
                <a16:creationId xmlns:a16="http://schemas.microsoft.com/office/drawing/2014/main" id="{33751BAC-769A-4100-8852-2984F015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75" name="Text 55">
            <a:extLst xmlns:a="http://schemas.openxmlformats.org/drawingml/2006/main">
              <a:ext uri="{FF2B5EF4-FFF2-40B4-BE49-F238E27FC236}">
                <a16:creationId xmlns:a16="http://schemas.microsoft.com/office/drawing/2014/main" id="{C6ABDE7A-E895-4D38-8E94-6CD19F26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11</a:t>
            </a:r>
            <a:endParaRPr sz="850"/>
          </a:p>
        </p:txBody>
      </p:sp>
      <p:sp xmlns:a="http://schemas.openxmlformats.org/drawingml/2006/main">
        <p:nvSpPr>
          <p:cNvPr id="149" name="Transcript cue: Domain semantics + execution rules"/>
          <p:cNvSpPr txBox="1"/>
          <p:nvPr/>
        </p:nvSpPr>
        <p:spPr>
          <a:xfrm>
            <a:off x="5074920" y="4005072"/>
            <a:ext cx="38039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A7B5C8"/>
                </a:solidFill>
                <a:latin typeface="Inter"/>
              </a:rPr>
              <a:t>Domain semantics + execution rules</a:t>
            </a:r>
          </a:p>
        </p:txBody>
      </p:sp>
    </p:spTree>
    <p:extLst>
      <p:ext uri="{BB962C8B-B14F-4D97-AF65-F5344CB8AC3E}">
        <p14:creationId xmlns:p14="http://schemas.microsoft.com/office/powerpoint/2010/main" val="59318454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ba09dd134445a">
            <a:extLst>
              <a:ext uri="{96DAC541-7B7A-43D3-8B79-37D633B846F1}">
                <asvg:svgBlip xmlns:asvg="http://schemas.microsoft.com/office/drawing/2016/SVG/main" r:embed="Rddbdda686f864e7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B77C14D-7E64-4448-91F7-C8B4CB45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4048"/>
            <a:ext cx="11018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 spc="160">
                <a:solidFill>
                  <a:srgbClr val="35D4E7"/>
                </a:solidFill>
                <a:latin typeface="Inter"/>
                <a:ea typeface="Inter"/>
                <a:cs typeface="Inter"/>
              </a:rPr>
              <a:t>ONE IDEA TO TAKE HOME</a:t>
            </a:r>
            <a:endParaRPr sz="9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5FEC1AA-B4A8-4F09-9641-719E1499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10185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 dividing line</a:t>
            </a:r>
            <a:endParaRPr sz="31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E6E58A7-1AFE-4BF4-8D2A-E8F52D08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44168"/>
            <a:ext cx="5285232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2700">
            <a:solidFill>
              <a:srgbClr val="35D4E7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6392A863-0DDE-40CF-BB95-CD806799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664208"/>
            <a:ext cx="111556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D4E7">
              <a:alpha val="17000"/>
            </a:srgbClr>
          </a:solidFill>
          <a:ln xmlns:a="http://schemas.openxmlformats.org/drawingml/2006/main" w="12700">
            <a:solidFill>
              <a:srgbClr val="35D4E7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6470DD1-9B11-4E50-BEFE-3EDFB2F6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673352"/>
            <a:ext cx="96926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STARTUP</a:t>
            </a:r>
            <a:endParaRPr sz="9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8D22849-4685-465D-9B0E-08ADF283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12848"/>
            <a:ext cx="4407408" cy="1078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Control the model,</a:t>
            </a:r>
            <a:endParaRPr sz="3100"/>
          </a:p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 route and the output.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CA4CDDB-E7C1-4D75-B93E-33C81799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767328"/>
            <a:ext cx="43708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>
                <a:solidFill>
                  <a:srgbClr val="A7B5C8"/>
                </a:solidFill>
                <a:latin typeface="Inter"/>
                <a:ea typeface="Inter"/>
                <a:cs typeface="Inter"/>
              </a:rPr>
              <a:t>Tool loop · accuracy · UX · latency · cost</a:t>
            </a:r>
            <a:endParaRPr sz="125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FC6E92DB-93D7-4C2A-970C-034219EA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344168"/>
            <a:ext cx="5285232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171927"/>
          </a:solidFill>
          <a:ln xmlns:a="http://schemas.openxmlformats.org/drawingml/2006/main" w="12700">
            <a:solidFill>
              <a:srgbClr val="F7B955"/>
            </a:solidFill>
            <a:prstDash val="solid"/>
          </a:ln>
          <a:effectLst xmlns:a="http://schemas.openxmlformats.org/drawingml/2006/main">
            <a:outerShdw algn="bl" rotWithShape="0">
              <a:srgbClr val="000000">
                <a:alpha val="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1C45CF0-0AFE-48E9-A0E2-6274C5C4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1664208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7B955">
              <a:alpha val="17000"/>
            </a:srgbClr>
          </a:solidFill>
          <a:ln xmlns:a="http://schemas.openxmlformats.org/drawingml/2006/main" w="12700">
            <a:solidFill>
              <a:srgbClr val="F7B955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E4B508C-E29A-4C6E-BEED-C404ED8C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264" y="1673352"/>
            <a:ext cx="12070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ENTERPRISE</a:t>
            </a:r>
            <a:endParaRPr sz="9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75FFA643-DA91-4672-9273-543F7921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167128"/>
            <a:ext cx="4480560" cy="1207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Control every identity, tool and dataset,</a:t>
            </a:r>
            <a:endParaRPr sz="2500"/>
          </a:p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then retain the evidence.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BEA85F4-8792-4235-8960-51B55F7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767328"/>
            <a:ext cx="449884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80">
                <a:solidFill>
                  <a:srgbClr val="A7B5C8"/>
                </a:solidFill>
                <a:latin typeface="Inter"/>
                <a:ea typeface="Inter"/>
                <a:cs typeface="Inter"/>
              </a:rPr>
              <a:t>Authorization · licensing · policy · audit · operations</a:t>
            </a:r>
            <a:endParaRPr sz="118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CA364D6E-9894-4AC5-8F8F-73067DE1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56048"/>
            <a:ext cx="187452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D4E7">
              <a:alpha val="16000"/>
            </a:srgbClr>
          </a:solidFill>
          <a:ln xmlns:a="http://schemas.openxmlformats.org/drawingml/2006/main" w="12700">
            <a:solidFill>
              <a:srgbClr val="35D4E7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B8E99B6-B789-4BBF-98BF-E3B62587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65192"/>
            <a:ext cx="172821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10" b="1">
                <a:solidFill>
                  <a:srgbClr val="35D4E7"/>
                </a:solidFill>
                <a:latin typeface="Inter"/>
                <a:ea typeface="Inter"/>
                <a:cs typeface="Inter"/>
              </a:rPr>
              <a:t>MAKE IT WORK</a:t>
            </a:r>
            <a:endParaRPr sz="91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581D4EFC-8C0C-4A18-B1CF-6E9C1AA0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0904" y="5148072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5E76AF3E-5266-4936-8DBD-A1B57CF6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4956048"/>
            <a:ext cx="187452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B7CFF">
              <a:alpha val="16000"/>
            </a:srgbClr>
          </a:solidFill>
          <a:ln xmlns:a="http://schemas.openxmlformats.org/drawingml/2006/main" w="12700">
            <a:solidFill>
              <a:srgbClr val="5B7CFF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AEF5FDE-7DF7-43D2-A304-644ACC20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4965192"/>
            <a:ext cx="172821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10" b="1">
                <a:solidFill>
                  <a:srgbClr val="5B7CFF"/>
                </a:solidFill>
                <a:latin typeface="Inter"/>
                <a:ea typeface="Inter"/>
                <a:cs typeface="Inter"/>
              </a:rPr>
              <a:t>MAKE IT REPEATABLE</a:t>
            </a:r>
            <a:endParaRPr sz="91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96CF6CE1-5146-48C9-8DF4-69A0FC6D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5148072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2839A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D2E1BCE6-91DD-4432-8E5E-81866949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4956048"/>
            <a:ext cx="187452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7B955">
              <a:alpha val="16000"/>
            </a:srgbClr>
          </a:solidFill>
          <a:ln xmlns:a="http://schemas.openxmlformats.org/drawingml/2006/main" w="12700">
            <a:solidFill>
              <a:srgbClr val="F7B955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3B017986-BE82-4C79-A666-80EB15B8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4965192"/>
            <a:ext cx="172821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10" b="1">
                <a:solidFill>
                  <a:srgbClr val="F7B955"/>
                </a:solidFill>
                <a:latin typeface="Inter"/>
                <a:ea typeface="Inter"/>
                <a:cs typeface="Inter"/>
              </a:rPr>
              <a:t>MAKE IT GOVERNABLE</a:t>
            </a:r>
            <a:endParaRPr sz="91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C7AE435-5182-48C2-BB02-B1DE05F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773168"/>
            <a:ext cx="4005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C182A"/>
          </a:solidFill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cc111a00647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8120" y="4983480"/>
            <a:ext cx="850392" cy="850392"/>
          </a:xfrm>
          <a:prstGeom xmlns:a="http://schemas.openxmlformats.org/drawingml/2006/main" prst="rect">
            <a:avLst/>
          </a:prstGeom>
        </p:spPr>
      </p:pic>
      <p:pic>
        <p:nvPicPr>
          <p:cNvPr id="6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03dec8c9b4e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4544" y="4983480"/>
            <a:ext cx="850392" cy="850392"/>
          </a:xfrm>
          <a:prstGeom xmlns:a="http://schemas.openxmlformats.org/drawingml/2006/main" prst="rect">
            <a:avLst/>
          </a:prstGeom>
        </p:spPr>
      </p:pic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1b40157c07414b">
            <a:extLst>
              <a:ext uri="{96DAC541-7B7A-43D3-8B79-37D633B846F1}">
                <asvg:svgBlip xmlns:asvg="http://schemas.microsoft.com/office/drawing/2016/SVG/main" r:embed="R0ff1344f3e7548d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9543" y="4974336"/>
            <a:ext cx="272034" cy="310896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879678C3-F575-4B92-BC2B-32EC40A2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919472"/>
            <a:ext cx="960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FAFF"/>
                </a:solidFill>
                <a:latin typeface="Inter"/>
                <a:ea typeface="Inter"/>
                <a:cs typeface="Inter"/>
              </a:rPr>
              <a:t>Continue the conversation</a:t>
            </a:r>
            <a:endParaRPr sz="1050"/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DC888B53-1DE2-4FD4-9331-C5E44D53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861304"/>
            <a:ext cx="93268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Portfolio</a:t>
            </a:r>
            <a:endParaRPr sz="790"/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5A69D834-3C83-4DF5-AA52-3BEC13F0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5861304"/>
            <a:ext cx="93268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LinkedIn</a:t>
            </a:r>
            <a:endParaRPr sz="790"/>
          </a:p>
        </p:txBody>
      </p:sp>
      <p:sp>
        <p:nvSpPr>
          <p:cNvPr id="30" name="Text 24">
            <a:extLst xmlns:a="http://schemas.openxmlformats.org/drawingml/2006/main">
              <a:ext uri="{FF2B5EF4-FFF2-40B4-BE49-F238E27FC236}">
                <a16:creationId xmlns:a16="http://schemas.microsoft.com/office/drawing/2014/main" id="{A8B4B342-2034-4BEB-B240-DC46A5E5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5394960"/>
            <a:ext cx="130759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A7B5C8"/>
                </a:solidFill>
                <a:latin typeface="Inter"/>
                <a:ea typeface="Inter"/>
                <a:cs typeface="Inter"/>
              </a:rPr>
              <a:t>kolygri.github.io</a:t>
            </a:r>
            <a:endParaRPr sz="920"/>
          </a:p>
        </p:txBody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81C69067-F024-4A39-AF1C-72BC46E4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797296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 spc="130">
                <a:solidFill>
                  <a:srgbClr val="F7FAFF"/>
                </a:solidFill>
                <a:latin typeface="Inter"/>
                <a:ea typeface="Inter"/>
                <a:cs typeface="Inter"/>
              </a:rPr>
              <a:t>THANK YOU</a:t>
            </a:r>
            <a:endParaRPr sz="1600"/>
          </a:p>
        </p:txBody>
      </p:sp>
      <p:sp>
        <p:nvSpPr>
          <p:cNvPr id="32" name="Shape 26">
            <a:extLst xmlns:a="http://schemas.openxmlformats.org/drawingml/2006/main">
              <a:ext uri="{FF2B5EF4-FFF2-40B4-BE49-F238E27FC236}">
                <a16:creationId xmlns:a16="http://schemas.microsoft.com/office/drawing/2014/main" id="{5D6FF57B-B4E5-476D-BAC2-8DDD0C7A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28232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93A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5549CBD0-5A87-471C-AD35-BC25FB90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83096"/>
            <a:ext cx="3840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80">
                <a:solidFill>
                  <a:srgbClr val="72839A"/>
                </a:solidFill>
                <a:latin typeface="Inter"/>
                <a:ea typeface="Inter"/>
                <a:cs typeface="Inter"/>
              </a:rPr>
              <a:t>CLOSE</a:t>
            </a:r>
            <a:endParaRPr sz="850"/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B9930BB-3DC6-4804-83D3-532043C8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6483096"/>
            <a:ext cx="28346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85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7B2D3B42-AA43-49E3-AFF0-28176914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528" y="647395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 b="1">
                <a:solidFill>
                  <a:srgbClr val="72839A"/>
                </a:solidFill>
                <a:latin typeface="Inter"/>
                <a:ea typeface="Inter"/>
                <a:cs typeface="Inter"/>
              </a:rPr>
              <a:t>12</a:t>
            </a:r>
            <a:endParaRPr sz="850"/>
          </a:p>
        </p:txBody>
      </p:sp>
    </p:spTree>
    <p:extLst>
      <p:ext uri="{BB962C8B-B14F-4D97-AF65-F5344CB8AC3E}">
        <p14:creationId xmlns:p14="http://schemas.microsoft.com/office/powerpoint/2010/main" val="42888720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2026-09-29T17:08:23.4000000Z</dcterms:created>
  <dcterms:modified xsi:type="dcterms:W3CDTF">2026-09-29T17:08:23.4000000Z</dcterms:modified>
</coreProperties>
</file>