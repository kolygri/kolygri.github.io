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6" r:id="rId2"/>
    <p:sldId id="257" r:id="rId3"/>
    <p:sldId id="258" r:id="rId4"/>
    <p:sldId id="259" r:id="rId5"/>
    <p:sldId id="260" r:id="rId6"/>
    <p:sldId id="261" r:id="rId7"/>
    <p:sldId id="268" r:id="rId8"/>
    <p:sldId id="263" r:id="rId9"/>
    <p:sldId id="264" r:id="rId10"/>
    <p:sldId id="265" r:id="rId11"/>
    <p:sldId id="266" r:id="rId12"/>
    <p:sldId id="267" r:id="rId13"/>
  </p:sldIdLst>
  <p:sldSz cx="12192000" cy="6858000"/>
  <p:notesSz cx="6858000" cy="9144000"/>
  <p:defaultText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52"/>
    <p:restoredTop sz="94647"/>
  </p:normalViewPr>
  <p:slideViewPr>
    <p:cSldViewPr snapToGrid="0" snapToObjects="1">
      <p:cViewPr varScale="1">
        <p:scale>
          <a:sx n="149" d="100"/>
          <a:sy n="149" d="100"/>
        </p:scale>
        <p:origin x="192"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12:05:00–12:05:45 · 0:45</a:t>
            </a:r>
          </a:p>
          <a:p>
            <a:endParaRPr/>
          </a:p>
          <a:p>
            <a:r>
              <a:t>TRANSCRIPT</a:t>
            </a:r>
          </a:p>
          <a:p>
            <a:r>
              <a:t>Good afternoon. I am Konstantin Grigorov, and this is a story about what happens after the MCP demo works. Quick show of hands: who has seen a convincing agent demo become a much larger engineering programme once real users, real data and real accountability arrived?</a:t>
            </a:r>
          </a:p>
          <a:p>
            <a:endParaRPr/>
          </a:p>
          <a:p>
            <a:r>
              <a:t>We will follow one architecture through two worlds. First comes a nine-person startup where speed and a Friday demo are rational priorities. Then comes the enterprise version, where the question changes from “can the agent answer?” to “should this identity receive this answer from this data, and can we prove the controls worked?” The story is composite, but the implementation lessons come from a working FastMCP service.</a:t>
            </a:r>
          </a:p>
          <a:p>
            <a:endParaRPr/>
          </a:p>
          <a:p>
            <a:r>
              <a:t>TRANSITION</a:t>
            </a:r>
          </a:p>
          <a:p>
            <a:r>
              <a:t>Let us begin with the legally safest slide in the presentation.</a:t>
            </a:r>
          </a:p>
          <a:p>
            <a:endParaRPr/>
          </a:p>
          <a:p>
            <a:r>
              <a:t>[Sources]</a:t>
            </a:r>
          </a:p>
          <a:p>
            <a:r>
              <a:t>- https://www.ai-expo.net/europe/agenda/ai-developer/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12:05:45–12:07:15 · 1:30</a:t>
            </a:r>
          </a:p>
          <a:p>
            <a:endParaRPr/>
          </a:p>
          <a:p>
            <a:r>
              <a:t>TRANSCRIPT</a:t>
            </a:r>
          </a:p>
          <a:p>
            <a:r>
              <a:t>This is a fictional story inspired by true events. You have just joined a startup with nine people, actual funding and an investor update on Friday. The pitch is direct: connect an AI assistant to useful data through MCP and let customers ask questions in natural language.</a:t>
            </a:r>
          </a:p>
          <a:p>
            <a:endParaRPr/>
          </a:p>
          <a:p>
            <a:r>
              <a:t>At this stage, the problem is not an enterprise operating model. The problem is whether the team can connect the model to real data and return something useful before money or patience runs out. That is a legitimate phase. Every serious platform begins as a smaller and more optimistic system.</a:t>
            </a:r>
          </a:p>
          <a:p>
            <a:endParaRPr/>
          </a:p>
          <a:p>
            <a:r>
              <a:t>The danger sits in the assumptions under the demo. The users are trusted. There is one identity path. One team understands every box. The tool catalogue is small enough to hold in one person’s head. Those assumptions make the first version safe enough. Assumption debt appears when the product grows and nobody notices that the conditions have changed.</a:t>
            </a:r>
          </a:p>
          <a:p>
            <a:endParaRPr/>
          </a:p>
          <a:p>
            <a:r>
              <a:t>TRANSITION</a:t>
            </a:r>
          </a:p>
          <a:p>
            <a:r>
              <a:t>So what does the first credible implementation actually look like?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12:07:15–12:10:30 · 3:15</a:t>
            </a:r>
          </a:p>
          <a:p>
            <a:endParaRPr/>
          </a:p>
          <a:p>
            <a:r>
              <a:t>TRANSCRIPT</a:t>
            </a:r>
          </a:p>
          <a:p>
            <a:r>
              <a:t>This diagram now follows the implementation more closely. The client owns the conversation and the tool loop. The host model interprets the request and chooses a tool, but it never receives direct database access. The FastMCP service contains no second model. It exposes 25 narrow tools and returns structured guidance about the next required step.</a:t>
            </a:r>
          </a:p>
          <a:p>
            <a:endParaRPr/>
          </a:p>
          <a:p>
            <a:r>
              <a:t>That detail matters. Prompt routing is itself an MCP tool inside the service. It preserves the user’s original wording and returns a next step. It does not secretly invoke the next tool. The client remains the orchestrator. Routing guidance improves repeatability, but it is still model-facing instruction. The hard security boundary comes later.</a:t>
            </a:r>
          </a:p>
          <a:p>
            <a:endParaRPr/>
          </a:p>
          <a:p>
            <a:r>
              <a:t>Every remote call carries bearer identity through middleware. At startup, the service loads its table index, schema metadata, dataset catalogue and trusted-template index into memory. Discovery can stay fast without asking the business database to explain itself on every prompt. Output tools return tables, files, charts, grids or maps as in-memory resources.</a:t>
            </a:r>
          </a:p>
          <a:p>
            <a:endParaRPr/>
          </a:p>
          <a:p>
            <a:r>
              <a:t>Before a data query executes, procedural code takes over. The service parses one T-SQL statement into an abstract syntax tree. It permits read-only query shapes, rejects writes, external rowsets, cross-database sources and unsupported functions, then extracts every physical relation, including relations hidden in a CTE, subquery or union. A separate authorization check verifies that the caller may read every relation. The database connection also declares read-only intent.</a:t>
            </a:r>
          </a:p>
          <a:p>
            <a:endParaRPr/>
          </a:p>
          <a:p>
            <a:r>
              <a:t>This is the design principle: a deterministic spine around a probabilistic model. The model interprets language. Code constrains execution. When an answer is wrong, we can locate the failure in routing, retrieval, schema choice, SQL, authorization or presentation instead of treating the whole system as one mysterious prompt.</a:t>
            </a:r>
          </a:p>
          <a:p>
            <a:endParaRPr/>
          </a:p>
          <a:p>
            <a:r>
              <a:t>TRANSITION</a:t>
            </a:r>
          </a:p>
          <a:p>
            <a:r>
              <a:t>The implementation works. Now somebody has to find it and decide whether to trust it.</a:t>
            </a:r>
          </a:p>
          <a:p>
            <a:endParaRPr/>
          </a:p>
          <a:p>
            <a:r>
              <a:t>[Implementation evidence]</a:t>
            </a:r>
          </a:p>
          <a:p>
            <a:r>
              <a:t>- Reviewed codebase snapshot, 29 September 2026: src/server.py, src/tools/routing/prompt_routing.py, src/safety/prompt_safety.py, src/security/authorization.py and src/tools/outputs/. Identifiers and data details are omitted.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12:10:30–12:12:45 · 2:15</a:t>
            </a:r>
          </a:p>
          <a:p>
            <a:endParaRPr/>
          </a:p>
          <a:p>
            <a:r>
              <a:t>TRANSCRIPT</a:t>
            </a:r>
          </a:p>
          <a:p>
            <a:r>
              <a:t>Discovery scales faster than approval. The official MCP Registry provides canonical server metadata. Community directories add search and convenience. Those surfaces can help a developer find a server, but they cannot decide whether an organisation should trust that publisher, version, tool set or data path.</a:t>
            </a:r>
          </a:p>
          <a:p>
            <a:endParaRPr/>
          </a:p>
          <a:p>
            <a:r>
              <a:t>A practical review has several stages. Verify the publisher and source. Put approved versions on an allowlist. At runtime, authenticate the caller, narrow the scope and observe the call. Local and remote deployments have different credential paths, but the principle stays the same: discovery metadata does not replace runtime policy.</a:t>
            </a:r>
          </a:p>
          <a:p>
            <a:endParaRPr/>
          </a:p>
          <a:p>
            <a:r>
              <a:t>The reviewed service makes that distinction concrete. Streamable HTTP sits behind bearer-token middleware. Transport security restricts allowed hosts and origins. The token validator checks signature, issuer, audience, tenant, expiry and the delegated scope. That proves who is calling the service. It does not yet prove which business data the caller may use. Dataset authorization performs that second decision.</a:t>
            </a:r>
          </a:p>
          <a:p>
            <a:endParaRPr/>
          </a:p>
          <a:p>
            <a:r>
              <a:t>This is where small systems and enterprise systems begin to diverge. A registry answers “where is the server?” Enterprise controls must answer “is this server approved, is this caller entitled, and is this operation allowed now?”</a:t>
            </a:r>
          </a:p>
          <a:p>
            <a:endParaRPr/>
          </a:p>
          <a:p>
            <a:r>
              <a:t>TRANSITION</a:t>
            </a:r>
          </a:p>
          <a:p>
            <a:r>
              <a:t>Customer acquisition now gives us exactly the user who tests every hidden assumption.</a:t>
            </a:r>
          </a:p>
          <a:p>
            <a:endParaRPr/>
          </a:p>
          <a:p>
            <a:r>
              <a:t>[Sources]</a:t>
            </a:r>
          </a:p>
          <a:p>
            <a:r>
              <a:t>- https://registry.modelcontextprotocol.io/</a:t>
            </a:r>
          </a:p>
          <a:p>
            <a:r>
              <a:t>- https://modelcontextprotocol.io/specification/2026-07-28/basic/authorization</a:t>
            </a:r>
          </a:p>
          <a:p>
            <a:r>
              <a:t>- https://modelcontextprotocol.io/specification/2026-07-28/basic/authorization/security-considerations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12:12:45–12:15:15 · 2:30</a:t>
            </a:r>
          </a:p>
          <a:p>
            <a:endParaRPr/>
          </a:p>
          <a:p>
            <a:r>
              <a:t>TRANSCRIPT</a:t>
            </a:r>
          </a:p>
          <a:p>
            <a:r>
              <a:t>In the first customer batch, one user is a very important venture capitalist with a portfolio that includes Bored Ape NFTs and a famously volatile meme token. The story is fictional, although the price milestones are real.</a:t>
            </a:r>
          </a:p>
          <a:p>
            <a:endParaRPr/>
          </a:p>
          <a:p>
            <a:r>
              <a:t>I am reliably informed that collectors of volatile assets are highly disciplined people. They think carefully about diversification, liquidity and, on rare occasions, the floor price of a cartoon ape at three in the morning. This is not investment advice. The point is that volatile assets make consequences visible very quickly.</a:t>
            </a:r>
          </a:p>
          <a:p>
            <a:endParaRPr/>
          </a:p>
          <a:p>
            <a:r>
              <a:t>The customer asks three reasonable questions. Can another user see my data? Can the agent invoke a write tool? Can I reproduce the answer that influenced a decision? Those questions turn a clever demo into a system with a blast radius.</a:t>
            </a:r>
          </a:p>
          <a:p>
            <a:endParaRPr/>
          </a:p>
          <a:p>
            <a:r>
              <a:t>The reviewed implementation gives us concrete responses. The data path accepts only read-only SQL shapes. Authorization evaluates the user against every referenced relation, including a restricted table hidden inside a nested query. File outputs stay in memory rather than accepting a path on the server. Those controls matter because a model can propose an operation, but deterministic code decides whether it may execute.</a:t>
            </a:r>
          </a:p>
          <a:p>
            <a:endParaRPr/>
          </a:p>
          <a:p>
            <a:r>
              <a:t>Customer acquisition has converted security, isolation and evidence from roadmap items into product requirements. Nothing fundamental changed in MCP. The value and sensitivity on the other side of the tool changed.</a:t>
            </a:r>
          </a:p>
          <a:p>
            <a:endParaRPr/>
          </a:p>
          <a:p>
            <a:r>
              <a:t>TRANSITION</a:t>
            </a:r>
          </a:p>
          <a:p>
            <a:r>
              <a:t>The demo passes. Production expands the control surface.</a:t>
            </a:r>
          </a:p>
          <a:p>
            <a:endParaRPr/>
          </a:p>
          <a:p>
            <a:r>
              <a:t>[Sources]</a:t>
            </a:r>
          </a:p>
          <a:p>
            <a:r>
              <a:t>- https://nftpricefloor.com/bored-ape-yacht-club</a:t>
            </a:r>
          </a:p>
          <a:p>
            <a:r>
              <a:t>- https://www.coingecko.com/en/coins/official-trump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12:15:15–12:18:15 · 3:00</a:t>
            </a:r>
          </a:p>
          <a:p>
            <a:endParaRPr/>
          </a:p>
          <a:p>
            <a:r>
              <a:t>TRANSCRIPT</a:t>
            </a:r>
          </a:p>
          <a:p>
            <a:r>
              <a:t>These controls are product code. Identity begins with a delegated bearer token. Authorization maps the caller to existing business entitlements and verifies every physical relation in the query. Least privilege appears as narrow tools, structural SQL validation and a read-only database connection.</a:t>
            </a:r>
          </a:p>
          <a:p>
            <a:endParaRPr/>
          </a:p>
          <a:p>
            <a:r>
              <a:t>The SQL gate does more than search for dangerous words. It parses exactly one statement, permits SELECT and set operations, rejects mutation, SELECT INTO, external rowsets, temporary sources, cross-database names and unsupported functions. Scope-aware relation extraction means a restricted table inside a CTE, subquery or union still causes the whole request to fail.</a:t>
            </a:r>
          </a:p>
          <a:p>
            <a:endParaRPr/>
          </a:p>
          <a:p>
            <a:r>
              <a:t>Evidence also needs care. Structured logs carry request and trace context, but audit data can itself contain identity and prompt content. Redaction, access and retention therefore belong in the trust model. Provenance should connect the dataset, query, source metadata and policy result. A final answer without that chain remains difficult to defend.</a:t>
            </a:r>
          </a:p>
          <a:p>
            <a:endParaRPr/>
          </a:p>
          <a:p>
            <a:r>
              <a:t>Reliability comes from testing the path, not only the prose. The latest reviewed CI run collected 470 tests. All passed with 89 percent coverage, alongside lint, secret, dependency and static-analysis checks. One adversarial matrix sends six unsafe SQL forms through eight output tools and asserts that the database cursor is never called.</a:t>
            </a:r>
          </a:p>
          <a:p>
            <a:endParaRPr/>
          </a:p>
          <a:p>
            <a:r>
              <a:t>Those numbers do not prove the system is finished. They show where production effort goes: around the tool call. A startup can implement these controls inside one product. An enterprise has to make them consistent across many clients, servers and data owners.</a:t>
            </a:r>
          </a:p>
          <a:p>
            <a:endParaRPr/>
          </a:p>
          <a:p>
            <a:r>
              <a:t>TRANSITION</a:t>
            </a:r>
          </a:p>
          <a:p>
            <a:r>
              <a:t>Here is what those implementation receipts look like on one slide.</a:t>
            </a:r>
          </a:p>
          <a:p>
            <a:endParaRPr/>
          </a:p>
          <a:p>
            <a:r>
              <a:t>[Sources]</a:t>
            </a:r>
          </a:p>
          <a:p>
            <a:r>
              <a:t>- https://owasp.org/projects/mcp-top-10</a:t>
            </a:r>
          </a:p>
          <a:p>
            <a:endParaRPr/>
          </a:p>
          <a:p>
            <a:r>
              <a:t>[Implementation evidence]</a:t>
            </a:r>
          </a:p>
          <a:p>
            <a:r>
              <a:t>- Reviewed main-branch CI snapshot, 29 September 2026: 470 tests passed, 89% coverage.</a:t>
            </a:r>
          </a:p>
          <a:p>
            <a:r>
              <a:t>- Relevant modules: src/safety/prompt_safety.py, src/security/authorization.py, src/authentication/jwt_validator.py and tests/test_output_tools.py.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12:16:35–12:18:45 · 2:10</a:t>
            </a:r>
          </a:p>
          <a:p>
            <a:endParaRPr/>
          </a:p>
          <a:p>
            <a:r>
              <a:t>TRANSCRIPT</a:t>
            </a:r>
          </a:p>
          <a:p>
            <a:r>
              <a:t>A survey of MCP builders fielded in late 2025 found security and access control the top challenge, cited by half of respondents. Thirty-eight per cent said security was actively blocking adoption; twenty-four per cent ran servers with no authentication. Be careful with that survey: self-selected, one vendor's network, and it publishes no respondent count. Directional only.</a:t>
            </a:r>
          </a:p>
          <a:p>
            <a:endParaRPr/>
          </a:p>
          <a:p>
            <a:r>
              <a:t>If you want a measured number, there is one. A study last May identified seven thousand nine hundred and seventy-three live remote MCP servers and found forty per cent expose tools with no authentication. Of the OAuth servers the authors could test, every single one had at least one flaw, and ninety-seven per cent of those were in dynamic client registration. Nine CVEs came out of it. That is why the specification deprecated dynamic registration. Not fashion. Measured breakage.</a:t>
            </a:r>
          </a:p>
          <a:p>
            <a:endParaRPr/>
          </a:p>
          <a:p>
            <a:r>
              <a:t>Authentication has mature standards. But "it authenticates" and "it is authenticated" are not the same sentence, and I have the commit to prove it. Our first bearer-token check resolved the signing key and verified the RS256 signature — and then explicitly switched off audience, issuer and expiry verification. Scope was never checked at all. So any Microsoft-signed token would have passed: another tenant, another application, long expired. The signature was the only security-meaningful check left standing.</a:t>
            </a:r>
          </a:p>
          <a:p>
            <a:endParaRPr/>
          </a:p>
          <a:p>
            <a:r>
              <a:t>That is what I mean when I say authorization is contextual. The cryptography was never the hard part.</a:t>
            </a:r>
          </a:p>
          <a:p>
            <a:endParaRPr/>
          </a:p>
          <a:p>
            <a:r>
              <a:t>TRANSITION</a:t>
            </a:r>
          </a:p>
          <a:p>
            <a:r>
              <a:t>That is the moment our engineer receives a very familiar chat message.</a:t>
            </a:r>
          </a:p>
          <a:p>
            <a:endParaRPr/>
          </a:p>
          <a:p>
            <a:r>
              <a:t>[Sources]</a:t>
            </a:r>
          </a:p>
          <a:p>
            <a:r>
              <a:t>- https://zuplo.com/blog/mcp-survey</a:t>
            </a:r>
          </a:p>
          <a:p>
            <a:r>
              <a:t>- https://arxiv.org/abs/2605.22333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12:20:30–12:24:00 · 3:30</a:t>
            </a:r>
          </a:p>
          <a:p>
            <a:endParaRPr/>
          </a:p>
          <a:p>
            <a:r>
              <a:t>TRANSCRIPT</a:t>
            </a:r>
          </a:p>
          <a:p>
            <a:r>
              <a:t>The founder asks, “Can we add enterprise SSO?” The engineer says, “Of course.” Then security adds user and workload identity, delegated access, token exchange, fine-grained entitlements, isolation, offboarding and incident response. “This might take longer” becomes the most accurate estimate on the roadmap.</a:t>
            </a:r>
          </a:p>
          <a:p>
            <a:endParaRPr/>
          </a:p>
          <a:p>
            <a:r>
              <a:t>The gateway on the right is a target enterprise pattern, not a component implemented by the reviewed repository. Clients authenticate at a common control plane. The gateway can resolve downstream credentials, apply baseline policy, aggregate approved tool discovery and produce a unified audit trail. Domain MCP services still own their data semantics and local rules.</a:t>
            </a:r>
          </a:p>
          <a:p>
            <a:endParaRPr/>
          </a:p>
          <a:p>
            <a:r>
              <a:t>The current service already demonstrates one useful scaling choice: stateless HTTP. It does not require session affinity across replicas. When a session identifier exists, the service may still associate the original prompt with later tool calls, but requests do not depend on hidden server state to remain valid. That distinction makes the pattern more precise than simply saying “sessions disappeared.”</a:t>
            </a:r>
          </a:p>
          <a:p>
            <a:endParaRPr/>
          </a:p>
          <a:p>
            <a:r>
              <a:t>OWASP’s MCP Top 10 explains why a horizontal boundary matters. Token leakage, scope creep, tool poisoning, weak authorization and context over-sharing are system risks. A gateway can reduce the exposed tool set and attach user and agent context before the call reaches a domain server.</a:t>
            </a:r>
          </a:p>
          <a:p>
            <a:endParaRPr/>
          </a:p>
          <a:p>
            <a:r>
              <a:t>A gateway also becomes a high-value control point. It must protect tokens, separate tenants, remain observable and fail closed without becoming the place where every domain rule is copied. The goal is central governance with federated execution.</a:t>
            </a:r>
          </a:p>
          <a:p>
            <a:endParaRPr/>
          </a:p>
          <a:p>
            <a:r>
              <a:t>TRANSITION</a:t>
            </a:r>
          </a:p>
          <a:p>
            <a:r>
              <a:t>Security gets the request through the right door. The system still has to choose the right route.</a:t>
            </a:r>
          </a:p>
          <a:p>
            <a:endParaRPr/>
          </a:p>
          <a:p>
            <a:r>
              <a:t>[Sources]</a:t>
            </a:r>
          </a:p>
          <a:p>
            <a:r>
              <a:t>- https://arxiv.org/abs/2608.10760</a:t>
            </a:r>
          </a:p>
          <a:p>
            <a:r>
              <a:t>- https://owasp.org/projects/mcp-top-10</a:t>
            </a:r>
          </a:p>
          <a:p>
            <a:r>
              <a:t>- https://modelcontextprotocol.io/specification/2026-07-28/basic/transports/streamable-http</a:t>
            </a:r>
          </a:p>
          <a:p>
            <a:endParaRPr/>
          </a:p>
          <a:p>
            <a:r>
              <a:t>[Implementation evidence]</a:t>
            </a:r>
          </a:p>
          <a:p>
            <a:r>
              <a:t>- Reviewed codebase snapshot: src/server.py uses stateless_http=True and optional request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12:24:00–12:27:15 · 3:15</a:t>
            </a:r>
          </a:p>
          <a:p>
            <a:endParaRPr/>
          </a:p>
          <a:p>
            <a:r>
              <a:t>TRANSCRIPT</a:t>
            </a:r>
          </a:p>
          <a:p>
            <a:r>
              <a:t>Accuracy begins before generation. The service first preserves the original prompt. Its routing tool then returns one required next step. For common high-value questions, 21 fixed SQL templates receive priority. Embeddings may rank which trusted template fits a paraphrase, but they never synthesize a new template.</a:t>
            </a:r>
          </a:p>
          <a:p>
            <a:endParaRPr/>
          </a:p>
          <a:p>
            <a:r>
              <a:t>If no template matches, discovery uses an explainable hybrid. Exact phrases and term coverage carry 70 percent of the score. A local vector match carries 30 percent. The vector is a deterministic hashed bag of words stored in an exact FAISS index, so this path calls no external embedding API. Results include the matched field, terms, columns and excerpts. The agent can explain why a table appeared.</a:t>
            </a:r>
          </a:p>
          <a:p>
            <a:endParaRPr/>
          </a:p>
          <a:p>
            <a:r>
              <a:t>Next comes schema verification from startup-loaded metadata. The client may construct a bounded query, but execution remains behind the structural SQL parser and per-user authorization. Output tools return the approved result as text or an in-memory resource. The request ID keeps the route observable.</a:t>
            </a:r>
          </a:p>
          <a:p>
            <a:endParaRPr/>
          </a:p>
          <a:p>
            <a:r>
              <a:t>The server and client have different jobs. The server returns the next step. The client chooses the next tool call. That means routing guidance is not a hard guarantee. The system remains safe because SQL validation and authorization do not depend on the model choosing correctly.</a:t>
            </a:r>
          </a:p>
          <a:p>
            <a:endParaRPr/>
          </a:p>
          <a:p>
            <a:r>
              <a:t>This sequence also handles uncertainty honestly. An ambiguous template parameter produces candidates and asks for confirmation. No match can trigger a semantic fallback. A denial stops the route. Repeatability comes from preserving the route and the evidence, not from expecting identical prose every time.</a:t>
            </a:r>
          </a:p>
          <a:p>
            <a:endParaRPr/>
          </a:p>
          <a:p>
            <a:r>
              <a:t>TRANSITION</a:t>
            </a:r>
          </a:p>
          <a:p>
            <a:r>
              <a:t>Then we meet a policy question that similarity scoring must never answer.</a:t>
            </a:r>
          </a:p>
          <a:p>
            <a:endParaRPr/>
          </a:p>
          <a:p>
            <a:r>
              <a:t>[Implementation evidence]</a:t>
            </a:r>
          </a:p>
          <a:p>
            <a:r>
              <a:t>- Reviewed codebase snapshot: src/tools/routing/prompt_routing.py, src/tools/matching/table_match_by_template.py, src/database/db_context_embeddings.py, src/database/faiss_index.py and src/safety/prompt_safety.py.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12:27:15–12:29:45 · 2:30</a:t>
            </a:r>
          </a:p>
          <a:p>
            <a:endParaRPr/>
          </a:p>
          <a:p>
            <a:r>
              <a:t>TRANSCRIPT</a:t>
            </a:r>
          </a:p>
          <a:p>
            <a:r>
              <a:t>Licensed data exposes a crucial distinction: relevance and permission answer different questions. Similarity asks whether an asset matches the user’s request. Policy asks whether this identity, through this application, for this purpose, may use it in this way.</a:t>
            </a:r>
          </a:p>
          <a:p>
            <a:endParaRPr/>
          </a:p>
          <a:p>
            <a:r>
              <a:t>The reviewed implementation already makes access entitlement executable. If authorization fails, the service returns access denied, marks the result terminal and tells the client to stop. The denial also blocks fallback through alternative discovery and output tools. That is stronger than a warning in a prompt.</a:t>
            </a:r>
          </a:p>
          <a:p>
            <a:endParaRPr/>
          </a:p>
          <a:p>
            <a:r>
              <a:t>The metadata contains richer licence terms too: AI or machine-learning use, derived data, copying, storage, location and subscriber restrictions. The embedding builder deliberately removes repeated licence-warning boilerplate before it builds relevance vectors. That is a subtle but important design choice. Repeated policy text should not dominate semantic similarity. Relevance metadata and policy metadata need separate channels.</a:t>
            </a:r>
          </a:p>
          <a:p>
            <a:endParaRPr/>
          </a:p>
          <a:p>
            <a:r>
              <a:t>We should also be candid about the boundary. User-to-dataset access is enforced in code today. Broader contractual AI-use rules are not all encoded as runtime policy. They still require legal and commercial ownership, structured metadata and explicit decisions about data movement.</a:t>
            </a:r>
          </a:p>
          <a:p>
            <a:endParaRPr/>
          </a:p>
          <a:p>
            <a:r>
              <a:t>The practical patterns remain: authorize before execution, use metadata-only discovery when raw content is unnecessary, compute beside controlled data, return approved aggregates and evaluate with synthetic or contract-safe samples. The contract becomes a policy input. Retrieval does not get to interpret it.</a:t>
            </a:r>
          </a:p>
          <a:p>
            <a:endParaRPr/>
          </a:p>
          <a:p>
            <a:r>
              <a:t>TRANSITION</a:t>
            </a:r>
          </a:p>
          <a:p>
            <a:r>
              <a:t>Put those controls together and the reviewed server becomes one part of a larger platform.</a:t>
            </a:r>
          </a:p>
          <a:p>
            <a:endParaRPr/>
          </a:p>
          <a:p>
            <a:r>
              <a:t>[Sources and disclosures]</a:t>
            </a:r>
          </a:p>
          <a:p>
            <a:r>
              <a:t>- Architectural discussion only, not legal advice. Contract interpretation remains with the relevant legal and commercial owners.</a:t>
            </a:r>
          </a:p>
          <a:p>
            <a:endParaRPr/>
          </a:p>
          <a:p>
            <a:r>
              <a:t>[Implementation evidence]</a:t>
            </a:r>
          </a:p>
          <a:p>
            <a:r>
              <a:t>- Reviewed codebase snapshot: src/security/authorization.py, src/database/db_context_embeddings.py and licensed-data metadata. Dataset and contract identifiers are omitted.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12:29:45–12:33:00 · 3:15</a:t>
            </a:r>
          </a:p>
          <a:p>
            <a:endParaRPr/>
          </a:p>
          <a:p>
            <a:r>
              <a:t>TRANSCRIPT</a:t>
            </a:r>
          </a:p>
          <a:p>
            <a:r>
              <a:t>This is the target platform around the domain MCP server, not a claim that one repository implements every box.</a:t>
            </a:r>
          </a:p>
          <a:p>
            <a:endParaRPr/>
          </a:p>
          <a:p>
            <a:r>
              <a:t>At the top are chat, IDEs, applications and unattended automation. Every request needs both a user or workload identity and the client identity. The gateway owns horizontal controls: authentication and delegation, baseline policy, an approved server registry, guardrails and a consistent audit trail.</a:t>
            </a:r>
          </a:p>
          <a:p>
            <a:endParaRPr/>
          </a:p>
          <a:p>
            <a:r>
              <a:t>Below that sit domain MCP services. The reviewed codebase belongs in the first box. It owns the language of its data, trusted templates, metadata matching, schema inspection, output formats and the authorization rules that apply closest to execution. Other domain teams own their own semantics. The gateway should not become the author of every business rule.</a:t>
            </a:r>
          </a:p>
          <a:p>
            <a:endParaRPr/>
          </a:p>
          <a:p>
            <a:r>
              <a:t>The same division appears in operations. Central teams can provide identity, registry, policy tooling, telemetry and incident processes. Domain teams remain accountable for dataset meaning, approved transformations, provider precedence and contractual constraints. Responses should carry enough evidence to reconnect an answer to its source, query, policy decision and timestamp.</a:t>
            </a:r>
          </a:p>
          <a:p>
            <a:endParaRPr/>
          </a:p>
          <a:p>
            <a:r>
              <a:t>The code review also shows where target architecture and current implementation differ. Stateless transport, bearer validation, structural SQL safety, dataset authorization and structured logs exist today. Fleet-wide evaluation, contract-policy enforcement, complete metrics and hard resource limits remain platform work. Saying that clearly improves the architecture because it turns the diagram into a roadmap instead of a claim.</a:t>
            </a:r>
          </a:p>
          <a:p>
            <a:endParaRPr/>
          </a:p>
          <a:p>
            <a:r>
              <a:t>The governing principle is horizontal controls at the gateway and domain rules in servers. This scales governance without turning the platform team into the owner of every tool.</a:t>
            </a:r>
          </a:p>
          <a:p>
            <a:endParaRPr/>
          </a:p>
          <a:p>
            <a:r>
              <a:t>TRANSITION</a:t>
            </a:r>
          </a:p>
          <a:p>
            <a:r>
              <a:t>That leaves one dividing line worth remembering.</a:t>
            </a:r>
          </a:p>
          <a:p>
            <a:endParaRPr/>
          </a:p>
          <a:p>
            <a:r>
              <a:t>[Sources]</a:t>
            </a:r>
          </a:p>
          <a:p>
            <a:r>
              <a:t>- https://arxiv.org/abs/2608.10760</a:t>
            </a:r>
          </a:p>
          <a:p>
            <a:r>
              <a:t>- https://modelcontextprotocol.io/specification/2026-07-28/architecture</a:t>
            </a:r>
          </a:p>
          <a:p>
            <a:endParaRPr/>
          </a:p>
          <a:p>
            <a:r>
              <a:t>[Implementation evidence]</a:t>
            </a:r>
          </a:p>
          <a:p>
            <a:r>
              <a:t>- Reviewed codebase snapshot: src/server.py, src/authentication/, src/safety/, src/security/, src/tools/ and src/utils/.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12:33:00–12:35:00 · 2:00</a:t>
            </a:r>
          </a:p>
          <a:p>
            <a:endParaRPr/>
          </a:p>
          <a:p>
            <a:r>
              <a:t>TRANSCRIPT</a:t>
            </a:r>
          </a:p>
          <a:p>
            <a:r>
              <a:t>For the startup, control means constraining the model’s route and output well enough to ship. In an enterprise, the control surface expands. You must control every identity, tool and dataset, apply the relevant policy, and retain evidence of the decision.</a:t>
            </a:r>
          </a:p>
          <a:p>
            <a:endParaRPr/>
          </a:p>
          <a:p>
            <a:r>
              <a:t>The journey is still simple enough to remember: make it work, make it repeatable, then make it governable. The implementation gives us three concrete habits. Preserve the original request and make routing explicit. Put deterministic authorization and safety checks in front of execution. Treat evidence as a product output, not an afterthought.</a:t>
            </a:r>
          </a:p>
          <a:p>
            <a:endParaRPr/>
          </a:p>
          <a:p>
            <a:r>
              <a:t>The code also gives us a useful line for the next design review: the model may propose, but only deterministic code may authorize and execute.</a:t>
            </a:r>
          </a:p>
          <a:p>
            <a:endParaRPr/>
          </a:p>
          <a:p>
            <a:r>
              <a:t>Build the smallest useful server first. Keep the tools narrow. Make uncertainty visible. Establish identity, policy and evidence boundaries before adoption makes them expensive to retrofit.</a:t>
            </a:r>
          </a:p>
          <a:p>
            <a:endParaRPr/>
          </a:p>
          <a:p>
            <a:r>
              <a:t>Thank you. The QR codes link to my portfolio and LinkedIn. I would be delighted to continue the conversation after the session.</a:t>
            </a:r>
          </a:p>
          <a:p>
            <a:endParaRPr/>
          </a:p>
          <a:p>
            <a:r>
              <a:t>[Sources]</a:t>
            </a:r>
          </a:p>
          <a:p>
            <a:r>
              <a:t>- https://www.ai-expo.net/europe/agenda/ai-developer/</a:t>
            </a:r>
          </a:p>
          <a:p>
            <a:r>
              <a:t>- https://kolygri.github.io</a:t>
            </a:r>
          </a:p>
          <a:p>
            <a:r>
              <a:t>- https://www.linkedin.com/in/kolygri/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_DARK">
    <p:bg>
      <p:bgPr>
        <a:solidFill>
          <a:srgbClr val="08111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8" Type="http://schemas.openxmlformats.org/officeDocument/2006/relationships/image" Target="../media/image4.svg"/><Relationship Id="rId13" Type="http://schemas.openxmlformats.org/officeDocument/2006/relationships/image" Target="../media/image17.svg"/><Relationship Id="rId3" Type="http://schemas.openxmlformats.org/officeDocument/2006/relationships/image" Target="../media/image10.svg"/><Relationship Id="rId7" Type="http://schemas.openxmlformats.org/officeDocument/2006/relationships/image" Target="../media/image12.svg"/><Relationship Id="rId12" Type="http://schemas.openxmlformats.org/officeDocument/2006/relationships/image" Target="../media/image16.svg"/><Relationship Id="rId2" Type="http://schemas.openxmlformats.org/officeDocument/2006/relationships/notesSlide" Target="../notesSlides/notesSlide3.xml"/><Relationship Id="rId16" Type="http://schemas.openxmlformats.org/officeDocument/2006/relationships/image" Target="../media/image20.svg"/><Relationship Id="rId1" Type="http://schemas.openxmlformats.org/officeDocument/2006/relationships/slideLayout" Target="../slideLayouts/slideLayout2.xml"/><Relationship Id="rId6" Type="http://schemas.openxmlformats.org/officeDocument/2006/relationships/image" Target="../media/image11.svg"/><Relationship Id="rId11" Type="http://schemas.openxmlformats.org/officeDocument/2006/relationships/image" Target="../media/image15.svg"/><Relationship Id="rId5" Type="http://schemas.openxmlformats.org/officeDocument/2006/relationships/image" Target="../media/image3.svg"/><Relationship Id="rId15" Type="http://schemas.openxmlformats.org/officeDocument/2006/relationships/image" Target="../media/image19.svg"/><Relationship Id="rId10" Type="http://schemas.openxmlformats.org/officeDocument/2006/relationships/image" Target="../media/image14.svg"/><Relationship Id="rId4" Type="http://schemas.openxmlformats.org/officeDocument/2006/relationships/image" Target="../media/image2.svg"/><Relationship Id="rId9" Type="http://schemas.openxmlformats.org/officeDocument/2006/relationships/image" Target="../media/image13.svg"/><Relationship Id="rId14" Type="http://schemas.openxmlformats.org/officeDocument/2006/relationships/image" Target="../media/image18.svg"/></Relationships>
</file>

<file path=ppt/slides/_rels/slide4.xml.rels><?xml version="1.0" encoding="UTF-8" standalone="yes"?>
<Relationships xmlns="http://schemas.openxmlformats.org/package/2006/relationships"><Relationship Id="rId8" Type="http://schemas.openxmlformats.org/officeDocument/2006/relationships/image" Target="../media/image25.svg"/><Relationship Id="rId13" Type="http://schemas.openxmlformats.org/officeDocument/2006/relationships/image" Target="../media/image30.svg"/><Relationship Id="rId3" Type="http://schemas.openxmlformats.org/officeDocument/2006/relationships/image" Target="../media/image21.svg"/><Relationship Id="rId7" Type="http://schemas.openxmlformats.org/officeDocument/2006/relationships/image" Target="../media/image24.svg"/><Relationship Id="rId12" Type="http://schemas.openxmlformats.org/officeDocument/2006/relationships/image" Target="../media/image29.svg"/><Relationship Id="rId2" Type="http://schemas.openxmlformats.org/officeDocument/2006/relationships/notesSlide" Target="../notesSlides/notesSlide4.xml"/><Relationship Id="rId16" Type="http://schemas.openxmlformats.org/officeDocument/2006/relationships/image" Target="../media/image33.svg"/><Relationship Id="rId1" Type="http://schemas.openxmlformats.org/officeDocument/2006/relationships/slideLayout" Target="../slideLayouts/slideLayout2.xml"/><Relationship Id="rId6" Type="http://schemas.openxmlformats.org/officeDocument/2006/relationships/image" Target="../media/image15.svg"/><Relationship Id="rId11" Type="http://schemas.openxmlformats.org/officeDocument/2006/relationships/image" Target="../media/image28.svg"/><Relationship Id="rId5" Type="http://schemas.openxmlformats.org/officeDocument/2006/relationships/image" Target="../media/image23.svg"/><Relationship Id="rId15" Type="http://schemas.openxmlformats.org/officeDocument/2006/relationships/image" Target="../media/image32.svg"/><Relationship Id="rId10" Type="http://schemas.openxmlformats.org/officeDocument/2006/relationships/image" Target="../media/image27.svg"/><Relationship Id="rId4" Type="http://schemas.openxmlformats.org/officeDocument/2006/relationships/image" Target="../media/image22.svg"/><Relationship Id="rId9" Type="http://schemas.openxmlformats.org/officeDocument/2006/relationships/image" Target="../media/image26.svg"/><Relationship Id="rId14" Type="http://schemas.openxmlformats.org/officeDocument/2006/relationships/image" Target="../media/image31.svg"/></Relationships>
</file>

<file path=ppt/slides/_rels/slide5.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6.xml.rels><?xml version="1.0" encoding="UTF-8" standalone="yes"?>
<Relationships xmlns="http://schemas.openxmlformats.org/package/2006/relationships"><Relationship Id="rId8" Type="http://schemas.openxmlformats.org/officeDocument/2006/relationships/image" Target="../media/image41.svg"/><Relationship Id="rId3" Type="http://schemas.openxmlformats.org/officeDocument/2006/relationships/image" Target="../media/image38.svg"/><Relationship Id="rId7" Type="http://schemas.openxmlformats.org/officeDocument/2006/relationships/image" Target="../media/image40.sv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9.svg"/><Relationship Id="rId4" Type="http://schemas.openxmlformats.org/officeDocument/2006/relationships/image" Target="../media/image28.svg"/><Relationship Id="rId9" Type="http://schemas.openxmlformats.org/officeDocument/2006/relationships/image" Target="../media/image42.svg"/></Relationships>
</file>

<file path=ppt/slides/_rels/slide7.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44.svg"/></Relationships>
</file>

<file path=ppt/slides/_rels/slide8.xml.rels><?xml version="1.0" encoding="UTF-8" standalone="yes"?>
<Relationships xmlns="http://schemas.openxmlformats.org/package/2006/relationships"><Relationship Id="rId8" Type="http://schemas.openxmlformats.org/officeDocument/2006/relationships/image" Target="../media/image48.svg"/><Relationship Id="rId3" Type="http://schemas.openxmlformats.org/officeDocument/2006/relationships/image" Target="../media/image45.svg"/><Relationship Id="rId7" Type="http://schemas.openxmlformats.org/officeDocument/2006/relationships/image" Target="../media/image28.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2.svg"/><Relationship Id="rId11" Type="http://schemas.openxmlformats.org/officeDocument/2006/relationships/image" Target="../media/image50.png"/><Relationship Id="rId5" Type="http://schemas.openxmlformats.org/officeDocument/2006/relationships/image" Target="../media/image47.svg"/><Relationship Id="rId10" Type="http://schemas.openxmlformats.org/officeDocument/2006/relationships/image" Target="../media/image30.svg"/><Relationship Id="rId4" Type="http://schemas.openxmlformats.org/officeDocument/2006/relationships/image" Target="../media/image46.svg"/><Relationship Id="rId9" Type="http://schemas.openxmlformats.org/officeDocument/2006/relationships/image" Target="../media/image49.svg"/></Relationships>
</file>

<file path=ppt/slides/_rels/slide9.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1.svg"/><Relationship Id="rId7" Type="http://schemas.openxmlformats.org/officeDocument/2006/relationships/image" Target="../media/image54.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53.svg"/><Relationship Id="rId10" Type="http://schemas.openxmlformats.org/officeDocument/2006/relationships/image" Target="../media/image57.svg"/><Relationship Id="rId4" Type="http://schemas.openxmlformats.org/officeDocument/2006/relationships/image" Target="../media/image52.svg"/><Relationship Id="rId9" Type="http://schemas.openxmlformats.org/officeDocument/2006/relationships/image" Target="../media/image56.svg"/></Relationships>
</file>

<file path=ppt/slides/_rels/slide10.xml.rels><?xml version="1.0" encoding="UTF-8" standalone="yes"?>
<Relationships xmlns="http://schemas.openxmlformats.org/package/2006/relationships"><Relationship Id="rId8" Type="http://schemas.openxmlformats.org/officeDocument/2006/relationships/image" Target="../media/image62.svg"/><Relationship Id="rId3" Type="http://schemas.openxmlformats.org/officeDocument/2006/relationships/image" Target="../media/image58.svg"/><Relationship Id="rId7" Type="http://schemas.openxmlformats.org/officeDocument/2006/relationships/image" Target="../media/image22.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61.svg"/><Relationship Id="rId11" Type="http://schemas.openxmlformats.org/officeDocument/2006/relationships/image" Target="../media/image56.svg"/><Relationship Id="rId5" Type="http://schemas.openxmlformats.org/officeDocument/2006/relationships/image" Target="../media/image60.svg"/><Relationship Id="rId10" Type="http://schemas.openxmlformats.org/officeDocument/2006/relationships/image" Target="../media/image64.svg"/><Relationship Id="rId4" Type="http://schemas.openxmlformats.org/officeDocument/2006/relationships/image" Target="../media/image59.svg"/><Relationship Id="rId9" Type="http://schemas.openxmlformats.org/officeDocument/2006/relationships/image" Target="../media/image63.svg"/></Relationships>
</file>

<file path=ppt/slides/_rels/slide11.xml.rels><?xml version="1.0" encoding="UTF-8" standalone="yes"?>
<Relationships xmlns="http://schemas.openxmlformats.org/package/2006/relationships"><Relationship Id="rId8" Type="http://schemas.openxmlformats.org/officeDocument/2006/relationships/image" Target="../media/image69.svg"/><Relationship Id="rId13" Type="http://schemas.openxmlformats.org/officeDocument/2006/relationships/image" Target="../media/image70.svg"/><Relationship Id="rId18" Type="http://schemas.openxmlformats.org/officeDocument/2006/relationships/image" Target="../media/image41.svg"/><Relationship Id="rId3" Type="http://schemas.openxmlformats.org/officeDocument/2006/relationships/image" Target="../media/image65.svg"/><Relationship Id="rId7" Type="http://schemas.openxmlformats.org/officeDocument/2006/relationships/image" Target="../media/image68.svg"/><Relationship Id="rId12" Type="http://schemas.openxmlformats.org/officeDocument/2006/relationships/image" Target="../media/image47.svg"/><Relationship Id="rId17" Type="http://schemas.openxmlformats.org/officeDocument/2006/relationships/image" Target="../media/image74.svg"/><Relationship Id="rId2" Type="http://schemas.openxmlformats.org/officeDocument/2006/relationships/notesSlide" Target="../notesSlides/notesSlide11.xml"/><Relationship Id="rId16" Type="http://schemas.openxmlformats.org/officeDocument/2006/relationships/image" Target="../media/image73.svg"/><Relationship Id="rId20" Type="http://schemas.openxmlformats.org/officeDocument/2006/relationships/image" Target="../media/image75.svg"/><Relationship Id="rId1" Type="http://schemas.openxmlformats.org/officeDocument/2006/relationships/slideLayout" Target="../slideLayouts/slideLayout2.xml"/><Relationship Id="rId6" Type="http://schemas.openxmlformats.org/officeDocument/2006/relationships/image" Target="../media/image67.svg"/><Relationship Id="rId11" Type="http://schemas.openxmlformats.org/officeDocument/2006/relationships/image" Target="../media/image22.svg"/><Relationship Id="rId5" Type="http://schemas.openxmlformats.org/officeDocument/2006/relationships/image" Target="../media/image66.svg"/><Relationship Id="rId15" Type="http://schemas.openxmlformats.org/officeDocument/2006/relationships/image" Target="../media/image72.svg"/><Relationship Id="rId10" Type="http://schemas.openxmlformats.org/officeDocument/2006/relationships/image" Target="../media/image49.svg"/><Relationship Id="rId19" Type="http://schemas.openxmlformats.org/officeDocument/2006/relationships/image" Target="../media/image56.svg"/><Relationship Id="rId4" Type="http://schemas.openxmlformats.org/officeDocument/2006/relationships/image" Target="../media/image2.svg"/><Relationship Id="rId9" Type="http://schemas.openxmlformats.org/officeDocument/2006/relationships/image" Target="../media/image28.svg"/><Relationship Id="rId14" Type="http://schemas.openxmlformats.org/officeDocument/2006/relationships/image" Target="../media/image71.svg"/></Relationships>
</file>

<file path=ppt/slides/_rels/slide12.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79.svg"/><Relationship Id="rId5" Type="http://schemas.openxmlformats.org/officeDocument/2006/relationships/image" Target="../media/image78.png"/><Relationship Id="rId4" Type="http://schemas.openxmlformats.org/officeDocument/2006/relationships/image" Target="../media/image7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Shape 0">
            <a:extLst>
              <a:ext uri="{FF2B5EF4-FFF2-40B4-BE49-F238E27FC236}">
                <a16:creationId xmlns:a16="http://schemas.microsoft.com/office/drawing/2014/main" id="{B4C530CF-C3A3-43C9-A565-5E0D3F5B508B}"/>
              </a:ext>
            </a:extLst>
          </p:cNvPr>
          <p:cNvSpPr>
            <a:spLocks noGrp="1"/>
          </p:cNvSpPr>
          <p:nvPr/>
        </p:nvSpPr>
        <p:spPr>
          <a:xfrm>
            <a:off x="7040880" y="502920"/>
            <a:ext cx="4572000" cy="4572000"/>
          </a:xfrm>
          <a:prstGeom prst="ellipse">
            <a:avLst/>
          </a:prstGeom>
          <a:solidFill>
            <a:srgbClr val="5B7CFF">
              <a:alpha val="10000"/>
            </a:srgbClr>
          </a:solidFill>
          <a:ln w="12700">
            <a:solidFill>
              <a:srgbClr val="5B7CFF">
                <a:alpha val="0"/>
              </a:srgbClr>
            </a:solidFill>
            <a:prstDash val="solid"/>
          </a:ln>
        </p:spPr>
        <p:txBody>
          <a:bodyPr/>
          <a:lstStyle/>
          <a:p>
            <a:endParaRPr/>
          </a:p>
        </p:txBody>
      </p:sp>
      <p:sp>
        <p:nvSpPr>
          <p:cNvPr id="4" name="Shape 1">
            <a:extLst>
              <a:ext uri="{FF2B5EF4-FFF2-40B4-BE49-F238E27FC236}">
                <a16:creationId xmlns:a16="http://schemas.microsoft.com/office/drawing/2014/main" id="{E4D33EC1-1D51-41AC-BDE6-7A26C846CB0D}"/>
              </a:ext>
            </a:extLst>
          </p:cNvPr>
          <p:cNvSpPr>
            <a:spLocks noGrp="1"/>
          </p:cNvSpPr>
          <p:nvPr/>
        </p:nvSpPr>
        <p:spPr>
          <a:xfrm>
            <a:off x="8641080" y="1097280"/>
            <a:ext cx="2651760" cy="2651760"/>
          </a:xfrm>
          <a:prstGeom prst="ellipse">
            <a:avLst/>
          </a:prstGeom>
          <a:solidFill>
            <a:srgbClr val="35D4E7">
              <a:alpha val="12000"/>
            </a:srgbClr>
          </a:solidFill>
          <a:ln w="12700">
            <a:solidFill>
              <a:srgbClr val="35D4E7">
                <a:alpha val="0"/>
              </a:srgbClr>
            </a:solidFill>
            <a:prstDash val="solid"/>
          </a:ln>
        </p:spPr>
        <p:txBody>
          <a:bodyPr/>
          <a:lstStyle/>
          <a:p>
            <a:endParaRPr/>
          </a:p>
        </p:txBody>
      </p:sp>
      <p:sp>
        <p:nvSpPr>
          <p:cNvPr id="5" name="Shape 2">
            <a:extLst>
              <a:ext uri="{FF2B5EF4-FFF2-40B4-BE49-F238E27FC236}">
                <a16:creationId xmlns:a16="http://schemas.microsoft.com/office/drawing/2014/main" id="{645E2AE3-0086-4C14-AE46-D67F377353C9}"/>
              </a:ext>
            </a:extLst>
          </p:cNvPr>
          <p:cNvSpPr>
            <a:spLocks noGrp="1"/>
          </p:cNvSpPr>
          <p:nvPr/>
        </p:nvSpPr>
        <p:spPr>
          <a:xfrm>
            <a:off x="7196328" y="4700016"/>
            <a:ext cx="923544" cy="0"/>
          </a:xfrm>
          <a:prstGeom prst="line">
            <a:avLst/>
          </a:prstGeom>
          <a:noFill/>
          <a:ln w="12700">
            <a:solidFill>
              <a:srgbClr val="72839A"/>
            </a:solidFill>
            <a:prstDash val="solid"/>
            <a:headEnd type="none"/>
            <a:tailEnd type="triangle"/>
          </a:ln>
        </p:spPr>
        <p:txBody>
          <a:bodyPr/>
          <a:lstStyle/>
          <a:p>
            <a:endParaRPr/>
          </a:p>
        </p:txBody>
      </p:sp>
      <p:sp>
        <p:nvSpPr>
          <p:cNvPr id="6" name="Shape 3">
            <a:extLst>
              <a:ext uri="{FF2B5EF4-FFF2-40B4-BE49-F238E27FC236}">
                <a16:creationId xmlns:a16="http://schemas.microsoft.com/office/drawing/2014/main" id="{98700162-571E-4914-BD5F-2F6A27C9F1BB}"/>
              </a:ext>
            </a:extLst>
          </p:cNvPr>
          <p:cNvSpPr>
            <a:spLocks noGrp="1"/>
          </p:cNvSpPr>
          <p:nvPr/>
        </p:nvSpPr>
        <p:spPr>
          <a:xfrm>
            <a:off x="6812280" y="4315968"/>
            <a:ext cx="749808" cy="749808"/>
          </a:xfrm>
          <a:prstGeom prst="ellipse">
            <a:avLst/>
          </a:prstGeom>
          <a:solidFill>
            <a:srgbClr val="152641"/>
          </a:solidFill>
          <a:ln w="12700">
            <a:solidFill>
              <a:srgbClr val="35D4E7"/>
            </a:solidFill>
            <a:prstDash val="solid"/>
          </a:ln>
          <a:effectLst>
            <a:outerShdw blurRad="25400" dist="15240" dir="2700000" algn="bl" rotWithShape="0">
              <a:srgbClr val="000000">
                <a:alpha val="26000"/>
              </a:srgbClr>
            </a:outerShdw>
          </a:effectLst>
        </p:spPr>
        <p:txBody>
          <a:bodyPr/>
          <a:lstStyle/>
          <a:p>
            <a:endParaRPr/>
          </a:p>
        </p:txBody>
      </p:sp>
      <p:pic>
        <p:nvPicPr>
          <p:cNvPr id="39"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04304" y="4544568"/>
            <a:ext cx="365760" cy="292608"/>
          </a:xfrm>
          <a:prstGeom prst="rect">
            <a:avLst/>
          </a:prstGeom>
        </p:spPr>
      </p:pic>
      <p:sp>
        <p:nvSpPr>
          <p:cNvPr id="8" name="Shape 4">
            <a:extLst>
              <a:ext uri="{FF2B5EF4-FFF2-40B4-BE49-F238E27FC236}">
                <a16:creationId xmlns:a16="http://schemas.microsoft.com/office/drawing/2014/main" id="{9F343B93-51E0-4F2B-9774-EA0E521B2E66}"/>
              </a:ext>
            </a:extLst>
          </p:cNvPr>
          <p:cNvSpPr>
            <a:spLocks noGrp="1"/>
          </p:cNvSpPr>
          <p:nvPr/>
        </p:nvSpPr>
        <p:spPr>
          <a:xfrm>
            <a:off x="8412480" y="3840480"/>
            <a:ext cx="969264" cy="0"/>
          </a:xfrm>
          <a:prstGeom prst="line">
            <a:avLst/>
          </a:prstGeom>
          <a:noFill/>
          <a:ln w="12700">
            <a:solidFill>
              <a:srgbClr val="72839A"/>
            </a:solidFill>
            <a:prstDash val="solid"/>
            <a:headEnd type="none"/>
            <a:tailEnd type="triangle"/>
          </a:ln>
        </p:spPr>
        <p:txBody>
          <a:bodyPr/>
          <a:lstStyle/>
          <a:p>
            <a:endParaRPr/>
          </a:p>
        </p:txBody>
      </p:sp>
      <p:sp>
        <p:nvSpPr>
          <p:cNvPr id="9" name="Shape 5">
            <a:extLst>
              <a:ext uri="{FF2B5EF4-FFF2-40B4-BE49-F238E27FC236}">
                <a16:creationId xmlns:a16="http://schemas.microsoft.com/office/drawing/2014/main" id="{3A20EEA0-FD81-49B9-8E1A-B6BD8D660855}"/>
              </a:ext>
            </a:extLst>
          </p:cNvPr>
          <p:cNvSpPr>
            <a:spLocks noGrp="1"/>
          </p:cNvSpPr>
          <p:nvPr/>
        </p:nvSpPr>
        <p:spPr>
          <a:xfrm>
            <a:off x="8028432" y="3456432"/>
            <a:ext cx="749808" cy="749808"/>
          </a:xfrm>
          <a:prstGeom prst="ellipse">
            <a:avLst/>
          </a:prstGeom>
          <a:solidFill>
            <a:srgbClr val="152641"/>
          </a:solidFill>
          <a:ln w="12700">
            <a:solidFill>
              <a:srgbClr val="5B7CFF"/>
            </a:solidFill>
            <a:prstDash val="solid"/>
          </a:ln>
          <a:effectLst>
            <a:outerShdw blurRad="322580000" dist="193548000" algn="bl" rotWithShape="0">
              <a:srgbClr val="000000">
                <a:alpha val="0"/>
              </a:srgbClr>
            </a:outerShdw>
          </a:effectLst>
        </p:spPr>
        <p:txBody>
          <a:bodyPr/>
          <a:lstStyle/>
          <a:p>
            <a:endParaRPr/>
          </a:p>
        </p:txBody>
      </p:sp>
      <p:pic>
        <p:nvPicPr>
          <p:cNvPr id="42"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0456" y="3685032"/>
            <a:ext cx="365760" cy="292608"/>
          </a:xfrm>
          <a:prstGeom prst="rect">
            <a:avLst/>
          </a:prstGeom>
        </p:spPr>
      </p:pic>
      <p:sp>
        <p:nvSpPr>
          <p:cNvPr id="11" name="Shape 6">
            <a:extLst>
              <a:ext uri="{FF2B5EF4-FFF2-40B4-BE49-F238E27FC236}">
                <a16:creationId xmlns:a16="http://schemas.microsoft.com/office/drawing/2014/main" id="{B992B329-CE1C-4365-8686-2F822E1DF006}"/>
              </a:ext>
            </a:extLst>
          </p:cNvPr>
          <p:cNvSpPr>
            <a:spLocks noGrp="1"/>
          </p:cNvSpPr>
          <p:nvPr/>
        </p:nvSpPr>
        <p:spPr>
          <a:xfrm>
            <a:off x="9674352" y="2962656"/>
            <a:ext cx="886968" cy="0"/>
          </a:xfrm>
          <a:prstGeom prst="line">
            <a:avLst/>
          </a:prstGeom>
          <a:noFill/>
          <a:ln w="12700">
            <a:solidFill>
              <a:srgbClr val="72839A"/>
            </a:solidFill>
            <a:prstDash val="solid"/>
            <a:headEnd type="none"/>
            <a:tailEnd type="triangle"/>
          </a:ln>
        </p:spPr>
        <p:txBody>
          <a:bodyPr/>
          <a:lstStyle/>
          <a:p>
            <a:endParaRPr/>
          </a:p>
        </p:txBody>
      </p:sp>
      <p:sp>
        <p:nvSpPr>
          <p:cNvPr id="12" name="Shape 7">
            <a:extLst>
              <a:ext uri="{FF2B5EF4-FFF2-40B4-BE49-F238E27FC236}">
                <a16:creationId xmlns:a16="http://schemas.microsoft.com/office/drawing/2014/main" id="{8D3E70B2-D6F5-41AF-87EC-5E7DCED3BA40}"/>
              </a:ext>
            </a:extLst>
          </p:cNvPr>
          <p:cNvSpPr>
            <a:spLocks noGrp="1"/>
          </p:cNvSpPr>
          <p:nvPr/>
        </p:nvSpPr>
        <p:spPr>
          <a:xfrm>
            <a:off x="9290304" y="2578608"/>
            <a:ext cx="749808" cy="749808"/>
          </a:xfrm>
          <a:prstGeom prst="ellipse">
            <a:avLst/>
          </a:prstGeom>
          <a:solidFill>
            <a:srgbClr val="152641"/>
          </a:solidFill>
          <a:ln w="12700">
            <a:solidFill>
              <a:srgbClr val="F7B955"/>
            </a:solidFill>
            <a:prstDash val="solid"/>
          </a:ln>
          <a:effectLst>
            <a:outerShdw algn="bl" rotWithShape="0">
              <a:srgbClr val="000000">
                <a:alpha val="0"/>
              </a:srgbClr>
            </a:outerShdw>
          </a:effectLst>
        </p:spPr>
        <p:txBody>
          <a:bodyPr/>
          <a:lstStyle/>
          <a:p>
            <a:endParaRPr/>
          </a:p>
        </p:txBody>
      </p:sp>
      <p:pic>
        <p:nvPicPr>
          <p:cNvPr id="45" name="Image 3"/>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482328" y="2770632"/>
            <a:ext cx="365760" cy="365760"/>
          </a:xfrm>
          <a:prstGeom prst="rect">
            <a:avLst/>
          </a:prstGeom>
        </p:spPr>
      </p:pic>
      <p:sp>
        <p:nvSpPr>
          <p:cNvPr id="14" name="Shape 8">
            <a:extLst>
              <a:ext uri="{FF2B5EF4-FFF2-40B4-BE49-F238E27FC236}">
                <a16:creationId xmlns:a16="http://schemas.microsoft.com/office/drawing/2014/main" id="{433447C7-7BA1-40E9-A849-AFDD7F44CDB5}"/>
              </a:ext>
            </a:extLst>
          </p:cNvPr>
          <p:cNvSpPr>
            <a:spLocks noGrp="1"/>
          </p:cNvSpPr>
          <p:nvPr/>
        </p:nvSpPr>
        <p:spPr>
          <a:xfrm>
            <a:off x="10469880" y="1719072"/>
            <a:ext cx="749808" cy="749808"/>
          </a:xfrm>
          <a:prstGeom prst="ellipse">
            <a:avLst/>
          </a:prstGeom>
          <a:solidFill>
            <a:srgbClr val="152641"/>
          </a:solidFill>
          <a:ln w="12700">
            <a:solidFill>
              <a:srgbClr val="3BE0B5"/>
            </a:solidFill>
            <a:prstDash val="solid"/>
          </a:ln>
          <a:effectLst>
            <a:outerShdw algn="bl" rotWithShape="0">
              <a:srgbClr val="000000">
                <a:alpha val="0"/>
              </a:srgbClr>
            </a:outerShdw>
          </a:effectLst>
        </p:spPr>
        <p:txBody>
          <a:bodyPr/>
          <a:lstStyle/>
          <a:p>
            <a:endParaRPr/>
          </a:p>
        </p:txBody>
      </p:sp>
      <p:pic>
        <p:nvPicPr>
          <p:cNvPr id="47" name="Image 4"/>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84764" y="1911096"/>
            <a:ext cx="320040" cy="365760"/>
          </a:xfrm>
          <a:prstGeom prst="rect">
            <a:avLst/>
          </a:prstGeom>
        </p:spPr>
      </p:pic>
      <p:sp>
        <p:nvSpPr>
          <p:cNvPr id="16" name="Text 9">
            <a:extLst>
              <a:ext uri="{FF2B5EF4-FFF2-40B4-BE49-F238E27FC236}">
                <a16:creationId xmlns:a16="http://schemas.microsoft.com/office/drawing/2014/main" id="{E6B3A90C-3C79-4599-94EF-B776FBDA0471}"/>
              </a:ext>
            </a:extLst>
          </p:cNvPr>
          <p:cNvSpPr>
            <a:spLocks noGrp="1"/>
          </p:cNvSpPr>
          <p:nvPr/>
        </p:nvSpPr>
        <p:spPr>
          <a:xfrm>
            <a:off x="6556248" y="5285232"/>
            <a:ext cx="1463040" cy="228600"/>
          </a:xfrm>
          <a:prstGeom prst="rect">
            <a:avLst/>
          </a:prstGeom>
          <a:noFill/>
        </p:spPr>
        <p:txBody>
          <a:bodyPr wrap="square" lIns="0" tIns="0" rIns="0" bIns="0" anchor="ctr"/>
          <a:lstStyle/>
          <a:p>
            <a:pPr marL="0" indent="0" algn="ctr">
              <a:buNone/>
            </a:pPr>
            <a:r>
              <a:rPr sz="900" b="1" spc="120">
                <a:solidFill>
                  <a:srgbClr val="35D4E7"/>
                </a:solidFill>
                <a:latin typeface="Inter"/>
                <a:ea typeface="Inter"/>
                <a:cs typeface="Inter"/>
              </a:rPr>
              <a:t>STARTUP</a:t>
            </a:r>
            <a:endParaRPr sz="900"/>
          </a:p>
        </p:txBody>
      </p:sp>
      <p:sp>
        <p:nvSpPr>
          <p:cNvPr id="17" name="Text 10">
            <a:extLst>
              <a:ext uri="{FF2B5EF4-FFF2-40B4-BE49-F238E27FC236}">
                <a16:creationId xmlns:a16="http://schemas.microsoft.com/office/drawing/2014/main" id="{D9D170CE-8F6C-47F3-9AD3-911CBF3D6904}"/>
              </a:ext>
            </a:extLst>
          </p:cNvPr>
          <p:cNvSpPr>
            <a:spLocks noGrp="1"/>
          </p:cNvSpPr>
          <p:nvPr/>
        </p:nvSpPr>
        <p:spPr>
          <a:xfrm>
            <a:off x="9902952" y="896112"/>
            <a:ext cx="1554480" cy="228600"/>
          </a:xfrm>
          <a:prstGeom prst="rect">
            <a:avLst/>
          </a:prstGeom>
          <a:noFill/>
        </p:spPr>
        <p:txBody>
          <a:bodyPr wrap="square" lIns="0" tIns="0" rIns="0" bIns="0" anchor="ctr"/>
          <a:lstStyle/>
          <a:p>
            <a:pPr marL="0" indent="0" algn="ctr">
              <a:buNone/>
            </a:pPr>
            <a:r>
              <a:rPr sz="900" b="1" spc="120">
                <a:solidFill>
                  <a:srgbClr val="F7B955"/>
                </a:solidFill>
                <a:latin typeface="Inter"/>
                <a:ea typeface="Inter"/>
                <a:cs typeface="Inter"/>
              </a:rPr>
              <a:t>ENTERPRISE</a:t>
            </a:r>
            <a:endParaRPr sz="900"/>
          </a:p>
        </p:txBody>
      </p:sp>
      <p:sp>
        <p:nvSpPr>
          <p:cNvPr id="18" name="Text 11">
            <a:extLst>
              <a:ext uri="{FF2B5EF4-FFF2-40B4-BE49-F238E27FC236}">
                <a16:creationId xmlns:a16="http://schemas.microsoft.com/office/drawing/2014/main" id="{83F0386C-45CC-40A0-B3B7-F1E7BF840FDD}"/>
              </a:ext>
            </a:extLst>
          </p:cNvPr>
          <p:cNvSpPr>
            <a:spLocks noGrp="1"/>
          </p:cNvSpPr>
          <p:nvPr/>
        </p:nvSpPr>
        <p:spPr>
          <a:xfrm>
            <a:off x="640080" y="566928"/>
            <a:ext cx="5852160" cy="228600"/>
          </a:xfrm>
          <a:prstGeom prst="rect">
            <a:avLst/>
          </a:prstGeom>
          <a:noFill/>
        </p:spPr>
        <p:txBody>
          <a:bodyPr wrap="square" lIns="0" tIns="0" rIns="0" bIns="0" anchor="ctr"/>
          <a:lstStyle/>
          <a:p>
            <a:pPr marL="0" indent="0">
              <a:buNone/>
            </a:pPr>
            <a:r>
              <a:rPr sz="1000" b="1" spc="150">
                <a:solidFill>
                  <a:srgbClr val="35D4E7"/>
                </a:solidFill>
                <a:latin typeface="Inter"/>
                <a:ea typeface="Inter"/>
                <a:cs typeface="Inter"/>
              </a:rPr>
              <a:t>AI &amp; BIG DATA EXPO EUROPE · AI DEVELOPER</a:t>
            </a:r>
            <a:endParaRPr sz="1000"/>
          </a:p>
        </p:txBody>
      </p:sp>
      <p:sp>
        <p:nvSpPr>
          <p:cNvPr id="19" name="Text 12">
            <a:extLst>
              <a:ext uri="{FF2B5EF4-FFF2-40B4-BE49-F238E27FC236}">
                <a16:creationId xmlns:a16="http://schemas.microsoft.com/office/drawing/2014/main" id="{760C866E-A790-4042-893D-A7A7EDCAA95C}"/>
              </a:ext>
            </a:extLst>
          </p:cNvPr>
          <p:cNvSpPr>
            <a:spLocks noGrp="1"/>
          </p:cNvSpPr>
          <p:nvPr/>
        </p:nvSpPr>
        <p:spPr>
          <a:xfrm>
            <a:off x="621792" y="1115568"/>
            <a:ext cx="5943600" cy="621792"/>
          </a:xfrm>
          <a:prstGeom prst="rect">
            <a:avLst/>
          </a:prstGeom>
          <a:noFill/>
        </p:spPr>
        <p:txBody>
          <a:bodyPr wrap="square" lIns="0" tIns="0" rIns="0" bIns="0" anchor="ctr"/>
          <a:lstStyle/>
          <a:p>
            <a:pPr marL="0" indent="0">
              <a:buNone/>
            </a:pPr>
            <a:r>
              <a:rPr sz="3400" b="1">
                <a:solidFill>
                  <a:srgbClr val="F7FAFF"/>
                </a:solidFill>
                <a:latin typeface="Inter"/>
                <a:ea typeface="Inter"/>
                <a:cs typeface="Inter"/>
              </a:rPr>
              <a:t>Beyond the Demo:</a:t>
            </a:r>
            <a:endParaRPr sz="3400"/>
          </a:p>
        </p:txBody>
      </p:sp>
      <p:sp>
        <p:nvSpPr>
          <p:cNvPr id="20" name="Text 13">
            <a:extLst>
              <a:ext uri="{FF2B5EF4-FFF2-40B4-BE49-F238E27FC236}">
                <a16:creationId xmlns:a16="http://schemas.microsoft.com/office/drawing/2014/main" id="{0DFCB79F-79CD-476A-8BD7-1AF6450A5FF7}"/>
              </a:ext>
            </a:extLst>
          </p:cNvPr>
          <p:cNvSpPr>
            <a:spLocks noGrp="1"/>
          </p:cNvSpPr>
          <p:nvPr/>
        </p:nvSpPr>
        <p:spPr>
          <a:xfrm>
            <a:off x="621792" y="1764792"/>
            <a:ext cx="6126480" cy="1335024"/>
          </a:xfrm>
          <a:prstGeom prst="rect">
            <a:avLst/>
          </a:prstGeom>
          <a:noFill/>
        </p:spPr>
        <p:txBody>
          <a:bodyPr wrap="square" lIns="0" tIns="0" rIns="0" bIns="0" anchor="ctr"/>
          <a:lstStyle/>
          <a:p>
            <a:pPr marL="0" indent="0">
              <a:buNone/>
            </a:pPr>
            <a:r>
              <a:rPr sz="3100" b="1">
                <a:solidFill>
                  <a:srgbClr val="F7FAFF"/>
                </a:solidFill>
                <a:latin typeface="Inter"/>
                <a:ea typeface="Inter"/>
                <a:cs typeface="Inter"/>
              </a:rPr>
              <a:t>Building Trusted AI Agents</a:t>
            </a:r>
            <a:endParaRPr sz="3100"/>
          </a:p>
          <a:p>
            <a:pPr marL="0" indent="0">
              <a:buNone/>
            </a:pPr>
            <a:r>
              <a:rPr sz="3100" b="1">
                <a:solidFill>
                  <a:srgbClr val="F7FAFF"/>
                </a:solidFill>
                <a:latin typeface="Inter"/>
                <a:ea typeface="Inter"/>
                <a:cs typeface="Inter"/>
              </a:rPr>
              <a:t>with MCP</a:t>
            </a:r>
            <a:endParaRPr sz="3100"/>
          </a:p>
        </p:txBody>
      </p:sp>
      <p:sp>
        <p:nvSpPr>
          <p:cNvPr id="21" name="Shape 14">
            <a:extLst>
              <a:ext uri="{FF2B5EF4-FFF2-40B4-BE49-F238E27FC236}">
                <a16:creationId xmlns:a16="http://schemas.microsoft.com/office/drawing/2014/main" id="{86CE963E-C285-46C1-9FE0-431E3E0BACA6}"/>
              </a:ext>
            </a:extLst>
          </p:cNvPr>
          <p:cNvSpPr>
            <a:spLocks noGrp="1"/>
          </p:cNvSpPr>
          <p:nvPr/>
        </p:nvSpPr>
        <p:spPr>
          <a:xfrm>
            <a:off x="640080" y="3364992"/>
            <a:ext cx="1051560" cy="0"/>
          </a:xfrm>
          <a:prstGeom prst="line">
            <a:avLst/>
          </a:prstGeom>
          <a:noFill/>
          <a:ln w="12700">
            <a:solidFill>
              <a:srgbClr val="35D4E7"/>
            </a:solidFill>
            <a:prstDash val="solid"/>
          </a:ln>
        </p:spPr>
        <p:txBody>
          <a:bodyPr/>
          <a:lstStyle/>
          <a:p>
            <a:endParaRPr/>
          </a:p>
        </p:txBody>
      </p:sp>
      <p:sp>
        <p:nvSpPr>
          <p:cNvPr id="22" name="Text 15">
            <a:extLst>
              <a:ext uri="{FF2B5EF4-FFF2-40B4-BE49-F238E27FC236}">
                <a16:creationId xmlns:a16="http://schemas.microsoft.com/office/drawing/2014/main" id="{5D41686D-BB75-45F2-B471-A6EBEF2D65FB}"/>
              </a:ext>
            </a:extLst>
          </p:cNvPr>
          <p:cNvSpPr>
            <a:spLocks noGrp="1"/>
          </p:cNvSpPr>
          <p:nvPr/>
        </p:nvSpPr>
        <p:spPr>
          <a:xfrm>
            <a:off x="640080" y="3584448"/>
            <a:ext cx="5303520" cy="777240"/>
          </a:xfrm>
          <a:prstGeom prst="rect">
            <a:avLst/>
          </a:prstGeom>
          <a:noFill/>
        </p:spPr>
        <p:txBody>
          <a:bodyPr wrap="square" lIns="0" tIns="0" rIns="0" bIns="0" anchor="ctr"/>
          <a:lstStyle/>
          <a:p>
            <a:pPr marL="0" indent="0">
              <a:buNone/>
            </a:pPr>
            <a:r>
              <a:rPr sz="1700">
                <a:solidFill>
                  <a:srgbClr val="A7B5C8"/>
                </a:solidFill>
                <a:latin typeface="Inter"/>
                <a:ea typeface="Inter"/>
                <a:cs typeface="Inter"/>
              </a:rPr>
              <a:t>A startup story, an enterprise reality,</a:t>
            </a:r>
            <a:endParaRPr sz="1700"/>
          </a:p>
          <a:p>
            <a:pPr marL="0" indent="0">
              <a:buNone/>
            </a:pPr>
            <a:r>
              <a:rPr sz="1700">
                <a:solidFill>
                  <a:srgbClr val="A7B5C8"/>
                </a:solidFill>
                <a:latin typeface="Inter"/>
                <a:ea typeface="Inter"/>
                <a:cs typeface="Inter"/>
              </a:rPr>
              <a:t>and lessons from a production MCP codebase.</a:t>
            </a:r>
          </a:p>
        </p:txBody>
      </p:sp>
      <p:sp>
        <p:nvSpPr>
          <p:cNvPr id="23" name="Text 16">
            <a:extLst>
              <a:ext uri="{FF2B5EF4-FFF2-40B4-BE49-F238E27FC236}">
                <a16:creationId xmlns:a16="http://schemas.microsoft.com/office/drawing/2014/main" id="{2EAEA79A-2344-494F-85E2-D55CF06283D8}"/>
              </a:ext>
            </a:extLst>
          </p:cNvPr>
          <p:cNvSpPr>
            <a:spLocks noGrp="1"/>
          </p:cNvSpPr>
          <p:nvPr/>
        </p:nvSpPr>
        <p:spPr>
          <a:xfrm>
            <a:off x="640080" y="4864608"/>
            <a:ext cx="3840480" cy="329184"/>
          </a:xfrm>
          <a:prstGeom prst="rect">
            <a:avLst/>
          </a:prstGeom>
          <a:noFill/>
        </p:spPr>
        <p:txBody>
          <a:bodyPr wrap="square" lIns="0" tIns="0" rIns="0" bIns="0" anchor="ctr"/>
          <a:lstStyle/>
          <a:p>
            <a:pPr marL="0" indent="0">
              <a:buNone/>
            </a:pPr>
            <a:r>
              <a:rPr sz="1700" b="1">
                <a:solidFill>
                  <a:srgbClr val="F7FAFF"/>
                </a:solidFill>
                <a:latin typeface="Inter"/>
                <a:ea typeface="Inter"/>
                <a:cs typeface="Inter"/>
              </a:rPr>
              <a:t>Konstantin Grigorov</a:t>
            </a:r>
            <a:endParaRPr sz="1700"/>
          </a:p>
        </p:txBody>
      </p:sp>
      <p:sp>
        <p:nvSpPr>
          <p:cNvPr id="24" name="Text 17">
            <a:extLst>
              <a:ext uri="{FF2B5EF4-FFF2-40B4-BE49-F238E27FC236}">
                <a16:creationId xmlns:a16="http://schemas.microsoft.com/office/drawing/2014/main" id="{BC4F65F4-D9FC-429D-8FBE-60D95642659E}"/>
              </a:ext>
            </a:extLst>
          </p:cNvPr>
          <p:cNvSpPr>
            <a:spLocks noGrp="1"/>
          </p:cNvSpPr>
          <p:nvPr/>
        </p:nvSpPr>
        <p:spPr>
          <a:xfrm>
            <a:off x="640080" y="5230368"/>
            <a:ext cx="5394960" cy="274320"/>
          </a:xfrm>
          <a:prstGeom prst="rect">
            <a:avLst/>
          </a:prstGeom>
          <a:noFill/>
        </p:spPr>
        <p:txBody>
          <a:bodyPr wrap="square" lIns="0" tIns="0" rIns="0" bIns="0" anchor="ctr"/>
          <a:lstStyle/>
          <a:p>
            <a:pPr marL="0" indent="0">
              <a:buNone/>
            </a:pPr>
            <a:r>
              <a:rPr sz="1150">
                <a:solidFill>
                  <a:srgbClr val="A7B5C8"/>
                </a:solidFill>
                <a:latin typeface="Inter"/>
                <a:ea typeface="Inter"/>
                <a:cs typeface="Inter"/>
              </a:rPr>
              <a:t>Principal Data &amp; AI Engineer · Shell Trading &amp; Supply</a:t>
            </a:r>
            <a:endParaRPr sz="1150"/>
          </a:p>
        </p:txBody>
      </p:sp>
      <p:sp>
        <p:nvSpPr>
          <p:cNvPr id="25" name="Shape 18">
            <a:extLst>
              <a:ext uri="{FF2B5EF4-FFF2-40B4-BE49-F238E27FC236}">
                <a16:creationId xmlns:a16="http://schemas.microsoft.com/office/drawing/2014/main" id="{BD89A3D3-CD56-4AB9-82BF-EB94F51CBFBD}"/>
              </a:ext>
            </a:extLst>
          </p:cNvPr>
          <p:cNvSpPr>
            <a:spLocks noGrp="1"/>
          </p:cNvSpPr>
          <p:nvPr/>
        </p:nvSpPr>
        <p:spPr>
          <a:xfrm>
            <a:off x="640080" y="5779008"/>
            <a:ext cx="2542032" cy="310896"/>
          </a:xfrm>
          <a:prstGeom prst="roundRect">
            <a:avLst>
              <a:gd name="adj" fmla="val 23529"/>
            </a:avLst>
          </a:prstGeom>
          <a:solidFill>
            <a:srgbClr val="35D4E7">
              <a:alpha val="13000"/>
            </a:srgbClr>
          </a:solidFill>
          <a:ln w="12700">
            <a:solidFill>
              <a:srgbClr val="35D4E7">
                <a:alpha val="40000"/>
              </a:srgbClr>
            </a:solidFill>
            <a:prstDash val="solid"/>
          </a:ln>
        </p:spPr>
        <p:txBody>
          <a:bodyPr/>
          <a:lstStyle/>
          <a:p>
            <a:endParaRPr/>
          </a:p>
        </p:txBody>
      </p:sp>
      <p:sp>
        <p:nvSpPr>
          <p:cNvPr id="26" name="Text 19">
            <a:extLst>
              <a:ext uri="{FF2B5EF4-FFF2-40B4-BE49-F238E27FC236}">
                <a16:creationId xmlns:a16="http://schemas.microsoft.com/office/drawing/2014/main" id="{78EA1772-FDA4-447B-85EC-EE30AD81A2DA}"/>
              </a:ext>
            </a:extLst>
          </p:cNvPr>
          <p:cNvSpPr>
            <a:spLocks noGrp="1"/>
          </p:cNvSpPr>
          <p:nvPr/>
        </p:nvSpPr>
        <p:spPr>
          <a:xfrm>
            <a:off x="713232" y="5788152"/>
            <a:ext cx="2395728" cy="292608"/>
          </a:xfrm>
          <a:prstGeom prst="rect">
            <a:avLst/>
          </a:prstGeom>
          <a:noFill/>
        </p:spPr>
        <p:txBody>
          <a:bodyPr wrap="square" lIns="0" tIns="0" rIns="0" bIns="0" anchor="ctr"/>
          <a:lstStyle/>
          <a:p>
            <a:pPr marL="0" indent="0" algn="ctr">
              <a:buNone/>
            </a:pPr>
            <a:r>
              <a:rPr sz="920" b="1">
                <a:solidFill>
                  <a:srgbClr val="35D4E7"/>
                </a:solidFill>
                <a:latin typeface="Inter"/>
                <a:ea typeface="Inter"/>
                <a:cs typeface="Inter"/>
              </a:rPr>
              <a:t>20 OCT 2026 · RAI AMSTERDAM</a:t>
            </a:r>
            <a:endParaRPr sz="920"/>
          </a:p>
        </p:txBody>
      </p:sp>
      <p:sp>
        <p:nvSpPr>
          <p:cNvPr id="27" name="Shape 20">
            <a:extLst>
              <a:ext uri="{FF2B5EF4-FFF2-40B4-BE49-F238E27FC236}">
                <a16:creationId xmlns:a16="http://schemas.microsoft.com/office/drawing/2014/main" id="{CBAB54F3-F4F1-4C42-9A2C-3A6D7A95C4E6}"/>
              </a:ext>
            </a:extLst>
          </p:cNvPr>
          <p:cNvSpPr>
            <a:spLocks noGrp="1"/>
          </p:cNvSpPr>
          <p:nvPr/>
        </p:nvSpPr>
        <p:spPr>
          <a:xfrm>
            <a:off x="3310128" y="5779008"/>
            <a:ext cx="2523744" cy="310896"/>
          </a:xfrm>
          <a:prstGeom prst="roundRect">
            <a:avLst>
              <a:gd name="adj" fmla="val 23529"/>
            </a:avLst>
          </a:prstGeom>
          <a:solidFill>
            <a:srgbClr val="5B7CFF">
              <a:alpha val="13000"/>
            </a:srgbClr>
          </a:solidFill>
          <a:ln w="12700">
            <a:solidFill>
              <a:srgbClr val="5B7CFF">
                <a:alpha val="40000"/>
              </a:srgbClr>
            </a:solidFill>
            <a:prstDash val="solid"/>
          </a:ln>
        </p:spPr>
        <p:txBody>
          <a:bodyPr/>
          <a:lstStyle/>
          <a:p>
            <a:endParaRPr/>
          </a:p>
        </p:txBody>
      </p:sp>
      <p:sp>
        <p:nvSpPr>
          <p:cNvPr id="28" name="Text 21">
            <a:extLst>
              <a:ext uri="{FF2B5EF4-FFF2-40B4-BE49-F238E27FC236}">
                <a16:creationId xmlns:a16="http://schemas.microsoft.com/office/drawing/2014/main" id="{AE9680C4-782A-4E77-8E0F-9EA7FA59B300}"/>
              </a:ext>
            </a:extLst>
          </p:cNvPr>
          <p:cNvSpPr>
            <a:spLocks noGrp="1"/>
          </p:cNvSpPr>
          <p:nvPr/>
        </p:nvSpPr>
        <p:spPr>
          <a:xfrm>
            <a:off x="3383280" y="5788152"/>
            <a:ext cx="2377440" cy="292608"/>
          </a:xfrm>
          <a:prstGeom prst="rect">
            <a:avLst/>
          </a:prstGeom>
          <a:noFill/>
        </p:spPr>
        <p:txBody>
          <a:bodyPr wrap="square" lIns="0" tIns="0" rIns="0" bIns="0" anchor="ctr"/>
          <a:lstStyle/>
          <a:p>
            <a:pPr marL="0" indent="0" algn="ctr">
              <a:buNone/>
            </a:pPr>
            <a:r>
              <a:rPr sz="920" b="1">
                <a:solidFill>
                  <a:srgbClr val="BFCBFF"/>
                </a:solidFill>
                <a:latin typeface="Inter"/>
                <a:ea typeface="Inter"/>
                <a:cs typeface="Inter"/>
              </a:rPr>
              <a:t>AI DEVELOPER · 12:05–12:35</a:t>
            </a:r>
            <a:endParaRPr sz="920"/>
          </a:p>
        </p:txBody>
      </p:sp>
    </p:spTree>
    <p:extLst>
      <p:ext uri="{BB962C8B-B14F-4D97-AF65-F5344CB8AC3E}">
        <p14:creationId xmlns:p14="http://schemas.microsoft.com/office/powerpoint/2010/main" val="17795347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AD8C7B86-B14C-4F16-9919-B23C9D1598EB}"/>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THE SET-UP</a:t>
            </a:r>
            <a:endParaRPr sz="950"/>
          </a:p>
        </p:txBody>
      </p:sp>
      <p:sp>
        <p:nvSpPr>
          <p:cNvPr id="4" name="Text 1">
            <a:extLst>
              <a:ext uri="{FF2B5EF4-FFF2-40B4-BE49-F238E27FC236}">
                <a16:creationId xmlns:a16="http://schemas.microsoft.com/office/drawing/2014/main" id="{FD553D91-2FEE-42C1-A088-65094632DAC1}"/>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800" b="1">
                <a:solidFill>
                  <a:srgbClr val="F7FAFF"/>
                </a:solidFill>
                <a:latin typeface="Inter"/>
                <a:ea typeface="Inter"/>
                <a:cs typeface="Inter"/>
              </a:rPr>
              <a:t>Fictional story. Real failure modes.</a:t>
            </a:r>
            <a:endParaRPr sz="2800"/>
          </a:p>
        </p:txBody>
      </p:sp>
      <p:sp>
        <p:nvSpPr>
          <p:cNvPr id="5" name="Text 2">
            <a:extLst>
              <a:ext uri="{FF2B5EF4-FFF2-40B4-BE49-F238E27FC236}">
                <a16:creationId xmlns:a16="http://schemas.microsoft.com/office/drawing/2014/main" id="{3C8F2BCB-08EC-4BC5-B102-98720B542215}"/>
              </a:ext>
            </a:extLst>
          </p:cNvPr>
          <p:cNvSpPr>
            <a:spLocks noGrp="1"/>
          </p:cNvSpPr>
          <p:nvPr/>
        </p:nvSpPr>
        <p:spPr>
          <a:xfrm>
            <a:off x="658368" y="1417320"/>
            <a:ext cx="5669280" cy="502920"/>
          </a:xfrm>
          <a:prstGeom prst="rect">
            <a:avLst/>
          </a:prstGeom>
          <a:noFill/>
        </p:spPr>
        <p:txBody>
          <a:bodyPr wrap="square" lIns="0" tIns="0" rIns="0" bIns="0" anchor="ctr"/>
          <a:lstStyle/>
          <a:p>
            <a:pPr marL="0" indent="0">
              <a:buNone/>
            </a:pPr>
            <a:r>
              <a:rPr sz="2700" b="1">
                <a:solidFill>
                  <a:srgbClr val="F7FAFF"/>
                </a:solidFill>
                <a:latin typeface="Inter"/>
                <a:ea typeface="Inter"/>
                <a:cs typeface="Inter"/>
              </a:rPr>
              <a:t>You are the founding engineer.</a:t>
            </a:r>
            <a:endParaRPr sz="2700"/>
          </a:p>
        </p:txBody>
      </p:sp>
      <p:sp>
        <p:nvSpPr>
          <p:cNvPr id="6" name="Text 3">
            <a:extLst>
              <a:ext uri="{FF2B5EF4-FFF2-40B4-BE49-F238E27FC236}">
                <a16:creationId xmlns:a16="http://schemas.microsoft.com/office/drawing/2014/main" id="{A9CBFCAB-ABE0-435D-8C3A-2BBF485FFAB0}"/>
              </a:ext>
            </a:extLst>
          </p:cNvPr>
          <p:cNvSpPr>
            <a:spLocks noGrp="1"/>
          </p:cNvSpPr>
          <p:nvPr/>
        </p:nvSpPr>
        <p:spPr>
          <a:xfrm>
            <a:off x="658368" y="2029968"/>
            <a:ext cx="5852160" cy="365760"/>
          </a:xfrm>
          <a:prstGeom prst="rect">
            <a:avLst/>
          </a:prstGeom>
          <a:noFill/>
        </p:spPr>
        <p:txBody>
          <a:bodyPr wrap="square" lIns="0" tIns="0" rIns="0" bIns="0" anchor="ctr"/>
          <a:lstStyle/>
          <a:p>
            <a:pPr marL="0" indent="0">
              <a:buNone/>
            </a:pPr>
            <a:r>
              <a:rPr sz="1700">
                <a:solidFill>
                  <a:srgbClr val="A7B5C8"/>
                </a:solidFill>
                <a:latin typeface="Inter"/>
                <a:ea typeface="Inter"/>
                <a:cs typeface="Inter"/>
              </a:rPr>
              <a:t>Team of 9. Funding secured. Friday demo.</a:t>
            </a:r>
            <a:endParaRPr sz="1700"/>
          </a:p>
        </p:txBody>
      </p:sp>
      <p:sp>
        <p:nvSpPr>
          <p:cNvPr id="7" name="Shape 4">
            <a:extLst>
              <a:ext uri="{FF2B5EF4-FFF2-40B4-BE49-F238E27FC236}">
                <a16:creationId xmlns:a16="http://schemas.microsoft.com/office/drawing/2014/main" id="{1E993861-2AD0-4FAB-B203-A639F9A55241}"/>
              </a:ext>
            </a:extLst>
          </p:cNvPr>
          <p:cNvSpPr>
            <a:spLocks noGrp="1"/>
          </p:cNvSpPr>
          <p:nvPr/>
        </p:nvSpPr>
        <p:spPr>
          <a:xfrm>
            <a:off x="658368" y="2633472"/>
            <a:ext cx="4343400" cy="384048"/>
          </a:xfrm>
          <a:prstGeom prst="roundRect">
            <a:avLst>
              <a:gd name="adj" fmla="val 19048"/>
            </a:avLst>
          </a:prstGeom>
          <a:solidFill>
            <a:srgbClr val="35D4E7">
              <a:alpha val="14000"/>
            </a:srgbClr>
          </a:solidFill>
          <a:ln w="12700">
            <a:solidFill>
              <a:srgbClr val="35D4E7">
                <a:alpha val="35000"/>
              </a:srgbClr>
            </a:solidFill>
            <a:prstDash val="solid"/>
          </a:ln>
        </p:spPr>
        <p:txBody>
          <a:bodyPr/>
          <a:lstStyle/>
          <a:p>
            <a:endParaRPr/>
          </a:p>
        </p:txBody>
      </p:sp>
      <p:sp>
        <p:nvSpPr>
          <p:cNvPr id="8" name="Text 5">
            <a:extLst>
              <a:ext uri="{FF2B5EF4-FFF2-40B4-BE49-F238E27FC236}">
                <a16:creationId xmlns:a16="http://schemas.microsoft.com/office/drawing/2014/main" id="{8CE517C2-F547-4ECA-A4F7-8F832CAF787E}"/>
              </a:ext>
            </a:extLst>
          </p:cNvPr>
          <p:cNvSpPr>
            <a:spLocks noGrp="1"/>
          </p:cNvSpPr>
          <p:nvPr/>
        </p:nvSpPr>
        <p:spPr>
          <a:xfrm>
            <a:off x="731520" y="2642616"/>
            <a:ext cx="4197096" cy="365760"/>
          </a:xfrm>
          <a:prstGeom prst="rect">
            <a:avLst/>
          </a:prstGeom>
          <a:noFill/>
        </p:spPr>
        <p:txBody>
          <a:bodyPr wrap="square" lIns="0" tIns="0" rIns="0" bIns="0" anchor="ctr"/>
          <a:lstStyle/>
          <a:p>
            <a:pPr marL="0" indent="0" algn="ctr">
              <a:buNone/>
            </a:pPr>
            <a:r>
              <a:rPr sz="1000" b="1">
                <a:solidFill>
                  <a:srgbClr val="35D4E7"/>
                </a:solidFill>
                <a:latin typeface="Inter"/>
                <a:ea typeface="Inter"/>
                <a:cs typeface="Inter"/>
              </a:rPr>
              <a:t>GOAL: CONNECT AN LLM TO REAL DATA THROUGH MCP</a:t>
            </a:r>
            <a:endParaRPr sz="1000"/>
          </a:p>
        </p:txBody>
      </p:sp>
      <p:sp>
        <p:nvSpPr>
          <p:cNvPr id="9" name="Shape 6">
            <a:extLst>
              <a:ext uri="{FF2B5EF4-FFF2-40B4-BE49-F238E27FC236}">
                <a16:creationId xmlns:a16="http://schemas.microsoft.com/office/drawing/2014/main" id="{55DAF6F9-E986-437E-8DCF-6BDC733D7194}"/>
              </a:ext>
            </a:extLst>
          </p:cNvPr>
          <p:cNvSpPr>
            <a:spLocks noGrp="1"/>
          </p:cNvSpPr>
          <p:nvPr/>
        </p:nvSpPr>
        <p:spPr>
          <a:xfrm>
            <a:off x="7406640" y="1444752"/>
            <a:ext cx="658368" cy="658368"/>
          </a:xfrm>
          <a:prstGeom prst="ellipse">
            <a:avLst/>
          </a:prstGeom>
          <a:solidFill>
            <a:srgbClr val="152641"/>
          </a:solidFill>
          <a:ln w="12700">
            <a:solidFill>
              <a:srgbClr val="F7B955"/>
            </a:solidFill>
            <a:prstDash val="solid"/>
          </a:ln>
        </p:spPr>
        <p:txBody>
          <a:bodyPr/>
          <a:lstStyle/>
          <a:p>
            <a:endParaRPr/>
          </a:p>
        </p:txBody>
      </p:sp>
      <p:pic>
        <p:nvPicPr>
          <p:cNvPr id="56"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89520" y="1647749"/>
            <a:ext cx="292608" cy="234086"/>
          </a:xfrm>
          <a:prstGeom prst="rect">
            <a:avLst/>
          </a:prstGeom>
        </p:spPr>
      </p:pic>
      <p:sp>
        <p:nvSpPr>
          <p:cNvPr id="11" name="Shape 7">
            <a:extLst>
              <a:ext uri="{FF2B5EF4-FFF2-40B4-BE49-F238E27FC236}">
                <a16:creationId xmlns:a16="http://schemas.microsoft.com/office/drawing/2014/main" id="{27164CDC-66A9-4DBB-A86D-BD32052F8809}"/>
              </a:ext>
            </a:extLst>
          </p:cNvPr>
          <p:cNvSpPr>
            <a:spLocks noGrp="1"/>
          </p:cNvSpPr>
          <p:nvPr/>
        </p:nvSpPr>
        <p:spPr>
          <a:xfrm>
            <a:off x="8485632" y="1170432"/>
            <a:ext cx="658368" cy="658368"/>
          </a:xfrm>
          <a:prstGeom prst="ellipse">
            <a:avLst/>
          </a:prstGeom>
          <a:solidFill>
            <a:srgbClr val="152641"/>
          </a:solidFill>
          <a:ln w="12700">
            <a:solidFill>
              <a:srgbClr val="35D4E7"/>
            </a:solidFill>
            <a:prstDash val="solid"/>
          </a:ln>
        </p:spPr>
        <p:txBody>
          <a:bodyPr/>
          <a:lstStyle/>
          <a:p>
            <a:endParaRPr/>
          </a:p>
        </p:txBody>
      </p:sp>
      <p:pic>
        <p:nvPicPr>
          <p:cNvPr id="58"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86800" y="1344168"/>
            <a:ext cx="256032" cy="292608"/>
          </a:xfrm>
          <a:prstGeom prst="rect">
            <a:avLst/>
          </a:prstGeom>
        </p:spPr>
      </p:pic>
      <p:sp>
        <p:nvSpPr>
          <p:cNvPr id="13" name="Shape 8">
            <a:extLst>
              <a:ext uri="{FF2B5EF4-FFF2-40B4-BE49-F238E27FC236}">
                <a16:creationId xmlns:a16="http://schemas.microsoft.com/office/drawing/2014/main" id="{15720886-8C7C-47B8-89AF-37AEF61FADBD}"/>
              </a:ext>
            </a:extLst>
          </p:cNvPr>
          <p:cNvSpPr>
            <a:spLocks noGrp="1"/>
          </p:cNvSpPr>
          <p:nvPr/>
        </p:nvSpPr>
        <p:spPr>
          <a:xfrm>
            <a:off x="9582912" y="1481328"/>
            <a:ext cx="658368" cy="658368"/>
          </a:xfrm>
          <a:prstGeom prst="ellipse">
            <a:avLst/>
          </a:prstGeom>
          <a:solidFill>
            <a:srgbClr val="152641"/>
          </a:solidFill>
          <a:ln w="12700">
            <a:solidFill>
              <a:srgbClr val="35D4E7"/>
            </a:solidFill>
            <a:prstDash val="solid"/>
          </a:ln>
        </p:spPr>
        <p:txBody>
          <a:bodyPr/>
          <a:lstStyle/>
          <a:p>
            <a:endParaRPr/>
          </a:p>
        </p:txBody>
      </p:sp>
      <p:pic>
        <p:nvPicPr>
          <p:cNvPr id="60" name="Image 3"/>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4080" y="1655064"/>
            <a:ext cx="256032" cy="292608"/>
          </a:xfrm>
          <a:prstGeom prst="rect">
            <a:avLst/>
          </a:prstGeom>
        </p:spPr>
      </p:pic>
      <p:sp>
        <p:nvSpPr>
          <p:cNvPr id="15" name="Shape 9">
            <a:extLst>
              <a:ext uri="{FF2B5EF4-FFF2-40B4-BE49-F238E27FC236}">
                <a16:creationId xmlns:a16="http://schemas.microsoft.com/office/drawing/2014/main" id="{42369259-17CD-4D4F-9AFC-28A24BADA310}"/>
              </a:ext>
            </a:extLst>
          </p:cNvPr>
          <p:cNvSpPr>
            <a:spLocks noGrp="1"/>
          </p:cNvSpPr>
          <p:nvPr/>
        </p:nvSpPr>
        <p:spPr>
          <a:xfrm>
            <a:off x="10561320" y="1133856"/>
            <a:ext cx="658368" cy="658368"/>
          </a:xfrm>
          <a:prstGeom prst="ellipse">
            <a:avLst/>
          </a:prstGeom>
          <a:solidFill>
            <a:srgbClr val="152641"/>
          </a:solidFill>
          <a:ln w="12700">
            <a:solidFill>
              <a:srgbClr val="A879FF"/>
            </a:solidFill>
            <a:prstDash val="solid"/>
          </a:ln>
        </p:spPr>
        <p:txBody>
          <a:bodyPr/>
          <a:lstStyle/>
          <a:p>
            <a:endParaRPr/>
          </a:p>
        </p:txBody>
      </p:sp>
      <p:pic>
        <p:nvPicPr>
          <p:cNvPr id="62" name="Image 4"/>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762488" y="1307592"/>
            <a:ext cx="256032" cy="292608"/>
          </a:xfrm>
          <a:prstGeom prst="rect">
            <a:avLst/>
          </a:prstGeom>
        </p:spPr>
      </p:pic>
      <p:sp>
        <p:nvSpPr>
          <p:cNvPr id="17" name="Shape 10">
            <a:extLst>
              <a:ext uri="{FF2B5EF4-FFF2-40B4-BE49-F238E27FC236}">
                <a16:creationId xmlns:a16="http://schemas.microsoft.com/office/drawing/2014/main" id="{4F7E4242-EBD8-485A-AC74-C755C8617101}"/>
              </a:ext>
            </a:extLst>
          </p:cNvPr>
          <p:cNvSpPr>
            <a:spLocks noGrp="1"/>
          </p:cNvSpPr>
          <p:nvPr/>
        </p:nvSpPr>
        <p:spPr>
          <a:xfrm>
            <a:off x="7845552" y="2514600"/>
            <a:ext cx="658368" cy="658368"/>
          </a:xfrm>
          <a:prstGeom prst="ellipse">
            <a:avLst/>
          </a:prstGeom>
          <a:solidFill>
            <a:srgbClr val="152641"/>
          </a:solidFill>
          <a:ln w="12700">
            <a:solidFill>
              <a:srgbClr val="35D4E7"/>
            </a:solidFill>
            <a:prstDash val="solid"/>
          </a:ln>
        </p:spPr>
        <p:txBody>
          <a:bodyPr/>
          <a:lstStyle/>
          <a:p>
            <a:endParaRPr/>
          </a:p>
        </p:txBody>
      </p:sp>
      <p:pic>
        <p:nvPicPr>
          <p:cNvPr id="64" name="Image 5"/>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46720" y="2688336"/>
            <a:ext cx="256032" cy="292608"/>
          </a:xfrm>
          <a:prstGeom prst="rect">
            <a:avLst/>
          </a:prstGeom>
        </p:spPr>
      </p:pic>
      <p:sp>
        <p:nvSpPr>
          <p:cNvPr id="19" name="Shape 11">
            <a:extLst>
              <a:ext uri="{FF2B5EF4-FFF2-40B4-BE49-F238E27FC236}">
                <a16:creationId xmlns:a16="http://schemas.microsoft.com/office/drawing/2014/main" id="{783BF81D-5BB1-4E91-893B-B2993D3A479C}"/>
              </a:ext>
            </a:extLst>
          </p:cNvPr>
          <p:cNvSpPr>
            <a:spLocks noGrp="1"/>
          </p:cNvSpPr>
          <p:nvPr/>
        </p:nvSpPr>
        <p:spPr>
          <a:xfrm>
            <a:off x="8942832" y="2359152"/>
            <a:ext cx="658368" cy="658368"/>
          </a:xfrm>
          <a:prstGeom prst="ellipse">
            <a:avLst/>
          </a:prstGeom>
          <a:solidFill>
            <a:srgbClr val="152641"/>
          </a:solidFill>
          <a:ln w="12700">
            <a:solidFill>
              <a:srgbClr val="35D4E7"/>
            </a:solidFill>
            <a:prstDash val="solid"/>
          </a:ln>
        </p:spPr>
        <p:txBody>
          <a:bodyPr/>
          <a:lstStyle/>
          <a:p>
            <a:endParaRPr/>
          </a:p>
        </p:txBody>
      </p:sp>
      <p:pic>
        <p:nvPicPr>
          <p:cNvPr id="66" name="Image 6"/>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144000" y="2532888"/>
            <a:ext cx="256032" cy="292608"/>
          </a:xfrm>
          <a:prstGeom prst="rect">
            <a:avLst/>
          </a:prstGeom>
        </p:spPr>
      </p:pic>
      <p:sp>
        <p:nvSpPr>
          <p:cNvPr id="21" name="Shape 12">
            <a:extLst>
              <a:ext uri="{FF2B5EF4-FFF2-40B4-BE49-F238E27FC236}">
                <a16:creationId xmlns:a16="http://schemas.microsoft.com/office/drawing/2014/main" id="{F71F9EA3-0F3C-45F0-A88C-26712E61D7BC}"/>
              </a:ext>
            </a:extLst>
          </p:cNvPr>
          <p:cNvSpPr>
            <a:spLocks noGrp="1"/>
          </p:cNvSpPr>
          <p:nvPr/>
        </p:nvSpPr>
        <p:spPr>
          <a:xfrm>
            <a:off x="10104120" y="2523744"/>
            <a:ext cx="658368" cy="658368"/>
          </a:xfrm>
          <a:prstGeom prst="ellipse">
            <a:avLst/>
          </a:prstGeom>
          <a:solidFill>
            <a:srgbClr val="152641"/>
          </a:solidFill>
          <a:ln w="12700">
            <a:solidFill>
              <a:srgbClr val="A879FF"/>
            </a:solidFill>
            <a:prstDash val="solid"/>
          </a:ln>
        </p:spPr>
        <p:txBody>
          <a:bodyPr/>
          <a:lstStyle/>
          <a:p>
            <a:endParaRPr/>
          </a:p>
        </p:txBody>
      </p:sp>
      <p:pic>
        <p:nvPicPr>
          <p:cNvPr id="68" name="Image 7"/>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05288" y="2697480"/>
            <a:ext cx="256032" cy="292608"/>
          </a:xfrm>
          <a:prstGeom prst="rect">
            <a:avLst/>
          </a:prstGeom>
        </p:spPr>
      </p:pic>
      <p:sp>
        <p:nvSpPr>
          <p:cNvPr id="23" name="Shape 13">
            <a:extLst>
              <a:ext uri="{FF2B5EF4-FFF2-40B4-BE49-F238E27FC236}">
                <a16:creationId xmlns:a16="http://schemas.microsoft.com/office/drawing/2014/main" id="{203D3DB0-7326-4D09-B563-5ACB59985821}"/>
              </a:ext>
            </a:extLst>
          </p:cNvPr>
          <p:cNvSpPr>
            <a:spLocks noGrp="1"/>
          </p:cNvSpPr>
          <p:nvPr/>
        </p:nvSpPr>
        <p:spPr>
          <a:xfrm>
            <a:off x="8302752" y="3584448"/>
            <a:ext cx="658368" cy="658368"/>
          </a:xfrm>
          <a:prstGeom prst="ellipse">
            <a:avLst/>
          </a:prstGeom>
          <a:solidFill>
            <a:srgbClr val="152641"/>
          </a:solidFill>
          <a:ln w="12700">
            <a:solidFill>
              <a:srgbClr val="35D4E7"/>
            </a:solidFill>
            <a:prstDash val="solid"/>
          </a:ln>
        </p:spPr>
        <p:txBody>
          <a:bodyPr/>
          <a:lstStyle/>
          <a:p>
            <a:endParaRPr/>
          </a:p>
        </p:txBody>
      </p:sp>
      <p:pic>
        <p:nvPicPr>
          <p:cNvPr id="70" name="Image 8"/>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03920" y="3758184"/>
            <a:ext cx="256032" cy="292608"/>
          </a:xfrm>
          <a:prstGeom prst="rect">
            <a:avLst/>
          </a:prstGeom>
        </p:spPr>
      </p:pic>
      <p:sp>
        <p:nvSpPr>
          <p:cNvPr id="25" name="Shape 14">
            <a:extLst>
              <a:ext uri="{FF2B5EF4-FFF2-40B4-BE49-F238E27FC236}">
                <a16:creationId xmlns:a16="http://schemas.microsoft.com/office/drawing/2014/main" id="{E776A0BD-BAC8-4B2A-9DBB-226997107A34}"/>
              </a:ext>
            </a:extLst>
          </p:cNvPr>
          <p:cNvSpPr>
            <a:spLocks noGrp="1"/>
          </p:cNvSpPr>
          <p:nvPr/>
        </p:nvSpPr>
        <p:spPr>
          <a:xfrm>
            <a:off x="9619488" y="3694176"/>
            <a:ext cx="658368" cy="658368"/>
          </a:xfrm>
          <a:prstGeom prst="ellipse">
            <a:avLst/>
          </a:prstGeom>
          <a:solidFill>
            <a:srgbClr val="152641"/>
          </a:solidFill>
          <a:ln w="12700">
            <a:solidFill>
              <a:srgbClr val="35D4E7"/>
            </a:solidFill>
            <a:prstDash val="solid"/>
          </a:ln>
        </p:spPr>
        <p:txBody>
          <a:bodyPr/>
          <a:lstStyle/>
          <a:p>
            <a:endParaRPr/>
          </a:p>
        </p:txBody>
      </p:sp>
      <p:pic>
        <p:nvPicPr>
          <p:cNvPr id="72" name="Image 9"/>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820656" y="3867912"/>
            <a:ext cx="256032" cy="292608"/>
          </a:xfrm>
          <a:prstGeom prst="rect">
            <a:avLst/>
          </a:prstGeom>
        </p:spPr>
      </p:pic>
      <p:sp>
        <p:nvSpPr>
          <p:cNvPr id="27" name="Text 15">
            <a:extLst>
              <a:ext uri="{FF2B5EF4-FFF2-40B4-BE49-F238E27FC236}">
                <a16:creationId xmlns:a16="http://schemas.microsoft.com/office/drawing/2014/main" id="{2A3F6597-8CAF-4124-A879-64E36063D1F7}"/>
              </a:ext>
            </a:extLst>
          </p:cNvPr>
          <p:cNvSpPr>
            <a:spLocks noGrp="1"/>
          </p:cNvSpPr>
          <p:nvPr/>
        </p:nvSpPr>
        <p:spPr>
          <a:xfrm>
            <a:off x="10469880" y="3950208"/>
            <a:ext cx="777240" cy="566928"/>
          </a:xfrm>
          <a:prstGeom prst="rect">
            <a:avLst/>
          </a:prstGeom>
          <a:noFill/>
        </p:spPr>
        <p:txBody>
          <a:bodyPr wrap="square" lIns="0" tIns="0" rIns="0" bIns="0" anchor="ctr"/>
          <a:lstStyle/>
          <a:p>
            <a:pPr marL="0" indent="0" algn="ctr">
              <a:buNone/>
            </a:pPr>
            <a:r>
              <a:rPr sz="3200" b="1">
                <a:solidFill>
                  <a:srgbClr val="F7FAFF"/>
                </a:solidFill>
                <a:latin typeface="Inter"/>
                <a:ea typeface="Inter"/>
                <a:cs typeface="Inter"/>
              </a:rPr>
              <a:t>9</a:t>
            </a:r>
            <a:endParaRPr sz="3200"/>
          </a:p>
        </p:txBody>
      </p:sp>
      <p:sp>
        <p:nvSpPr>
          <p:cNvPr id="28" name="Text 16">
            <a:extLst>
              <a:ext uri="{FF2B5EF4-FFF2-40B4-BE49-F238E27FC236}">
                <a16:creationId xmlns:a16="http://schemas.microsoft.com/office/drawing/2014/main" id="{2ADE88DB-40E7-4D84-B5E8-196EF95C64E5}"/>
              </a:ext>
            </a:extLst>
          </p:cNvPr>
          <p:cNvSpPr>
            <a:spLocks noGrp="1"/>
          </p:cNvSpPr>
          <p:nvPr/>
        </p:nvSpPr>
        <p:spPr>
          <a:xfrm>
            <a:off x="10259568" y="4517136"/>
            <a:ext cx="1188720" cy="228600"/>
          </a:xfrm>
          <a:prstGeom prst="rect">
            <a:avLst/>
          </a:prstGeom>
          <a:noFill/>
        </p:spPr>
        <p:txBody>
          <a:bodyPr wrap="square" lIns="0" tIns="0" rIns="0" bIns="0" anchor="ctr"/>
          <a:lstStyle/>
          <a:p>
            <a:pPr marL="0" indent="0" algn="ctr">
              <a:buNone/>
            </a:pPr>
            <a:r>
              <a:rPr sz="900" b="1" spc="120">
                <a:solidFill>
                  <a:srgbClr val="A7B5C8"/>
                </a:solidFill>
                <a:latin typeface="Inter"/>
                <a:ea typeface="Inter"/>
                <a:cs typeface="Inter"/>
              </a:rPr>
              <a:t>PEOPLE</a:t>
            </a:r>
            <a:endParaRPr sz="900"/>
          </a:p>
        </p:txBody>
      </p:sp>
      <p:sp>
        <p:nvSpPr>
          <p:cNvPr id="29" name="Shape 17">
            <a:extLst>
              <a:ext uri="{FF2B5EF4-FFF2-40B4-BE49-F238E27FC236}">
                <a16:creationId xmlns:a16="http://schemas.microsoft.com/office/drawing/2014/main" id="{4CB364E7-C24B-4FDE-B33F-22532D164EAB}"/>
              </a:ext>
            </a:extLst>
          </p:cNvPr>
          <p:cNvSpPr>
            <a:spLocks noGrp="1"/>
          </p:cNvSpPr>
          <p:nvPr/>
        </p:nvSpPr>
        <p:spPr>
          <a:xfrm>
            <a:off x="658368" y="3913632"/>
            <a:ext cx="5623560" cy="1298448"/>
          </a:xfrm>
          <a:prstGeom prst="roundRect">
            <a:avLst>
              <a:gd name="adj" fmla="val 5634"/>
            </a:avLst>
          </a:prstGeom>
          <a:solidFill>
            <a:srgbClr val="0C182A"/>
          </a:solidFill>
          <a:ln w="12700">
            <a:solidFill>
              <a:srgbClr val="293A51"/>
            </a:solidFill>
            <a:prstDash val="solid"/>
          </a:ln>
        </p:spPr>
        <p:txBody>
          <a:bodyPr/>
          <a:lstStyle/>
          <a:p>
            <a:endParaRPr/>
          </a:p>
        </p:txBody>
      </p:sp>
      <p:sp>
        <p:nvSpPr>
          <p:cNvPr id="30" name="Text 18">
            <a:extLst>
              <a:ext uri="{FF2B5EF4-FFF2-40B4-BE49-F238E27FC236}">
                <a16:creationId xmlns:a16="http://schemas.microsoft.com/office/drawing/2014/main" id="{6CEEDA73-1B4C-4E60-A5D5-D5E7BD2DEF99}"/>
              </a:ext>
            </a:extLst>
          </p:cNvPr>
          <p:cNvSpPr>
            <a:spLocks noGrp="1"/>
          </p:cNvSpPr>
          <p:nvPr/>
        </p:nvSpPr>
        <p:spPr>
          <a:xfrm>
            <a:off x="941832" y="4224528"/>
            <a:ext cx="5047488" cy="658368"/>
          </a:xfrm>
          <a:prstGeom prst="rect">
            <a:avLst/>
          </a:prstGeom>
          <a:noFill/>
        </p:spPr>
        <p:txBody>
          <a:bodyPr wrap="square" lIns="0" tIns="0" rIns="0" bIns="0" anchor="ctr"/>
          <a:lstStyle/>
          <a:p>
            <a:pPr marL="0" indent="0" algn="l">
              <a:buNone/>
            </a:pPr>
            <a:r>
              <a:rPr sz="1550" i="1">
                <a:solidFill>
                  <a:srgbClr val="EAF0F8"/>
                </a:solidFill>
                <a:latin typeface="Inter"/>
                <a:ea typeface="Inter"/>
                <a:cs typeface="Inter"/>
              </a:rPr>
              <a:t>Trusted users. One identity path. One team.</a:t>
            </a:r>
            <a:endParaRPr sz="1550"/>
          </a:p>
          <a:p>
            <a:pPr marL="0" indent="0" algn="l">
              <a:buNone/>
            </a:pPr>
            <a:r>
              <a:rPr sz="1550" i="1">
                <a:solidFill>
                  <a:srgbClr val="EAF0F8"/>
                </a:solidFill>
                <a:latin typeface="Inter"/>
                <a:ea typeface="Inter"/>
                <a:cs typeface="Inter"/>
              </a:rPr>
              <a:t>A tool catalogue small enough to understand.</a:t>
            </a:r>
          </a:p>
        </p:txBody>
      </p:sp>
      <p:sp>
        <p:nvSpPr>
          <p:cNvPr id="31" name="Shape 19">
            <a:extLst>
              <a:ext uri="{FF2B5EF4-FFF2-40B4-BE49-F238E27FC236}">
                <a16:creationId xmlns:a16="http://schemas.microsoft.com/office/drawing/2014/main" id="{B81EF492-DFD2-40A0-9D13-66B73613E73E}"/>
              </a:ext>
            </a:extLst>
          </p:cNvPr>
          <p:cNvSpPr>
            <a:spLocks noGrp="1"/>
          </p:cNvSpPr>
          <p:nvPr/>
        </p:nvSpPr>
        <p:spPr>
          <a:xfrm>
            <a:off x="7461504" y="4919472"/>
            <a:ext cx="1901952" cy="310896"/>
          </a:xfrm>
          <a:prstGeom prst="roundRect">
            <a:avLst>
              <a:gd name="adj" fmla="val 23529"/>
            </a:avLst>
          </a:prstGeom>
          <a:solidFill>
            <a:srgbClr val="FF647C">
              <a:alpha val="15000"/>
            </a:srgbClr>
          </a:solidFill>
          <a:ln w="12700">
            <a:solidFill>
              <a:srgbClr val="FF647C">
                <a:alpha val="35000"/>
              </a:srgbClr>
            </a:solidFill>
            <a:prstDash val="solid"/>
          </a:ln>
        </p:spPr>
        <p:txBody>
          <a:bodyPr/>
          <a:lstStyle/>
          <a:p>
            <a:endParaRPr/>
          </a:p>
        </p:txBody>
      </p:sp>
      <p:sp>
        <p:nvSpPr>
          <p:cNvPr id="32" name="Text 20">
            <a:extLst>
              <a:ext uri="{FF2B5EF4-FFF2-40B4-BE49-F238E27FC236}">
                <a16:creationId xmlns:a16="http://schemas.microsoft.com/office/drawing/2014/main" id="{6F8FD627-F484-4111-BBDC-695CCE8ED93E}"/>
              </a:ext>
            </a:extLst>
          </p:cNvPr>
          <p:cNvSpPr>
            <a:spLocks noGrp="1"/>
          </p:cNvSpPr>
          <p:nvPr/>
        </p:nvSpPr>
        <p:spPr>
          <a:xfrm>
            <a:off x="7534656" y="4928616"/>
            <a:ext cx="1755648" cy="292608"/>
          </a:xfrm>
          <a:prstGeom prst="rect">
            <a:avLst/>
          </a:prstGeom>
          <a:noFill/>
        </p:spPr>
        <p:txBody>
          <a:bodyPr wrap="square" lIns="0" tIns="0" rIns="0" bIns="0" anchor="ctr"/>
          <a:lstStyle/>
          <a:p>
            <a:pPr marL="0" indent="0" algn="ctr">
              <a:buNone/>
            </a:pPr>
            <a:r>
              <a:rPr sz="950" b="1">
                <a:solidFill>
                  <a:srgbClr val="FF647C"/>
                </a:solidFill>
                <a:latin typeface="Inter"/>
                <a:ea typeface="Inter"/>
                <a:cs typeface="Inter"/>
              </a:rPr>
              <a:t>ASSUMPTION DEBT</a:t>
            </a:r>
            <a:endParaRPr sz="950"/>
          </a:p>
        </p:txBody>
      </p:sp>
      <p:sp>
        <p:nvSpPr>
          <p:cNvPr id="33" name="Text 21">
            <a:extLst>
              <a:ext uri="{FF2B5EF4-FFF2-40B4-BE49-F238E27FC236}">
                <a16:creationId xmlns:a16="http://schemas.microsoft.com/office/drawing/2014/main" id="{1A6DA6A9-7020-4E4C-8318-BB199E6172CF}"/>
              </a:ext>
            </a:extLst>
          </p:cNvPr>
          <p:cNvSpPr>
            <a:spLocks noGrp="1"/>
          </p:cNvSpPr>
          <p:nvPr/>
        </p:nvSpPr>
        <p:spPr>
          <a:xfrm>
            <a:off x="7461504" y="5340096"/>
            <a:ext cx="3703320" cy="548640"/>
          </a:xfrm>
          <a:prstGeom prst="rect">
            <a:avLst/>
          </a:prstGeom>
          <a:noFill/>
        </p:spPr>
        <p:txBody>
          <a:bodyPr wrap="square" lIns="0" tIns="0" rIns="0" bIns="0" anchor="ctr"/>
          <a:lstStyle/>
          <a:p>
            <a:pPr marL="0" indent="0">
              <a:buNone/>
            </a:pPr>
            <a:r>
              <a:rPr sz="1350">
                <a:solidFill>
                  <a:srgbClr val="A7B5C8"/>
                </a:solidFill>
                <a:latin typeface="Inter"/>
                <a:ea typeface="Inter"/>
                <a:cs typeface="Inter"/>
              </a:rPr>
              <a:t>Small solutions are safe only while</a:t>
            </a:r>
            <a:endParaRPr sz="1350"/>
          </a:p>
          <a:p>
            <a:pPr marL="0" indent="0">
              <a:buNone/>
            </a:pPr>
            <a:r>
              <a:rPr sz="1350">
                <a:solidFill>
                  <a:srgbClr val="A7B5C8"/>
                </a:solidFill>
                <a:latin typeface="Inter"/>
                <a:ea typeface="Inter"/>
                <a:cs typeface="Inter"/>
              </a:rPr>
              <a:t>their hidden assumptions remain true.</a:t>
            </a:r>
            <a:endParaRPr sz="1350"/>
          </a:p>
        </p:txBody>
      </p:sp>
      <p:sp>
        <p:nvSpPr>
          <p:cNvPr id="34" name="Shape 22">
            <a:extLst>
              <a:ext uri="{FF2B5EF4-FFF2-40B4-BE49-F238E27FC236}">
                <a16:creationId xmlns:a16="http://schemas.microsoft.com/office/drawing/2014/main" id="{F5D9B00E-CD0D-49F2-8C97-FB277C2B772B}"/>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35" name="Text 23">
            <a:extLst>
              <a:ext uri="{FF2B5EF4-FFF2-40B4-BE49-F238E27FC236}">
                <a16:creationId xmlns:a16="http://schemas.microsoft.com/office/drawing/2014/main" id="{04F3568E-AA48-4ED3-8812-8CE1F1B8EFA3}"/>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ACT I · PRODUCT</a:t>
            </a:r>
            <a:endParaRPr sz="850"/>
          </a:p>
        </p:txBody>
      </p:sp>
      <p:sp>
        <p:nvSpPr>
          <p:cNvPr id="36" name="Text 24">
            <a:extLst>
              <a:ext uri="{FF2B5EF4-FFF2-40B4-BE49-F238E27FC236}">
                <a16:creationId xmlns:a16="http://schemas.microsoft.com/office/drawing/2014/main" id="{DD91F67B-3090-415B-A14A-347739A7B6A7}"/>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37" name="Text 25">
            <a:extLst>
              <a:ext uri="{FF2B5EF4-FFF2-40B4-BE49-F238E27FC236}">
                <a16:creationId xmlns:a16="http://schemas.microsoft.com/office/drawing/2014/main" id="{ABD40AEA-2FB8-45CD-8B21-6D7584C81E89}"/>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02</a:t>
            </a:r>
            <a:endParaRPr sz="850"/>
          </a:p>
        </p:txBody>
      </p:sp>
    </p:spTree>
    <p:extLst>
      <p:ext uri="{BB962C8B-B14F-4D97-AF65-F5344CB8AC3E}">
        <p14:creationId xmlns:p14="http://schemas.microsoft.com/office/powerpoint/2010/main" val="11558960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0"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F46E8B83-87C8-41BD-B903-5C579FE199E8}"/>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MAKE IT WORK</a:t>
            </a:r>
            <a:endParaRPr sz="950"/>
          </a:p>
        </p:txBody>
      </p:sp>
      <p:sp>
        <p:nvSpPr>
          <p:cNvPr id="4" name="Text 1">
            <a:extLst>
              <a:ext uri="{FF2B5EF4-FFF2-40B4-BE49-F238E27FC236}">
                <a16:creationId xmlns:a16="http://schemas.microsoft.com/office/drawing/2014/main" id="{2D419FD5-7F07-4DB9-B48A-7AA1FCFA1356}"/>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650" b="1">
                <a:solidFill>
                  <a:srgbClr val="F7FAFF"/>
                </a:solidFill>
                <a:latin typeface="Inter"/>
                <a:ea typeface="Inter"/>
                <a:cs typeface="Inter"/>
              </a:rPr>
              <a:t>A practical MCP implementation</a:t>
            </a:r>
            <a:endParaRPr sz="2650"/>
          </a:p>
        </p:txBody>
      </p:sp>
      <p:sp>
        <p:nvSpPr>
          <p:cNvPr id="5" name="Text 2">
            <a:extLst>
              <a:ext uri="{FF2B5EF4-FFF2-40B4-BE49-F238E27FC236}">
                <a16:creationId xmlns:a16="http://schemas.microsoft.com/office/drawing/2014/main" id="{3CAD0602-A5A6-403B-BA5D-02A3086FEC00}"/>
              </a:ext>
            </a:extLst>
          </p:cNvPr>
          <p:cNvSpPr>
            <a:spLocks noGrp="1"/>
          </p:cNvSpPr>
          <p:nvPr/>
        </p:nvSpPr>
        <p:spPr>
          <a:xfrm>
            <a:off x="8229600" y="475488"/>
            <a:ext cx="3383280" cy="210312"/>
          </a:xfrm>
          <a:prstGeom prst="rect">
            <a:avLst/>
          </a:prstGeom>
          <a:noFill/>
        </p:spPr>
        <p:txBody>
          <a:bodyPr wrap="square" lIns="0" tIns="0" rIns="0" bIns="0" anchor="ctr"/>
          <a:lstStyle/>
          <a:p>
            <a:pPr marL="0" indent="0" algn="r">
              <a:buNone/>
            </a:pPr>
            <a:r>
              <a:rPr sz="850" i="1">
                <a:solidFill>
                  <a:srgbClr val="72839A"/>
                </a:solidFill>
                <a:latin typeface="Inter"/>
                <a:ea typeface="Inter"/>
                <a:cs typeface="Inter"/>
              </a:rPr>
              <a:t>Grounded in a working FastMCP service</a:t>
            </a:r>
            <a:endParaRPr sz="850"/>
          </a:p>
        </p:txBody>
      </p:sp>
      <p:sp>
        <p:nvSpPr>
          <p:cNvPr id="6" name="Shape 3">
            <a:extLst>
              <a:ext uri="{FF2B5EF4-FFF2-40B4-BE49-F238E27FC236}">
                <a16:creationId xmlns:a16="http://schemas.microsoft.com/office/drawing/2014/main" id="{086CA592-D6D3-40F6-99AC-C87E9E38EBB7}"/>
              </a:ext>
            </a:extLst>
          </p:cNvPr>
          <p:cNvSpPr>
            <a:spLocks noGrp="1"/>
          </p:cNvSpPr>
          <p:nvPr/>
        </p:nvSpPr>
        <p:spPr>
          <a:xfrm>
            <a:off x="502920" y="1389888"/>
            <a:ext cx="1600200" cy="969264"/>
          </a:xfrm>
          <a:prstGeom prst="roundRect">
            <a:avLst>
              <a:gd name="adj" fmla="val 7547"/>
            </a:avLst>
          </a:prstGeom>
          <a:solidFill>
            <a:srgbClr val="0E1B2E"/>
          </a:solidFill>
          <a:ln w="12700">
            <a:solidFill>
              <a:srgbClr val="35D4E7"/>
            </a:solidFill>
            <a:prstDash val="solid"/>
          </a:ln>
        </p:spPr>
        <p:txBody>
          <a:bodyPr/>
          <a:lstStyle/>
          <a:p>
            <a:endParaRPr/>
          </a:p>
        </p:txBody>
      </p:sp>
      <p:sp>
        <p:nvSpPr>
          <p:cNvPr id="7" name="Shape 4">
            <a:extLst>
              <a:ext uri="{FF2B5EF4-FFF2-40B4-BE49-F238E27FC236}">
                <a16:creationId xmlns:a16="http://schemas.microsoft.com/office/drawing/2014/main" id="{638AA015-8F3D-451A-A4EB-2909FDCF3492}"/>
              </a:ext>
            </a:extLst>
          </p:cNvPr>
          <p:cNvSpPr>
            <a:spLocks noGrp="1"/>
          </p:cNvSpPr>
          <p:nvPr/>
        </p:nvSpPr>
        <p:spPr>
          <a:xfrm>
            <a:off x="640080" y="1536192"/>
            <a:ext cx="384048" cy="384048"/>
          </a:xfrm>
          <a:prstGeom prst="ellipse">
            <a:avLst/>
          </a:prstGeom>
          <a:solidFill>
            <a:srgbClr val="35D4E7">
              <a:alpha val="18000"/>
            </a:srgbClr>
          </a:solidFill>
          <a:ln w="12700">
            <a:solidFill>
              <a:srgbClr val="35D4E7">
                <a:alpha val="0"/>
              </a:srgbClr>
            </a:solidFill>
            <a:prstDash val="solid"/>
          </a:ln>
        </p:spPr>
        <p:txBody>
          <a:bodyPr/>
          <a:lstStyle/>
          <a:p>
            <a:endParaRPr/>
          </a:p>
        </p:txBody>
      </p:sp>
      <p:pic>
        <p:nvPicPr>
          <p:cNvPr id="96"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520" y="1647749"/>
            <a:ext cx="201168" cy="160934"/>
          </a:xfrm>
          <a:prstGeom prst="rect">
            <a:avLst/>
          </a:prstGeom>
        </p:spPr>
      </p:pic>
      <p:sp>
        <p:nvSpPr>
          <p:cNvPr id="9" name="Text 5">
            <a:extLst>
              <a:ext uri="{FF2B5EF4-FFF2-40B4-BE49-F238E27FC236}">
                <a16:creationId xmlns:a16="http://schemas.microsoft.com/office/drawing/2014/main" id="{5FC1406B-B08E-4613-9DC8-2F5E8680E957}"/>
              </a:ext>
            </a:extLst>
          </p:cNvPr>
          <p:cNvSpPr>
            <a:spLocks noGrp="1"/>
          </p:cNvSpPr>
          <p:nvPr/>
        </p:nvSpPr>
        <p:spPr>
          <a:xfrm>
            <a:off x="1124712" y="1554480"/>
            <a:ext cx="841248" cy="219456"/>
          </a:xfrm>
          <a:prstGeom prst="rect">
            <a:avLst/>
          </a:prstGeom>
          <a:noFill/>
        </p:spPr>
        <p:txBody>
          <a:bodyPr wrap="square" lIns="0" tIns="0" rIns="0" bIns="0" anchor="ctr">
            <a:normAutofit/>
          </a:bodyPr>
          <a:lstStyle/>
          <a:p>
            <a:pPr marL="0" indent="0">
              <a:buNone/>
            </a:pPr>
            <a:r>
              <a:rPr sz="1200" b="1">
                <a:solidFill>
                  <a:srgbClr val="F7FAFF"/>
                </a:solidFill>
                <a:latin typeface="Inter"/>
                <a:ea typeface="Inter"/>
                <a:cs typeface="Inter"/>
              </a:rPr>
              <a:t>Client</a:t>
            </a:r>
            <a:endParaRPr sz="1200"/>
          </a:p>
        </p:txBody>
      </p:sp>
      <p:sp>
        <p:nvSpPr>
          <p:cNvPr id="10" name="Text 6">
            <a:extLst>
              <a:ext uri="{FF2B5EF4-FFF2-40B4-BE49-F238E27FC236}">
                <a16:creationId xmlns:a16="http://schemas.microsoft.com/office/drawing/2014/main" id="{8FDCFF02-F004-4B1B-83A2-68D64C894A00}"/>
              </a:ext>
            </a:extLst>
          </p:cNvPr>
          <p:cNvSpPr>
            <a:spLocks noGrp="1"/>
          </p:cNvSpPr>
          <p:nvPr/>
        </p:nvSpPr>
        <p:spPr>
          <a:xfrm>
            <a:off x="1124712" y="1837944"/>
            <a:ext cx="841248" cy="438912"/>
          </a:xfrm>
          <a:prstGeom prst="rect">
            <a:avLst/>
          </a:prstGeom>
          <a:noFill/>
        </p:spPr>
        <p:txBody>
          <a:bodyPr wrap="square" lIns="0" tIns="0" rIns="0" bIns="0" anchor="ctr">
            <a:normAutofit/>
          </a:bodyPr>
          <a:lstStyle/>
          <a:p>
            <a:pPr marL="0" indent="0">
              <a:buNone/>
            </a:pPr>
            <a:r>
              <a:rPr sz="880">
                <a:solidFill>
                  <a:srgbClr val="A7B5C8"/>
                </a:solidFill>
                <a:latin typeface="Inter"/>
                <a:ea typeface="Inter"/>
                <a:cs typeface="Inter"/>
              </a:rPr>
              <a:t>Chat / Copilot</a:t>
            </a:r>
            <a:endParaRPr sz="880"/>
          </a:p>
        </p:txBody>
      </p:sp>
      <p:sp>
        <p:nvSpPr>
          <p:cNvPr id="11" name="Shape 7">
            <a:extLst>
              <a:ext uri="{FF2B5EF4-FFF2-40B4-BE49-F238E27FC236}">
                <a16:creationId xmlns:a16="http://schemas.microsoft.com/office/drawing/2014/main" id="{4C5493C3-BE12-45A7-9DD2-F8BF77BDEBD8}"/>
              </a:ext>
            </a:extLst>
          </p:cNvPr>
          <p:cNvSpPr>
            <a:spLocks noGrp="1"/>
          </p:cNvSpPr>
          <p:nvPr/>
        </p:nvSpPr>
        <p:spPr>
          <a:xfrm>
            <a:off x="2395728" y="1389888"/>
            <a:ext cx="1691640" cy="969264"/>
          </a:xfrm>
          <a:prstGeom prst="roundRect">
            <a:avLst>
              <a:gd name="adj" fmla="val 7547"/>
            </a:avLst>
          </a:prstGeom>
          <a:solidFill>
            <a:srgbClr val="0E1B2E"/>
          </a:solidFill>
          <a:ln w="12700">
            <a:solidFill>
              <a:srgbClr val="5B7CFF"/>
            </a:solidFill>
            <a:prstDash val="solid"/>
          </a:ln>
        </p:spPr>
        <p:txBody>
          <a:bodyPr/>
          <a:lstStyle/>
          <a:p>
            <a:endParaRPr/>
          </a:p>
        </p:txBody>
      </p:sp>
      <p:sp>
        <p:nvSpPr>
          <p:cNvPr id="12" name="Shape 8">
            <a:extLst>
              <a:ext uri="{FF2B5EF4-FFF2-40B4-BE49-F238E27FC236}">
                <a16:creationId xmlns:a16="http://schemas.microsoft.com/office/drawing/2014/main" id="{F1E90ADE-7986-441B-A109-3A34F7DF8E2F}"/>
              </a:ext>
            </a:extLst>
          </p:cNvPr>
          <p:cNvSpPr>
            <a:spLocks noGrp="1"/>
          </p:cNvSpPr>
          <p:nvPr/>
        </p:nvSpPr>
        <p:spPr>
          <a:xfrm>
            <a:off x="2532888" y="1536192"/>
            <a:ext cx="384048" cy="384048"/>
          </a:xfrm>
          <a:prstGeom prst="ellipse">
            <a:avLst/>
          </a:prstGeom>
          <a:solidFill>
            <a:srgbClr val="5B7CFF">
              <a:alpha val="18000"/>
            </a:srgbClr>
          </a:solidFill>
          <a:ln w="12700">
            <a:solidFill>
              <a:srgbClr val="5B7CFF">
                <a:alpha val="0"/>
              </a:srgbClr>
            </a:solidFill>
            <a:prstDash val="solid"/>
          </a:ln>
        </p:spPr>
        <p:txBody>
          <a:bodyPr/>
          <a:lstStyle/>
          <a:p>
            <a:endParaRPr/>
          </a:p>
        </p:txBody>
      </p:sp>
      <p:pic>
        <p:nvPicPr>
          <p:cNvPr id="101"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24328" y="1647749"/>
            <a:ext cx="201168" cy="160934"/>
          </a:xfrm>
          <a:prstGeom prst="rect">
            <a:avLst/>
          </a:prstGeom>
        </p:spPr>
      </p:pic>
      <p:sp>
        <p:nvSpPr>
          <p:cNvPr id="14" name="Text 9">
            <a:extLst>
              <a:ext uri="{FF2B5EF4-FFF2-40B4-BE49-F238E27FC236}">
                <a16:creationId xmlns:a16="http://schemas.microsoft.com/office/drawing/2014/main" id="{D45EC831-D186-4972-B34A-C5049C590A47}"/>
              </a:ext>
            </a:extLst>
          </p:cNvPr>
          <p:cNvSpPr>
            <a:spLocks noGrp="1"/>
          </p:cNvSpPr>
          <p:nvPr/>
        </p:nvSpPr>
        <p:spPr>
          <a:xfrm>
            <a:off x="3017520" y="1554480"/>
            <a:ext cx="932688" cy="219456"/>
          </a:xfrm>
          <a:prstGeom prst="rect">
            <a:avLst/>
          </a:prstGeom>
          <a:noFill/>
        </p:spPr>
        <p:txBody>
          <a:bodyPr wrap="square" lIns="0" tIns="0" rIns="0" bIns="0" anchor="ctr">
            <a:normAutofit/>
          </a:bodyPr>
          <a:lstStyle/>
          <a:p>
            <a:pPr marL="0" indent="0">
              <a:buNone/>
            </a:pPr>
            <a:r>
              <a:rPr sz="1200" b="1">
                <a:solidFill>
                  <a:srgbClr val="F7FAFF"/>
                </a:solidFill>
                <a:latin typeface="Inter"/>
                <a:ea typeface="Inter"/>
                <a:cs typeface="Inter"/>
              </a:rPr>
              <a:t>LLM host</a:t>
            </a:r>
            <a:endParaRPr sz="1200"/>
          </a:p>
        </p:txBody>
      </p:sp>
      <p:sp>
        <p:nvSpPr>
          <p:cNvPr id="15" name="Text 10">
            <a:extLst>
              <a:ext uri="{FF2B5EF4-FFF2-40B4-BE49-F238E27FC236}">
                <a16:creationId xmlns:a16="http://schemas.microsoft.com/office/drawing/2014/main" id="{7239F81E-7BE0-4878-BEF1-AC93EE9B9092}"/>
              </a:ext>
            </a:extLst>
          </p:cNvPr>
          <p:cNvSpPr>
            <a:spLocks noGrp="1"/>
          </p:cNvSpPr>
          <p:nvPr/>
        </p:nvSpPr>
        <p:spPr>
          <a:xfrm>
            <a:off x="3017520" y="1837944"/>
            <a:ext cx="932688" cy="438912"/>
          </a:xfrm>
          <a:prstGeom prst="rect">
            <a:avLst/>
          </a:prstGeom>
          <a:noFill/>
        </p:spPr>
        <p:txBody>
          <a:bodyPr wrap="square" lIns="0" tIns="0" rIns="0" bIns="0" anchor="ctr">
            <a:normAutofit/>
          </a:bodyPr>
          <a:lstStyle/>
          <a:p>
            <a:pPr marL="0" indent="0">
              <a:buNone/>
            </a:pPr>
            <a:r>
              <a:rPr sz="880">
                <a:solidFill>
                  <a:srgbClr val="A7B5C8"/>
                </a:solidFill>
                <a:latin typeface="Inter"/>
                <a:ea typeface="Inter"/>
                <a:cs typeface="Inter"/>
              </a:rPr>
              <a:t>Intent + tool choice</a:t>
            </a:r>
            <a:endParaRPr sz="880"/>
          </a:p>
        </p:txBody>
      </p:sp>
      <p:sp>
        <p:nvSpPr>
          <p:cNvPr id="16" name="Shape 11">
            <a:extLst>
              <a:ext uri="{FF2B5EF4-FFF2-40B4-BE49-F238E27FC236}">
                <a16:creationId xmlns:a16="http://schemas.microsoft.com/office/drawing/2014/main" id="{0B90F2A5-C7F5-4C08-88B6-964ADD897AB8}"/>
              </a:ext>
            </a:extLst>
          </p:cNvPr>
          <p:cNvSpPr>
            <a:spLocks noGrp="1"/>
          </p:cNvSpPr>
          <p:nvPr/>
        </p:nvSpPr>
        <p:spPr>
          <a:xfrm>
            <a:off x="4379976" y="1389888"/>
            <a:ext cx="1874520" cy="969264"/>
          </a:xfrm>
          <a:prstGeom prst="roundRect">
            <a:avLst>
              <a:gd name="adj" fmla="val 7547"/>
            </a:avLst>
          </a:prstGeom>
          <a:solidFill>
            <a:srgbClr val="0E1B2E"/>
          </a:solidFill>
          <a:ln w="12700">
            <a:solidFill>
              <a:srgbClr val="A879FF"/>
            </a:solidFill>
            <a:prstDash val="solid"/>
          </a:ln>
        </p:spPr>
        <p:txBody>
          <a:bodyPr/>
          <a:lstStyle/>
          <a:p>
            <a:endParaRPr/>
          </a:p>
        </p:txBody>
      </p:sp>
      <p:sp>
        <p:nvSpPr>
          <p:cNvPr id="17" name="Shape 12">
            <a:extLst>
              <a:ext uri="{FF2B5EF4-FFF2-40B4-BE49-F238E27FC236}">
                <a16:creationId xmlns:a16="http://schemas.microsoft.com/office/drawing/2014/main" id="{523643D7-FBB6-420E-9FB9-E9AFF9465272}"/>
              </a:ext>
            </a:extLst>
          </p:cNvPr>
          <p:cNvSpPr>
            <a:spLocks noGrp="1"/>
          </p:cNvSpPr>
          <p:nvPr/>
        </p:nvSpPr>
        <p:spPr>
          <a:xfrm>
            <a:off x="4517136" y="1536192"/>
            <a:ext cx="384048" cy="384048"/>
          </a:xfrm>
          <a:prstGeom prst="ellipse">
            <a:avLst/>
          </a:prstGeom>
          <a:solidFill>
            <a:srgbClr val="A879FF">
              <a:alpha val="18000"/>
            </a:srgbClr>
          </a:solidFill>
          <a:ln w="12700">
            <a:solidFill>
              <a:srgbClr val="A879FF">
                <a:alpha val="0"/>
              </a:srgbClr>
            </a:solidFill>
            <a:prstDash val="solid"/>
          </a:ln>
        </p:spPr>
        <p:txBody>
          <a:bodyPr/>
          <a:lstStyle/>
          <a:p>
            <a:endParaRPr/>
          </a:p>
        </p:txBody>
      </p:sp>
      <p:pic>
        <p:nvPicPr>
          <p:cNvPr id="106" name="Image 3"/>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08576" y="1627632"/>
            <a:ext cx="201168" cy="201168"/>
          </a:xfrm>
          <a:prstGeom prst="rect">
            <a:avLst/>
          </a:prstGeom>
        </p:spPr>
      </p:pic>
      <p:sp>
        <p:nvSpPr>
          <p:cNvPr id="19" name="Text 13">
            <a:extLst>
              <a:ext uri="{FF2B5EF4-FFF2-40B4-BE49-F238E27FC236}">
                <a16:creationId xmlns:a16="http://schemas.microsoft.com/office/drawing/2014/main" id="{A24658AD-20F7-4901-B34E-EAA094ED936D}"/>
              </a:ext>
            </a:extLst>
          </p:cNvPr>
          <p:cNvSpPr>
            <a:spLocks noGrp="1"/>
          </p:cNvSpPr>
          <p:nvPr/>
        </p:nvSpPr>
        <p:spPr>
          <a:xfrm>
            <a:off x="5001768" y="1554480"/>
            <a:ext cx="1115568" cy="219456"/>
          </a:xfrm>
          <a:prstGeom prst="rect">
            <a:avLst/>
          </a:prstGeom>
          <a:noFill/>
        </p:spPr>
        <p:txBody>
          <a:bodyPr wrap="square" lIns="0" tIns="0" rIns="0" bIns="0" anchor="ctr">
            <a:normAutofit/>
          </a:bodyPr>
          <a:lstStyle/>
          <a:p>
            <a:pPr marL="0" indent="0">
              <a:buNone/>
            </a:pPr>
            <a:r>
              <a:rPr sz="1200" b="1">
                <a:solidFill>
                  <a:srgbClr val="F7FAFF"/>
                </a:solidFill>
                <a:latin typeface="Inter"/>
                <a:ea typeface="Inter"/>
                <a:cs typeface="Inter"/>
              </a:rPr>
              <a:t>Client tool loop</a:t>
            </a:r>
            <a:endParaRPr sz="1200"/>
          </a:p>
        </p:txBody>
      </p:sp>
      <p:sp>
        <p:nvSpPr>
          <p:cNvPr id="20" name="Text 14">
            <a:extLst>
              <a:ext uri="{FF2B5EF4-FFF2-40B4-BE49-F238E27FC236}">
                <a16:creationId xmlns:a16="http://schemas.microsoft.com/office/drawing/2014/main" id="{00B80172-DF58-46DB-B4BA-5627494E4EB6}"/>
              </a:ext>
            </a:extLst>
          </p:cNvPr>
          <p:cNvSpPr>
            <a:spLocks noGrp="1"/>
          </p:cNvSpPr>
          <p:nvPr/>
        </p:nvSpPr>
        <p:spPr>
          <a:xfrm>
            <a:off x="5001768" y="1837944"/>
            <a:ext cx="1115568" cy="438912"/>
          </a:xfrm>
          <a:prstGeom prst="rect">
            <a:avLst/>
          </a:prstGeom>
          <a:noFill/>
        </p:spPr>
        <p:txBody>
          <a:bodyPr wrap="square" lIns="0" tIns="0" rIns="0" bIns="0" anchor="ctr">
            <a:normAutofit/>
          </a:bodyPr>
          <a:lstStyle/>
          <a:p>
            <a:pPr marL="0" indent="0">
              <a:buNone/>
            </a:pPr>
            <a:r>
              <a:rPr sz="880">
                <a:solidFill>
                  <a:srgbClr val="A7B5C8"/>
                </a:solidFill>
                <a:latin typeface="Inter"/>
                <a:ea typeface="Inter"/>
                <a:cs typeface="Inter"/>
              </a:rPr>
              <a:t>Follows the returned next step</a:t>
            </a:r>
            <a:endParaRPr sz="880"/>
          </a:p>
        </p:txBody>
      </p:sp>
      <p:sp>
        <p:nvSpPr>
          <p:cNvPr id="21" name="Shape 15">
            <a:extLst>
              <a:ext uri="{FF2B5EF4-FFF2-40B4-BE49-F238E27FC236}">
                <a16:creationId xmlns:a16="http://schemas.microsoft.com/office/drawing/2014/main" id="{7B1515D3-DEC0-4B02-9F8E-9FE59743AFC4}"/>
              </a:ext>
            </a:extLst>
          </p:cNvPr>
          <p:cNvSpPr>
            <a:spLocks noGrp="1"/>
          </p:cNvSpPr>
          <p:nvPr/>
        </p:nvSpPr>
        <p:spPr>
          <a:xfrm>
            <a:off x="6556248" y="1389888"/>
            <a:ext cx="1783080" cy="969264"/>
          </a:xfrm>
          <a:prstGeom prst="roundRect">
            <a:avLst>
              <a:gd name="adj" fmla="val 7547"/>
            </a:avLst>
          </a:prstGeom>
          <a:solidFill>
            <a:srgbClr val="0E1B2E"/>
          </a:solidFill>
          <a:ln w="12700">
            <a:solidFill>
              <a:srgbClr val="3BE0B5"/>
            </a:solidFill>
            <a:prstDash val="solid"/>
          </a:ln>
        </p:spPr>
        <p:txBody>
          <a:bodyPr/>
          <a:lstStyle/>
          <a:p>
            <a:endParaRPr/>
          </a:p>
        </p:txBody>
      </p:sp>
      <p:sp>
        <p:nvSpPr>
          <p:cNvPr id="22" name="Shape 16">
            <a:extLst>
              <a:ext uri="{FF2B5EF4-FFF2-40B4-BE49-F238E27FC236}">
                <a16:creationId xmlns:a16="http://schemas.microsoft.com/office/drawing/2014/main" id="{F91B2D6F-5427-4B48-85E8-DC899F3ABEB2}"/>
              </a:ext>
            </a:extLst>
          </p:cNvPr>
          <p:cNvSpPr>
            <a:spLocks noGrp="1"/>
          </p:cNvSpPr>
          <p:nvPr/>
        </p:nvSpPr>
        <p:spPr>
          <a:xfrm>
            <a:off x="6693408" y="1536192"/>
            <a:ext cx="384048" cy="384048"/>
          </a:xfrm>
          <a:prstGeom prst="ellipse">
            <a:avLst/>
          </a:prstGeom>
          <a:solidFill>
            <a:srgbClr val="3BE0B5">
              <a:alpha val="18000"/>
            </a:srgbClr>
          </a:solidFill>
          <a:ln w="12700">
            <a:solidFill>
              <a:srgbClr val="3BE0B5">
                <a:alpha val="0"/>
              </a:srgbClr>
            </a:solidFill>
            <a:prstDash val="solid"/>
          </a:ln>
        </p:spPr>
        <p:txBody>
          <a:bodyPr/>
          <a:lstStyle/>
          <a:p>
            <a:endParaRPr/>
          </a:p>
        </p:txBody>
      </p:sp>
      <p:pic>
        <p:nvPicPr>
          <p:cNvPr id="111" name="Image 4"/>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84848" y="1627632"/>
            <a:ext cx="201168" cy="201168"/>
          </a:xfrm>
          <a:prstGeom prst="rect">
            <a:avLst/>
          </a:prstGeom>
        </p:spPr>
      </p:pic>
      <p:sp>
        <p:nvSpPr>
          <p:cNvPr id="24" name="Text 17">
            <a:extLst>
              <a:ext uri="{FF2B5EF4-FFF2-40B4-BE49-F238E27FC236}">
                <a16:creationId xmlns:a16="http://schemas.microsoft.com/office/drawing/2014/main" id="{1F48DE19-E965-437A-9738-9D7D62FC7760}"/>
              </a:ext>
            </a:extLst>
          </p:cNvPr>
          <p:cNvSpPr>
            <a:spLocks noGrp="1"/>
          </p:cNvSpPr>
          <p:nvPr/>
        </p:nvSpPr>
        <p:spPr>
          <a:xfrm>
            <a:off x="7178040" y="1554480"/>
            <a:ext cx="1024128" cy="219456"/>
          </a:xfrm>
          <a:prstGeom prst="rect">
            <a:avLst/>
          </a:prstGeom>
          <a:noFill/>
        </p:spPr>
        <p:txBody>
          <a:bodyPr wrap="square" lIns="0" tIns="0" rIns="0" bIns="0" anchor="ctr">
            <a:normAutofit fontScale="98303"/>
          </a:bodyPr>
          <a:lstStyle/>
          <a:p>
            <a:pPr marL="0" indent="0">
              <a:buNone/>
            </a:pPr>
            <a:r>
              <a:rPr sz="1200" b="1">
                <a:solidFill>
                  <a:srgbClr val="F7FAFF"/>
                </a:solidFill>
                <a:latin typeface="Inter"/>
                <a:ea typeface="Inter"/>
                <a:cs typeface="Inter"/>
              </a:rPr>
              <a:t>FastMCP service</a:t>
            </a:r>
            <a:endParaRPr sz="1200"/>
          </a:p>
        </p:txBody>
      </p:sp>
      <p:sp>
        <p:nvSpPr>
          <p:cNvPr id="25" name="Text 18">
            <a:extLst>
              <a:ext uri="{FF2B5EF4-FFF2-40B4-BE49-F238E27FC236}">
                <a16:creationId xmlns:a16="http://schemas.microsoft.com/office/drawing/2014/main" id="{301393DF-F43B-46D0-9791-673CE4EA2E00}"/>
              </a:ext>
            </a:extLst>
          </p:cNvPr>
          <p:cNvSpPr>
            <a:spLocks noGrp="1"/>
          </p:cNvSpPr>
          <p:nvPr/>
        </p:nvSpPr>
        <p:spPr>
          <a:xfrm>
            <a:off x="7178040" y="1837944"/>
            <a:ext cx="1024128" cy="438912"/>
          </a:xfrm>
          <a:prstGeom prst="rect">
            <a:avLst/>
          </a:prstGeom>
          <a:noFill/>
        </p:spPr>
        <p:txBody>
          <a:bodyPr wrap="square" lIns="0" tIns="0" rIns="0" bIns="0" anchor="ctr">
            <a:normAutofit/>
          </a:bodyPr>
          <a:lstStyle/>
          <a:p>
            <a:pPr marL="0" indent="0">
              <a:buNone/>
            </a:pPr>
            <a:r>
              <a:rPr sz="880">
                <a:solidFill>
                  <a:srgbClr val="A7B5C8"/>
                </a:solidFill>
                <a:latin typeface="Inter"/>
                <a:ea typeface="Inter"/>
                <a:cs typeface="Inter"/>
              </a:rPr>
              <a:t>25 narrow tools</a:t>
            </a:r>
            <a:endParaRPr sz="880"/>
          </a:p>
        </p:txBody>
      </p:sp>
      <p:sp>
        <p:nvSpPr>
          <p:cNvPr id="26" name="Shape 19">
            <a:extLst>
              <a:ext uri="{FF2B5EF4-FFF2-40B4-BE49-F238E27FC236}">
                <a16:creationId xmlns:a16="http://schemas.microsoft.com/office/drawing/2014/main" id="{73E9A047-D24C-47AF-B68C-FB30683B762D}"/>
              </a:ext>
            </a:extLst>
          </p:cNvPr>
          <p:cNvSpPr>
            <a:spLocks noGrp="1"/>
          </p:cNvSpPr>
          <p:nvPr/>
        </p:nvSpPr>
        <p:spPr>
          <a:xfrm>
            <a:off x="8631936" y="1389888"/>
            <a:ext cx="1773936" cy="969264"/>
          </a:xfrm>
          <a:prstGeom prst="roundRect">
            <a:avLst>
              <a:gd name="adj" fmla="val 7547"/>
            </a:avLst>
          </a:prstGeom>
          <a:solidFill>
            <a:srgbClr val="0E1B2E"/>
          </a:solidFill>
          <a:ln w="12700">
            <a:solidFill>
              <a:srgbClr val="F7B955"/>
            </a:solidFill>
            <a:prstDash val="solid"/>
          </a:ln>
        </p:spPr>
        <p:txBody>
          <a:bodyPr/>
          <a:lstStyle/>
          <a:p>
            <a:endParaRPr/>
          </a:p>
        </p:txBody>
      </p:sp>
      <p:sp>
        <p:nvSpPr>
          <p:cNvPr id="27" name="Shape 20">
            <a:extLst>
              <a:ext uri="{FF2B5EF4-FFF2-40B4-BE49-F238E27FC236}">
                <a16:creationId xmlns:a16="http://schemas.microsoft.com/office/drawing/2014/main" id="{2683301F-3B45-4779-A6C3-8950994C410F}"/>
              </a:ext>
            </a:extLst>
          </p:cNvPr>
          <p:cNvSpPr>
            <a:spLocks noGrp="1"/>
          </p:cNvSpPr>
          <p:nvPr/>
        </p:nvSpPr>
        <p:spPr>
          <a:xfrm>
            <a:off x="8769096" y="1536192"/>
            <a:ext cx="384048" cy="384048"/>
          </a:xfrm>
          <a:prstGeom prst="ellipse">
            <a:avLst/>
          </a:prstGeom>
          <a:solidFill>
            <a:srgbClr val="F7B955">
              <a:alpha val="18000"/>
            </a:srgbClr>
          </a:solidFill>
          <a:ln w="12700">
            <a:solidFill>
              <a:srgbClr val="F7B955">
                <a:alpha val="0"/>
              </a:srgbClr>
            </a:solidFill>
            <a:prstDash val="solid"/>
          </a:ln>
        </p:spPr>
        <p:txBody>
          <a:bodyPr/>
          <a:lstStyle/>
          <a:p>
            <a:endParaRPr/>
          </a:p>
        </p:txBody>
      </p:sp>
      <p:pic>
        <p:nvPicPr>
          <p:cNvPr id="116" name="Image 5"/>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860536" y="1627632"/>
            <a:ext cx="201168" cy="201168"/>
          </a:xfrm>
          <a:prstGeom prst="rect">
            <a:avLst/>
          </a:prstGeom>
        </p:spPr>
      </p:pic>
      <p:sp>
        <p:nvSpPr>
          <p:cNvPr id="29" name="Text 21">
            <a:extLst>
              <a:ext uri="{FF2B5EF4-FFF2-40B4-BE49-F238E27FC236}">
                <a16:creationId xmlns:a16="http://schemas.microsoft.com/office/drawing/2014/main" id="{FAFFFBD2-06B3-434C-B367-4F85912A425A}"/>
              </a:ext>
            </a:extLst>
          </p:cNvPr>
          <p:cNvSpPr>
            <a:spLocks noGrp="1"/>
          </p:cNvSpPr>
          <p:nvPr/>
        </p:nvSpPr>
        <p:spPr>
          <a:xfrm>
            <a:off x="9253728" y="1554480"/>
            <a:ext cx="1014984" cy="219456"/>
          </a:xfrm>
          <a:prstGeom prst="rect">
            <a:avLst/>
          </a:prstGeom>
          <a:noFill/>
        </p:spPr>
        <p:txBody>
          <a:bodyPr wrap="square" lIns="0" tIns="0" rIns="0" bIns="0" anchor="ctr">
            <a:normAutofit/>
          </a:bodyPr>
          <a:lstStyle/>
          <a:p>
            <a:pPr marL="0" indent="0">
              <a:buNone/>
            </a:pPr>
            <a:r>
              <a:rPr sz="1200" b="1">
                <a:solidFill>
                  <a:srgbClr val="F7FAFF"/>
                </a:solidFill>
                <a:latin typeface="Inter"/>
                <a:ea typeface="Inter"/>
                <a:cs typeface="Inter"/>
              </a:rPr>
              <a:t>SQL policy</a:t>
            </a:r>
            <a:endParaRPr sz="1200"/>
          </a:p>
        </p:txBody>
      </p:sp>
      <p:sp>
        <p:nvSpPr>
          <p:cNvPr id="30" name="Text 22">
            <a:extLst>
              <a:ext uri="{FF2B5EF4-FFF2-40B4-BE49-F238E27FC236}">
                <a16:creationId xmlns:a16="http://schemas.microsoft.com/office/drawing/2014/main" id="{5F559E3C-26FB-4AE0-9DAF-05E1673CFB17}"/>
              </a:ext>
            </a:extLst>
          </p:cNvPr>
          <p:cNvSpPr>
            <a:spLocks noGrp="1"/>
          </p:cNvSpPr>
          <p:nvPr/>
        </p:nvSpPr>
        <p:spPr>
          <a:xfrm>
            <a:off x="9253728" y="1837944"/>
            <a:ext cx="1014984" cy="438912"/>
          </a:xfrm>
          <a:prstGeom prst="rect">
            <a:avLst/>
          </a:prstGeom>
          <a:noFill/>
        </p:spPr>
        <p:txBody>
          <a:bodyPr wrap="square" lIns="0" tIns="0" rIns="0" bIns="0" anchor="ctr">
            <a:normAutofit/>
          </a:bodyPr>
          <a:lstStyle/>
          <a:p>
            <a:pPr marL="0" indent="0">
              <a:buNone/>
            </a:pPr>
            <a:r>
              <a:rPr sz="880">
                <a:solidFill>
                  <a:srgbClr val="A7B5C8"/>
                </a:solidFill>
                <a:latin typeface="Inter"/>
                <a:ea typeface="Inter"/>
                <a:cs typeface="Inter"/>
              </a:rPr>
              <a:t>Parse + authorize</a:t>
            </a:r>
            <a:endParaRPr sz="880"/>
          </a:p>
        </p:txBody>
      </p:sp>
      <p:sp>
        <p:nvSpPr>
          <p:cNvPr id="31" name="Shape 23">
            <a:extLst>
              <a:ext uri="{FF2B5EF4-FFF2-40B4-BE49-F238E27FC236}">
                <a16:creationId xmlns:a16="http://schemas.microsoft.com/office/drawing/2014/main" id="{74B2AAF3-6B3C-4839-ACB7-B6869884E0B8}"/>
              </a:ext>
            </a:extLst>
          </p:cNvPr>
          <p:cNvSpPr>
            <a:spLocks noGrp="1"/>
          </p:cNvSpPr>
          <p:nvPr/>
        </p:nvSpPr>
        <p:spPr>
          <a:xfrm>
            <a:off x="10698480" y="1389888"/>
            <a:ext cx="987552" cy="969264"/>
          </a:xfrm>
          <a:prstGeom prst="roundRect">
            <a:avLst>
              <a:gd name="adj" fmla="val 7547"/>
            </a:avLst>
          </a:prstGeom>
          <a:solidFill>
            <a:srgbClr val="0E1B2E"/>
          </a:solidFill>
          <a:ln w="12700">
            <a:solidFill>
              <a:srgbClr val="63E69C"/>
            </a:solidFill>
            <a:prstDash val="solid"/>
          </a:ln>
        </p:spPr>
        <p:txBody>
          <a:bodyPr/>
          <a:lstStyle/>
          <a:p>
            <a:endParaRPr/>
          </a:p>
        </p:txBody>
      </p:sp>
      <p:sp>
        <p:nvSpPr>
          <p:cNvPr id="32" name="Shape 24">
            <a:extLst>
              <a:ext uri="{FF2B5EF4-FFF2-40B4-BE49-F238E27FC236}">
                <a16:creationId xmlns:a16="http://schemas.microsoft.com/office/drawing/2014/main" id="{F178C43E-DEA9-4083-A960-164834F52760}"/>
              </a:ext>
            </a:extLst>
          </p:cNvPr>
          <p:cNvSpPr>
            <a:spLocks noGrp="1"/>
          </p:cNvSpPr>
          <p:nvPr/>
        </p:nvSpPr>
        <p:spPr>
          <a:xfrm>
            <a:off x="10771632" y="1536192"/>
            <a:ext cx="347472" cy="347472"/>
          </a:xfrm>
          <a:prstGeom prst="ellipse">
            <a:avLst/>
          </a:prstGeom>
          <a:solidFill>
            <a:srgbClr val="63E69C">
              <a:alpha val="18000"/>
            </a:srgbClr>
          </a:solidFill>
          <a:ln w="12700">
            <a:solidFill>
              <a:srgbClr val="63E69C">
                <a:alpha val="0"/>
              </a:srgbClr>
            </a:solidFill>
            <a:prstDash val="solid"/>
          </a:ln>
        </p:spPr>
        <p:txBody>
          <a:bodyPr/>
          <a:lstStyle/>
          <a:p>
            <a:endParaRPr/>
          </a:p>
        </p:txBody>
      </p:sp>
      <p:pic>
        <p:nvPicPr>
          <p:cNvPr id="121" name="Image 6"/>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865358" y="1618488"/>
            <a:ext cx="160020" cy="182880"/>
          </a:xfrm>
          <a:prstGeom prst="rect">
            <a:avLst/>
          </a:prstGeom>
        </p:spPr>
      </p:pic>
      <p:sp>
        <p:nvSpPr>
          <p:cNvPr id="34" name="Text 25">
            <a:extLst>
              <a:ext uri="{FF2B5EF4-FFF2-40B4-BE49-F238E27FC236}">
                <a16:creationId xmlns:a16="http://schemas.microsoft.com/office/drawing/2014/main" id="{8913FA0D-A246-46E2-BEE4-7C9B9C2BFCEA}"/>
              </a:ext>
            </a:extLst>
          </p:cNvPr>
          <p:cNvSpPr>
            <a:spLocks noGrp="1"/>
          </p:cNvSpPr>
          <p:nvPr/>
        </p:nvSpPr>
        <p:spPr>
          <a:xfrm>
            <a:off x="11155680" y="1554480"/>
            <a:ext cx="457200" cy="219456"/>
          </a:xfrm>
          <a:prstGeom prst="rect">
            <a:avLst/>
          </a:prstGeom>
          <a:noFill/>
        </p:spPr>
        <p:txBody>
          <a:bodyPr wrap="square" lIns="0" tIns="0" rIns="0" bIns="0" anchor="ctr">
            <a:normAutofit/>
          </a:bodyPr>
          <a:lstStyle/>
          <a:p>
            <a:pPr marL="0" indent="0">
              <a:buNone/>
            </a:pPr>
            <a:r>
              <a:rPr sz="1020" b="1">
                <a:solidFill>
                  <a:srgbClr val="F7FAFF"/>
                </a:solidFill>
                <a:latin typeface="Inter"/>
                <a:ea typeface="Inter"/>
                <a:cs typeface="Inter"/>
              </a:rPr>
              <a:t>Data</a:t>
            </a:r>
            <a:endParaRPr sz="1020"/>
          </a:p>
        </p:txBody>
      </p:sp>
      <p:sp>
        <p:nvSpPr>
          <p:cNvPr id="35" name="Shape 26">
            <a:extLst>
              <a:ext uri="{FF2B5EF4-FFF2-40B4-BE49-F238E27FC236}">
                <a16:creationId xmlns:a16="http://schemas.microsoft.com/office/drawing/2014/main" id="{650D0BDF-FB74-44CE-91DC-4EE9A607AA66}"/>
              </a:ext>
            </a:extLst>
          </p:cNvPr>
          <p:cNvSpPr>
            <a:spLocks noGrp="1"/>
          </p:cNvSpPr>
          <p:nvPr/>
        </p:nvSpPr>
        <p:spPr>
          <a:xfrm>
            <a:off x="2103120" y="1874520"/>
            <a:ext cx="292608" cy="0"/>
          </a:xfrm>
          <a:prstGeom prst="line">
            <a:avLst/>
          </a:prstGeom>
          <a:noFill/>
          <a:ln w="12700">
            <a:solidFill>
              <a:srgbClr val="72839A"/>
            </a:solidFill>
            <a:prstDash val="solid"/>
            <a:headEnd type="none"/>
            <a:tailEnd type="triangle"/>
          </a:ln>
        </p:spPr>
        <p:txBody>
          <a:bodyPr/>
          <a:lstStyle/>
          <a:p>
            <a:endParaRPr/>
          </a:p>
        </p:txBody>
      </p:sp>
      <p:sp>
        <p:nvSpPr>
          <p:cNvPr id="36" name="Shape 27">
            <a:extLst>
              <a:ext uri="{FF2B5EF4-FFF2-40B4-BE49-F238E27FC236}">
                <a16:creationId xmlns:a16="http://schemas.microsoft.com/office/drawing/2014/main" id="{D499D7F2-5D96-40B8-9607-A9BD98FA66F0}"/>
              </a:ext>
            </a:extLst>
          </p:cNvPr>
          <p:cNvSpPr>
            <a:spLocks noGrp="1"/>
          </p:cNvSpPr>
          <p:nvPr/>
        </p:nvSpPr>
        <p:spPr>
          <a:xfrm>
            <a:off x="4087368" y="1874520"/>
            <a:ext cx="292608" cy="0"/>
          </a:xfrm>
          <a:prstGeom prst="line">
            <a:avLst/>
          </a:prstGeom>
          <a:noFill/>
          <a:ln w="12700">
            <a:solidFill>
              <a:srgbClr val="72839A"/>
            </a:solidFill>
            <a:prstDash val="solid"/>
            <a:headEnd type="none"/>
            <a:tailEnd type="triangle"/>
          </a:ln>
        </p:spPr>
        <p:txBody>
          <a:bodyPr/>
          <a:lstStyle/>
          <a:p>
            <a:endParaRPr/>
          </a:p>
        </p:txBody>
      </p:sp>
      <p:sp>
        <p:nvSpPr>
          <p:cNvPr id="37" name="Shape 28">
            <a:extLst>
              <a:ext uri="{FF2B5EF4-FFF2-40B4-BE49-F238E27FC236}">
                <a16:creationId xmlns:a16="http://schemas.microsoft.com/office/drawing/2014/main" id="{54B0E59C-E095-4318-93B5-2CCEA894435B}"/>
              </a:ext>
            </a:extLst>
          </p:cNvPr>
          <p:cNvSpPr>
            <a:spLocks noGrp="1"/>
          </p:cNvSpPr>
          <p:nvPr/>
        </p:nvSpPr>
        <p:spPr>
          <a:xfrm>
            <a:off x="6254496" y="1874520"/>
            <a:ext cx="301752" cy="0"/>
          </a:xfrm>
          <a:prstGeom prst="line">
            <a:avLst/>
          </a:prstGeom>
          <a:noFill/>
          <a:ln w="12700">
            <a:solidFill>
              <a:srgbClr val="72839A"/>
            </a:solidFill>
            <a:prstDash val="solid"/>
            <a:headEnd type="none"/>
            <a:tailEnd type="triangle"/>
          </a:ln>
        </p:spPr>
        <p:txBody>
          <a:bodyPr/>
          <a:lstStyle/>
          <a:p>
            <a:endParaRPr/>
          </a:p>
        </p:txBody>
      </p:sp>
      <p:sp>
        <p:nvSpPr>
          <p:cNvPr id="38" name="Shape 29">
            <a:extLst>
              <a:ext uri="{FF2B5EF4-FFF2-40B4-BE49-F238E27FC236}">
                <a16:creationId xmlns:a16="http://schemas.microsoft.com/office/drawing/2014/main" id="{AC4D682A-3C64-406F-991C-D7733DFC343D}"/>
              </a:ext>
            </a:extLst>
          </p:cNvPr>
          <p:cNvSpPr>
            <a:spLocks noGrp="1"/>
          </p:cNvSpPr>
          <p:nvPr/>
        </p:nvSpPr>
        <p:spPr>
          <a:xfrm>
            <a:off x="8339328" y="1874520"/>
            <a:ext cx="292608" cy="0"/>
          </a:xfrm>
          <a:prstGeom prst="line">
            <a:avLst/>
          </a:prstGeom>
          <a:noFill/>
          <a:ln w="12700">
            <a:solidFill>
              <a:srgbClr val="72839A"/>
            </a:solidFill>
            <a:prstDash val="solid"/>
            <a:headEnd type="none"/>
            <a:tailEnd type="triangle"/>
          </a:ln>
        </p:spPr>
        <p:txBody>
          <a:bodyPr/>
          <a:lstStyle/>
          <a:p>
            <a:endParaRPr/>
          </a:p>
        </p:txBody>
      </p:sp>
      <p:sp>
        <p:nvSpPr>
          <p:cNvPr id="39" name="Shape 30">
            <a:extLst>
              <a:ext uri="{FF2B5EF4-FFF2-40B4-BE49-F238E27FC236}">
                <a16:creationId xmlns:a16="http://schemas.microsoft.com/office/drawing/2014/main" id="{FB1AE81D-0CA3-4F5C-90D0-AA4411B7A54E}"/>
              </a:ext>
            </a:extLst>
          </p:cNvPr>
          <p:cNvSpPr>
            <a:spLocks noGrp="1"/>
          </p:cNvSpPr>
          <p:nvPr/>
        </p:nvSpPr>
        <p:spPr>
          <a:xfrm>
            <a:off x="10405872" y="1874520"/>
            <a:ext cx="292608" cy="0"/>
          </a:xfrm>
          <a:prstGeom prst="line">
            <a:avLst/>
          </a:prstGeom>
          <a:noFill/>
          <a:ln w="12700">
            <a:solidFill>
              <a:srgbClr val="72839A"/>
            </a:solidFill>
            <a:prstDash val="solid"/>
            <a:headEnd type="none"/>
            <a:tailEnd type="triangle"/>
          </a:ln>
        </p:spPr>
        <p:txBody>
          <a:bodyPr/>
          <a:lstStyle/>
          <a:p>
            <a:endParaRPr/>
          </a:p>
        </p:txBody>
      </p:sp>
      <p:sp>
        <p:nvSpPr>
          <p:cNvPr id="40" name="Shape 31">
            <a:extLst>
              <a:ext uri="{FF2B5EF4-FFF2-40B4-BE49-F238E27FC236}">
                <a16:creationId xmlns:a16="http://schemas.microsoft.com/office/drawing/2014/main" id="{B411408D-0949-434F-8862-0900E6955070}"/>
              </a:ext>
            </a:extLst>
          </p:cNvPr>
          <p:cNvSpPr>
            <a:spLocks noGrp="1"/>
          </p:cNvSpPr>
          <p:nvPr/>
        </p:nvSpPr>
        <p:spPr>
          <a:xfrm>
            <a:off x="502920" y="2743200"/>
            <a:ext cx="3584448" cy="676656"/>
          </a:xfrm>
          <a:prstGeom prst="roundRect">
            <a:avLst>
              <a:gd name="adj" fmla="val 10811"/>
            </a:avLst>
          </a:prstGeom>
          <a:solidFill>
            <a:srgbClr val="0E1B2E"/>
          </a:solidFill>
          <a:ln w="12700">
            <a:solidFill>
              <a:srgbClr val="5B7CFF"/>
            </a:solidFill>
            <a:prstDash val="solid"/>
          </a:ln>
        </p:spPr>
        <p:txBody>
          <a:bodyPr/>
          <a:lstStyle/>
          <a:p>
            <a:endParaRPr/>
          </a:p>
        </p:txBody>
      </p:sp>
      <p:pic>
        <p:nvPicPr>
          <p:cNvPr id="129" name="Image 7"/>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13232" y="2916936"/>
            <a:ext cx="237744" cy="237744"/>
          </a:xfrm>
          <a:prstGeom prst="rect">
            <a:avLst/>
          </a:prstGeom>
        </p:spPr>
      </p:pic>
      <p:sp>
        <p:nvSpPr>
          <p:cNvPr id="42" name="Text 32">
            <a:extLst>
              <a:ext uri="{FF2B5EF4-FFF2-40B4-BE49-F238E27FC236}">
                <a16:creationId xmlns:a16="http://schemas.microsoft.com/office/drawing/2014/main" id="{BC36EB6C-886A-45CC-8F68-DC084557DFB1}"/>
              </a:ext>
            </a:extLst>
          </p:cNvPr>
          <p:cNvSpPr>
            <a:spLocks noGrp="1"/>
          </p:cNvSpPr>
          <p:nvPr/>
        </p:nvSpPr>
        <p:spPr>
          <a:xfrm>
            <a:off x="1033272" y="2871216"/>
            <a:ext cx="1042416" cy="219456"/>
          </a:xfrm>
          <a:prstGeom prst="rect">
            <a:avLst/>
          </a:prstGeom>
          <a:noFill/>
        </p:spPr>
        <p:txBody>
          <a:bodyPr wrap="square" lIns="0" tIns="0" rIns="0" bIns="0" anchor="ctr"/>
          <a:lstStyle/>
          <a:p>
            <a:pPr marL="0" indent="0">
              <a:buNone/>
            </a:pPr>
            <a:r>
              <a:rPr sz="1250" b="1">
                <a:solidFill>
                  <a:srgbClr val="F7FAFF"/>
                </a:solidFill>
                <a:latin typeface="Inter"/>
                <a:ea typeface="Inter"/>
                <a:cs typeface="Inter"/>
              </a:rPr>
              <a:t>Bearer context</a:t>
            </a:r>
            <a:endParaRPr sz="1250"/>
          </a:p>
        </p:txBody>
      </p:sp>
      <p:sp>
        <p:nvSpPr>
          <p:cNvPr id="43" name="Text 33">
            <a:extLst>
              <a:ext uri="{FF2B5EF4-FFF2-40B4-BE49-F238E27FC236}">
                <a16:creationId xmlns:a16="http://schemas.microsoft.com/office/drawing/2014/main" id="{BA09146D-D89B-4573-A40E-6995C5AD3D77}"/>
              </a:ext>
            </a:extLst>
          </p:cNvPr>
          <p:cNvSpPr>
            <a:spLocks noGrp="1"/>
          </p:cNvSpPr>
          <p:nvPr/>
        </p:nvSpPr>
        <p:spPr>
          <a:xfrm>
            <a:off x="2057400" y="2871216"/>
            <a:ext cx="1773936" cy="219456"/>
          </a:xfrm>
          <a:prstGeom prst="rect">
            <a:avLst/>
          </a:prstGeom>
          <a:noFill/>
        </p:spPr>
        <p:txBody>
          <a:bodyPr wrap="square" lIns="0" tIns="0" rIns="0" bIns="0" anchor="ctr"/>
          <a:lstStyle/>
          <a:p>
            <a:pPr marL="0" indent="0" algn="r">
              <a:buNone/>
            </a:pPr>
            <a:r>
              <a:rPr sz="940">
                <a:solidFill>
                  <a:srgbClr val="A7B5C8"/>
                </a:solidFill>
                <a:latin typeface="Inter"/>
                <a:ea typeface="Inter"/>
                <a:cs typeface="Inter"/>
              </a:rPr>
              <a:t>User identity on every call</a:t>
            </a:r>
            <a:endParaRPr sz="940"/>
          </a:p>
        </p:txBody>
      </p:sp>
      <p:sp>
        <p:nvSpPr>
          <p:cNvPr id="44" name="Shape 34">
            <a:extLst>
              <a:ext uri="{FF2B5EF4-FFF2-40B4-BE49-F238E27FC236}">
                <a16:creationId xmlns:a16="http://schemas.microsoft.com/office/drawing/2014/main" id="{43EF1EDF-E103-41A1-97B2-A9AE7D8A5D51}"/>
              </a:ext>
            </a:extLst>
          </p:cNvPr>
          <p:cNvSpPr>
            <a:spLocks noGrp="1"/>
          </p:cNvSpPr>
          <p:nvPr/>
        </p:nvSpPr>
        <p:spPr>
          <a:xfrm>
            <a:off x="2322576" y="2743200"/>
            <a:ext cx="0" cy="0"/>
          </a:xfrm>
          <a:prstGeom prst="line">
            <a:avLst/>
          </a:prstGeom>
          <a:noFill/>
          <a:ln w="12700">
            <a:solidFill>
              <a:srgbClr val="5B7CFF"/>
            </a:solidFill>
            <a:prstDash val="solid"/>
            <a:headEnd type="none"/>
            <a:tailEnd type="triangle"/>
          </a:ln>
        </p:spPr>
        <p:txBody>
          <a:bodyPr/>
          <a:lstStyle/>
          <a:p>
            <a:endParaRPr/>
          </a:p>
        </p:txBody>
      </p:sp>
      <p:sp>
        <p:nvSpPr>
          <p:cNvPr id="45" name="Shape 35">
            <a:extLst>
              <a:ext uri="{FF2B5EF4-FFF2-40B4-BE49-F238E27FC236}">
                <a16:creationId xmlns:a16="http://schemas.microsoft.com/office/drawing/2014/main" id="{E4E2BF34-7045-441C-A215-AC935668D1C5}"/>
              </a:ext>
            </a:extLst>
          </p:cNvPr>
          <p:cNvSpPr>
            <a:spLocks noGrp="1"/>
          </p:cNvSpPr>
          <p:nvPr/>
        </p:nvSpPr>
        <p:spPr>
          <a:xfrm>
            <a:off x="4379976" y="2743200"/>
            <a:ext cx="3959352" cy="676656"/>
          </a:xfrm>
          <a:prstGeom prst="roundRect">
            <a:avLst>
              <a:gd name="adj" fmla="val 10811"/>
            </a:avLst>
          </a:prstGeom>
          <a:solidFill>
            <a:srgbClr val="0E1B2E"/>
          </a:solidFill>
          <a:ln w="12700">
            <a:solidFill>
              <a:srgbClr val="A879FF"/>
            </a:solidFill>
            <a:prstDash val="solid"/>
          </a:ln>
        </p:spPr>
        <p:txBody>
          <a:bodyPr/>
          <a:lstStyle/>
          <a:p>
            <a:endParaRPr/>
          </a:p>
        </p:txBody>
      </p:sp>
      <p:pic>
        <p:nvPicPr>
          <p:cNvPr id="134" name="Image 8"/>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590288" y="2916936"/>
            <a:ext cx="237744" cy="237744"/>
          </a:xfrm>
          <a:prstGeom prst="rect">
            <a:avLst/>
          </a:prstGeom>
        </p:spPr>
      </p:pic>
      <p:sp>
        <p:nvSpPr>
          <p:cNvPr id="47" name="Text 36">
            <a:extLst>
              <a:ext uri="{FF2B5EF4-FFF2-40B4-BE49-F238E27FC236}">
                <a16:creationId xmlns:a16="http://schemas.microsoft.com/office/drawing/2014/main" id="{7AE346DD-D721-4189-AEB9-90CF373AAD6F}"/>
              </a:ext>
            </a:extLst>
          </p:cNvPr>
          <p:cNvSpPr>
            <a:spLocks noGrp="1"/>
          </p:cNvSpPr>
          <p:nvPr/>
        </p:nvSpPr>
        <p:spPr>
          <a:xfrm>
            <a:off x="4919472" y="2871216"/>
            <a:ext cx="1682496" cy="219456"/>
          </a:xfrm>
          <a:prstGeom prst="rect">
            <a:avLst/>
          </a:prstGeom>
          <a:noFill/>
        </p:spPr>
        <p:txBody>
          <a:bodyPr wrap="square" lIns="0" tIns="0" rIns="0" bIns="0" anchor="ctr"/>
          <a:lstStyle/>
          <a:p>
            <a:pPr marL="0" indent="0">
              <a:buNone/>
            </a:pPr>
            <a:r>
              <a:rPr sz="1250" b="1">
                <a:solidFill>
                  <a:srgbClr val="F7FAFF"/>
                </a:solidFill>
                <a:latin typeface="Inter"/>
                <a:ea typeface="Inter"/>
                <a:cs typeface="Inter"/>
              </a:rPr>
              <a:t>Cached metadata</a:t>
            </a:r>
            <a:endParaRPr sz="1250"/>
          </a:p>
        </p:txBody>
      </p:sp>
      <p:sp>
        <p:nvSpPr>
          <p:cNvPr id="48" name="Text 37">
            <a:extLst>
              <a:ext uri="{FF2B5EF4-FFF2-40B4-BE49-F238E27FC236}">
                <a16:creationId xmlns:a16="http://schemas.microsoft.com/office/drawing/2014/main" id="{E5FFD709-9BF5-4F32-B72D-52F03B768F94}"/>
              </a:ext>
            </a:extLst>
          </p:cNvPr>
          <p:cNvSpPr>
            <a:spLocks noGrp="1"/>
          </p:cNvSpPr>
          <p:nvPr/>
        </p:nvSpPr>
        <p:spPr>
          <a:xfrm>
            <a:off x="6537960" y="2871216"/>
            <a:ext cx="1536192" cy="219456"/>
          </a:xfrm>
          <a:prstGeom prst="rect">
            <a:avLst/>
          </a:prstGeom>
          <a:noFill/>
        </p:spPr>
        <p:txBody>
          <a:bodyPr wrap="square" lIns="0" tIns="0" rIns="0" bIns="0" anchor="ctr"/>
          <a:lstStyle/>
          <a:p>
            <a:pPr marL="0" indent="0" algn="r">
              <a:buNone/>
            </a:pPr>
            <a:r>
              <a:rPr sz="940">
                <a:solidFill>
                  <a:srgbClr val="A7B5C8"/>
                </a:solidFill>
                <a:latin typeface="Inter"/>
                <a:ea typeface="Inter"/>
                <a:cs typeface="Inter"/>
              </a:rPr>
              <a:t>FAISS index + schema cache</a:t>
            </a:r>
            <a:endParaRPr sz="940"/>
          </a:p>
        </p:txBody>
      </p:sp>
      <p:sp>
        <p:nvSpPr>
          <p:cNvPr id="49" name="Shape 38">
            <a:extLst>
              <a:ext uri="{FF2B5EF4-FFF2-40B4-BE49-F238E27FC236}">
                <a16:creationId xmlns:a16="http://schemas.microsoft.com/office/drawing/2014/main" id="{1FC2137C-3F4E-445C-80B2-A24537C027DD}"/>
              </a:ext>
            </a:extLst>
          </p:cNvPr>
          <p:cNvSpPr>
            <a:spLocks noGrp="1"/>
          </p:cNvSpPr>
          <p:nvPr/>
        </p:nvSpPr>
        <p:spPr>
          <a:xfrm>
            <a:off x="6254496" y="2743200"/>
            <a:ext cx="0" cy="0"/>
          </a:xfrm>
          <a:prstGeom prst="line">
            <a:avLst/>
          </a:prstGeom>
          <a:noFill/>
          <a:ln w="12700">
            <a:solidFill>
              <a:srgbClr val="A879FF"/>
            </a:solidFill>
            <a:prstDash val="solid"/>
            <a:headEnd type="none"/>
            <a:tailEnd type="triangle"/>
          </a:ln>
        </p:spPr>
        <p:txBody>
          <a:bodyPr/>
          <a:lstStyle/>
          <a:p>
            <a:endParaRPr/>
          </a:p>
        </p:txBody>
      </p:sp>
      <p:sp>
        <p:nvSpPr>
          <p:cNvPr id="50" name="Text 39">
            <a:extLst>
              <a:ext uri="{FF2B5EF4-FFF2-40B4-BE49-F238E27FC236}">
                <a16:creationId xmlns:a16="http://schemas.microsoft.com/office/drawing/2014/main" id="{F35B18B4-A7C4-497D-B532-7642E257FC3E}"/>
              </a:ext>
            </a:extLst>
          </p:cNvPr>
          <p:cNvSpPr>
            <a:spLocks noGrp="1"/>
          </p:cNvSpPr>
          <p:nvPr/>
        </p:nvSpPr>
        <p:spPr>
          <a:xfrm>
            <a:off x="6565392" y="3803904"/>
            <a:ext cx="1828800" cy="201168"/>
          </a:xfrm>
          <a:prstGeom prst="rect">
            <a:avLst/>
          </a:prstGeom>
          <a:noFill/>
        </p:spPr>
        <p:txBody>
          <a:bodyPr wrap="square" lIns="0" tIns="0" rIns="0" bIns="0" anchor="ctr"/>
          <a:lstStyle/>
          <a:p>
            <a:pPr marL="0" indent="0">
              <a:buNone/>
            </a:pPr>
            <a:r>
              <a:rPr sz="900" b="1" spc="120">
                <a:solidFill>
                  <a:srgbClr val="72839A"/>
                </a:solidFill>
                <a:latin typeface="Inter"/>
                <a:ea typeface="Inter"/>
                <a:cs typeface="Inter"/>
              </a:rPr>
              <a:t>OUTPUT ADAPTERS</a:t>
            </a:r>
            <a:endParaRPr sz="900"/>
          </a:p>
        </p:txBody>
      </p:sp>
      <p:sp>
        <p:nvSpPr>
          <p:cNvPr id="51" name="Shape 40">
            <a:extLst>
              <a:ext uri="{FF2B5EF4-FFF2-40B4-BE49-F238E27FC236}">
                <a16:creationId xmlns:a16="http://schemas.microsoft.com/office/drawing/2014/main" id="{B9673729-E0EB-4C89-B14E-722420451CEC}"/>
              </a:ext>
            </a:extLst>
          </p:cNvPr>
          <p:cNvSpPr>
            <a:spLocks noGrp="1"/>
          </p:cNvSpPr>
          <p:nvPr/>
        </p:nvSpPr>
        <p:spPr>
          <a:xfrm>
            <a:off x="6565392" y="4096512"/>
            <a:ext cx="841248" cy="859536"/>
          </a:xfrm>
          <a:prstGeom prst="roundRect">
            <a:avLst>
              <a:gd name="adj" fmla="val 8696"/>
            </a:avLst>
          </a:prstGeom>
          <a:solidFill>
            <a:srgbClr val="0E1B2E"/>
          </a:solidFill>
          <a:ln w="12700">
            <a:solidFill>
              <a:srgbClr val="293A51"/>
            </a:solidFill>
            <a:prstDash val="solid"/>
          </a:ln>
        </p:spPr>
        <p:txBody>
          <a:bodyPr/>
          <a:lstStyle/>
          <a:p>
            <a:endParaRPr/>
          </a:p>
        </p:txBody>
      </p:sp>
      <p:pic>
        <p:nvPicPr>
          <p:cNvPr id="140" name="Image 9"/>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6830568" y="4251960"/>
            <a:ext cx="310896" cy="310896"/>
          </a:xfrm>
          <a:prstGeom prst="rect">
            <a:avLst/>
          </a:prstGeom>
        </p:spPr>
      </p:pic>
      <p:sp>
        <p:nvSpPr>
          <p:cNvPr id="53" name="Text 41">
            <a:extLst>
              <a:ext uri="{FF2B5EF4-FFF2-40B4-BE49-F238E27FC236}">
                <a16:creationId xmlns:a16="http://schemas.microsoft.com/office/drawing/2014/main" id="{3B9EE602-A3E4-4668-83F9-A467D1B805A0}"/>
              </a:ext>
            </a:extLst>
          </p:cNvPr>
          <p:cNvSpPr>
            <a:spLocks noGrp="1"/>
          </p:cNvSpPr>
          <p:nvPr/>
        </p:nvSpPr>
        <p:spPr>
          <a:xfrm>
            <a:off x="6638544" y="4599432"/>
            <a:ext cx="694944" cy="182880"/>
          </a:xfrm>
          <a:prstGeom prst="rect">
            <a:avLst/>
          </a:prstGeom>
          <a:noFill/>
        </p:spPr>
        <p:txBody>
          <a:bodyPr wrap="square" lIns="0" tIns="0" rIns="0" bIns="0" anchor="ctr"/>
          <a:lstStyle/>
          <a:p>
            <a:pPr marL="0" indent="0" algn="ctr">
              <a:buNone/>
            </a:pPr>
            <a:r>
              <a:rPr sz="850" b="1">
                <a:solidFill>
                  <a:srgbClr val="EAF0F8"/>
                </a:solidFill>
                <a:latin typeface="Inter"/>
                <a:ea typeface="Inter"/>
                <a:cs typeface="Inter"/>
              </a:rPr>
              <a:t>Table</a:t>
            </a:r>
            <a:endParaRPr sz="850"/>
          </a:p>
        </p:txBody>
      </p:sp>
      <p:sp>
        <p:nvSpPr>
          <p:cNvPr id="54" name="Shape 42">
            <a:extLst>
              <a:ext uri="{FF2B5EF4-FFF2-40B4-BE49-F238E27FC236}">
                <a16:creationId xmlns:a16="http://schemas.microsoft.com/office/drawing/2014/main" id="{B3D37E52-9861-44B0-8377-BFB799269D11}"/>
              </a:ext>
            </a:extLst>
          </p:cNvPr>
          <p:cNvSpPr>
            <a:spLocks noGrp="1"/>
          </p:cNvSpPr>
          <p:nvPr/>
        </p:nvSpPr>
        <p:spPr>
          <a:xfrm>
            <a:off x="7626096" y="4096512"/>
            <a:ext cx="841248" cy="859536"/>
          </a:xfrm>
          <a:prstGeom prst="roundRect">
            <a:avLst>
              <a:gd name="adj" fmla="val 8696"/>
            </a:avLst>
          </a:prstGeom>
          <a:solidFill>
            <a:srgbClr val="0E1B2E"/>
          </a:solidFill>
          <a:ln w="12700">
            <a:solidFill>
              <a:srgbClr val="293A51"/>
            </a:solidFill>
            <a:prstDash val="solid"/>
          </a:ln>
        </p:spPr>
        <p:txBody>
          <a:bodyPr/>
          <a:lstStyle/>
          <a:p>
            <a:endParaRPr/>
          </a:p>
        </p:txBody>
      </p:sp>
      <p:pic>
        <p:nvPicPr>
          <p:cNvPr id="143" name="Image 10"/>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7891272" y="4251960"/>
            <a:ext cx="310896" cy="310896"/>
          </a:xfrm>
          <a:prstGeom prst="rect">
            <a:avLst/>
          </a:prstGeom>
        </p:spPr>
      </p:pic>
      <p:sp>
        <p:nvSpPr>
          <p:cNvPr id="56" name="Text 43">
            <a:extLst>
              <a:ext uri="{FF2B5EF4-FFF2-40B4-BE49-F238E27FC236}">
                <a16:creationId xmlns:a16="http://schemas.microsoft.com/office/drawing/2014/main" id="{5D644452-5F20-4396-8706-7621B80F09AE}"/>
              </a:ext>
            </a:extLst>
          </p:cNvPr>
          <p:cNvSpPr>
            <a:spLocks noGrp="1"/>
          </p:cNvSpPr>
          <p:nvPr/>
        </p:nvSpPr>
        <p:spPr>
          <a:xfrm>
            <a:off x="7699248" y="4599432"/>
            <a:ext cx="694944" cy="182880"/>
          </a:xfrm>
          <a:prstGeom prst="rect">
            <a:avLst/>
          </a:prstGeom>
          <a:noFill/>
        </p:spPr>
        <p:txBody>
          <a:bodyPr wrap="square" lIns="0" tIns="0" rIns="0" bIns="0" anchor="ctr"/>
          <a:lstStyle/>
          <a:p>
            <a:pPr marL="0" indent="0" algn="ctr">
              <a:buNone/>
            </a:pPr>
            <a:r>
              <a:rPr sz="850" b="1">
                <a:solidFill>
                  <a:srgbClr val="EAF0F8"/>
                </a:solidFill>
                <a:latin typeface="Inter"/>
                <a:ea typeface="Inter"/>
                <a:cs typeface="Inter"/>
              </a:rPr>
              <a:t>CSV</a:t>
            </a:r>
            <a:endParaRPr sz="850"/>
          </a:p>
        </p:txBody>
      </p:sp>
      <p:sp>
        <p:nvSpPr>
          <p:cNvPr id="57" name="Shape 44">
            <a:extLst>
              <a:ext uri="{FF2B5EF4-FFF2-40B4-BE49-F238E27FC236}">
                <a16:creationId xmlns:a16="http://schemas.microsoft.com/office/drawing/2014/main" id="{0F3307D7-7CC2-47E8-9270-848EDDA2636E}"/>
              </a:ext>
            </a:extLst>
          </p:cNvPr>
          <p:cNvSpPr>
            <a:spLocks noGrp="1"/>
          </p:cNvSpPr>
          <p:nvPr/>
        </p:nvSpPr>
        <p:spPr>
          <a:xfrm>
            <a:off x="8686800" y="4096512"/>
            <a:ext cx="841248" cy="859536"/>
          </a:xfrm>
          <a:prstGeom prst="roundRect">
            <a:avLst>
              <a:gd name="adj" fmla="val 8696"/>
            </a:avLst>
          </a:prstGeom>
          <a:solidFill>
            <a:srgbClr val="0E1B2E"/>
          </a:solidFill>
          <a:ln w="12700">
            <a:solidFill>
              <a:srgbClr val="293A51"/>
            </a:solidFill>
            <a:prstDash val="solid"/>
          </a:ln>
        </p:spPr>
        <p:txBody>
          <a:bodyPr/>
          <a:lstStyle/>
          <a:p>
            <a:endParaRPr/>
          </a:p>
        </p:txBody>
      </p:sp>
      <p:pic>
        <p:nvPicPr>
          <p:cNvPr id="146" name="Image 11"/>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990838" y="4251960"/>
            <a:ext cx="233172" cy="310896"/>
          </a:xfrm>
          <a:prstGeom prst="rect">
            <a:avLst/>
          </a:prstGeom>
        </p:spPr>
      </p:pic>
      <p:sp>
        <p:nvSpPr>
          <p:cNvPr id="59" name="Text 45">
            <a:extLst>
              <a:ext uri="{FF2B5EF4-FFF2-40B4-BE49-F238E27FC236}">
                <a16:creationId xmlns:a16="http://schemas.microsoft.com/office/drawing/2014/main" id="{ACD471E6-ED84-4A22-8051-8FE9EE967949}"/>
              </a:ext>
            </a:extLst>
          </p:cNvPr>
          <p:cNvSpPr>
            <a:spLocks noGrp="1"/>
          </p:cNvSpPr>
          <p:nvPr/>
        </p:nvSpPr>
        <p:spPr>
          <a:xfrm>
            <a:off x="8759952" y="4599432"/>
            <a:ext cx="694944" cy="182880"/>
          </a:xfrm>
          <a:prstGeom prst="rect">
            <a:avLst/>
          </a:prstGeom>
          <a:noFill/>
        </p:spPr>
        <p:txBody>
          <a:bodyPr wrap="square" lIns="0" tIns="0" rIns="0" bIns="0" anchor="ctr"/>
          <a:lstStyle/>
          <a:p>
            <a:pPr marL="0" indent="0" algn="ctr">
              <a:buNone/>
            </a:pPr>
            <a:r>
              <a:rPr sz="850" b="1">
                <a:solidFill>
                  <a:srgbClr val="EAF0F8"/>
                </a:solidFill>
                <a:latin typeface="Inter"/>
                <a:ea typeface="Inter"/>
                <a:cs typeface="Inter"/>
              </a:rPr>
              <a:t>Excel</a:t>
            </a:r>
            <a:endParaRPr sz="850"/>
          </a:p>
        </p:txBody>
      </p:sp>
      <p:sp>
        <p:nvSpPr>
          <p:cNvPr id="60" name="Shape 46">
            <a:extLst>
              <a:ext uri="{FF2B5EF4-FFF2-40B4-BE49-F238E27FC236}">
                <a16:creationId xmlns:a16="http://schemas.microsoft.com/office/drawing/2014/main" id="{D796693E-3674-4F56-B407-9C03696DBA07}"/>
              </a:ext>
            </a:extLst>
          </p:cNvPr>
          <p:cNvSpPr>
            <a:spLocks noGrp="1"/>
          </p:cNvSpPr>
          <p:nvPr/>
        </p:nvSpPr>
        <p:spPr>
          <a:xfrm>
            <a:off x="9747504" y="4096512"/>
            <a:ext cx="841248" cy="859536"/>
          </a:xfrm>
          <a:prstGeom prst="roundRect">
            <a:avLst>
              <a:gd name="adj" fmla="val 8696"/>
            </a:avLst>
          </a:prstGeom>
          <a:solidFill>
            <a:srgbClr val="0E1B2E"/>
          </a:solidFill>
          <a:ln w="12700">
            <a:solidFill>
              <a:srgbClr val="293A51"/>
            </a:solidFill>
            <a:prstDash val="solid"/>
          </a:ln>
        </p:spPr>
        <p:txBody>
          <a:bodyPr/>
          <a:lstStyle/>
          <a:p>
            <a:endParaRPr/>
          </a:p>
        </p:txBody>
      </p:sp>
      <p:pic>
        <p:nvPicPr>
          <p:cNvPr id="149" name="Image 12"/>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0012680" y="4251960"/>
            <a:ext cx="310896" cy="310896"/>
          </a:xfrm>
          <a:prstGeom prst="rect">
            <a:avLst/>
          </a:prstGeom>
        </p:spPr>
      </p:pic>
      <p:sp>
        <p:nvSpPr>
          <p:cNvPr id="62" name="Text 47">
            <a:extLst>
              <a:ext uri="{FF2B5EF4-FFF2-40B4-BE49-F238E27FC236}">
                <a16:creationId xmlns:a16="http://schemas.microsoft.com/office/drawing/2014/main" id="{38423C1D-FE7C-4728-938F-E8B5B67B60D7}"/>
              </a:ext>
            </a:extLst>
          </p:cNvPr>
          <p:cNvSpPr>
            <a:spLocks noGrp="1"/>
          </p:cNvSpPr>
          <p:nvPr/>
        </p:nvSpPr>
        <p:spPr>
          <a:xfrm>
            <a:off x="9820656" y="4599432"/>
            <a:ext cx="694944" cy="182880"/>
          </a:xfrm>
          <a:prstGeom prst="rect">
            <a:avLst/>
          </a:prstGeom>
          <a:noFill/>
        </p:spPr>
        <p:txBody>
          <a:bodyPr wrap="square" lIns="0" tIns="0" rIns="0" bIns="0" anchor="ctr"/>
          <a:lstStyle/>
          <a:p>
            <a:pPr marL="0" indent="0" algn="ctr">
              <a:buNone/>
            </a:pPr>
            <a:r>
              <a:rPr sz="850" b="1">
                <a:solidFill>
                  <a:srgbClr val="EAF0F8"/>
                </a:solidFill>
                <a:latin typeface="Inter"/>
                <a:ea typeface="Inter"/>
                <a:cs typeface="Inter"/>
              </a:rPr>
              <a:t>Chart</a:t>
            </a:r>
            <a:endParaRPr sz="850"/>
          </a:p>
        </p:txBody>
      </p:sp>
      <p:sp>
        <p:nvSpPr>
          <p:cNvPr id="63" name="Shape 48">
            <a:extLst>
              <a:ext uri="{FF2B5EF4-FFF2-40B4-BE49-F238E27FC236}">
                <a16:creationId xmlns:a16="http://schemas.microsoft.com/office/drawing/2014/main" id="{49F76173-46F3-4527-9C59-42B9B057EF9B}"/>
              </a:ext>
            </a:extLst>
          </p:cNvPr>
          <p:cNvSpPr>
            <a:spLocks noGrp="1"/>
          </p:cNvSpPr>
          <p:nvPr/>
        </p:nvSpPr>
        <p:spPr>
          <a:xfrm>
            <a:off x="10808208" y="4096512"/>
            <a:ext cx="841248" cy="859536"/>
          </a:xfrm>
          <a:prstGeom prst="roundRect">
            <a:avLst>
              <a:gd name="adj" fmla="val 8696"/>
            </a:avLst>
          </a:prstGeom>
          <a:solidFill>
            <a:srgbClr val="0E1B2E"/>
          </a:solidFill>
          <a:ln w="12700">
            <a:solidFill>
              <a:srgbClr val="293A51"/>
            </a:solidFill>
            <a:prstDash val="solid"/>
          </a:ln>
        </p:spPr>
        <p:txBody>
          <a:bodyPr/>
          <a:lstStyle/>
          <a:p>
            <a:endParaRPr/>
          </a:p>
        </p:txBody>
      </p:sp>
      <p:pic>
        <p:nvPicPr>
          <p:cNvPr id="152" name="Image 13"/>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11073384" y="4251960"/>
            <a:ext cx="310896" cy="310896"/>
          </a:xfrm>
          <a:prstGeom prst="rect">
            <a:avLst/>
          </a:prstGeom>
        </p:spPr>
      </p:pic>
      <p:sp>
        <p:nvSpPr>
          <p:cNvPr id="65" name="Text 49">
            <a:extLst>
              <a:ext uri="{FF2B5EF4-FFF2-40B4-BE49-F238E27FC236}">
                <a16:creationId xmlns:a16="http://schemas.microsoft.com/office/drawing/2014/main" id="{49B1FBF8-8B71-4035-85A5-26F799F39741}"/>
              </a:ext>
            </a:extLst>
          </p:cNvPr>
          <p:cNvSpPr>
            <a:spLocks noGrp="1"/>
          </p:cNvSpPr>
          <p:nvPr/>
        </p:nvSpPr>
        <p:spPr>
          <a:xfrm>
            <a:off x="10881360" y="4599432"/>
            <a:ext cx="694944" cy="182880"/>
          </a:xfrm>
          <a:prstGeom prst="rect">
            <a:avLst/>
          </a:prstGeom>
          <a:noFill/>
        </p:spPr>
        <p:txBody>
          <a:bodyPr wrap="square" lIns="0" tIns="0" rIns="0" bIns="0" anchor="ctr"/>
          <a:lstStyle/>
          <a:p>
            <a:pPr marL="0" indent="0" algn="ctr">
              <a:buNone/>
            </a:pPr>
            <a:r>
              <a:rPr sz="850" b="1">
                <a:solidFill>
                  <a:srgbClr val="EAF0F8"/>
                </a:solidFill>
                <a:latin typeface="Inter"/>
                <a:ea typeface="Inter"/>
                <a:cs typeface="Inter"/>
              </a:rPr>
              <a:t>Map</a:t>
            </a:r>
            <a:endParaRPr sz="850"/>
          </a:p>
        </p:txBody>
      </p:sp>
      <p:sp>
        <p:nvSpPr>
          <p:cNvPr id="66" name="Shape 50">
            <a:extLst>
              <a:ext uri="{FF2B5EF4-FFF2-40B4-BE49-F238E27FC236}">
                <a16:creationId xmlns:a16="http://schemas.microsoft.com/office/drawing/2014/main" id="{ECDB4237-98BB-4077-9B62-F9D5C7C7D682}"/>
              </a:ext>
            </a:extLst>
          </p:cNvPr>
          <p:cNvSpPr>
            <a:spLocks noGrp="1"/>
          </p:cNvSpPr>
          <p:nvPr/>
        </p:nvSpPr>
        <p:spPr>
          <a:xfrm>
            <a:off x="502920" y="3785616"/>
            <a:ext cx="5440680" cy="1508760"/>
          </a:xfrm>
          <a:prstGeom prst="roundRect">
            <a:avLst>
              <a:gd name="adj" fmla="val 4848"/>
            </a:avLst>
          </a:prstGeom>
          <a:solidFill>
            <a:srgbClr val="0A1729"/>
          </a:solidFill>
          <a:ln w="12700">
            <a:solidFill>
              <a:srgbClr val="293A51"/>
            </a:solidFill>
            <a:prstDash val="solid"/>
          </a:ln>
        </p:spPr>
        <p:txBody>
          <a:bodyPr/>
          <a:lstStyle/>
          <a:p>
            <a:endParaRPr/>
          </a:p>
        </p:txBody>
      </p:sp>
      <p:sp>
        <p:nvSpPr>
          <p:cNvPr id="67" name="Text 51">
            <a:extLst>
              <a:ext uri="{FF2B5EF4-FFF2-40B4-BE49-F238E27FC236}">
                <a16:creationId xmlns:a16="http://schemas.microsoft.com/office/drawing/2014/main" id="{BC0B7780-E07F-4CBA-91CF-E91DB767A05E}"/>
              </a:ext>
            </a:extLst>
          </p:cNvPr>
          <p:cNvSpPr>
            <a:spLocks noGrp="1"/>
          </p:cNvSpPr>
          <p:nvPr/>
        </p:nvSpPr>
        <p:spPr>
          <a:xfrm>
            <a:off x="768096" y="4078224"/>
            <a:ext cx="2011680" cy="201168"/>
          </a:xfrm>
          <a:prstGeom prst="rect">
            <a:avLst/>
          </a:prstGeom>
          <a:noFill/>
        </p:spPr>
        <p:txBody>
          <a:bodyPr wrap="square" lIns="0" tIns="0" rIns="0" bIns="0" anchor="ctr"/>
          <a:lstStyle/>
          <a:p>
            <a:pPr marL="0" indent="0">
              <a:buNone/>
            </a:pPr>
            <a:r>
              <a:rPr sz="900" b="1" spc="120">
                <a:solidFill>
                  <a:srgbClr val="35D4E7"/>
                </a:solidFill>
                <a:latin typeface="Inter"/>
                <a:ea typeface="Inter"/>
                <a:cs typeface="Inter"/>
              </a:rPr>
              <a:t>THE DESIGN PRINCIPLE</a:t>
            </a:r>
            <a:endParaRPr sz="900"/>
          </a:p>
        </p:txBody>
      </p:sp>
      <p:sp>
        <p:nvSpPr>
          <p:cNvPr id="68" name="Text 52">
            <a:extLst>
              <a:ext uri="{FF2B5EF4-FFF2-40B4-BE49-F238E27FC236}">
                <a16:creationId xmlns:a16="http://schemas.microsoft.com/office/drawing/2014/main" id="{779F9341-E2B6-4866-9206-B4AE1C625C30}"/>
              </a:ext>
            </a:extLst>
          </p:cNvPr>
          <p:cNvSpPr>
            <a:spLocks noGrp="1"/>
          </p:cNvSpPr>
          <p:nvPr/>
        </p:nvSpPr>
        <p:spPr>
          <a:xfrm>
            <a:off x="768096" y="4407408"/>
            <a:ext cx="4791456" cy="393192"/>
          </a:xfrm>
          <a:prstGeom prst="rect">
            <a:avLst/>
          </a:prstGeom>
          <a:noFill/>
        </p:spPr>
        <p:txBody>
          <a:bodyPr wrap="square" lIns="0" tIns="0" rIns="0" bIns="0" anchor="ctr"/>
          <a:lstStyle/>
          <a:p>
            <a:pPr marL="0" indent="0">
              <a:buNone/>
            </a:pPr>
            <a:r>
              <a:rPr sz="2050" b="1">
                <a:solidFill>
                  <a:srgbClr val="F7FAFF"/>
                </a:solidFill>
                <a:latin typeface="Inter"/>
                <a:ea typeface="Inter"/>
                <a:cs typeface="Inter"/>
              </a:rPr>
              <a:t>A deterministic spine around a probabilistic model.</a:t>
            </a:r>
            <a:endParaRPr sz="2050"/>
          </a:p>
        </p:txBody>
      </p:sp>
      <p:sp>
        <p:nvSpPr>
          <p:cNvPr id="69" name="Text 53">
            <a:extLst>
              <a:ext uri="{FF2B5EF4-FFF2-40B4-BE49-F238E27FC236}">
                <a16:creationId xmlns:a16="http://schemas.microsoft.com/office/drawing/2014/main" id="{9D4B8379-932F-4A3C-B35E-FBE4EC12A4AF}"/>
              </a:ext>
            </a:extLst>
          </p:cNvPr>
          <p:cNvSpPr>
            <a:spLocks noGrp="1"/>
          </p:cNvSpPr>
          <p:nvPr/>
        </p:nvSpPr>
        <p:spPr>
          <a:xfrm>
            <a:off x="768096" y="4901184"/>
            <a:ext cx="4663440" cy="256032"/>
          </a:xfrm>
          <a:prstGeom prst="rect">
            <a:avLst/>
          </a:prstGeom>
          <a:noFill/>
        </p:spPr>
        <p:txBody>
          <a:bodyPr wrap="square" lIns="0" tIns="0" rIns="0" bIns="0" anchor="ctr"/>
          <a:lstStyle/>
          <a:p>
            <a:pPr marL="0" indent="0">
              <a:buNone/>
            </a:pPr>
            <a:r>
              <a:rPr sz="1150">
                <a:solidFill>
                  <a:srgbClr val="A7B5C8"/>
                </a:solidFill>
                <a:latin typeface="Inter"/>
                <a:ea typeface="Inter"/>
                <a:cs typeface="Inter"/>
              </a:rPr>
              <a:t>The model interprets language. Code constrains execution.</a:t>
            </a:r>
            <a:endParaRPr sz="1150"/>
          </a:p>
        </p:txBody>
      </p:sp>
      <p:sp>
        <p:nvSpPr>
          <p:cNvPr id="70" name="Shape 54">
            <a:extLst>
              <a:ext uri="{FF2B5EF4-FFF2-40B4-BE49-F238E27FC236}">
                <a16:creationId xmlns:a16="http://schemas.microsoft.com/office/drawing/2014/main" id="{A48B9D63-EF54-4144-8E30-C46C7F017621}"/>
              </a:ext>
            </a:extLst>
          </p:cNvPr>
          <p:cNvSpPr>
            <a:spLocks noGrp="1"/>
          </p:cNvSpPr>
          <p:nvPr/>
        </p:nvSpPr>
        <p:spPr>
          <a:xfrm>
            <a:off x="6565392" y="5303520"/>
            <a:ext cx="5084064" cy="402336"/>
          </a:xfrm>
          <a:prstGeom prst="roundRect">
            <a:avLst>
              <a:gd name="adj" fmla="val 18182"/>
            </a:avLst>
          </a:prstGeom>
          <a:solidFill>
            <a:srgbClr val="35D4E7">
              <a:alpha val="14000"/>
            </a:srgbClr>
          </a:solidFill>
          <a:ln w="12700">
            <a:solidFill>
              <a:srgbClr val="35D4E7">
                <a:alpha val="35000"/>
              </a:srgbClr>
            </a:solidFill>
            <a:prstDash val="solid"/>
          </a:ln>
        </p:spPr>
        <p:txBody>
          <a:bodyPr/>
          <a:lstStyle/>
          <a:p>
            <a:endParaRPr/>
          </a:p>
        </p:txBody>
      </p:sp>
      <p:sp>
        <p:nvSpPr>
          <p:cNvPr id="71" name="Text 55">
            <a:extLst>
              <a:ext uri="{FF2B5EF4-FFF2-40B4-BE49-F238E27FC236}">
                <a16:creationId xmlns:a16="http://schemas.microsoft.com/office/drawing/2014/main" id="{48B2C870-180A-492D-9819-D4AF50F8B9D6}"/>
              </a:ext>
            </a:extLst>
          </p:cNvPr>
          <p:cNvSpPr>
            <a:spLocks noGrp="1"/>
          </p:cNvSpPr>
          <p:nvPr/>
        </p:nvSpPr>
        <p:spPr>
          <a:xfrm>
            <a:off x="6638544" y="5312664"/>
            <a:ext cx="4937760" cy="384048"/>
          </a:xfrm>
          <a:prstGeom prst="rect">
            <a:avLst/>
          </a:prstGeom>
          <a:noFill/>
        </p:spPr>
        <p:txBody>
          <a:bodyPr wrap="square" lIns="0" tIns="0" rIns="0" bIns="0" anchor="ctr"/>
          <a:lstStyle/>
          <a:p>
            <a:pPr marL="0" indent="0" algn="ctr">
              <a:buNone/>
            </a:pPr>
            <a:r>
              <a:rPr sz="1020" b="1">
                <a:solidFill>
                  <a:srgbClr val="35D4E7"/>
                </a:solidFill>
                <a:latin typeface="Inter"/>
                <a:ea typeface="Inter"/>
                <a:cs typeface="Inter"/>
              </a:rPr>
              <a:t>STARTUP QUESTION: HOW DO WE CONTROL WHAT THE MODEL DOES?</a:t>
            </a:r>
            <a:endParaRPr sz="1020"/>
          </a:p>
        </p:txBody>
      </p:sp>
      <p:sp>
        <p:nvSpPr>
          <p:cNvPr id="72" name="Shape 56">
            <a:extLst>
              <a:ext uri="{FF2B5EF4-FFF2-40B4-BE49-F238E27FC236}">
                <a16:creationId xmlns:a16="http://schemas.microsoft.com/office/drawing/2014/main" id="{1FBF2530-AC69-48EB-98CE-3770EAD13936}"/>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73" name="Text 57">
            <a:extLst>
              <a:ext uri="{FF2B5EF4-FFF2-40B4-BE49-F238E27FC236}">
                <a16:creationId xmlns:a16="http://schemas.microsoft.com/office/drawing/2014/main" id="{18BE19C1-D2CF-4508-91B9-A008FD66ACFD}"/>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ACT I · PRODUCT</a:t>
            </a:r>
            <a:endParaRPr sz="850"/>
          </a:p>
        </p:txBody>
      </p:sp>
      <p:sp>
        <p:nvSpPr>
          <p:cNvPr id="74" name="Text 58">
            <a:extLst>
              <a:ext uri="{FF2B5EF4-FFF2-40B4-BE49-F238E27FC236}">
                <a16:creationId xmlns:a16="http://schemas.microsoft.com/office/drawing/2014/main" id="{C2D87EB2-268F-406A-AA72-F967586B5973}"/>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75" name="Text 59">
            <a:extLst>
              <a:ext uri="{FF2B5EF4-FFF2-40B4-BE49-F238E27FC236}">
                <a16:creationId xmlns:a16="http://schemas.microsoft.com/office/drawing/2014/main" id="{4DD33FF8-21B1-43C1-942E-E58C9543A901}"/>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03</a:t>
            </a:r>
            <a:endParaRPr sz="850"/>
          </a:p>
        </p:txBody>
      </p:sp>
    </p:spTree>
    <p:extLst>
      <p:ext uri="{BB962C8B-B14F-4D97-AF65-F5344CB8AC3E}">
        <p14:creationId xmlns:p14="http://schemas.microsoft.com/office/powerpoint/2010/main" val="765426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6"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083DA379-14B0-4CD1-AB98-CCE30C0C5A20}"/>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FIND · CONNECT · VERIFY</a:t>
            </a:r>
            <a:endParaRPr sz="950"/>
          </a:p>
        </p:txBody>
      </p:sp>
      <p:sp>
        <p:nvSpPr>
          <p:cNvPr id="4" name="Text 1">
            <a:extLst>
              <a:ext uri="{FF2B5EF4-FFF2-40B4-BE49-F238E27FC236}">
                <a16:creationId xmlns:a16="http://schemas.microsoft.com/office/drawing/2014/main" id="{C652F017-3C04-4FF1-A5A5-F75D22861046}"/>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650" b="1">
                <a:solidFill>
                  <a:srgbClr val="F7FAFF"/>
                </a:solidFill>
                <a:latin typeface="Inter"/>
                <a:ea typeface="Inter"/>
                <a:cs typeface="Inter"/>
              </a:rPr>
              <a:t>Discovery outpaces approval</a:t>
            </a:r>
            <a:endParaRPr sz="2650"/>
          </a:p>
        </p:txBody>
      </p:sp>
      <p:sp>
        <p:nvSpPr>
          <p:cNvPr id="5" name="Shape 2">
            <a:extLst>
              <a:ext uri="{FF2B5EF4-FFF2-40B4-BE49-F238E27FC236}">
                <a16:creationId xmlns:a16="http://schemas.microsoft.com/office/drawing/2014/main" id="{4B895753-B32E-4CDF-A576-41C8B7D607C1}"/>
              </a:ext>
            </a:extLst>
          </p:cNvPr>
          <p:cNvSpPr>
            <a:spLocks noGrp="1"/>
          </p:cNvSpPr>
          <p:nvPr/>
        </p:nvSpPr>
        <p:spPr>
          <a:xfrm>
            <a:off x="566928" y="1417320"/>
            <a:ext cx="2029968" cy="1069848"/>
          </a:xfrm>
          <a:prstGeom prst="roundRect">
            <a:avLst>
              <a:gd name="adj" fmla="val 6838"/>
            </a:avLst>
          </a:prstGeom>
          <a:solidFill>
            <a:srgbClr val="0E1B2E"/>
          </a:solidFill>
          <a:ln w="12700">
            <a:solidFill>
              <a:srgbClr val="35D4E7"/>
            </a:solidFill>
            <a:prstDash val="solid"/>
          </a:ln>
        </p:spPr>
        <p:txBody>
          <a:bodyPr/>
          <a:lstStyle/>
          <a:p>
            <a:endParaRPr/>
          </a:p>
        </p:txBody>
      </p:sp>
      <p:pic>
        <p:nvPicPr>
          <p:cNvPr id="90"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520" y="1635760"/>
            <a:ext cx="310896" cy="276352"/>
          </a:xfrm>
          <a:prstGeom prst="rect">
            <a:avLst/>
          </a:prstGeom>
        </p:spPr>
      </p:pic>
      <p:sp>
        <p:nvSpPr>
          <p:cNvPr id="7" name="Text 3">
            <a:extLst>
              <a:ext uri="{FF2B5EF4-FFF2-40B4-BE49-F238E27FC236}">
                <a16:creationId xmlns:a16="http://schemas.microsoft.com/office/drawing/2014/main" id="{CD44C6E1-8CC8-4CCA-B8B9-74EDA8BC5064}"/>
              </a:ext>
            </a:extLst>
          </p:cNvPr>
          <p:cNvSpPr>
            <a:spLocks noGrp="1"/>
          </p:cNvSpPr>
          <p:nvPr/>
        </p:nvSpPr>
        <p:spPr>
          <a:xfrm>
            <a:off x="1133856" y="1554480"/>
            <a:ext cx="1261872" cy="256032"/>
          </a:xfrm>
          <a:prstGeom prst="rect">
            <a:avLst/>
          </a:prstGeom>
          <a:noFill/>
        </p:spPr>
        <p:txBody>
          <a:bodyPr wrap="square" lIns="0" tIns="0" rIns="0" bIns="0" anchor="ctr"/>
          <a:lstStyle/>
          <a:p>
            <a:pPr marL="0" indent="0">
              <a:buNone/>
            </a:pPr>
            <a:r>
              <a:rPr sz="1220" b="1">
                <a:solidFill>
                  <a:srgbClr val="F7FAFF"/>
                </a:solidFill>
                <a:latin typeface="Inter"/>
                <a:ea typeface="Inter"/>
                <a:cs typeface="Inter"/>
              </a:rPr>
              <a:t>Official Registry</a:t>
            </a:r>
            <a:endParaRPr sz="1220"/>
          </a:p>
        </p:txBody>
      </p:sp>
      <p:sp>
        <p:nvSpPr>
          <p:cNvPr id="8" name="Text 4">
            <a:extLst>
              <a:ext uri="{FF2B5EF4-FFF2-40B4-BE49-F238E27FC236}">
                <a16:creationId xmlns:a16="http://schemas.microsoft.com/office/drawing/2014/main" id="{958FD7A9-F88C-4478-96C3-EE8D63A1BA81}"/>
              </a:ext>
            </a:extLst>
          </p:cNvPr>
          <p:cNvSpPr>
            <a:spLocks noGrp="1"/>
          </p:cNvSpPr>
          <p:nvPr/>
        </p:nvSpPr>
        <p:spPr>
          <a:xfrm>
            <a:off x="1133856" y="1892808"/>
            <a:ext cx="1261872" cy="22860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Canonical metadata</a:t>
            </a:r>
            <a:endParaRPr sz="880"/>
          </a:p>
        </p:txBody>
      </p:sp>
      <p:sp>
        <p:nvSpPr>
          <p:cNvPr id="9" name="Shape 5">
            <a:extLst>
              <a:ext uri="{FF2B5EF4-FFF2-40B4-BE49-F238E27FC236}">
                <a16:creationId xmlns:a16="http://schemas.microsoft.com/office/drawing/2014/main" id="{0604A9C0-0EFD-4986-A082-4F80DF55F6AF}"/>
              </a:ext>
            </a:extLst>
          </p:cNvPr>
          <p:cNvSpPr>
            <a:spLocks noGrp="1"/>
          </p:cNvSpPr>
          <p:nvPr/>
        </p:nvSpPr>
        <p:spPr>
          <a:xfrm>
            <a:off x="2852928" y="1417320"/>
            <a:ext cx="2029968" cy="1069848"/>
          </a:xfrm>
          <a:prstGeom prst="roundRect">
            <a:avLst>
              <a:gd name="adj" fmla="val 6838"/>
            </a:avLst>
          </a:prstGeom>
          <a:solidFill>
            <a:srgbClr val="0E1B2E"/>
          </a:solidFill>
          <a:ln w="12700">
            <a:solidFill>
              <a:srgbClr val="5B7CFF"/>
            </a:solidFill>
            <a:prstDash val="solid"/>
          </a:ln>
        </p:spPr>
        <p:txBody>
          <a:bodyPr/>
          <a:lstStyle/>
          <a:p>
            <a:endParaRPr/>
          </a:p>
        </p:txBody>
      </p:sp>
      <p:pic>
        <p:nvPicPr>
          <p:cNvPr id="94"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17520" y="1618488"/>
            <a:ext cx="310896" cy="310896"/>
          </a:xfrm>
          <a:prstGeom prst="rect">
            <a:avLst/>
          </a:prstGeom>
        </p:spPr>
      </p:pic>
      <p:sp>
        <p:nvSpPr>
          <p:cNvPr id="11" name="Text 6">
            <a:extLst>
              <a:ext uri="{FF2B5EF4-FFF2-40B4-BE49-F238E27FC236}">
                <a16:creationId xmlns:a16="http://schemas.microsoft.com/office/drawing/2014/main" id="{955A954D-37C2-4662-89A4-1F97B5B46898}"/>
              </a:ext>
            </a:extLst>
          </p:cNvPr>
          <p:cNvSpPr>
            <a:spLocks noGrp="1"/>
          </p:cNvSpPr>
          <p:nvPr/>
        </p:nvSpPr>
        <p:spPr>
          <a:xfrm>
            <a:off x="3419856" y="1554480"/>
            <a:ext cx="1261872" cy="256032"/>
          </a:xfrm>
          <a:prstGeom prst="rect">
            <a:avLst/>
          </a:prstGeom>
          <a:noFill/>
        </p:spPr>
        <p:txBody>
          <a:bodyPr wrap="square" lIns="0" tIns="0" rIns="0" bIns="0" anchor="ctr"/>
          <a:lstStyle/>
          <a:p>
            <a:pPr marL="0" indent="0">
              <a:buNone/>
            </a:pPr>
            <a:r>
              <a:rPr sz="1220" b="1">
                <a:solidFill>
                  <a:srgbClr val="F7FAFF"/>
                </a:solidFill>
                <a:latin typeface="Inter"/>
                <a:ea typeface="Inter"/>
                <a:cs typeface="Inter"/>
              </a:rPr>
              <a:t>Community</a:t>
            </a:r>
            <a:endParaRPr sz="1220"/>
          </a:p>
        </p:txBody>
      </p:sp>
      <p:sp>
        <p:nvSpPr>
          <p:cNvPr id="12" name="Text 7">
            <a:extLst>
              <a:ext uri="{FF2B5EF4-FFF2-40B4-BE49-F238E27FC236}">
                <a16:creationId xmlns:a16="http://schemas.microsoft.com/office/drawing/2014/main" id="{825EE183-72BE-4290-B109-DCC69863503C}"/>
              </a:ext>
            </a:extLst>
          </p:cNvPr>
          <p:cNvSpPr>
            <a:spLocks noGrp="1"/>
          </p:cNvSpPr>
          <p:nvPr/>
        </p:nvSpPr>
        <p:spPr>
          <a:xfrm>
            <a:off x="3419856" y="1892808"/>
            <a:ext cx="1261872" cy="22860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Directories + search</a:t>
            </a:r>
            <a:endParaRPr sz="880"/>
          </a:p>
        </p:txBody>
      </p:sp>
      <p:sp>
        <p:nvSpPr>
          <p:cNvPr id="13" name="Shape 8">
            <a:extLst>
              <a:ext uri="{FF2B5EF4-FFF2-40B4-BE49-F238E27FC236}">
                <a16:creationId xmlns:a16="http://schemas.microsoft.com/office/drawing/2014/main" id="{1851AFE2-C053-4716-9A06-0D0428B7D742}"/>
              </a:ext>
            </a:extLst>
          </p:cNvPr>
          <p:cNvSpPr>
            <a:spLocks noGrp="1"/>
          </p:cNvSpPr>
          <p:nvPr/>
        </p:nvSpPr>
        <p:spPr>
          <a:xfrm>
            <a:off x="5138928" y="1417320"/>
            <a:ext cx="2029968" cy="1069848"/>
          </a:xfrm>
          <a:prstGeom prst="roundRect">
            <a:avLst>
              <a:gd name="adj" fmla="val 6838"/>
            </a:avLst>
          </a:prstGeom>
          <a:solidFill>
            <a:srgbClr val="0E1B2E"/>
          </a:solidFill>
          <a:ln w="12700">
            <a:solidFill>
              <a:srgbClr val="A879FF"/>
            </a:solidFill>
            <a:prstDash val="solid"/>
          </a:ln>
        </p:spPr>
        <p:txBody>
          <a:bodyPr/>
          <a:lstStyle/>
          <a:p>
            <a:endParaRPr/>
          </a:p>
        </p:txBody>
      </p:sp>
      <p:pic>
        <p:nvPicPr>
          <p:cNvPr id="98" name="Image 3"/>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03520" y="1618488"/>
            <a:ext cx="310896" cy="310896"/>
          </a:xfrm>
          <a:prstGeom prst="rect">
            <a:avLst/>
          </a:prstGeom>
        </p:spPr>
      </p:pic>
      <p:sp>
        <p:nvSpPr>
          <p:cNvPr id="15" name="Text 9">
            <a:extLst>
              <a:ext uri="{FF2B5EF4-FFF2-40B4-BE49-F238E27FC236}">
                <a16:creationId xmlns:a16="http://schemas.microsoft.com/office/drawing/2014/main" id="{6C61ED67-FD4D-45A8-8F43-D977462794EB}"/>
              </a:ext>
            </a:extLst>
          </p:cNvPr>
          <p:cNvSpPr>
            <a:spLocks noGrp="1"/>
          </p:cNvSpPr>
          <p:nvPr/>
        </p:nvSpPr>
        <p:spPr>
          <a:xfrm>
            <a:off x="5705856" y="1554480"/>
            <a:ext cx="1261872" cy="256032"/>
          </a:xfrm>
          <a:prstGeom prst="rect">
            <a:avLst/>
          </a:prstGeom>
          <a:noFill/>
        </p:spPr>
        <p:txBody>
          <a:bodyPr wrap="square" lIns="0" tIns="0" rIns="0" bIns="0" anchor="ctr"/>
          <a:lstStyle/>
          <a:p>
            <a:pPr marL="0" indent="0">
              <a:buNone/>
            </a:pPr>
            <a:r>
              <a:rPr sz="1220" b="1">
                <a:solidFill>
                  <a:srgbClr val="F7FAFF"/>
                </a:solidFill>
                <a:latin typeface="Inter"/>
                <a:ea typeface="Inter"/>
                <a:cs typeface="Inter"/>
              </a:rPr>
              <a:t>Publisher</a:t>
            </a:r>
            <a:endParaRPr sz="1220"/>
          </a:p>
        </p:txBody>
      </p:sp>
      <p:sp>
        <p:nvSpPr>
          <p:cNvPr id="16" name="Text 10">
            <a:extLst>
              <a:ext uri="{FF2B5EF4-FFF2-40B4-BE49-F238E27FC236}">
                <a16:creationId xmlns:a16="http://schemas.microsoft.com/office/drawing/2014/main" id="{B68A5EA5-C4E9-46C2-93CF-C30FF636D605}"/>
              </a:ext>
            </a:extLst>
          </p:cNvPr>
          <p:cNvSpPr>
            <a:spLocks noGrp="1"/>
          </p:cNvSpPr>
          <p:nvPr/>
        </p:nvSpPr>
        <p:spPr>
          <a:xfrm>
            <a:off x="5705856" y="1892808"/>
            <a:ext cx="1261872" cy="22860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Namespace + source</a:t>
            </a:r>
            <a:endParaRPr sz="880"/>
          </a:p>
        </p:txBody>
      </p:sp>
      <p:sp>
        <p:nvSpPr>
          <p:cNvPr id="17" name="Shape 11">
            <a:extLst>
              <a:ext uri="{FF2B5EF4-FFF2-40B4-BE49-F238E27FC236}">
                <a16:creationId xmlns:a16="http://schemas.microsoft.com/office/drawing/2014/main" id="{D0E51B76-F072-4269-BE22-A3E38AC6C400}"/>
              </a:ext>
            </a:extLst>
          </p:cNvPr>
          <p:cNvSpPr>
            <a:spLocks noGrp="1"/>
          </p:cNvSpPr>
          <p:nvPr/>
        </p:nvSpPr>
        <p:spPr>
          <a:xfrm>
            <a:off x="7424928" y="1417320"/>
            <a:ext cx="2029968" cy="1069848"/>
          </a:xfrm>
          <a:prstGeom prst="roundRect">
            <a:avLst>
              <a:gd name="adj" fmla="val 6838"/>
            </a:avLst>
          </a:prstGeom>
          <a:solidFill>
            <a:srgbClr val="0E1B2E"/>
          </a:solidFill>
          <a:ln w="12700">
            <a:solidFill>
              <a:srgbClr val="F7B955"/>
            </a:solidFill>
            <a:prstDash val="solid"/>
          </a:ln>
        </p:spPr>
        <p:txBody>
          <a:bodyPr/>
          <a:lstStyle/>
          <a:p>
            <a:endParaRPr/>
          </a:p>
        </p:txBody>
      </p:sp>
      <p:pic>
        <p:nvPicPr>
          <p:cNvPr id="102" name="Image 4"/>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89520" y="1649578"/>
            <a:ext cx="310896" cy="248717"/>
          </a:xfrm>
          <a:prstGeom prst="rect">
            <a:avLst/>
          </a:prstGeom>
        </p:spPr>
      </p:pic>
      <p:sp>
        <p:nvSpPr>
          <p:cNvPr id="19" name="Text 12">
            <a:extLst>
              <a:ext uri="{FF2B5EF4-FFF2-40B4-BE49-F238E27FC236}">
                <a16:creationId xmlns:a16="http://schemas.microsoft.com/office/drawing/2014/main" id="{551849FB-78B0-461D-B34B-F59777AE4AC3}"/>
              </a:ext>
            </a:extLst>
          </p:cNvPr>
          <p:cNvSpPr>
            <a:spLocks noGrp="1"/>
          </p:cNvSpPr>
          <p:nvPr/>
        </p:nvSpPr>
        <p:spPr>
          <a:xfrm>
            <a:off x="7991856" y="1554480"/>
            <a:ext cx="1261872" cy="256032"/>
          </a:xfrm>
          <a:prstGeom prst="rect">
            <a:avLst/>
          </a:prstGeom>
          <a:noFill/>
        </p:spPr>
        <p:txBody>
          <a:bodyPr wrap="square" lIns="0" tIns="0" rIns="0" bIns="0" anchor="ctr"/>
          <a:lstStyle/>
          <a:p>
            <a:pPr marL="0" indent="0">
              <a:buNone/>
            </a:pPr>
            <a:r>
              <a:rPr sz="1220" b="1">
                <a:solidFill>
                  <a:srgbClr val="F7FAFF"/>
                </a:solidFill>
                <a:latin typeface="Inter"/>
                <a:ea typeface="Inter"/>
                <a:cs typeface="Inter"/>
              </a:rPr>
              <a:t>Allowlist</a:t>
            </a:r>
            <a:endParaRPr sz="1220"/>
          </a:p>
        </p:txBody>
      </p:sp>
      <p:sp>
        <p:nvSpPr>
          <p:cNvPr id="20" name="Text 13">
            <a:extLst>
              <a:ext uri="{FF2B5EF4-FFF2-40B4-BE49-F238E27FC236}">
                <a16:creationId xmlns:a16="http://schemas.microsoft.com/office/drawing/2014/main" id="{70411AD8-4166-4C0F-911B-FFDB9FACAD73}"/>
              </a:ext>
            </a:extLst>
          </p:cNvPr>
          <p:cNvSpPr>
            <a:spLocks noGrp="1"/>
          </p:cNvSpPr>
          <p:nvPr/>
        </p:nvSpPr>
        <p:spPr>
          <a:xfrm>
            <a:off x="7991856" y="1892808"/>
            <a:ext cx="1261872" cy="22860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Approved versions</a:t>
            </a:r>
            <a:endParaRPr sz="880"/>
          </a:p>
        </p:txBody>
      </p:sp>
      <p:sp>
        <p:nvSpPr>
          <p:cNvPr id="21" name="Shape 14">
            <a:extLst>
              <a:ext uri="{FF2B5EF4-FFF2-40B4-BE49-F238E27FC236}">
                <a16:creationId xmlns:a16="http://schemas.microsoft.com/office/drawing/2014/main" id="{6083DBFE-4CCC-4D9C-AADA-5B3C4C4D87F6}"/>
              </a:ext>
            </a:extLst>
          </p:cNvPr>
          <p:cNvSpPr>
            <a:spLocks noGrp="1"/>
          </p:cNvSpPr>
          <p:nvPr/>
        </p:nvSpPr>
        <p:spPr>
          <a:xfrm>
            <a:off x="9710928" y="1417320"/>
            <a:ext cx="2029968" cy="1069848"/>
          </a:xfrm>
          <a:prstGeom prst="roundRect">
            <a:avLst>
              <a:gd name="adj" fmla="val 6838"/>
            </a:avLst>
          </a:prstGeom>
          <a:solidFill>
            <a:srgbClr val="0E1B2E"/>
          </a:solidFill>
          <a:ln w="12700">
            <a:solidFill>
              <a:srgbClr val="FF6FA8"/>
            </a:solidFill>
            <a:prstDash val="solid"/>
          </a:ln>
        </p:spPr>
        <p:txBody>
          <a:bodyPr/>
          <a:lstStyle/>
          <a:p>
            <a:endParaRPr/>
          </a:p>
        </p:txBody>
      </p:sp>
      <p:pic>
        <p:nvPicPr>
          <p:cNvPr id="106" name="Image 5"/>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875520" y="1618488"/>
            <a:ext cx="310896" cy="310896"/>
          </a:xfrm>
          <a:prstGeom prst="rect">
            <a:avLst/>
          </a:prstGeom>
        </p:spPr>
      </p:pic>
      <p:sp>
        <p:nvSpPr>
          <p:cNvPr id="23" name="Text 15">
            <a:extLst>
              <a:ext uri="{FF2B5EF4-FFF2-40B4-BE49-F238E27FC236}">
                <a16:creationId xmlns:a16="http://schemas.microsoft.com/office/drawing/2014/main" id="{1E1FB0B9-A8D0-4EFF-9AE1-7BEF6A3615B6}"/>
              </a:ext>
            </a:extLst>
          </p:cNvPr>
          <p:cNvSpPr>
            <a:spLocks noGrp="1"/>
          </p:cNvSpPr>
          <p:nvPr/>
        </p:nvSpPr>
        <p:spPr>
          <a:xfrm>
            <a:off x="10277856" y="1554480"/>
            <a:ext cx="1261872" cy="256032"/>
          </a:xfrm>
          <a:prstGeom prst="rect">
            <a:avLst/>
          </a:prstGeom>
          <a:noFill/>
        </p:spPr>
        <p:txBody>
          <a:bodyPr wrap="square" lIns="0" tIns="0" rIns="0" bIns="0" anchor="ctr"/>
          <a:lstStyle/>
          <a:p>
            <a:pPr marL="0" indent="0">
              <a:buNone/>
            </a:pPr>
            <a:r>
              <a:rPr sz="1220" b="1">
                <a:solidFill>
                  <a:srgbClr val="F7FAFF"/>
                </a:solidFill>
                <a:latin typeface="Inter"/>
                <a:ea typeface="Inter"/>
                <a:cs typeface="Inter"/>
              </a:rPr>
              <a:t>Runtime</a:t>
            </a:r>
            <a:endParaRPr sz="1220"/>
          </a:p>
        </p:txBody>
      </p:sp>
      <p:sp>
        <p:nvSpPr>
          <p:cNvPr id="24" name="Text 16">
            <a:extLst>
              <a:ext uri="{FF2B5EF4-FFF2-40B4-BE49-F238E27FC236}">
                <a16:creationId xmlns:a16="http://schemas.microsoft.com/office/drawing/2014/main" id="{C3C1BDC9-A1CA-4ACA-8597-BEEBD33E2A4D}"/>
              </a:ext>
            </a:extLst>
          </p:cNvPr>
          <p:cNvSpPr>
            <a:spLocks noGrp="1"/>
          </p:cNvSpPr>
          <p:nvPr/>
        </p:nvSpPr>
        <p:spPr>
          <a:xfrm>
            <a:off x="10277856" y="1892808"/>
            <a:ext cx="1261872" cy="22860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Scope + telemetry</a:t>
            </a:r>
            <a:endParaRPr sz="880"/>
          </a:p>
        </p:txBody>
      </p:sp>
      <p:sp>
        <p:nvSpPr>
          <p:cNvPr id="25" name="Shape 17">
            <a:extLst>
              <a:ext uri="{FF2B5EF4-FFF2-40B4-BE49-F238E27FC236}">
                <a16:creationId xmlns:a16="http://schemas.microsoft.com/office/drawing/2014/main" id="{55892504-7B31-4DC1-910A-80F6C83C5165}"/>
              </a:ext>
            </a:extLst>
          </p:cNvPr>
          <p:cNvSpPr>
            <a:spLocks noGrp="1"/>
          </p:cNvSpPr>
          <p:nvPr/>
        </p:nvSpPr>
        <p:spPr>
          <a:xfrm>
            <a:off x="566928" y="2880360"/>
            <a:ext cx="11045952" cy="987552"/>
          </a:xfrm>
          <a:prstGeom prst="roundRect">
            <a:avLst>
              <a:gd name="adj" fmla="val 7407"/>
            </a:avLst>
          </a:prstGeom>
          <a:solidFill>
            <a:srgbClr val="0A1729"/>
          </a:solidFill>
          <a:ln w="12700">
            <a:solidFill>
              <a:srgbClr val="293A51"/>
            </a:solidFill>
            <a:prstDash val="solid"/>
          </a:ln>
        </p:spPr>
        <p:txBody>
          <a:bodyPr/>
          <a:lstStyle/>
          <a:p>
            <a:endParaRPr/>
          </a:p>
        </p:txBody>
      </p:sp>
      <p:sp>
        <p:nvSpPr>
          <p:cNvPr id="26" name="Shape 18">
            <a:extLst>
              <a:ext uri="{FF2B5EF4-FFF2-40B4-BE49-F238E27FC236}">
                <a16:creationId xmlns:a16="http://schemas.microsoft.com/office/drawing/2014/main" id="{D2837279-9E22-4A5F-A8B5-883064CCE503}"/>
              </a:ext>
            </a:extLst>
          </p:cNvPr>
          <p:cNvSpPr>
            <a:spLocks noGrp="1"/>
          </p:cNvSpPr>
          <p:nvPr/>
        </p:nvSpPr>
        <p:spPr>
          <a:xfrm>
            <a:off x="896112" y="3118104"/>
            <a:ext cx="420624" cy="420624"/>
          </a:xfrm>
          <a:prstGeom prst="ellipse">
            <a:avLst/>
          </a:prstGeom>
          <a:solidFill>
            <a:srgbClr val="35D4E7">
              <a:alpha val="18000"/>
            </a:srgbClr>
          </a:solidFill>
          <a:ln w="12700">
            <a:solidFill>
              <a:srgbClr val="35D4E7">
                <a:alpha val="0"/>
              </a:srgbClr>
            </a:solidFill>
            <a:prstDash val="solid"/>
          </a:ln>
        </p:spPr>
        <p:txBody>
          <a:bodyPr/>
          <a:lstStyle/>
          <a:p>
            <a:endParaRPr/>
          </a:p>
        </p:txBody>
      </p:sp>
      <p:pic>
        <p:nvPicPr>
          <p:cNvPr id="111" name="Image 6"/>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05840" y="3227832"/>
            <a:ext cx="201168" cy="201168"/>
          </a:xfrm>
          <a:prstGeom prst="rect">
            <a:avLst/>
          </a:prstGeom>
        </p:spPr>
      </p:pic>
      <p:sp>
        <p:nvSpPr>
          <p:cNvPr id="28" name="Text 19">
            <a:extLst>
              <a:ext uri="{FF2B5EF4-FFF2-40B4-BE49-F238E27FC236}">
                <a16:creationId xmlns:a16="http://schemas.microsoft.com/office/drawing/2014/main" id="{30357C09-945A-4C8C-A973-4E06C15E3E41}"/>
              </a:ext>
            </a:extLst>
          </p:cNvPr>
          <p:cNvSpPr>
            <a:spLocks noGrp="1"/>
          </p:cNvSpPr>
          <p:nvPr/>
        </p:nvSpPr>
        <p:spPr>
          <a:xfrm>
            <a:off x="1426464" y="3154680"/>
            <a:ext cx="1143000" cy="210312"/>
          </a:xfrm>
          <a:prstGeom prst="rect">
            <a:avLst/>
          </a:prstGeom>
          <a:noFill/>
        </p:spPr>
        <p:txBody>
          <a:bodyPr wrap="square" lIns="0" tIns="0" rIns="0" bIns="0" anchor="ctr"/>
          <a:lstStyle/>
          <a:p>
            <a:pPr marL="0" indent="0">
              <a:buNone/>
            </a:pPr>
            <a:r>
              <a:rPr sz="1050" b="1">
                <a:solidFill>
                  <a:srgbClr val="EAF0F8"/>
                </a:solidFill>
                <a:latin typeface="Inter"/>
                <a:ea typeface="Inter"/>
                <a:cs typeface="Inter"/>
              </a:rPr>
              <a:t>DISCOVER</a:t>
            </a:r>
            <a:endParaRPr sz="1050"/>
          </a:p>
        </p:txBody>
      </p:sp>
      <p:sp>
        <p:nvSpPr>
          <p:cNvPr id="29" name="Shape 20">
            <a:extLst>
              <a:ext uri="{FF2B5EF4-FFF2-40B4-BE49-F238E27FC236}">
                <a16:creationId xmlns:a16="http://schemas.microsoft.com/office/drawing/2014/main" id="{8FE972FD-F2D5-4772-A1EB-ED032EB20F64}"/>
              </a:ext>
            </a:extLst>
          </p:cNvPr>
          <p:cNvSpPr>
            <a:spLocks noGrp="1"/>
          </p:cNvSpPr>
          <p:nvPr/>
        </p:nvSpPr>
        <p:spPr>
          <a:xfrm>
            <a:off x="2578608" y="3328416"/>
            <a:ext cx="310896" cy="0"/>
          </a:xfrm>
          <a:prstGeom prst="line">
            <a:avLst/>
          </a:prstGeom>
          <a:noFill/>
          <a:ln w="12700">
            <a:solidFill>
              <a:srgbClr val="72839A"/>
            </a:solidFill>
            <a:prstDash val="solid"/>
            <a:headEnd type="none"/>
            <a:tailEnd type="triangle"/>
          </a:ln>
        </p:spPr>
        <p:txBody>
          <a:bodyPr/>
          <a:lstStyle/>
          <a:p>
            <a:endParaRPr/>
          </a:p>
        </p:txBody>
      </p:sp>
      <p:sp>
        <p:nvSpPr>
          <p:cNvPr id="30" name="Shape 21">
            <a:extLst>
              <a:ext uri="{FF2B5EF4-FFF2-40B4-BE49-F238E27FC236}">
                <a16:creationId xmlns:a16="http://schemas.microsoft.com/office/drawing/2014/main" id="{7DB5F3F2-0810-4FBB-B4DC-0ABDA1F45FB0}"/>
              </a:ext>
            </a:extLst>
          </p:cNvPr>
          <p:cNvSpPr>
            <a:spLocks noGrp="1"/>
          </p:cNvSpPr>
          <p:nvPr/>
        </p:nvSpPr>
        <p:spPr>
          <a:xfrm>
            <a:off x="3054096" y="3118104"/>
            <a:ext cx="420624" cy="420624"/>
          </a:xfrm>
          <a:prstGeom prst="ellipse">
            <a:avLst/>
          </a:prstGeom>
          <a:solidFill>
            <a:srgbClr val="3BE0B5">
              <a:alpha val="18000"/>
            </a:srgbClr>
          </a:solidFill>
          <a:ln w="12700">
            <a:solidFill>
              <a:srgbClr val="3BE0B5">
                <a:alpha val="0"/>
              </a:srgbClr>
            </a:solidFill>
            <a:prstDash val="solid"/>
          </a:ln>
        </p:spPr>
        <p:txBody>
          <a:bodyPr/>
          <a:lstStyle/>
          <a:p>
            <a:endParaRPr/>
          </a:p>
        </p:txBody>
      </p:sp>
      <p:pic>
        <p:nvPicPr>
          <p:cNvPr id="115" name="Image 7"/>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163824" y="3227832"/>
            <a:ext cx="201168" cy="201168"/>
          </a:xfrm>
          <a:prstGeom prst="rect">
            <a:avLst/>
          </a:prstGeom>
        </p:spPr>
      </p:pic>
      <p:sp>
        <p:nvSpPr>
          <p:cNvPr id="32" name="Text 22">
            <a:extLst>
              <a:ext uri="{FF2B5EF4-FFF2-40B4-BE49-F238E27FC236}">
                <a16:creationId xmlns:a16="http://schemas.microsoft.com/office/drawing/2014/main" id="{8519D016-318D-48A4-AE99-E6BE2013B364}"/>
              </a:ext>
            </a:extLst>
          </p:cNvPr>
          <p:cNvSpPr>
            <a:spLocks noGrp="1"/>
          </p:cNvSpPr>
          <p:nvPr/>
        </p:nvSpPr>
        <p:spPr>
          <a:xfrm>
            <a:off x="3584448" y="3154680"/>
            <a:ext cx="1143000" cy="210312"/>
          </a:xfrm>
          <a:prstGeom prst="rect">
            <a:avLst/>
          </a:prstGeom>
          <a:noFill/>
        </p:spPr>
        <p:txBody>
          <a:bodyPr wrap="square" lIns="0" tIns="0" rIns="0" bIns="0" anchor="ctr"/>
          <a:lstStyle/>
          <a:p>
            <a:pPr marL="0" indent="0">
              <a:buNone/>
            </a:pPr>
            <a:r>
              <a:rPr sz="1050" b="1">
                <a:solidFill>
                  <a:srgbClr val="EAF0F8"/>
                </a:solidFill>
                <a:latin typeface="Inter"/>
                <a:ea typeface="Inter"/>
                <a:cs typeface="Inter"/>
              </a:rPr>
              <a:t>VERIFY</a:t>
            </a:r>
            <a:endParaRPr sz="1050"/>
          </a:p>
        </p:txBody>
      </p:sp>
      <p:sp>
        <p:nvSpPr>
          <p:cNvPr id="33" name="Shape 23">
            <a:extLst>
              <a:ext uri="{FF2B5EF4-FFF2-40B4-BE49-F238E27FC236}">
                <a16:creationId xmlns:a16="http://schemas.microsoft.com/office/drawing/2014/main" id="{164B499C-37A6-4C75-9C0F-CF7946712AB9}"/>
              </a:ext>
            </a:extLst>
          </p:cNvPr>
          <p:cNvSpPr>
            <a:spLocks noGrp="1"/>
          </p:cNvSpPr>
          <p:nvPr/>
        </p:nvSpPr>
        <p:spPr>
          <a:xfrm>
            <a:off x="4736592" y="3328416"/>
            <a:ext cx="310896" cy="0"/>
          </a:xfrm>
          <a:prstGeom prst="line">
            <a:avLst/>
          </a:prstGeom>
          <a:noFill/>
          <a:ln w="12700">
            <a:solidFill>
              <a:srgbClr val="72839A"/>
            </a:solidFill>
            <a:prstDash val="solid"/>
            <a:headEnd type="none"/>
            <a:tailEnd type="triangle"/>
          </a:ln>
        </p:spPr>
        <p:txBody>
          <a:bodyPr/>
          <a:lstStyle/>
          <a:p>
            <a:endParaRPr/>
          </a:p>
        </p:txBody>
      </p:sp>
      <p:sp>
        <p:nvSpPr>
          <p:cNvPr id="34" name="Shape 24">
            <a:extLst>
              <a:ext uri="{FF2B5EF4-FFF2-40B4-BE49-F238E27FC236}">
                <a16:creationId xmlns:a16="http://schemas.microsoft.com/office/drawing/2014/main" id="{70A1645D-45D1-4F62-889F-C11E9CA0856A}"/>
              </a:ext>
            </a:extLst>
          </p:cNvPr>
          <p:cNvSpPr>
            <a:spLocks noGrp="1"/>
          </p:cNvSpPr>
          <p:nvPr/>
        </p:nvSpPr>
        <p:spPr>
          <a:xfrm>
            <a:off x="5212080" y="3118104"/>
            <a:ext cx="420624" cy="420624"/>
          </a:xfrm>
          <a:prstGeom prst="ellipse">
            <a:avLst/>
          </a:prstGeom>
          <a:solidFill>
            <a:srgbClr val="5B7CFF">
              <a:alpha val="18000"/>
            </a:srgbClr>
          </a:solidFill>
          <a:ln w="12700">
            <a:solidFill>
              <a:srgbClr val="5B7CFF">
                <a:alpha val="0"/>
              </a:srgbClr>
            </a:solidFill>
            <a:prstDash val="solid"/>
          </a:ln>
        </p:spPr>
        <p:txBody>
          <a:bodyPr/>
          <a:lstStyle/>
          <a:p>
            <a:endParaRPr/>
          </a:p>
        </p:txBody>
      </p:sp>
      <p:pic>
        <p:nvPicPr>
          <p:cNvPr id="119" name="Image 8"/>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321808" y="3227832"/>
            <a:ext cx="201168" cy="201168"/>
          </a:xfrm>
          <a:prstGeom prst="rect">
            <a:avLst/>
          </a:prstGeom>
        </p:spPr>
      </p:pic>
      <p:sp>
        <p:nvSpPr>
          <p:cNvPr id="36" name="Text 25">
            <a:extLst>
              <a:ext uri="{FF2B5EF4-FFF2-40B4-BE49-F238E27FC236}">
                <a16:creationId xmlns:a16="http://schemas.microsoft.com/office/drawing/2014/main" id="{094F94A0-816D-420E-BE69-6E1FFE6DC41B}"/>
              </a:ext>
            </a:extLst>
          </p:cNvPr>
          <p:cNvSpPr>
            <a:spLocks noGrp="1"/>
          </p:cNvSpPr>
          <p:nvPr/>
        </p:nvSpPr>
        <p:spPr>
          <a:xfrm>
            <a:off x="5742432" y="3154680"/>
            <a:ext cx="1143000" cy="210312"/>
          </a:xfrm>
          <a:prstGeom prst="rect">
            <a:avLst/>
          </a:prstGeom>
          <a:noFill/>
        </p:spPr>
        <p:txBody>
          <a:bodyPr wrap="square" lIns="0" tIns="0" rIns="0" bIns="0" anchor="ctr"/>
          <a:lstStyle/>
          <a:p>
            <a:pPr marL="0" indent="0">
              <a:buNone/>
            </a:pPr>
            <a:r>
              <a:rPr sz="1050" b="1">
                <a:solidFill>
                  <a:srgbClr val="EAF0F8"/>
                </a:solidFill>
                <a:latin typeface="Inter"/>
                <a:ea typeface="Inter"/>
                <a:cs typeface="Inter"/>
              </a:rPr>
              <a:t>AUTHENTICATE</a:t>
            </a:r>
            <a:endParaRPr sz="1050"/>
          </a:p>
        </p:txBody>
      </p:sp>
      <p:sp>
        <p:nvSpPr>
          <p:cNvPr id="37" name="Shape 26">
            <a:extLst>
              <a:ext uri="{FF2B5EF4-FFF2-40B4-BE49-F238E27FC236}">
                <a16:creationId xmlns:a16="http://schemas.microsoft.com/office/drawing/2014/main" id="{51143362-E8C7-4231-BCC8-D8EC611433E1}"/>
              </a:ext>
            </a:extLst>
          </p:cNvPr>
          <p:cNvSpPr>
            <a:spLocks noGrp="1"/>
          </p:cNvSpPr>
          <p:nvPr/>
        </p:nvSpPr>
        <p:spPr>
          <a:xfrm>
            <a:off x="6894576" y="3328416"/>
            <a:ext cx="310896" cy="0"/>
          </a:xfrm>
          <a:prstGeom prst="line">
            <a:avLst/>
          </a:prstGeom>
          <a:noFill/>
          <a:ln w="12700">
            <a:solidFill>
              <a:srgbClr val="72839A"/>
            </a:solidFill>
            <a:prstDash val="solid"/>
            <a:headEnd type="none"/>
            <a:tailEnd type="triangle"/>
          </a:ln>
        </p:spPr>
        <p:txBody>
          <a:bodyPr/>
          <a:lstStyle/>
          <a:p>
            <a:endParaRPr/>
          </a:p>
        </p:txBody>
      </p:sp>
      <p:sp>
        <p:nvSpPr>
          <p:cNvPr id="38" name="Shape 27">
            <a:extLst>
              <a:ext uri="{FF2B5EF4-FFF2-40B4-BE49-F238E27FC236}">
                <a16:creationId xmlns:a16="http://schemas.microsoft.com/office/drawing/2014/main" id="{BAA83DB7-1081-424C-B9C3-93BD281067AC}"/>
              </a:ext>
            </a:extLst>
          </p:cNvPr>
          <p:cNvSpPr>
            <a:spLocks noGrp="1"/>
          </p:cNvSpPr>
          <p:nvPr/>
        </p:nvSpPr>
        <p:spPr>
          <a:xfrm>
            <a:off x="7370064" y="3118104"/>
            <a:ext cx="420624" cy="420624"/>
          </a:xfrm>
          <a:prstGeom prst="ellipse">
            <a:avLst/>
          </a:prstGeom>
          <a:solidFill>
            <a:srgbClr val="F7B955">
              <a:alpha val="18000"/>
            </a:srgbClr>
          </a:solidFill>
          <a:ln w="12700">
            <a:solidFill>
              <a:srgbClr val="F7B955">
                <a:alpha val="0"/>
              </a:srgbClr>
            </a:solidFill>
            <a:prstDash val="solid"/>
          </a:ln>
        </p:spPr>
        <p:txBody>
          <a:bodyPr/>
          <a:lstStyle/>
          <a:p>
            <a:endParaRPr/>
          </a:p>
        </p:txBody>
      </p:sp>
      <p:pic>
        <p:nvPicPr>
          <p:cNvPr id="123" name="Image 9"/>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479792" y="3227832"/>
            <a:ext cx="201168" cy="201168"/>
          </a:xfrm>
          <a:prstGeom prst="rect">
            <a:avLst/>
          </a:prstGeom>
        </p:spPr>
      </p:pic>
      <p:sp>
        <p:nvSpPr>
          <p:cNvPr id="40" name="Text 28">
            <a:extLst>
              <a:ext uri="{FF2B5EF4-FFF2-40B4-BE49-F238E27FC236}">
                <a16:creationId xmlns:a16="http://schemas.microsoft.com/office/drawing/2014/main" id="{E68EEACE-2477-4EBA-A7BC-EE610E61FB2D}"/>
              </a:ext>
            </a:extLst>
          </p:cNvPr>
          <p:cNvSpPr>
            <a:spLocks noGrp="1"/>
          </p:cNvSpPr>
          <p:nvPr/>
        </p:nvSpPr>
        <p:spPr>
          <a:xfrm>
            <a:off x="7900416" y="3154680"/>
            <a:ext cx="1143000" cy="210312"/>
          </a:xfrm>
          <a:prstGeom prst="rect">
            <a:avLst/>
          </a:prstGeom>
          <a:noFill/>
        </p:spPr>
        <p:txBody>
          <a:bodyPr wrap="square" lIns="0" tIns="0" rIns="0" bIns="0" anchor="ctr"/>
          <a:lstStyle/>
          <a:p>
            <a:pPr marL="0" indent="0">
              <a:buNone/>
            </a:pPr>
            <a:r>
              <a:rPr sz="1050" b="1">
                <a:solidFill>
                  <a:srgbClr val="EAF0F8"/>
                </a:solidFill>
                <a:latin typeface="Inter"/>
                <a:ea typeface="Inter"/>
                <a:cs typeface="Inter"/>
              </a:rPr>
              <a:t>SCOPE</a:t>
            </a:r>
            <a:endParaRPr sz="1050"/>
          </a:p>
        </p:txBody>
      </p:sp>
      <p:sp>
        <p:nvSpPr>
          <p:cNvPr id="41" name="Shape 29">
            <a:extLst>
              <a:ext uri="{FF2B5EF4-FFF2-40B4-BE49-F238E27FC236}">
                <a16:creationId xmlns:a16="http://schemas.microsoft.com/office/drawing/2014/main" id="{599C9F6B-61E2-45E2-8144-4AF552C7DE17}"/>
              </a:ext>
            </a:extLst>
          </p:cNvPr>
          <p:cNvSpPr>
            <a:spLocks noGrp="1"/>
          </p:cNvSpPr>
          <p:nvPr/>
        </p:nvSpPr>
        <p:spPr>
          <a:xfrm>
            <a:off x="9052560" y="3328416"/>
            <a:ext cx="310896" cy="0"/>
          </a:xfrm>
          <a:prstGeom prst="line">
            <a:avLst/>
          </a:prstGeom>
          <a:noFill/>
          <a:ln w="12700">
            <a:solidFill>
              <a:srgbClr val="72839A"/>
            </a:solidFill>
            <a:prstDash val="solid"/>
            <a:headEnd type="none"/>
            <a:tailEnd type="triangle"/>
          </a:ln>
        </p:spPr>
        <p:txBody>
          <a:bodyPr/>
          <a:lstStyle/>
          <a:p>
            <a:endParaRPr/>
          </a:p>
        </p:txBody>
      </p:sp>
      <p:sp>
        <p:nvSpPr>
          <p:cNvPr id="42" name="Shape 30">
            <a:extLst>
              <a:ext uri="{FF2B5EF4-FFF2-40B4-BE49-F238E27FC236}">
                <a16:creationId xmlns:a16="http://schemas.microsoft.com/office/drawing/2014/main" id="{44CC654E-DE38-4B2C-868C-81DE9CE165E8}"/>
              </a:ext>
            </a:extLst>
          </p:cNvPr>
          <p:cNvSpPr>
            <a:spLocks noGrp="1"/>
          </p:cNvSpPr>
          <p:nvPr/>
        </p:nvSpPr>
        <p:spPr>
          <a:xfrm>
            <a:off x="9528048" y="3118104"/>
            <a:ext cx="420624" cy="420624"/>
          </a:xfrm>
          <a:prstGeom prst="ellipse">
            <a:avLst/>
          </a:prstGeom>
          <a:solidFill>
            <a:srgbClr val="A879FF">
              <a:alpha val="18000"/>
            </a:srgbClr>
          </a:solidFill>
          <a:ln w="12700">
            <a:solidFill>
              <a:srgbClr val="A879FF">
                <a:alpha val="0"/>
              </a:srgbClr>
            </a:solidFill>
            <a:prstDash val="solid"/>
          </a:ln>
        </p:spPr>
        <p:txBody>
          <a:bodyPr/>
          <a:lstStyle/>
          <a:p>
            <a:endParaRPr/>
          </a:p>
        </p:txBody>
      </p:sp>
      <p:pic>
        <p:nvPicPr>
          <p:cNvPr id="127" name="Image 10"/>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9637776" y="3239008"/>
            <a:ext cx="201168" cy="178816"/>
          </a:xfrm>
          <a:prstGeom prst="rect">
            <a:avLst/>
          </a:prstGeom>
        </p:spPr>
      </p:pic>
      <p:sp>
        <p:nvSpPr>
          <p:cNvPr id="44" name="Text 31">
            <a:extLst>
              <a:ext uri="{FF2B5EF4-FFF2-40B4-BE49-F238E27FC236}">
                <a16:creationId xmlns:a16="http://schemas.microsoft.com/office/drawing/2014/main" id="{3E38E3E1-837D-4260-A8E7-0886003C2CF5}"/>
              </a:ext>
            </a:extLst>
          </p:cNvPr>
          <p:cNvSpPr>
            <a:spLocks noGrp="1"/>
          </p:cNvSpPr>
          <p:nvPr/>
        </p:nvSpPr>
        <p:spPr>
          <a:xfrm>
            <a:off x="10058400" y="3154680"/>
            <a:ext cx="1143000" cy="210312"/>
          </a:xfrm>
          <a:prstGeom prst="rect">
            <a:avLst/>
          </a:prstGeom>
          <a:noFill/>
        </p:spPr>
        <p:txBody>
          <a:bodyPr wrap="square" lIns="0" tIns="0" rIns="0" bIns="0" anchor="ctr"/>
          <a:lstStyle/>
          <a:p>
            <a:pPr marL="0" indent="0">
              <a:buNone/>
            </a:pPr>
            <a:r>
              <a:rPr sz="1050" b="1">
                <a:solidFill>
                  <a:srgbClr val="EAF0F8"/>
                </a:solidFill>
                <a:latin typeface="Inter"/>
                <a:ea typeface="Inter"/>
                <a:cs typeface="Inter"/>
              </a:rPr>
              <a:t>OBSERVE</a:t>
            </a:r>
            <a:endParaRPr sz="1050"/>
          </a:p>
        </p:txBody>
      </p:sp>
      <p:sp>
        <p:nvSpPr>
          <p:cNvPr id="45" name="Shape 32">
            <a:extLst>
              <a:ext uri="{FF2B5EF4-FFF2-40B4-BE49-F238E27FC236}">
                <a16:creationId xmlns:a16="http://schemas.microsoft.com/office/drawing/2014/main" id="{7E1C19B3-570A-46A0-8231-B33DF0408C7A}"/>
              </a:ext>
            </a:extLst>
          </p:cNvPr>
          <p:cNvSpPr>
            <a:spLocks noGrp="1"/>
          </p:cNvSpPr>
          <p:nvPr/>
        </p:nvSpPr>
        <p:spPr>
          <a:xfrm>
            <a:off x="566928" y="4279392"/>
            <a:ext cx="3456432" cy="1417320"/>
          </a:xfrm>
          <a:prstGeom prst="roundRect">
            <a:avLst>
              <a:gd name="adj" fmla="val 5161"/>
            </a:avLst>
          </a:prstGeom>
          <a:solidFill>
            <a:srgbClr val="0E1B2E"/>
          </a:solidFill>
          <a:ln w="12700">
            <a:solidFill>
              <a:srgbClr val="293A51"/>
            </a:solidFill>
            <a:prstDash val="solid"/>
          </a:ln>
          <a:effectLst>
            <a:outerShdw algn="bl" rotWithShape="0">
              <a:srgbClr val="000000">
                <a:alpha val="0"/>
              </a:srgbClr>
            </a:outerShdw>
          </a:effectLst>
        </p:spPr>
        <p:txBody>
          <a:bodyPr/>
          <a:lstStyle/>
          <a:p>
            <a:endParaRPr/>
          </a:p>
        </p:txBody>
      </p:sp>
      <p:sp>
        <p:nvSpPr>
          <p:cNvPr id="46" name="Shape 33">
            <a:extLst>
              <a:ext uri="{FF2B5EF4-FFF2-40B4-BE49-F238E27FC236}">
                <a16:creationId xmlns:a16="http://schemas.microsoft.com/office/drawing/2014/main" id="{88423E90-CD4C-495E-B8FB-BAF1C62FEB69}"/>
              </a:ext>
            </a:extLst>
          </p:cNvPr>
          <p:cNvSpPr>
            <a:spLocks noGrp="1"/>
          </p:cNvSpPr>
          <p:nvPr/>
        </p:nvSpPr>
        <p:spPr>
          <a:xfrm>
            <a:off x="731520" y="4434840"/>
            <a:ext cx="438912" cy="438912"/>
          </a:xfrm>
          <a:prstGeom prst="ellipse">
            <a:avLst/>
          </a:prstGeom>
          <a:solidFill>
            <a:srgbClr val="35D4E7">
              <a:alpha val="18000"/>
            </a:srgbClr>
          </a:solidFill>
          <a:ln w="12700">
            <a:solidFill>
              <a:srgbClr val="35D4E7">
                <a:alpha val="0"/>
              </a:srgbClr>
            </a:solidFill>
            <a:prstDash val="solid"/>
          </a:ln>
        </p:spPr>
        <p:txBody>
          <a:bodyPr/>
          <a:lstStyle/>
          <a:p>
            <a:endParaRPr/>
          </a:p>
        </p:txBody>
      </p:sp>
      <p:pic>
        <p:nvPicPr>
          <p:cNvPr id="131" name="Image 11"/>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32104" y="4548632"/>
            <a:ext cx="237744" cy="211328"/>
          </a:xfrm>
          <a:prstGeom prst="rect">
            <a:avLst/>
          </a:prstGeom>
        </p:spPr>
      </p:pic>
      <p:sp>
        <p:nvSpPr>
          <p:cNvPr id="48" name="Text 34">
            <a:extLst>
              <a:ext uri="{FF2B5EF4-FFF2-40B4-BE49-F238E27FC236}">
                <a16:creationId xmlns:a16="http://schemas.microsoft.com/office/drawing/2014/main" id="{B82F8EA1-9BE0-43DD-85B6-A568EEC74847}"/>
              </a:ext>
            </a:extLst>
          </p:cNvPr>
          <p:cNvSpPr>
            <a:spLocks noGrp="1"/>
          </p:cNvSpPr>
          <p:nvPr/>
        </p:nvSpPr>
        <p:spPr>
          <a:xfrm>
            <a:off x="1280160" y="4443984"/>
            <a:ext cx="2578608" cy="256032"/>
          </a:xfrm>
          <a:prstGeom prst="rect">
            <a:avLst/>
          </a:prstGeom>
          <a:noFill/>
        </p:spPr>
        <p:txBody>
          <a:bodyPr wrap="square" lIns="0" tIns="0" rIns="0" bIns="0" anchor="ctr"/>
          <a:lstStyle/>
          <a:p>
            <a:pPr marL="0" indent="0">
              <a:buNone/>
            </a:pPr>
            <a:r>
              <a:rPr sz="1450" b="1">
                <a:solidFill>
                  <a:srgbClr val="F7FAFF"/>
                </a:solidFill>
                <a:latin typeface="Inter"/>
                <a:ea typeface="Inter"/>
                <a:cs typeface="Inter"/>
              </a:rPr>
              <a:t>Local</a:t>
            </a:r>
            <a:endParaRPr sz="1450"/>
          </a:p>
        </p:txBody>
      </p:sp>
      <p:sp>
        <p:nvSpPr>
          <p:cNvPr id="49" name="Text 35">
            <a:extLst>
              <a:ext uri="{FF2B5EF4-FFF2-40B4-BE49-F238E27FC236}">
                <a16:creationId xmlns:a16="http://schemas.microsoft.com/office/drawing/2014/main" id="{21A89D64-8996-4E99-8327-6C551E33D124}"/>
              </a:ext>
            </a:extLst>
          </p:cNvPr>
          <p:cNvSpPr>
            <a:spLocks noGrp="1"/>
          </p:cNvSpPr>
          <p:nvPr/>
        </p:nvSpPr>
        <p:spPr>
          <a:xfrm>
            <a:off x="1280160" y="4773168"/>
            <a:ext cx="2578608" cy="813816"/>
          </a:xfrm>
          <a:prstGeom prst="rect">
            <a:avLst/>
          </a:prstGeom>
          <a:noFill/>
        </p:spPr>
        <p:txBody>
          <a:bodyPr wrap="square" lIns="0" tIns="0" rIns="0" bIns="0" anchor="t"/>
          <a:lstStyle/>
          <a:p>
            <a:pPr marL="0" indent="0">
              <a:buNone/>
            </a:pPr>
            <a:r>
              <a:rPr sz="1050">
                <a:solidFill>
                  <a:srgbClr val="A7B5C8"/>
                </a:solidFill>
                <a:latin typeface="Inter"/>
                <a:ea typeface="Inter"/>
                <a:cs typeface="Inter"/>
              </a:rPr>
              <a:t>stdio · credentials from the local environment</a:t>
            </a:r>
            <a:endParaRPr sz="1050"/>
          </a:p>
        </p:txBody>
      </p:sp>
      <p:sp>
        <p:nvSpPr>
          <p:cNvPr id="50" name="Shape 36">
            <a:extLst>
              <a:ext uri="{FF2B5EF4-FFF2-40B4-BE49-F238E27FC236}">
                <a16:creationId xmlns:a16="http://schemas.microsoft.com/office/drawing/2014/main" id="{3702C404-27E0-4C25-A875-694A52C0E77B}"/>
              </a:ext>
            </a:extLst>
          </p:cNvPr>
          <p:cNvSpPr>
            <a:spLocks noGrp="1"/>
          </p:cNvSpPr>
          <p:nvPr/>
        </p:nvSpPr>
        <p:spPr>
          <a:xfrm>
            <a:off x="3264408" y="4443984"/>
            <a:ext cx="566928" cy="228600"/>
          </a:xfrm>
          <a:prstGeom prst="roundRect">
            <a:avLst>
              <a:gd name="adj" fmla="val 32000"/>
            </a:avLst>
          </a:prstGeom>
          <a:solidFill>
            <a:srgbClr val="35D4E7">
              <a:alpha val="18000"/>
            </a:srgbClr>
          </a:solidFill>
          <a:ln w="12700">
            <a:solidFill>
              <a:srgbClr val="35D4E7">
                <a:alpha val="0"/>
              </a:srgbClr>
            </a:solidFill>
            <a:prstDash val="solid"/>
          </a:ln>
        </p:spPr>
        <p:txBody>
          <a:bodyPr/>
          <a:lstStyle/>
          <a:p>
            <a:endParaRPr/>
          </a:p>
        </p:txBody>
      </p:sp>
      <p:sp>
        <p:nvSpPr>
          <p:cNvPr id="51" name="Text 37">
            <a:extLst>
              <a:ext uri="{FF2B5EF4-FFF2-40B4-BE49-F238E27FC236}">
                <a16:creationId xmlns:a16="http://schemas.microsoft.com/office/drawing/2014/main" id="{624F2B6B-B0AA-4A89-911C-6CB1C7565F18}"/>
              </a:ext>
            </a:extLst>
          </p:cNvPr>
          <p:cNvSpPr>
            <a:spLocks noGrp="1"/>
          </p:cNvSpPr>
          <p:nvPr/>
        </p:nvSpPr>
        <p:spPr>
          <a:xfrm>
            <a:off x="3337560" y="4453128"/>
            <a:ext cx="420624" cy="210312"/>
          </a:xfrm>
          <a:prstGeom prst="rect">
            <a:avLst/>
          </a:prstGeom>
          <a:noFill/>
        </p:spPr>
        <p:txBody>
          <a:bodyPr wrap="square" lIns="0" tIns="0" rIns="0" bIns="0" anchor="ctr"/>
          <a:lstStyle/>
          <a:p>
            <a:pPr marL="0" indent="0" algn="ctr">
              <a:buNone/>
            </a:pPr>
            <a:r>
              <a:rPr sz="850" b="1">
                <a:solidFill>
                  <a:srgbClr val="35D4E7"/>
                </a:solidFill>
                <a:latin typeface="Inter"/>
                <a:ea typeface="Inter"/>
                <a:cs typeface="Inter"/>
              </a:rPr>
              <a:t>DEV</a:t>
            </a:r>
            <a:endParaRPr sz="850"/>
          </a:p>
        </p:txBody>
      </p:sp>
      <p:sp>
        <p:nvSpPr>
          <p:cNvPr id="52" name="Shape 38">
            <a:extLst>
              <a:ext uri="{FF2B5EF4-FFF2-40B4-BE49-F238E27FC236}">
                <a16:creationId xmlns:a16="http://schemas.microsoft.com/office/drawing/2014/main" id="{EE480530-3A22-4944-AD87-AECCDF830334}"/>
              </a:ext>
            </a:extLst>
          </p:cNvPr>
          <p:cNvSpPr>
            <a:spLocks noGrp="1"/>
          </p:cNvSpPr>
          <p:nvPr/>
        </p:nvSpPr>
        <p:spPr>
          <a:xfrm>
            <a:off x="4361688" y="4279392"/>
            <a:ext cx="3456432" cy="1417320"/>
          </a:xfrm>
          <a:prstGeom prst="roundRect">
            <a:avLst>
              <a:gd name="adj" fmla="val 5161"/>
            </a:avLst>
          </a:prstGeom>
          <a:solidFill>
            <a:srgbClr val="0E1B2E"/>
          </a:solidFill>
          <a:ln w="12700">
            <a:solidFill>
              <a:srgbClr val="293A51"/>
            </a:solidFill>
            <a:prstDash val="solid"/>
          </a:ln>
          <a:effectLst>
            <a:outerShdw algn="bl" rotWithShape="0">
              <a:srgbClr val="000000">
                <a:alpha val="0"/>
              </a:srgbClr>
            </a:outerShdw>
          </a:effectLst>
        </p:spPr>
        <p:txBody>
          <a:bodyPr/>
          <a:lstStyle/>
          <a:p>
            <a:endParaRPr/>
          </a:p>
        </p:txBody>
      </p:sp>
      <p:sp>
        <p:nvSpPr>
          <p:cNvPr id="53" name="Shape 39">
            <a:extLst>
              <a:ext uri="{FF2B5EF4-FFF2-40B4-BE49-F238E27FC236}">
                <a16:creationId xmlns:a16="http://schemas.microsoft.com/office/drawing/2014/main" id="{65C9135C-ED9D-4886-B147-15D0BC4438F2}"/>
              </a:ext>
            </a:extLst>
          </p:cNvPr>
          <p:cNvSpPr>
            <a:spLocks noGrp="1"/>
          </p:cNvSpPr>
          <p:nvPr/>
        </p:nvSpPr>
        <p:spPr>
          <a:xfrm>
            <a:off x="4526280" y="4434840"/>
            <a:ext cx="438912" cy="438912"/>
          </a:xfrm>
          <a:prstGeom prst="ellipse">
            <a:avLst/>
          </a:prstGeom>
          <a:solidFill>
            <a:srgbClr val="5B7CFF">
              <a:alpha val="18000"/>
            </a:srgbClr>
          </a:solidFill>
          <a:ln w="12700">
            <a:solidFill>
              <a:srgbClr val="5B7CFF">
                <a:alpha val="0"/>
              </a:srgbClr>
            </a:solidFill>
            <a:prstDash val="solid"/>
          </a:ln>
        </p:spPr>
        <p:txBody>
          <a:bodyPr/>
          <a:lstStyle/>
          <a:p>
            <a:endParaRPr/>
          </a:p>
        </p:txBody>
      </p:sp>
      <p:pic>
        <p:nvPicPr>
          <p:cNvPr id="138" name="Image 12"/>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4626864" y="4535424"/>
            <a:ext cx="237744" cy="237744"/>
          </a:xfrm>
          <a:prstGeom prst="rect">
            <a:avLst/>
          </a:prstGeom>
        </p:spPr>
      </p:pic>
      <p:sp>
        <p:nvSpPr>
          <p:cNvPr id="55" name="Text 40">
            <a:extLst>
              <a:ext uri="{FF2B5EF4-FFF2-40B4-BE49-F238E27FC236}">
                <a16:creationId xmlns:a16="http://schemas.microsoft.com/office/drawing/2014/main" id="{B69EFD9E-D48D-4330-9DCA-AD53643B7124}"/>
              </a:ext>
            </a:extLst>
          </p:cNvPr>
          <p:cNvSpPr>
            <a:spLocks noGrp="1"/>
          </p:cNvSpPr>
          <p:nvPr/>
        </p:nvSpPr>
        <p:spPr>
          <a:xfrm>
            <a:off x="5074920" y="4443984"/>
            <a:ext cx="2578608" cy="256032"/>
          </a:xfrm>
          <a:prstGeom prst="rect">
            <a:avLst/>
          </a:prstGeom>
          <a:noFill/>
        </p:spPr>
        <p:txBody>
          <a:bodyPr wrap="square" lIns="0" tIns="0" rIns="0" bIns="0" anchor="ctr"/>
          <a:lstStyle/>
          <a:p>
            <a:pPr marL="0" indent="0">
              <a:buNone/>
            </a:pPr>
            <a:r>
              <a:rPr sz="1450" b="1">
                <a:solidFill>
                  <a:srgbClr val="F7FAFF"/>
                </a:solidFill>
                <a:latin typeface="Inter"/>
                <a:ea typeface="Inter"/>
                <a:cs typeface="Inter"/>
              </a:rPr>
              <a:t>Remote</a:t>
            </a:r>
            <a:endParaRPr sz="1450"/>
          </a:p>
        </p:txBody>
      </p:sp>
      <p:sp>
        <p:nvSpPr>
          <p:cNvPr id="56" name="Text 41">
            <a:extLst>
              <a:ext uri="{FF2B5EF4-FFF2-40B4-BE49-F238E27FC236}">
                <a16:creationId xmlns:a16="http://schemas.microsoft.com/office/drawing/2014/main" id="{03486D4F-07DE-4F1C-928F-DB18337B7DC8}"/>
              </a:ext>
            </a:extLst>
          </p:cNvPr>
          <p:cNvSpPr>
            <a:spLocks noGrp="1"/>
          </p:cNvSpPr>
          <p:nvPr/>
        </p:nvSpPr>
        <p:spPr>
          <a:xfrm>
            <a:off x="5074920" y="4773168"/>
            <a:ext cx="2578608" cy="813816"/>
          </a:xfrm>
          <a:prstGeom prst="rect">
            <a:avLst/>
          </a:prstGeom>
          <a:noFill/>
        </p:spPr>
        <p:txBody>
          <a:bodyPr wrap="square" lIns="0" tIns="0" rIns="0" bIns="0" anchor="t"/>
          <a:lstStyle/>
          <a:p>
            <a:pPr marL="0" indent="0">
              <a:buNone/>
            </a:pPr>
            <a:r>
              <a:rPr sz="1050">
                <a:solidFill>
                  <a:srgbClr val="A7B5C8"/>
                </a:solidFill>
                <a:latin typeface="Inter"/>
                <a:ea typeface="Inter"/>
                <a:cs typeface="Inter"/>
              </a:rPr>
              <a:t>OAuth 2.1 · scoped bearer tokens · PKCE</a:t>
            </a:r>
            <a:endParaRPr sz="1050"/>
          </a:p>
        </p:txBody>
      </p:sp>
      <p:sp>
        <p:nvSpPr>
          <p:cNvPr id="57" name="Shape 42">
            <a:extLst>
              <a:ext uri="{FF2B5EF4-FFF2-40B4-BE49-F238E27FC236}">
                <a16:creationId xmlns:a16="http://schemas.microsoft.com/office/drawing/2014/main" id="{1E7E78EF-5C1E-4F97-932A-ABD0C3C726AD}"/>
              </a:ext>
            </a:extLst>
          </p:cNvPr>
          <p:cNvSpPr>
            <a:spLocks noGrp="1"/>
          </p:cNvSpPr>
          <p:nvPr/>
        </p:nvSpPr>
        <p:spPr>
          <a:xfrm>
            <a:off x="7059168" y="4443984"/>
            <a:ext cx="566928" cy="228600"/>
          </a:xfrm>
          <a:prstGeom prst="roundRect">
            <a:avLst>
              <a:gd name="adj" fmla="val 32000"/>
            </a:avLst>
          </a:prstGeom>
          <a:solidFill>
            <a:srgbClr val="5B7CFF">
              <a:alpha val="18000"/>
            </a:srgbClr>
          </a:solidFill>
          <a:ln w="12700">
            <a:solidFill>
              <a:srgbClr val="5B7CFF">
                <a:alpha val="0"/>
              </a:srgbClr>
            </a:solidFill>
            <a:prstDash val="solid"/>
          </a:ln>
        </p:spPr>
        <p:txBody>
          <a:bodyPr/>
          <a:lstStyle/>
          <a:p>
            <a:endParaRPr/>
          </a:p>
        </p:txBody>
      </p:sp>
      <p:sp>
        <p:nvSpPr>
          <p:cNvPr id="58" name="Text 43">
            <a:extLst>
              <a:ext uri="{FF2B5EF4-FFF2-40B4-BE49-F238E27FC236}">
                <a16:creationId xmlns:a16="http://schemas.microsoft.com/office/drawing/2014/main" id="{AF031C38-6574-4AF0-BA7A-6E56CBBEB0B1}"/>
              </a:ext>
            </a:extLst>
          </p:cNvPr>
          <p:cNvSpPr>
            <a:spLocks noGrp="1"/>
          </p:cNvSpPr>
          <p:nvPr/>
        </p:nvSpPr>
        <p:spPr>
          <a:xfrm>
            <a:off x="7132320" y="4453128"/>
            <a:ext cx="420624" cy="210312"/>
          </a:xfrm>
          <a:prstGeom prst="rect">
            <a:avLst/>
          </a:prstGeom>
          <a:noFill/>
        </p:spPr>
        <p:txBody>
          <a:bodyPr wrap="square" lIns="0" tIns="0" rIns="0" bIns="0" anchor="ctr"/>
          <a:lstStyle/>
          <a:p>
            <a:pPr marL="0" indent="0" algn="ctr">
              <a:buNone/>
            </a:pPr>
            <a:r>
              <a:rPr sz="850" b="1">
                <a:solidFill>
                  <a:srgbClr val="5B7CFF"/>
                </a:solidFill>
                <a:latin typeface="Inter"/>
                <a:ea typeface="Inter"/>
                <a:cs typeface="Inter"/>
              </a:rPr>
              <a:t>HTTP</a:t>
            </a:r>
            <a:endParaRPr sz="850"/>
          </a:p>
        </p:txBody>
      </p:sp>
      <p:sp>
        <p:nvSpPr>
          <p:cNvPr id="59" name="Shape 44">
            <a:extLst>
              <a:ext uri="{FF2B5EF4-FFF2-40B4-BE49-F238E27FC236}">
                <a16:creationId xmlns:a16="http://schemas.microsoft.com/office/drawing/2014/main" id="{C0E8EE53-9062-4D4F-B629-A6B4F0D614DF}"/>
              </a:ext>
            </a:extLst>
          </p:cNvPr>
          <p:cNvSpPr>
            <a:spLocks noGrp="1"/>
          </p:cNvSpPr>
          <p:nvPr/>
        </p:nvSpPr>
        <p:spPr>
          <a:xfrm>
            <a:off x="8156448" y="4279392"/>
            <a:ext cx="3456432" cy="1417320"/>
          </a:xfrm>
          <a:prstGeom prst="roundRect">
            <a:avLst>
              <a:gd name="adj" fmla="val 5161"/>
            </a:avLst>
          </a:prstGeom>
          <a:solidFill>
            <a:srgbClr val="0E1B2E"/>
          </a:solidFill>
          <a:ln w="12700">
            <a:solidFill>
              <a:srgbClr val="293A51"/>
            </a:solidFill>
            <a:prstDash val="solid"/>
          </a:ln>
          <a:effectLst>
            <a:outerShdw algn="bl" rotWithShape="0">
              <a:srgbClr val="000000">
                <a:alpha val="0"/>
              </a:srgbClr>
            </a:outerShdw>
          </a:effectLst>
        </p:spPr>
        <p:txBody>
          <a:bodyPr/>
          <a:lstStyle/>
          <a:p>
            <a:endParaRPr/>
          </a:p>
        </p:txBody>
      </p:sp>
      <p:sp>
        <p:nvSpPr>
          <p:cNvPr id="60" name="Shape 45">
            <a:extLst>
              <a:ext uri="{FF2B5EF4-FFF2-40B4-BE49-F238E27FC236}">
                <a16:creationId xmlns:a16="http://schemas.microsoft.com/office/drawing/2014/main" id="{F84A2B57-7674-465B-AA1D-D0DD800182C9}"/>
              </a:ext>
            </a:extLst>
          </p:cNvPr>
          <p:cNvSpPr>
            <a:spLocks noGrp="1"/>
          </p:cNvSpPr>
          <p:nvPr/>
        </p:nvSpPr>
        <p:spPr>
          <a:xfrm>
            <a:off x="8321040" y="4434840"/>
            <a:ext cx="438912" cy="438912"/>
          </a:xfrm>
          <a:prstGeom prst="ellipse">
            <a:avLst/>
          </a:prstGeom>
          <a:solidFill>
            <a:srgbClr val="F7B955">
              <a:alpha val="18000"/>
            </a:srgbClr>
          </a:solidFill>
          <a:ln w="12700">
            <a:solidFill>
              <a:srgbClr val="F7B955">
                <a:alpha val="0"/>
              </a:srgbClr>
            </a:solidFill>
            <a:prstDash val="solid"/>
          </a:ln>
        </p:spPr>
        <p:txBody>
          <a:bodyPr/>
          <a:lstStyle/>
          <a:p>
            <a:endParaRPr/>
          </a:p>
        </p:txBody>
      </p:sp>
      <p:pic>
        <p:nvPicPr>
          <p:cNvPr id="145" name="Image 13"/>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8451342" y="4535424"/>
            <a:ext cx="178308" cy="237744"/>
          </a:xfrm>
          <a:prstGeom prst="rect">
            <a:avLst/>
          </a:prstGeom>
        </p:spPr>
      </p:pic>
      <p:sp>
        <p:nvSpPr>
          <p:cNvPr id="62" name="Text 46">
            <a:extLst>
              <a:ext uri="{FF2B5EF4-FFF2-40B4-BE49-F238E27FC236}">
                <a16:creationId xmlns:a16="http://schemas.microsoft.com/office/drawing/2014/main" id="{9D7D1A89-B9FA-4E9E-9F2B-2CF565039F5F}"/>
              </a:ext>
            </a:extLst>
          </p:cNvPr>
          <p:cNvSpPr>
            <a:spLocks noGrp="1"/>
          </p:cNvSpPr>
          <p:nvPr/>
        </p:nvSpPr>
        <p:spPr>
          <a:xfrm>
            <a:off x="8869680" y="4443984"/>
            <a:ext cx="2578608" cy="256032"/>
          </a:xfrm>
          <a:prstGeom prst="rect">
            <a:avLst/>
          </a:prstGeom>
          <a:noFill/>
        </p:spPr>
        <p:txBody>
          <a:bodyPr wrap="square" lIns="0" tIns="0" rIns="0" bIns="0" anchor="ctr"/>
          <a:lstStyle/>
          <a:p>
            <a:pPr marL="0" indent="0">
              <a:buNone/>
            </a:pPr>
            <a:r>
              <a:rPr sz="1450" b="1">
                <a:solidFill>
                  <a:srgbClr val="F7FAFF"/>
                </a:solidFill>
                <a:latin typeface="Inter"/>
                <a:ea typeface="Inter"/>
                <a:cs typeface="Inter"/>
              </a:rPr>
              <a:t>Users</a:t>
            </a:r>
            <a:endParaRPr sz="1450"/>
          </a:p>
        </p:txBody>
      </p:sp>
      <p:sp>
        <p:nvSpPr>
          <p:cNvPr id="63" name="Text 47">
            <a:extLst>
              <a:ext uri="{FF2B5EF4-FFF2-40B4-BE49-F238E27FC236}">
                <a16:creationId xmlns:a16="http://schemas.microsoft.com/office/drawing/2014/main" id="{37EF4812-0ACE-4229-834D-DCC987744EC1}"/>
              </a:ext>
            </a:extLst>
          </p:cNvPr>
          <p:cNvSpPr>
            <a:spLocks noGrp="1"/>
          </p:cNvSpPr>
          <p:nvPr/>
        </p:nvSpPr>
        <p:spPr>
          <a:xfrm>
            <a:off x="8869680" y="4773168"/>
            <a:ext cx="2578608" cy="813816"/>
          </a:xfrm>
          <a:prstGeom prst="rect">
            <a:avLst/>
          </a:prstGeom>
          <a:noFill/>
        </p:spPr>
        <p:txBody>
          <a:bodyPr wrap="square" lIns="0" tIns="0" rIns="0" bIns="0" anchor="t"/>
          <a:lstStyle/>
          <a:p>
            <a:pPr marL="0" indent="0">
              <a:buNone/>
            </a:pPr>
            <a:r>
              <a:rPr sz="1050">
                <a:solidFill>
                  <a:srgbClr val="A7B5C8"/>
                </a:solidFill>
                <a:latin typeface="Inter"/>
                <a:ea typeface="Inter"/>
                <a:cs typeface="Inter"/>
              </a:rPr>
              <a:t>Identity provider manages sign-in, roles and offboarding</a:t>
            </a:r>
            <a:endParaRPr sz="1050"/>
          </a:p>
        </p:txBody>
      </p:sp>
      <p:sp>
        <p:nvSpPr>
          <p:cNvPr id="64" name="Shape 48">
            <a:extLst>
              <a:ext uri="{FF2B5EF4-FFF2-40B4-BE49-F238E27FC236}">
                <a16:creationId xmlns:a16="http://schemas.microsoft.com/office/drawing/2014/main" id="{D1B8FE81-9885-4F8C-A039-A1A766CE8D0D}"/>
              </a:ext>
            </a:extLst>
          </p:cNvPr>
          <p:cNvSpPr>
            <a:spLocks noGrp="1"/>
          </p:cNvSpPr>
          <p:nvPr/>
        </p:nvSpPr>
        <p:spPr>
          <a:xfrm>
            <a:off x="10853928" y="4443984"/>
            <a:ext cx="566928" cy="228600"/>
          </a:xfrm>
          <a:prstGeom prst="roundRect">
            <a:avLst>
              <a:gd name="adj" fmla="val 32000"/>
            </a:avLst>
          </a:prstGeom>
          <a:solidFill>
            <a:srgbClr val="F7B955">
              <a:alpha val="18000"/>
            </a:srgbClr>
          </a:solidFill>
          <a:ln w="12700">
            <a:solidFill>
              <a:srgbClr val="F7B955">
                <a:alpha val="0"/>
              </a:srgbClr>
            </a:solidFill>
            <a:prstDash val="solid"/>
          </a:ln>
        </p:spPr>
        <p:txBody>
          <a:bodyPr/>
          <a:lstStyle/>
          <a:p>
            <a:endParaRPr/>
          </a:p>
        </p:txBody>
      </p:sp>
      <p:sp>
        <p:nvSpPr>
          <p:cNvPr id="65" name="Text 49">
            <a:extLst>
              <a:ext uri="{FF2B5EF4-FFF2-40B4-BE49-F238E27FC236}">
                <a16:creationId xmlns:a16="http://schemas.microsoft.com/office/drawing/2014/main" id="{72796DEC-7DAA-4E91-B1C3-51D397C7FA15}"/>
              </a:ext>
            </a:extLst>
          </p:cNvPr>
          <p:cNvSpPr>
            <a:spLocks noGrp="1"/>
          </p:cNvSpPr>
          <p:nvPr/>
        </p:nvSpPr>
        <p:spPr>
          <a:xfrm>
            <a:off x="10927080" y="4453128"/>
            <a:ext cx="420624" cy="210312"/>
          </a:xfrm>
          <a:prstGeom prst="rect">
            <a:avLst/>
          </a:prstGeom>
          <a:noFill/>
        </p:spPr>
        <p:txBody>
          <a:bodyPr wrap="square" lIns="0" tIns="0" rIns="0" bIns="0" anchor="ctr"/>
          <a:lstStyle/>
          <a:p>
            <a:pPr marL="0" indent="0" algn="ctr">
              <a:buNone/>
            </a:pPr>
            <a:r>
              <a:rPr sz="850" b="1">
                <a:solidFill>
                  <a:srgbClr val="F7B955"/>
                </a:solidFill>
                <a:latin typeface="Inter"/>
                <a:ea typeface="Inter"/>
                <a:cs typeface="Inter"/>
              </a:rPr>
              <a:t>IDP</a:t>
            </a:r>
            <a:endParaRPr sz="850"/>
          </a:p>
        </p:txBody>
      </p:sp>
      <p:sp>
        <p:nvSpPr>
          <p:cNvPr id="66" name="Shape 50">
            <a:extLst>
              <a:ext uri="{FF2B5EF4-FFF2-40B4-BE49-F238E27FC236}">
                <a16:creationId xmlns:a16="http://schemas.microsoft.com/office/drawing/2014/main" id="{58608659-BDD4-400E-A58C-9C6619CBB79D}"/>
              </a:ext>
            </a:extLst>
          </p:cNvPr>
          <p:cNvSpPr>
            <a:spLocks noGrp="1"/>
          </p:cNvSpPr>
          <p:nvPr/>
        </p:nvSpPr>
        <p:spPr>
          <a:xfrm>
            <a:off x="4224528" y="5870448"/>
            <a:ext cx="3749040" cy="365760"/>
          </a:xfrm>
          <a:prstGeom prst="roundRect">
            <a:avLst>
              <a:gd name="adj" fmla="val 20000"/>
            </a:avLst>
          </a:prstGeom>
          <a:solidFill>
            <a:srgbClr val="FF647C">
              <a:alpha val="14000"/>
            </a:srgbClr>
          </a:solidFill>
          <a:ln w="12700">
            <a:solidFill>
              <a:srgbClr val="FF647C">
                <a:alpha val="35000"/>
              </a:srgbClr>
            </a:solidFill>
            <a:prstDash val="solid"/>
          </a:ln>
        </p:spPr>
        <p:txBody>
          <a:bodyPr/>
          <a:lstStyle/>
          <a:p>
            <a:endParaRPr/>
          </a:p>
        </p:txBody>
      </p:sp>
      <p:sp>
        <p:nvSpPr>
          <p:cNvPr id="67" name="Text 51">
            <a:extLst>
              <a:ext uri="{FF2B5EF4-FFF2-40B4-BE49-F238E27FC236}">
                <a16:creationId xmlns:a16="http://schemas.microsoft.com/office/drawing/2014/main" id="{7DDA179F-9D1E-4925-8AD1-ADCFF1D9AE4C}"/>
              </a:ext>
            </a:extLst>
          </p:cNvPr>
          <p:cNvSpPr>
            <a:spLocks noGrp="1"/>
          </p:cNvSpPr>
          <p:nvPr/>
        </p:nvSpPr>
        <p:spPr>
          <a:xfrm>
            <a:off x="4297680" y="5879592"/>
            <a:ext cx="3602736" cy="347472"/>
          </a:xfrm>
          <a:prstGeom prst="rect">
            <a:avLst/>
          </a:prstGeom>
          <a:noFill/>
        </p:spPr>
        <p:txBody>
          <a:bodyPr wrap="square" lIns="0" tIns="0" rIns="0" bIns="0" anchor="ctr"/>
          <a:lstStyle/>
          <a:p>
            <a:pPr marL="0" indent="0" algn="ctr">
              <a:buNone/>
            </a:pPr>
            <a:r>
              <a:rPr sz="1120" b="1">
                <a:solidFill>
                  <a:srgbClr val="FF647C"/>
                </a:solidFill>
                <a:latin typeface="Inter"/>
                <a:ea typeface="Inter"/>
                <a:cs typeface="Inter"/>
              </a:rPr>
              <a:t>REGISTRY ≠ ENDORSEMENT</a:t>
            </a:r>
            <a:endParaRPr sz="1120"/>
          </a:p>
        </p:txBody>
      </p:sp>
      <p:sp>
        <p:nvSpPr>
          <p:cNvPr id="68" name="Shape 52">
            <a:extLst>
              <a:ext uri="{FF2B5EF4-FFF2-40B4-BE49-F238E27FC236}">
                <a16:creationId xmlns:a16="http://schemas.microsoft.com/office/drawing/2014/main" id="{E78F2D87-A69B-45A3-A510-2A8A7E5ACA5A}"/>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69" name="Text 53">
            <a:extLst>
              <a:ext uri="{FF2B5EF4-FFF2-40B4-BE49-F238E27FC236}">
                <a16:creationId xmlns:a16="http://schemas.microsoft.com/office/drawing/2014/main" id="{1BF5AC95-5E4E-4CC4-9897-1060F8116283}"/>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ACT I · PRODUCT</a:t>
            </a:r>
            <a:endParaRPr sz="850"/>
          </a:p>
        </p:txBody>
      </p:sp>
      <p:sp>
        <p:nvSpPr>
          <p:cNvPr id="70" name="Text 54">
            <a:extLst>
              <a:ext uri="{FF2B5EF4-FFF2-40B4-BE49-F238E27FC236}">
                <a16:creationId xmlns:a16="http://schemas.microsoft.com/office/drawing/2014/main" id="{7F48E98E-9224-496D-810F-DBCB28F18C51}"/>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71" name="Text 55">
            <a:extLst>
              <a:ext uri="{FF2B5EF4-FFF2-40B4-BE49-F238E27FC236}">
                <a16:creationId xmlns:a16="http://schemas.microsoft.com/office/drawing/2014/main" id="{2C19A38B-79E4-460F-AC3B-983BF513281A}"/>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04</a:t>
            </a:r>
            <a:endParaRPr sz="850"/>
          </a:p>
        </p:txBody>
      </p:sp>
    </p:spTree>
    <p:extLst>
      <p:ext uri="{BB962C8B-B14F-4D97-AF65-F5344CB8AC3E}">
        <p14:creationId xmlns:p14="http://schemas.microsoft.com/office/powerpoint/2010/main" val="21216379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8"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FDCF8140-3E40-45CB-AA58-3F964CFA6973}"/>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BORED APES · MEME COINS · VERY CALM MARKETS</a:t>
            </a:r>
            <a:endParaRPr sz="950"/>
          </a:p>
        </p:txBody>
      </p:sp>
      <p:sp>
        <p:nvSpPr>
          <p:cNvPr id="4" name="Text 1">
            <a:extLst>
              <a:ext uri="{FF2B5EF4-FFF2-40B4-BE49-F238E27FC236}">
                <a16:creationId xmlns:a16="http://schemas.microsoft.com/office/drawing/2014/main" id="{ACDB3A7E-3FE5-4E4B-9A49-A5BC194EE0A7}"/>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700" b="1">
                <a:solidFill>
                  <a:srgbClr val="F7FAFF"/>
                </a:solidFill>
                <a:latin typeface="Inter"/>
                <a:ea typeface="Inter"/>
                <a:cs typeface="Inter"/>
              </a:rPr>
              <a:t>Customer acquisition: the VC arrives</a:t>
            </a:r>
            <a:endParaRPr sz="2700"/>
          </a:p>
        </p:txBody>
      </p:sp>
      <p:sp>
        <p:nvSpPr>
          <p:cNvPr id="5" name="Shape 2">
            <a:extLst>
              <a:ext uri="{FF2B5EF4-FFF2-40B4-BE49-F238E27FC236}">
                <a16:creationId xmlns:a16="http://schemas.microsoft.com/office/drawing/2014/main" id="{C7A88CFA-F9AC-4289-BB0B-6E9D577EA6F5}"/>
              </a:ext>
            </a:extLst>
          </p:cNvPr>
          <p:cNvSpPr>
            <a:spLocks noGrp="1"/>
          </p:cNvSpPr>
          <p:nvPr/>
        </p:nvSpPr>
        <p:spPr>
          <a:xfrm>
            <a:off x="566928" y="1417320"/>
            <a:ext cx="3794760" cy="4480560"/>
          </a:xfrm>
          <a:prstGeom prst="roundRect">
            <a:avLst>
              <a:gd name="adj" fmla="val 1928"/>
            </a:avLst>
          </a:prstGeom>
          <a:solidFill>
            <a:srgbClr val="11182A"/>
          </a:solidFill>
          <a:ln w="12700">
            <a:solidFill>
              <a:srgbClr val="A879FF"/>
            </a:solidFill>
            <a:prstDash val="solid"/>
          </a:ln>
          <a:effectLst>
            <a:outerShdw algn="bl" rotWithShape="0">
              <a:srgbClr val="000000">
                <a:alpha val="0"/>
              </a:srgbClr>
            </a:outerShdw>
          </a:effectLst>
        </p:spPr>
        <p:txBody>
          <a:bodyPr/>
          <a:lstStyle/>
          <a:p>
            <a:endParaRPr/>
          </a:p>
        </p:txBody>
      </p:sp>
      <p:sp>
        <p:nvSpPr>
          <p:cNvPr id="6" name="Shape 3">
            <a:extLst>
              <a:ext uri="{FF2B5EF4-FFF2-40B4-BE49-F238E27FC236}">
                <a16:creationId xmlns:a16="http://schemas.microsoft.com/office/drawing/2014/main" id="{7AD2CFA4-D58B-4F92-90A6-138813C2ED8F}"/>
              </a:ext>
            </a:extLst>
          </p:cNvPr>
          <p:cNvSpPr>
            <a:spLocks noGrp="1"/>
          </p:cNvSpPr>
          <p:nvPr/>
        </p:nvSpPr>
        <p:spPr>
          <a:xfrm>
            <a:off x="868680" y="1719072"/>
            <a:ext cx="1481328" cy="310896"/>
          </a:xfrm>
          <a:prstGeom prst="roundRect">
            <a:avLst>
              <a:gd name="adj" fmla="val 23529"/>
            </a:avLst>
          </a:prstGeom>
          <a:solidFill>
            <a:srgbClr val="A879FF">
              <a:alpha val="17000"/>
            </a:srgbClr>
          </a:solidFill>
          <a:ln w="12700">
            <a:solidFill>
              <a:srgbClr val="A879FF">
                <a:alpha val="45000"/>
              </a:srgbClr>
            </a:solidFill>
            <a:prstDash val="solid"/>
          </a:ln>
        </p:spPr>
        <p:txBody>
          <a:bodyPr/>
          <a:lstStyle/>
          <a:p>
            <a:endParaRPr/>
          </a:p>
        </p:txBody>
      </p:sp>
      <p:sp>
        <p:nvSpPr>
          <p:cNvPr id="7" name="Text 4">
            <a:extLst>
              <a:ext uri="{FF2B5EF4-FFF2-40B4-BE49-F238E27FC236}">
                <a16:creationId xmlns:a16="http://schemas.microsoft.com/office/drawing/2014/main" id="{3573F9D7-8A18-48BC-AA6C-A3171C85B334}"/>
              </a:ext>
            </a:extLst>
          </p:cNvPr>
          <p:cNvSpPr>
            <a:spLocks noGrp="1"/>
          </p:cNvSpPr>
          <p:nvPr/>
        </p:nvSpPr>
        <p:spPr>
          <a:xfrm>
            <a:off x="941832" y="1728216"/>
            <a:ext cx="1335024" cy="292608"/>
          </a:xfrm>
          <a:prstGeom prst="rect">
            <a:avLst/>
          </a:prstGeom>
          <a:noFill/>
        </p:spPr>
        <p:txBody>
          <a:bodyPr wrap="square" lIns="0" tIns="0" rIns="0" bIns="0" anchor="ctr"/>
          <a:lstStyle/>
          <a:p>
            <a:pPr marL="0" indent="0" algn="ctr">
              <a:buNone/>
            </a:pPr>
            <a:r>
              <a:rPr sz="860" b="1">
                <a:solidFill>
                  <a:srgbClr val="D8C5FF"/>
                </a:solidFill>
                <a:latin typeface="Inter"/>
                <a:ea typeface="Inter"/>
                <a:cs typeface="Inter"/>
              </a:rPr>
              <a:t>PRIORITY CUSTOMER</a:t>
            </a:r>
            <a:endParaRPr sz="860"/>
          </a:p>
        </p:txBody>
      </p:sp>
      <p:sp>
        <p:nvSpPr>
          <p:cNvPr id="8" name="Shape 5">
            <a:extLst>
              <a:ext uri="{FF2B5EF4-FFF2-40B4-BE49-F238E27FC236}">
                <a16:creationId xmlns:a16="http://schemas.microsoft.com/office/drawing/2014/main" id="{61DFD081-B848-439B-8971-4AB129D9CCC1}"/>
              </a:ext>
            </a:extLst>
          </p:cNvPr>
          <p:cNvSpPr>
            <a:spLocks noGrp="1"/>
          </p:cNvSpPr>
          <p:nvPr/>
        </p:nvSpPr>
        <p:spPr>
          <a:xfrm>
            <a:off x="1389888" y="2176272"/>
            <a:ext cx="2075688" cy="2075688"/>
          </a:xfrm>
          <a:prstGeom prst="ellipse">
            <a:avLst/>
          </a:prstGeom>
          <a:solidFill>
            <a:srgbClr val="7D5B50"/>
          </a:solidFill>
          <a:ln w="12700">
            <a:solidFill>
              <a:srgbClr val="FF6FA8"/>
            </a:solidFill>
            <a:prstDash val="solid"/>
          </a:ln>
          <a:effectLst>
            <a:outerShdw algn="bl" rotWithShape="0">
              <a:srgbClr val="000000">
                <a:alpha val="0"/>
              </a:srgbClr>
            </a:outerShdw>
          </a:effectLst>
        </p:spPr>
        <p:txBody>
          <a:bodyPr/>
          <a:lstStyle/>
          <a:p>
            <a:endParaRPr/>
          </a:p>
        </p:txBody>
      </p:sp>
      <p:sp>
        <p:nvSpPr>
          <p:cNvPr id="9" name="Shape 6">
            <a:extLst>
              <a:ext uri="{FF2B5EF4-FFF2-40B4-BE49-F238E27FC236}">
                <a16:creationId xmlns:a16="http://schemas.microsoft.com/office/drawing/2014/main" id="{89F1FCC8-065D-49F4-BCC4-F0785DAE9715}"/>
              </a:ext>
            </a:extLst>
          </p:cNvPr>
          <p:cNvSpPr>
            <a:spLocks noGrp="1"/>
          </p:cNvSpPr>
          <p:nvPr/>
        </p:nvSpPr>
        <p:spPr>
          <a:xfrm>
            <a:off x="1188720" y="2578608"/>
            <a:ext cx="512064" cy="658368"/>
          </a:xfrm>
          <a:prstGeom prst="ellipse">
            <a:avLst/>
          </a:prstGeom>
          <a:solidFill>
            <a:srgbClr val="6E4E46"/>
          </a:solidFill>
          <a:ln w="12700">
            <a:solidFill>
              <a:srgbClr val="6E4E46"/>
            </a:solidFill>
            <a:prstDash val="solid"/>
          </a:ln>
        </p:spPr>
        <p:txBody>
          <a:bodyPr/>
          <a:lstStyle/>
          <a:p>
            <a:endParaRPr/>
          </a:p>
        </p:txBody>
      </p:sp>
      <p:sp>
        <p:nvSpPr>
          <p:cNvPr id="10" name="Shape 7">
            <a:extLst>
              <a:ext uri="{FF2B5EF4-FFF2-40B4-BE49-F238E27FC236}">
                <a16:creationId xmlns:a16="http://schemas.microsoft.com/office/drawing/2014/main" id="{A1E4E83E-DFE2-4DC2-888C-104B5756E564}"/>
              </a:ext>
            </a:extLst>
          </p:cNvPr>
          <p:cNvSpPr>
            <a:spLocks noGrp="1"/>
          </p:cNvSpPr>
          <p:nvPr/>
        </p:nvSpPr>
        <p:spPr>
          <a:xfrm>
            <a:off x="3163824" y="2578608"/>
            <a:ext cx="512064" cy="658368"/>
          </a:xfrm>
          <a:prstGeom prst="ellipse">
            <a:avLst/>
          </a:prstGeom>
          <a:solidFill>
            <a:srgbClr val="6E4E46"/>
          </a:solidFill>
          <a:ln w="12700">
            <a:solidFill>
              <a:srgbClr val="6E4E46"/>
            </a:solidFill>
            <a:prstDash val="solid"/>
          </a:ln>
        </p:spPr>
        <p:txBody>
          <a:bodyPr/>
          <a:lstStyle/>
          <a:p>
            <a:endParaRPr/>
          </a:p>
        </p:txBody>
      </p:sp>
      <p:sp>
        <p:nvSpPr>
          <p:cNvPr id="11" name="Shape 8">
            <a:extLst>
              <a:ext uri="{FF2B5EF4-FFF2-40B4-BE49-F238E27FC236}">
                <a16:creationId xmlns:a16="http://schemas.microsoft.com/office/drawing/2014/main" id="{64844E6C-2F42-4FC5-945B-842164729FB1}"/>
              </a:ext>
            </a:extLst>
          </p:cNvPr>
          <p:cNvSpPr>
            <a:spLocks noGrp="1"/>
          </p:cNvSpPr>
          <p:nvPr/>
        </p:nvSpPr>
        <p:spPr>
          <a:xfrm>
            <a:off x="1755648" y="3081528"/>
            <a:ext cx="1344168" cy="832104"/>
          </a:xfrm>
          <a:prstGeom prst="ellipse">
            <a:avLst/>
          </a:prstGeom>
          <a:solidFill>
            <a:srgbClr val="A37A68"/>
          </a:solidFill>
          <a:ln w="12700">
            <a:solidFill>
              <a:srgbClr val="A37A68"/>
            </a:solidFill>
            <a:prstDash val="solid"/>
          </a:ln>
        </p:spPr>
        <p:txBody>
          <a:bodyPr/>
          <a:lstStyle/>
          <a:p>
            <a:endParaRPr/>
          </a:p>
        </p:txBody>
      </p:sp>
      <p:sp>
        <p:nvSpPr>
          <p:cNvPr id="12" name="Shape 9">
            <a:extLst>
              <a:ext uri="{FF2B5EF4-FFF2-40B4-BE49-F238E27FC236}">
                <a16:creationId xmlns:a16="http://schemas.microsoft.com/office/drawing/2014/main" id="{29803527-F38F-4821-BCBA-B77B8A399FE6}"/>
              </a:ext>
            </a:extLst>
          </p:cNvPr>
          <p:cNvSpPr>
            <a:spLocks noGrp="1"/>
          </p:cNvSpPr>
          <p:nvPr/>
        </p:nvSpPr>
        <p:spPr>
          <a:xfrm>
            <a:off x="1673352" y="2615184"/>
            <a:ext cx="713232" cy="310896"/>
          </a:xfrm>
          <a:prstGeom prst="roundRect">
            <a:avLst/>
          </a:prstGeom>
          <a:solidFill>
            <a:srgbClr val="050A13"/>
          </a:solidFill>
          <a:ln w="12700">
            <a:solidFill>
              <a:srgbClr val="050A13"/>
            </a:solidFill>
            <a:prstDash val="solid"/>
          </a:ln>
        </p:spPr>
        <p:txBody>
          <a:bodyPr/>
          <a:lstStyle/>
          <a:p>
            <a:endParaRPr/>
          </a:p>
        </p:txBody>
      </p:sp>
      <p:sp>
        <p:nvSpPr>
          <p:cNvPr id="13" name="Shape 10">
            <a:extLst>
              <a:ext uri="{FF2B5EF4-FFF2-40B4-BE49-F238E27FC236}">
                <a16:creationId xmlns:a16="http://schemas.microsoft.com/office/drawing/2014/main" id="{8EC5F4F3-C747-427A-85AB-A57DE54C3927}"/>
              </a:ext>
            </a:extLst>
          </p:cNvPr>
          <p:cNvSpPr>
            <a:spLocks noGrp="1"/>
          </p:cNvSpPr>
          <p:nvPr/>
        </p:nvSpPr>
        <p:spPr>
          <a:xfrm>
            <a:off x="2487168" y="2615184"/>
            <a:ext cx="713232" cy="310896"/>
          </a:xfrm>
          <a:prstGeom prst="roundRect">
            <a:avLst/>
          </a:prstGeom>
          <a:solidFill>
            <a:srgbClr val="050A13"/>
          </a:solidFill>
          <a:ln w="12700">
            <a:solidFill>
              <a:srgbClr val="050A13"/>
            </a:solidFill>
            <a:prstDash val="solid"/>
          </a:ln>
        </p:spPr>
        <p:txBody>
          <a:bodyPr/>
          <a:lstStyle/>
          <a:p>
            <a:endParaRPr/>
          </a:p>
        </p:txBody>
      </p:sp>
      <p:sp>
        <p:nvSpPr>
          <p:cNvPr id="14" name="Shape 11">
            <a:extLst>
              <a:ext uri="{FF2B5EF4-FFF2-40B4-BE49-F238E27FC236}">
                <a16:creationId xmlns:a16="http://schemas.microsoft.com/office/drawing/2014/main" id="{7713FF56-0EDA-43B6-9B66-FE1075AAAA09}"/>
              </a:ext>
            </a:extLst>
          </p:cNvPr>
          <p:cNvSpPr>
            <a:spLocks noGrp="1"/>
          </p:cNvSpPr>
          <p:nvPr/>
        </p:nvSpPr>
        <p:spPr>
          <a:xfrm>
            <a:off x="2386584" y="2770632"/>
            <a:ext cx="109728" cy="0"/>
          </a:xfrm>
          <a:prstGeom prst="line">
            <a:avLst/>
          </a:prstGeom>
          <a:noFill/>
          <a:ln w="12700">
            <a:solidFill>
              <a:srgbClr val="050A13"/>
            </a:solidFill>
            <a:prstDash val="solid"/>
          </a:ln>
        </p:spPr>
        <p:txBody>
          <a:bodyPr/>
          <a:lstStyle/>
          <a:p>
            <a:endParaRPr/>
          </a:p>
        </p:txBody>
      </p:sp>
      <p:sp>
        <p:nvSpPr>
          <p:cNvPr id="15" name="Shape 12">
            <a:extLst>
              <a:ext uri="{FF2B5EF4-FFF2-40B4-BE49-F238E27FC236}">
                <a16:creationId xmlns:a16="http://schemas.microsoft.com/office/drawing/2014/main" id="{175B8529-D0E1-4835-BCA4-1B3794FD3ABD}"/>
              </a:ext>
            </a:extLst>
          </p:cNvPr>
          <p:cNvSpPr>
            <a:spLocks noGrp="1"/>
          </p:cNvSpPr>
          <p:nvPr/>
        </p:nvSpPr>
        <p:spPr>
          <a:xfrm>
            <a:off x="2130552" y="3346704"/>
            <a:ext cx="594360" cy="320040"/>
          </a:xfrm>
          <a:prstGeom prst="arc">
            <a:avLst/>
          </a:prstGeom>
          <a:solidFill>
            <a:srgbClr val="A37A68">
              <a:alpha val="0"/>
            </a:srgbClr>
          </a:solidFill>
          <a:ln w="12700">
            <a:solidFill>
              <a:srgbClr val="050A13"/>
            </a:solidFill>
            <a:prstDash val="solid"/>
          </a:ln>
        </p:spPr>
        <p:txBody>
          <a:bodyPr/>
          <a:lstStyle/>
          <a:p>
            <a:endParaRPr/>
          </a:p>
        </p:txBody>
      </p:sp>
      <p:sp>
        <p:nvSpPr>
          <p:cNvPr id="16" name="Text 13">
            <a:extLst>
              <a:ext uri="{FF2B5EF4-FFF2-40B4-BE49-F238E27FC236}">
                <a16:creationId xmlns:a16="http://schemas.microsoft.com/office/drawing/2014/main" id="{201A2786-B29C-4F86-B492-F1BAD7235AC1}"/>
              </a:ext>
            </a:extLst>
          </p:cNvPr>
          <p:cNvSpPr>
            <a:spLocks noGrp="1"/>
          </p:cNvSpPr>
          <p:nvPr/>
        </p:nvSpPr>
        <p:spPr>
          <a:xfrm rot="-480000">
            <a:off x="2852928" y="3867912"/>
            <a:ext cx="530352" cy="347472"/>
          </a:xfrm>
          <a:prstGeom prst="rect">
            <a:avLst/>
          </a:prstGeom>
          <a:noFill/>
        </p:spPr>
        <p:txBody>
          <a:bodyPr wrap="square" lIns="0" tIns="0" rIns="0" bIns="0" anchor="ctr"/>
          <a:lstStyle/>
          <a:p>
            <a:pPr marL="0" indent="0" algn="ctr">
              <a:buNone/>
            </a:pPr>
            <a:r>
              <a:rPr sz="2000" b="1">
                <a:solidFill>
                  <a:srgbClr val="F7B955"/>
                </a:solidFill>
                <a:latin typeface="Inter"/>
                <a:ea typeface="Inter"/>
                <a:cs typeface="Inter"/>
              </a:rPr>
              <a:t>VC</a:t>
            </a:r>
            <a:endParaRPr sz="2000"/>
          </a:p>
        </p:txBody>
      </p:sp>
      <p:sp>
        <p:nvSpPr>
          <p:cNvPr id="17" name="Text 14">
            <a:extLst>
              <a:ext uri="{FF2B5EF4-FFF2-40B4-BE49-F238E27FC236}">
                <a16:creationId xmlns:a16="http://schemas.microsoft.com/office/drawing/2014/main" id="{1806F94E-7376-4771-A985-5487253149EC}"/>
              </a:ext>
            </a:extLst>
          </p:cNvPr>
          <p:cNvSpPr>
            <a:spLocks noGrp="1"/>
          </p:cNvSpPr>
          <p:nvPr/>
        </p:nvSpPr>
        <p:spPr>
          <a:xfrm>
            <a:off x="868680" y="4599432"/>
            <a:ext cx="3218688" cy="713232"/>
          </a:xfrm>
          <a:prstGeom prst="rect">
            <a:avLst/>
          </a:prstGeom>
          <a:noFill/>
        </p:spPr>
        <p:txBody>
          <a:bodyPr wrap="square" lIns="0" tIns="0" rIns="0" bIns="0" anchor="ctr"/>
          <a:lstStyle/>
          <a:p>
            <a:pPr marL="0" indent="0" algn="ctr">
              <a:buNone/>
            </a:pPr>
            <a:r>
              <a:rPr sz="1700" b="1">
                <a:solidFill>
                  <a:srgbClr val="F7FAFF"/>
                </a:solidFill>
                <a:latin typeface="Inter"/>
                <a:ea typeface="Inter"/>
                <a:cs typeface="Inter"/>
              </a:rPr>
              <a:t>“Can your agent analyse</a:t>
            </a:r>
            <a:endParaRPr sz="1700"/>
          </a:p>
          <a:p>
            <a:pPr marL="0" indent="0" algn="ctr">
              <a:buNone/>
            </a:pPr>
            <a:r>
              <a:rPr sz="1700" b="1">
                <a:solidFill>
                  <a:srgbClr val="F7FAFF"/>
                </a:solidFill>
                <a:latin typeface="Inter"/>
                <a:ea typeface="Inter"/>
                <a:cs typeface="Inter"/>
              </a:rPr>
              <a:t>my portfolio?”</a:t>
            </a:r>
            <a:endParaRPr sz="1700"/>
          </a:p>
        </p:txBody>
      </p:sp>
      <p:sp>
        <p:nvSpPr>
          <p:cNvPr id="18" name="Text 15">
            <a:extLst>
              <a:ext uri="{FF2B5EF4-FFF2-40B4-BE49-F238E27FC236}">
                <a16:creationId xmlns:a16="http://schemas.microsoft.com/office/drawing/2014/main" id="{8E9F1FB4-D0FC-4529-BA06-3850B0742B62}"/>
              </a:ext>
            </a:extLst>
          </p:cNvPr>
          <p:cNvSpPr>
            <a:spLocks noGrp="1"/>
          </p:cNvSpPr>
          <p:nvPr/>
        </p:nvSpPr>
        <p:spPr>
          <a:xfrm>
            <a:off x="868680" y="5340096"/>
            <a:ext cx="3218688" cy="402336"/>
          </a:xfrm>
          <a:prstGeom prst="rect">
            <a:avLst/>
          </a:prstGeom>
          <a:noFill/>
        </p:spPr>
        <p:txBody>
          <a:bodyPr wrap="square" lIns="0" tIns="0" rIns="0" bIns="0" anchor="ctr"/>
          <a:lstStyle/>
          <a:p>
            <a:pPr marL="0" indent="0" algn="ctr">
              <a:buNone/>
            </a:pPr>
            <a:r>
              <a:rPr sz="1120">
                <a:solidFill>
                  <a:srgbClr val="A7B5C8"/>
                </a:solidFill>
                <a:latin typeface="Inter"/>
                <a:ea typeface="Inter"/>
                <a:cs typeface="Inter"/>
              </a:rPr>
              <a:t>Nothing clarifies product priorities</a:t>
            </a:r>
            <a:endParaRPr sz="1120"/>
          </a:p>
          <a:p>
            <a:pPr marL="0" indent="0" algn="ctr">
              <a:buNone/>
            </a:pPr>
            <a:r>
              <a:rPr sz="1120">
                <a:solidFill>
                  <a:srgbClr val="A7B5C8"/>
                </a:solidFill>
                <a:latin typeface="Inter"/>
                <a:ea typeface="Inter"/>
                <a:cs typeface="Inter"/>
              </a:rPr>
              <a:t>like consequences.</a:t>
            </a:r>
            <a:endParaRPr sz="1120"/>
          </a:p>
        </p:txBody>
      </p:sp>
      <p:sp>
        <p:nvSpPr>
          <p:cNvPr id="19" name="Shape 16">
            <a:extLst>
              <a:ext uri="{FF2B5EF4-FFF2-40B4-BE49-F238E27FC236}">
                <a16:creationId xmlns:a16="http://schemas.microsoft.com/office/drawing/2014/main" id="{727CF2CE-4996-40A2-88FF-6C328E52F1C1}"/>
              </a:ext>
            </a:extLst>
          </p:cNvPr>
          <p:cNvSpPr>
            <a:spLocks noGrp="1"/>
          </p:cNvSpPr>
          <p:nvPr/>
        </p:nvSpPr>
        <p:spPr>
          <a:xfrm>
            <a:off x="4690872" y="1417320"/>
            <a:ext cx="3246120" cy="2039112"/>
          </a:xfrm>
          <a:prstGeom prst="roundRect">
            <a:avLst>
              <a:gd name="adj" fmla="val 3587"/>
            </a:avLst>
          </a:prstGeom>
          <a:solidFill>
            <a:srgbClr val="0E1B2E"/>
          </a:solidFill>
          <a:ln w="12700">
            <a:solidFill>
              <a:srgbClr val="293A51"/>
            </a:solidFill>
            <a:prstDash val="solid"/>
          </a:ln>
        </p:spPr>
        <p:txBody>
          <a:bodyPr/>
          <a:lstStyle/>
          <a:p>
            <a:endParaRPr/>
          </a:p>
        </p:txBody>
      </p:sp>
      <p:sp>
        <p:nvSpPr>
          <p:cNvPr id="20" name="Text 17">
            <a:extLst>
              <a:ext uri="{FF2B5EF4-FFF2-40B4-BE49-F238E27FC236}">
                <a16:creationId xmlns:a16="http://schemas.microsoft.com/office/drawing/2014/main" id="{37E1AF01-7C98-4D83-8D0D-FAFB3EC9FE5F}"/>
              </a:ext>
            </a:extLst>
          </p:cNvPr>
          <p:cNvSpPr>
            <a:spLocks noGrp="1"/>
          </p:cNvSpPr>
          <p:nvPr/>
        </p:nvSpPr>
        <p:spPr>
          <a:xfrm>
            <a:off x="4965192" y="1673352"/>
            <a:ext cx="2011680" cy="219456"/>
          </a:xfrm>
          <a:prstGeom prst="rect">
            <a:avLst/>
          </a:prstGeom>
          <a:noFill/>
        </p:spPr>
        <p:txBody>
          <a:bodyPr wrap="square" lIns="0" tIns="0" rIns="0" bIns="0" anchor="ctr"/>
          <a:lstStyle/>
          <a:p>
            <a:pPr marL="0" indent="0">
              <a:buNone/>
            </a:pPr>
            <a:r>
              <a:rPr sz="1000" b="1" spc="100">
                <a:solidFill>
                  <a:srgbClr val="35D4E7"/>
                </a:solidFill>
                <a:latin typeface="Inter"/>
                <a:ea typeface="Inter"/>
                <a:cs typeface="Inter"/>
              </a:rPr>
              <a:t>BAYC FLOOR · ETH</a:t>
            </a:r>
            <a:endParaRPr sz="1000"/>
          </a:p>
        </p:txBody>
      </p:sp>
      <p:sp>
        <p:nvSpPr>
          <p:cNvPr id="21" name="Shape 18">
            <a:extLst>
              <a:ext uri="{FF2B5EF4-FFF2-40B4-BE49-F238E27FC236}">
                <a16:creationId xmlns:a16="http://schemas.microsoft.com/office/drawing/2014/main" id="{389645C9-D6B6-4CD4-A583-A3E6708B791C}"/>
              </a:ext>
            </a:extLst>
          </p:cNvPr>
          <p:cNvSpPr>
            <a:spLocks noGrp="1"/>
          </p:cNvSpPr>
          <p:nvPr/>
        </p:nvSpPr>
        <p:spPr>
          <a:xfrm>
            <a:off x="5010912" y="2990088"/>
            <a:ext cx="2450592" cy="0"/>
          </a:xfrm>
          <a:prstGeom prst="line">
            <a:avLst/>
          </a:prstGeom>
          <a:noFill/>
          <a:ln w="12700">
            <a:solidFill>
              <a:srgbClr val="293A51"/>
            </a:solidFill>
            <a:prstDash val="solid"/>
          </a:ln>
        </p:spPr>
        <p:txBody>
          <a:bodyPr/>
          <a:lstStyle/>
          <a:p>
            <a:endParaRPr/>
          </a:p>
        </p:txBody>
      </p:sp>
      <p:sp>
        <p:nvSpPr>
          <p:cNvPr id="22" name="Shape 19">
            <a:extLst>
              <a:ext uri="{FF2B5EF4-FFF2-40B4-BE49-F238E27FC236}">
                <a16:creationId xmlns:a16="http://schemas.microsoft.com/office/drawing/2014/main" id="{9272E3B1-4C69-4EB3-A622-71E78639A22F}"/>
              </a:ext>
            </a:extLst>
          </p:cNvPr>
          <p:cNvSpPr>
            <a:spLocks noGrp="1"/>
          </p:cNvSpPr>
          <p:nvPr/>
        </p:nvSpPr>
        <p:spPr>
          <a:xfrm>
            <a:off x="5010912" y="2011680"/>
            <a:ext cx="0" cy="978408"/>
          </a:xfrm>
          <a:prstGeom prst="line">
            <a:avLst/>
          </a:prstGeom>
          <a:noFill/>
          <a:ln w="12700">
            <a:solidFill>
              <a:srgbClr val="293A51"/>
            </a:solidFill>
            <a:prstDash val="solid"/>
          </a:ln>
        </p:spPr>
        <p:txBody>
          <a:bodyPr/>
          <a:lstStyle/>
          <a:p>
            <a:endParaRPr/>
          </a:p>
        </p:txBody>
      </p:sp>
      <p:sp>
        <p:nvSpPr>
          <p:cNvPr id="23" name="Shape 20">
            <a:extLst>
              <a:ext uri="{FF2B5EF4-FFF2-40B4-BE49-F238E27FC236}">
                <a16:creationId xmlns:a16="http://schemas.microsoft.com/office/drawing/2014/main" id="{C8AC9AA6-8284-47EB-BFA3-5CA9526A28DD}"/>
              </a:ext>
            </a:extLst>
          </p:cNvPr>
          <p:cNvSpPr>
            <a:spLocks noGrp="1"/>
          </p:cNvSpPr>
          <p:nvPr/>
        </p:nvSpPr>
        <p:spPr>
          <a:xfrm>
            <a:off x="5074920" y="2889504"/>
            <a:ext cx="1033272" cy="0"/>
          </a:xfrm>
          <a:prstGeom prst="line">
            <a:avLst/>
          </a:prstGeom>
          <a:noFill/>
          <a:ln w="12700">
            <a:solidFill>
              <a:srgbClr val="35D4E7"/>
            </a:solidFill>
            <a:prstDash val="solid"/>
          </a:ln>
        </p:spPr>
        <p:txBody>
          <a:bodyPr/>
          <a:lstStyle/>
          <a:p>
            <a:endParaRPr/>
          </a:p>
        </p:txBody>
      </p:sp>
      <p:sp>
        <p:nvSpPr>
          <p:cNvPr id="24" name="Shape 21">
            <a:extLst>
              <a:ext uri="{FF2B5EF4-FFF2-40B4-BE49-F238E27FC236}">
                <a16:creationId xmlns:a16="http://schemas.microsoft.com/office/drawing/2014/main" id="{2B8A05B9-CDFF-4A1C-8FF6-32354C25C947}"/>
              </a:ext>
            </a:extLst>
          </p:cNvPr>
          <p:cNvSpPr>
            <a:spLocks noGrp="1"/>
          </p:cNvSpPr>
          <p:nvPr/>
        </p:nvSpPr>
        <p:spPr>
          <a:xfrm>
            <a:off x="6108192" y="2130552"/>
            <a:ext cx="1133856" cy="694944"/>
          </a:xfrm>
          <a:prstGeom prst="line">
            <a:avLst/>
          </a:prstGeom>
          <a:noFill/>
          <a:ln w="12700">
            <a:solidFill>
              <a:srgbClr val="35D4E7"/>
            </a:solidFill>
            <a:prstDash val="solid"/>
          </a:ln>
        </p:spPr>
        <p:txBody>
          <a:bodyPr/>
          <a:lstStyle/>
          <a:p>
            <a:endParaRPr/>
          </a:p>
        </p:txBody>
      </p:sp>
      <p:sp>
        <p:nvSpPr>
          <p:cNvPr id="25" name="Shape 22">
            <a:extLst>
              <a:ext uri="{FF2B5EF4-FFF2-40B4-BE49-F238E27FC236}">
                <a16:creationId xmlns:a16="http://schemas.microsoft.com/office/drawing/2014/main" id="{4B7994B7-05A6-4041-8DE7-8A729648A80D}"/>
              </a:ext>
            </a:extLst>
          </p:cNvPr>
          <p:cNvSpPr>
            <a:spLocks noGrp="1"/>
          </p:cNvSpPr>
          <p:nvPr/>
        </p:nvSpPr>
        <p:spPr>
          <a:xfrm>
            <a:off x="5010912" y="2825496"/>
            <a:ext cx="128016" cy="128016"/>
          </a:xfrm>
          <a:prstGeom prst="ellipse">
            <a:avLst/>
          </a:prstGeom>
          <a:solidFill>
            <a:srgbClr val="35D4E7"/>
          </a:solidFill>
          <a:ln w="12700">
            <a:solidFill>
              <a:srgbClr val="35D4E7"/>
            </a:solidFill>
            <a:prstDash val="solid"/>
          </a:ln>
        </p:spPr>
        <p:txBody>
          <a:bodyPr/>
          <a:lstStyle/>
          <a:p>
            <a:endParaRPr/>
          </a:p>
        </p:txBody>
      </p:sp>
      <p:sp>
        <p:nvSpPr>
          <p:cNvPr id="26" name="Shape 23">
            <a:extLst>
              <a:ext uri="{FF2B5EF4-FFF2-40B4-BE49-F238E27FC236}">
                <a16:creationId xmlns:a16="http://schemas.microsoft.com/office/drawing/2014/main" id="{926C8B1C-2923-4A95-80AD-D26700C452AE}"/>
              </a:ext>
            </a:extLst>
          </p:cNvPr>
          <p:cNvSpPr>
            <a:spLocks noGrp="1"/>
          </p:cNvSpPr>
          <p:nvPr/>
        </p:nvSpPr>
        <p:spPr>
          <a:xfrm>
            <a:off x="6044184" y="2066544"/>
            <a:ext cx="128016" cy="128016"/>
          </a:xfrm>
          <a:prstGeom prst="ellipse">
            <a:avLst/>
          </a:prstGeom>
          <a:solidFill>
            <a:srgbClr val="35D4E7"/>
          </a:solidFill>
          <a:ln w="12700">
            <a:solidFill>
              <a:srgbClr val="35D4E7"/>
            </a:solidFill>
            <a:prstDash val="solid"/>
          </a:ln>
        </p:spPr>
        <p:txBody>
          <a:bodyPr/>
          <a:lstStyle/>
          <a:p>
            <a:endParaRPr/>
          </a:p>
        </p:txBody>
      </p:sp>
      <p:sp>
        <p:nvSpPr>
          <p:cNvPr id="27" name="Shape 24">
            <a:extLst>
              <a:ext uri="{FF2B5EF4-FFF2-40B4-BE49-F238E27FC236}">
                <a16:creationId xmlns:a16="http://schemas.microsoft.com/office/drawing/2014/main" id="{CCB21609-7E58-49F1-9018-12BFC5432CEC}"/>
              </a:ext>
            </a:extLst>
          </p:cNvPr>
          <p:cNvSpPr>
            <a:spLocks noGrp="1"/>
          </p:cNvSpPr>
          <p:nvPr/>
        </p:nvSpPr>
        <p:spPr>
          <a:xfrm>
            <a:off x="7178040" y="2761488"/>
            <a:ext cx="128016" cy="128016"/>
          </a:xfrm>
          <a:prstGeom prst="ellipse">
            <a:avLst/>
          </a:prstGeom>
          <a:solidFill>
            <a:srgbClr val="35D4E7"/>
          </a:solidFill>
          <a:ln w="12700">
            <a:solidFill>
              <a:srgbClr val="35D4E7"/>
            </a:solidFill>
            <a:prstDash val="solid"/>
          </a:ln>
        </p:spPr>
        <p:txBody>
          <a:bodyPr/>
          <a:lstStyle/>
          <a:p>
            <a:endParaRPr/>
          </a:p>
        </p:txBody>
      </p:sp>
      <p:sp>
        <p:nvSpPr>
          <p:cNvPr id="28" name="Text 25">
            <a:extLst>
              <a:ext uri="{FF2B5EF4-FFF2-40B4-BE49-F238E27FC236}">
                <a16:creationId xmlns:a16="http://schemas.microsoft.com/office/drawing/2014/main" id="{13E6742C-2C8C-468F-9331-630B34E46374}"/>
              </a:ext>
            </a:extLst>
          </p:cNvPr>
          <p:cNvSpPr>
            <a:spLocks noGrp="1"/>
          </p:cNvSpPr>
          <p:nvPr/>
        </p:nvSpPr>
        <p:spPr>
          <a:xfrm>
            <a:off x="4873752" y="3054096"/>
            <a:ext cx="502920" cy="164592"/>
          </a:xfrm>
          <a:prstGeom prst="rect">
            <a:avLst/>
          </a:prstGeom>
          <a:noFill/>
        </p:spPr>
        <p:txBody>
          <a:bodyPr wrap="square" lIns="0" tIns="0" rIns="0" bIns="0" anchor="ctr"/>
          <a:lstStyle/>
          <a:p>
            <a:pPr marL="0" indent="0" algn="ctr">
              <a:buNone/>
            </a:pPr>
            <a:r>
              <a:rPr sz="850">
                <a:solidFill>
                  <a:srgbClr val="A7B5C8"/>
                </a:solidFill>
                <a:latin typeface="Inter"/>
                <a:ea typeface="Inter"/>
                <a:cs typeface="Inter"/>
              </a:rPr>
              <a:t>0.08</a:t>
            </a:r>
            <a:endParaRPr sz="850"/>
          </a:p>
        </p:txBody>
      </p:sp>
      <p:sp>
        <p:nvSpPr>
          <p:cNvPr id="29" name="Text 26">
            <a:extLst>
              <a:ext uri="{FF2B5EF4-FFF2-40B4-BE49-F238E27FC236}">
                <a16:creationId xmlns:a16="http://schemas.microsoft.com/office/drawing/2014/main" id="{EA0DD4E3-2BF6-47E5-9C2C-3E110F5976D9}"/>
              </a:ext>
            </a:extLst>
          </p:cNvPr>
          <p:cNvSpPr>
            <a:spLocks noGrp="1"/>
          </p:cNvSpPr>
          <p:nvPr/>
        </p:nvSpPr>
        <p:spPr>
          <a:xfrm>
            <a:off x="5833872" y="1874520"/>
            <a:ext cx="566928" cy="164592"/>
          </a:xfrm>
          <a:prstGeom prst="rect">
            <a:avLst/>
          </a:prstGeom>
          <a:noFill/>
        </p:spPr>
        <p:txBody>
          <a:bodyPr wrap="square" lIns="0" tIns="0" rIns="0" bIns="0" anchor="ctr"/>
          <a:lstStyle/>
          <a:p>
            <a:pPr marL="0" indent="0" algn="ctr">
              <a:buNone/>
            </a:pPr>
            <a:r>
              <a:rPr sz="850" b="1">
                <a:solidFill>
                  <a:srgbClr val="35D4E7"/>
                </a:solidFill>
                <a:latin typeface="Inter"/>
                <a:ea typeface="Inter"/>
                <a:cs typeface="Inter"/>
              </a:rPr>
              <a:t>~145</a:t>
            </a:r>
            <a:endParaRPr sz="850"/>
          </a:p>
        </p:txBody>
      </p:sp>
      <p:sp>
        <p:nvSpPr>
          <p:cNvPr id="30" name="Text 27">
            <a:extLst>
              <a:ext uri="{FF2B5EF4-FFF2-40B4-BE49-F238E27FC236}">
                <a16:creationId xmlns:a16="http://schemas.microsoft.com/office/drawing/2014/main" id="{A0FF5EF1-475E-4591-B11D-39C0EF24F843}"/>
              </a:ext>
            </a:extLst>
          </p:cNvPr>
          <p:cNvSpPr>
            <a:spLocks noGrp="1"/>
          </p:cNvSpPr>
          <p:nvPr/>
        </p:nvSpPr>
        <p:spPr>
          <a:xfrm>
            <a:off x="6986016" y="2898648"/>
            <a:ext cx="530352" cy="164592"/>
          </a:xfrm>
          <a:prstGeom prst="rect">
            <a:avLst/>
          </a:prstGeom>
          <a:noFill/>
        </p:spPr>
        <p:txBody>
          <a:bodyPr wrap="square" lIns="0" tIns="0" rIns="0" bIns="0" anchor="ctr"/>
          <a:lstStyle/>
          <a:p>
            <a:pPr marL="0" indent="0" algn="ctr">
              <a:buNone/>
            </a:pPr>
            <a:r>
              <a:rPr sz="850">
                <a:solidFill>
                  <a:srgbClr val="A7B5C8"/>
                </a:solidFill>
                <a:latin typeface="Inter"/>
                <a:ea typeface="Inter"/>
                <a:cs typeface="Inter"/>
              </a:rPr>
              <a:t>~6.2</a:t>
            </a:r>
            <a:endParaRPr sz="850"/>
          </a:p>
        </p:txBody>
      </p:sp>
      <p:sp>
        <p:nvSpPr>
          <p:cNvPr id="31" name="Text 28">
            <a:extLst>
              <a:ext uri="{FF2B5EF4-FFF2-40B4-BE49-F238E27FC236}">
                <a16:creationId xmlns:a16="http://schemas.microsoft.com/office/drawing/2014/main" id="{EC22E1D2-44FC-40CC-BDFB-359C1AA8F5DF}"/>
              </a:ext>
            </a:extLst>
          </p:cNvPr>
          <p:cNvSpPr>
            <a:spLocks noGrp="1"/>
          </p:cNvSpPr>
          <p:nvPr/>
        </p:nvSpPr>
        <p:spPr>
          <a:xfrm>
            <a:off x="4864608" y="3209544"/>
            <a:ext cx="502920" cy="164592"/>
          </a:xfrm>
          <a:prstGeom prst="rect">
            <a:avLst/>
          </a:prstGeom>
          <a:noFill/>
        </p:spPr>
        <p:txBody>
          <a:bodyPr wrap="square" lIns="0" tIns="0" rIns="0" bIns="0" anchor="ctr"/>
          <a:lstStyle/>
          <a:p>
            <a:pPr marL="0" indent="0" algn="ctr">
              <a:buNone/>
            </a:pPr>
            <a:r>
              <a:rPr sz="780">
                <a:solidFill>
                  <a:srgbClr val="72839A"/>
                </a:solidFill>
                <a:latin typeface="Inter"/>
                <a:ea typeface="Inter"/>
                <a:cs typeface="Inter"/>
              </a:rPr>
              <a:t>2021</a:t>
            </a:r>
            <a:endParaRPr sz="780"/>
          </a:p>
        </p:txBody>
      </p:sp>
      <p:sp>
        <p:nvSpPr>
          <p:cNvPr id="32" name="Text 29">
            <a:extLst>
              <a:ext uri="{FF2B5EF4-FFF2-40B4-BE49-F238E27FC236}">
                <a16:creationId xmlns:a16="http://schemas.microsoft.com/office/drawing/2014/main" id="{2204D5EF-876D-43B6-BCC3-DC0C1AB8E324}"/>
              </a:ext>
            </a:extLst>
          </p:cNvPr>
          <p:cNvSpPr>
            <a:spLocks noGrp="1"/>
          </p:cNvSpPr>
          <p:nvPr/>
        </p:nvSpPr>
        <p:spPr>
          <a:xfrm>
            <a:off x="5879592" y="3209544"/>
            <a:ext cx="502920" cy="164592"/>
          </a:xfrm>
          <a:prstGeom prst="rect">
            <a:avLst/>
          </a:prstGeom>
          <a:noFill/>
        </p:spPr>
        <p:txBody>
          <a:bodyPr wrap="square" lIns="0" tIns="0" rIns="0" bIns="0" anchor="ctr"/>
          <a:lstStyle/>
          <a:p>
            <a:pPr marL="0" indent="0" algn="ctr">
              <a:buNone/>
            </a:pPr>
            <a:r>
              <a:rPr sz="780">
                <a:solidFill>
                  <a:srgbClr val="72839A"/>
                </a:solidFill>
                <a:latin typeface="Inter"/>
                <a:ea typeface="Inter"/>
                <a:cs typeface="Inter"/>
              </a:rPr>
              <a:t>2022</a:t>
            </a:r>
            <a:endParaRPr sz="780"/>
          </a:p>
        </p:txBody>
      </p:sp>
      <p:sp>
        <p:nvSpPr>
          <p:cNvPr id="33" name="Text 30">
            <a:extLst>
              <a:ext uri="{FF2B5EF4-FFF2-40B4-BE49-F238E27FC236}">
                <a16:creationId xmlns:a16="http://schemas.microsoft.com/office/drawing/2014/main" id="{EBDA03A2-D9EE-4E7F-8F67-8E0FC0EF9371}"/>
              </a:ext>
            </a:extLst>
          </p:cNvPr>
          <p:cNvSpPr>
            <a:spLocks noGrp="1"/>
          </p:cNvSpPr>
          <p:nvPr/>
        </p:nvSpPr>
        <p:spPr>
          <a:xfrm>
            <a:off x="7004304" y="3209544"/>
            <a:ext cx="502920" cy="164592"/>
          </a:xfrm>
          <a:prstGeom prst="rect">
            <a:avLst/>
          </a:prstGeom>
          <a:noFill/>
        </p:spPr>
        <p:txBody>
          <a:bodyPr wrap="square" lIns="0" tIns="0" rIns="0" bIns="0" anchor="ctr"/>
          <a:lstStyle/>
          <a:p>
            <a:pPr marL="0" indent="0" algn="ctr">
              <a:buNone/>
            </a:pPr>
            <a:r>
              <a:rPr sz="780">
                <a:solidFill>
                  <a:srgbClr val="72839A"/>
                </a:solidFill>
                <a:latin typeface="Inter"/>
                <a:ea typeface="Inter"/>
                <a:cs typeface="Inter"/>
              </a:rPr>
              <a:t>2026</a:t>
            </a:r>
            <a:endParaRPr sz="780"/>
          </a:p>
        </p:txBody>
      </p:sp>
      <p:sp>
        <p:nvSpPr>
          <p:cNvPr id="34" name="Shape 31">
            <a:extLst>
              <a:ext uri="{FF2B5EF4-FFF2-40B4-BE49-F238E27FC236}">
                <a16:creationId xmlns:a16="http://schemas.microsoft.com/office/drawing/2014/main" id="{84ABFA9B-D18F-411D-957D-03D202AD85A3}"/>
              </a:ext>
            </a:extLst>
          </p:cNvPr>
          <p:cNvSpPr>
            <a:spLocks noGrp="1"/>
          </p:cNvSpPr>
          <p:nvPr/>
        </p:nvSpPr>
        <p:spPr>
          <a:xfrm>
            <a:off x="8302752" y="1417320"/>
            <a:ext cx="3310128" cy="2039112"/>
          </a:xfrm>
          <a:prstGeom prst="roundRect">
            <a:avLst>
              <a:gd name="adj" fmla="val 3587"/>
            </a:avLst>
          </a:prstGeom>
          <a:solidFill>
            <a:srgbClr val="0E1B2E"/>
          </a:solidFill>
          <a:ln w="12700">
            <a:solidFill>
              <a:srgbClr val="293A51"/>
            </a:solidFill>
            <a:prstDash val="solid"/>
          </a:ln>
        </p:spPr>
        <p:txBody>
          <a:bodyPr/>
          <a:lstStyle/>
          <a:p>
            <a:endParaRPr/>
          </a:p>
        </p:txBody>
      </p:sp>
      <p:sp>
        <p:nvSpPr>
          <p:cNvPr id="35" name="Text 32">
            <a:extLst>
              <a:ext uri="{FF2B5EF4-FFF2-40B4-BE49-F238E27FC236}">
                <a16:creationId xmlns:a16="http://schemas.microsoft.com/office/drawing/2014/main" id="{F70B4003-1523-4DDC-BC94-73FDDB55C211}"/>
              </a:ext>
            </a:extLst>
          </p:cNvPr>
          <p:cNvSpPr>
            <a:spLocks noGrp="1"/>
          </p:cNvSpPr>
          <p:nvPr/>
        </p:nvSpPr>
        <p:spPr>
          <a:xfrm>
            <a:off x="8586216" y="1673352"/>
            <a:ext cx="1828800" cy="219456"/>
          </a:xfrm>
          <a:prstGeom prst="rect">
            <a:avLst/>
          </a:prstGeom>
          <a:noFill/>
        </p:spPr>
        <p:txBody>
          <a:bodyPr wrap="square" lIns="0" tIns="0" rIns="0" bIns="0" anchor="ctr"/>
          <a:lstStyle/>
          <a:p>
            <a:pPr marL="0" indent="0">
              <a:buNone/>
            </a:pPr>
            <a:r>
              <a:rPr sz="1000" b="1" spc="100">
                <a:solidFill>
                  <a:srgbClr val="F7B955"/>
                </a:solidFill>
                <a:latin typeface="Inter"/>
                <a:ea typeface="Inter"/>
                <a:cs typeface="Inter"/>
              </a:rPr>
              <a:t>MEME TOKEN · USD</a:t>
            </a:r>
            <a:endParaRPr sz="1000"/>
          </a:p>
        </p:txBody>
      </p:sp>
      <p:sp>
        <p:nvSpPr>
          <p:cNvPr id="36" name="Shape 33">
            <a:extLst>
              <a:ext uri="{FF2B5EF4-FFF2-40B4-BE49-F238E27FC236}">
                <a16:creationId xmlns:a16="http://schemas.microsoft.com/office/drawing/2014/main" id="{DE576B70-73ED-4144-927E-5B92783A798F}"/>
              </a:ext>
            </a:extLst>
          </p:cNvPr>
          <p:cNvSpPr>
            <a:spLocks noGrp="1"/>
          </p:cNvSpPr>
          <p:nvPr/>
        </p:nvSpPr>
        <p:spPr>
          <a:xfrm>
            <a:off x="8622792" y="2990088"/>
            <a:ext cx="2468880" cy="0"/>
          </a:xfrm>
          <a:prstGeom prst="line">
            <a:avLst/>
          </a:prstGeom>
          <a:noFill/>
          <a:ln w="12700">
            <a:solidFill>
              <a:srgbClr val="293A51"/>
            </a:solidFill>
            <a:prstDash val="solid"/>
          </a:ln>
        </p:spPr>
        <p:txBody>
          <a:bodyPr/>
          <a:lstStyle/>
          <a:p>
            <a:endParaRPr/>
          </a:p>
        </p:txBody>
      </p:sp>
      <p:sp>
        <p:nvSpPr>
          <p:cNvPr id="37" name="Shape 34">
            <a:extLst>
              <a:ext uri="{FF2B5EF4-FFF2-40B4-BE49-F238E27FC236}">
                <a16:creationId xmlns:a16="http://schemas.microsoft.com/office/drawing/2014/main" id="{F4CFE0D2-D5B6-4BF2-AF93-887C905C0528}"/>
              </a:ext>
            </a:extLst>
          </p:cNvPr>
          <p:cNvSpPr>
            <a:spLocks noGrp="1"/>
          </p:cNvSpPr>
          <p:nvPr/>
        </p:nvSpPr>
        <p:spPr>
          <a:xfrm>
            <a:off x="8622792" y="2011680"/>
            <a:ext cx="0" cy="978408"/>
          </a:xfrm>
          <a:prstGeom prst="line">
            <a:avLst/>
          </a:prstGeom>
          <a:noFill/>
          <a:ln w="12700">
            <a:solidFill>
              <a:srgbClr val="293A51"/>
            </a:solidFill>
            <a:prstDash val="solid"/>
          </a:ln>
        </p:spPr>
        <p:txBody>
          <a:bodyPr/>
          <a:lstStyle/>
          <a:p>
            <a:endParaRPr/>
          </a:p>
        </p:txBody>
      </p:sp>
      <p:sp>
        <p:nvSpPr>
          <p:cNvPr id="38" name="Shape 35">
            <a:extLst>
              <a:ext uri="{FF2B5EF4-FFF2-40B4-BE49-F238E27FC236}">
                <a16:creationId xmlns:a16="http://schemas.microsoft.com/office/drawing/2014/main" id="{7D1D679F-444C-4B60-A5E3-7788B89D8BAF}"/>
              </a:ext>
            </a:extLst>
          </p:cNvPr>
          <p:cNvSpPr>
            <a:spLocks noGrp="1"/>
          </p:cNvSpPr>
          <p:nvPr/>
        </p:nvSpPr>
        <p:spPr>
          <a:xfrm>
            <a:off x="8732520" y="2139696"/>
            <a:ext cx="2020824" cy="713232"/>
          </a:xfrm>
          <a:prstGeom prst="line">
            <a:avLst/>
          </a:prstGeom>
          <a:noFill/>
          <a:ln w="12700">
            <a:solidFill>
              <a:srgbClr val="F7B955"/>
            </a:solidFill>
            <a:prstDash val="solid"/>
          </a:ln>
        </p:spPr>
        <p:txBody>
          <a:bodyPr/>
          <a:lstStyle/>
          <a:p>
            <a:endParaRPr/>
          </a:p>
        </p:txBody>
      </p:sp>
      <p:sp>
        <p:nvSpPr>
          <p:cNvPr id="39" name="Shape 36">
            <a:extLst>
              <a:ext uri="{FF2B5EF4-FFF2-40B4-BE49-F238E27FC236}">
                <a16:creationId xmlns:a16="http://schemas.microsoft.com/office/drawing/2014/main" id="{CEE7C5DA-96A1-4BDA-907F-73694A3AD3C8}"/>
              </a:ext>
            </a:extLst>
          </p:cNvPr>
          <p:cNvSpPr>
            <a:spLocks noGrp="1"/>
          </p:cNvSpPr>
          <p:nvPr/>
        </p:nvSpPr>
        <p:spPr>
          <a:xfrm>
            <a:off x="8668512" y="2075688"/>
            <a:ext cx="128016" cy="128016"/>
          </a:xfrm>
          <a:prstGeom prst="ellipse">
            <a:avLst/>
          </a:prstGeom>
          <a:solidFill>
            <a:srgbClr val="F7B955"/>
          </a:solidFill>
          <a:ln w="12700">
            <a:solidFill>
              <a:srgbClr val="F7B955"/>
            </a:solidFill>
            <a:prstDash val="solid"/>
          </a:ln>
        </p:spPr>
        <p:txBody>
          <a:bodyPr/>
          <a:lstStyle/>
          <a:p>
            <a:endParaRPr/>
          </a:p>
        </p:txBody>
      </p:sp>
      <p:sp>
        <p:nvSpPr>
          <p:cNvPr id="40" name="Shape 37">
            <a:extLst>
              <a:ext uri="{FF2B5EF4-FFF2-40B4-BE49-F238E27FC236}">
                <a16:creationId xmlns:a16="http://schemas.microsoft.com/office/drawing/2014/main" id="{19A39427-B098-432E-9957-63B8151ACDBF}"/>
              </a:ext>
            </a:extLst>
          </p:cNvPr>
          <p:cNvSpPr>
            <a:spLocks noGrp="1"/>
          </p:cNvSpPr>
          <p:nvPr/>
        </p:nvSpPr>
        <p:spPr>
          <a:xfrm>
            <a:off x="9637776" y="2532888"/>
            <a:ext cx="128016" cy="128016"/>
          </a:xfrm>
          <a:prstGeom prst="ellipse">
            <a:avLst/>
          </a:prstGeom>
          <a:solidFill>
            <a:srgbClr val="F7B955"/>
          </a:solidFill>
          <a:ln w="12700">
            <a:solidFill>
              <a:srgbClr val="F7B955"/>
            </a:solidFill>
            <a:prstDash val="solid"/>
          </a:ln>
        </p:spPr>
        <p:txBody>
          <a:bodyPr/>
          <a:lstStyle/>
          <a:p>
            <a:endParaRPr/>
          </a:p>
        </p:txBody>
      </p:sp>
      <p:sp>
        <p:nvSpPr>
          <p:cNvPr id="41" name="Shape 38">
            <a:extLst>
              <a:ext uri="{FF2B5EF4-FFF2-40B4-BE49-F238E27FC236}">
                <a16:creationId xmlns:a16="http://schemas.microsoft.com/office/drawing/2014/main" id="{502343D0-D7CE-489B-86BA-B19345FE543C}"/>
              </a:ext>
            </a:extLst>
          </p:cNvPr>
          <p:cNvSpPr>
            <a:spLocks noGrp="1"/>
          </p:cNvSpPr>
          <p:nvPr/>
        </p:nvSpPr>
        <p:spPr>
          <a:xfrm>
            <a:off x="10689336" y="2788920"/>
            <a:ext cx="128016" cy="128016"/>
          </a:xfrm>
          <a:prstGeom prst="ellipse">
            <a:avLst/>
          </a:prstGeom>
          <a:solidFill>
            <a:srgbClr val="F7B955"/>
          </a:solidFill>
          <a:ln w="12700">
            <a:solidFill>
              <a:srgbClr val="F7B955"/>
            </a:solidFill>
            <a:prstDash val="solid"/>
          </a:ln>
        </p:spPr>
        <p:txBody>
          <a:bodyPr/>
          <a:lstStyle/>
          <a:p>
            <a:endParaRPr/>
          </a:p>
        </p:txBody>
      </p:sp>
      <p:sp>
        <p:nvSpPr>
          <p:cNvPr id="42" name="Text 39">
            <a:extLst>
              <a:ext uri="{FF2B5EF4-FFF2-40B4-BE49-F238E27FC236}">
                <a16:creationId xmlns:a16="http://schemas.microsoft.com/office/drawing/2014/main" id="{AFF8135F-1AFC-4004-9F3B-41071CB9EFB9}"/>
              </a:ext>
            </a:extLst>
          </p:cNvPr>
          <p:cNvSpPr>
            <a:spLocks noGrp="1"/>
          </p:cNvSpPr>
          <p:nvPr/>
        </p:nvSpPr>
        <p:spPr>
          <a:xfrm>
            <a:off x="8503920" y="1892808"/>
            <a:ext cx="640080" cy="164592"/>
          </a:xfrm>
          <a:prstGeom prst="rect">
            <a:avLst/>
          </a:prstGeom>
          <a:noFill/>
        </p:spPr>
        <p:txBody>
          <a:bodyPr wrap="square" lIns="0" tIns="0" rIns="0" bIns="0" anchor="ctr"/>
          <a:lstStyle/>
          <a:p>
            <a:pPr marL="0" indent="0" algn="ctr">
              <a:buNone/>
            </a:pPr>
            <a:r>
              <a:rPr sz="850" b="1">
                <a:solidFill>
                  <a:srgbClr val="F7B955"/>
                </a:solidFill>
                <a:latin typeface="Inter"/>
                <a:ea typeface="Inter"/>
                <a:cs typeface="Inter"/>
              </a:rPr>
              <a:t>$73.43</a:t>
            </a:r>
            <a:endParaRPr sz="850"/>
          </a:p>
        </p:txBody>
      </p:sp>
      <p:sp>
        <p:nvSpPr>
          <p:cNvPr id="43" name="Text 40">
            <a:extLst>
              <a:ext uri="{FF2B5EF4-FFF2-40B4-BE49-F238E27FC236}">
                <a16:creationId xmlns:a16="http://schemas.microsoft.com/office/drawing/2014/main" id="{39D581A6-C347-45D8-BD50-9C64AF083588}"/>
              </a:ext>
            </a:extLst>
          </p:cNvPr>
          <p:cNvSpPr>
            <a:spLocks noGrp="1"/>
          </p:cNvSpPr>
          <p:nvPr/>
        </p:nvSpPr>
        <p:spPr>
          <a:xfrm>
            <a:off x="9409176" y="2386584"/>
            <a:ext cx="640080" cy="164592"/>
          </a:xfrm>
          <a:prstGeom prst="rect">
            <a:avLst/>
          </a:prstGeom>
          <a:noFill/>
        </p:spPr>
        <p:txBody>
          <a:bodyPr wrap="square" lIns="0" tIns="0" rIns="0" bIns="0" anchor="ctr"/>
          <a:lstStyle/>
          <a:p>
            <a:pPr marL="0" indent="0" algn="ctr">
              <a:buNone/>
            </a:pPr>
            <a:r>
              <a:rPr sz="850">
                <a:solidFill>
                  <a:srgbClr val="A7B5C8"/>
                </a:solidFill>
                <a:latin typeface="Inter"/>
                <a:ea typeface="Inter"/>
                <a:cs typeface="Inter"/>
              </a:rPr>
              <a:t>~$4.8</a:t>
            </a:r>
            <a:endParaRPr sz="850"/>
          </a:p>
        </p:txBody>
      </p:sp>
      <p:sp>
        <p:nvSpPr>
          <p:cNvPr id="44" name="Text 41">
            <a:extLst>
              <a:ext uri="{FF2B5EF4-FFF2-40B4-BE49-F238E27FC236}">
                <a16:creationId xmlns:a16="http://schemas.microsoft.com/office/drawing/2014/main" id="{6A7053F0-9F23-44B5-BEB6-52F71B89B153}"/>
              </a:ext>
            </a:extLst>
          </p:cNvPr>
          <p:cNvSpPr>
            <a:spLocks noGrp="1"/>
          </p:cNvSpPr>
          <p:nvPr/>
        </p:nvSpPr>
        <p:spPr>
          <a:xfrm>
            <a:off x="10469880" y="2907792"/>
            <a:ext cx="640080" cy="164592"/>
          </a:xfrm>
          <a:prstGeom prst="rect">
            <a:avLst/>
          </a:prstGeom>
          <a:noFill/>
        </p:spPr>
        <p:txBody>
          <a:bodyPr wrap="square" lIns="0" tIns="0" rIns="0" bIns="0" anchor="ctr"/>
          <a:lstStyle/>
          <a:p>
            <a:pPr marL="0" indent="0" algn="ctr">
              <a:buNone/>
            </a:pPr>
            <a:r>
              <a:rPr sz="850">
                <a:solidFill>
                  <a:srgbClr val="A7B5C8"/>
                </a:solidFill>
                <a:latin typeface="Inter"/>
                <a:ea typeface="Inter"/>
                <a:cs typeface="Inter"/>
              </a:rPr>
              <a:t>~$2.0</a:t>
            </a:r>
            <a:endParaRPr sz="850"/>
          </a:p>
        </p:txBody>
      </p:sp>
      <p:sp>
        <p:nvSpPr>
          <p:cNvPr id="45" name="Text 42">
            <a:extLst>
              <a:ext uri="{FF2B5EF4-FFF2-40B4-BE49-F238E27FC236}">
                <a16:creationId xmlns:a16="http://schemas.microsoft.com/office/drawing/2014/main" id="{45027566-6250-4CCE-B0F3-934018A72D77}"/>
              </a:ext>
            </a:extLst>
          </p:cNvPr>
          <p:cNvSpPr>
            <a:spLocks noGrp="1"/>
          </p:cNvSpPr>
          <p:nvPr/>
        </p:nvSpPr>
        <p:spPr>
          <a:xfrm>
            <a:off x="8485632" y="3209544"/>
            <a:ext cx="685800" cy="164592"/>
          </a:xfrm>
          <a:prstGeom prst="rect">
            <a:avLst/>
          </a:prstGeom>
          <a:noFill/>
        </p:spPr>
        <p:txBody>
          <a:bodyPr wrap="square" lIns="0" tIns="0" rIns="0" bIns="0" anchor="ctr"/>
          <a:lstStyle/>
          <a:p>
            <a:pPr marL="0" indent="0" algn="ctr">
              <a:buNone/>
            </a:pPr>
            <a:r>
              <a:rPr sz="780">
                <a:solidFill>
                  <a:srgbClr val="72839A"/>
                </a:solidFill>
                <a:latin typeface="Inter"/>
                <a:ea typeface="Inter"/>
                <a:cs typeface="Inter"/>
              </a:rPr>
              <a:t>JAN 25</a:t>
            </a:r>
            <a:endParaRPr sz="780"/>
          </a:p>
        </p:txBody>
      </p:sp>
      <p:sp>
        <p:nvSpPr>
          <p:cNvPr id="46" name="Text 43">
            <a:extLst>
              <a:ext uri="{FF2B5EF4-FFF2-40B4-BE49-F238E27FC236}">
                <a16:creationId xmlns:a16="http://schemas.microsoft.com/office/drawing/2014/main" id="{D7C37DE3-9F73-4C6C-9D85-69D634FEA737}"/>
              </a:ext>
            </a:extLst>
          </p:cNvPr>
          <p:cNvSpPr>
            <a:spLocks noGrp="1"/>
          </p:cNvSpPr>
          <p:nvPr/>
        </p:nvSpPr>
        <p:spPr>
          <a:xfrm>
            <a:off x="9372600" y="3209544"/>
            <a:ext cx="685800" cy="164592"/>
          </a:xfrm>
          <a:prstGeom prst="rect">
            <a:avLst/>
          </a:prstGeom>
          <a:noFill/>
        </p:spPr>
        <p:txBody>
          <a:bodyPr wrap="square" lIns="0" tIns="0" rIns="0" bIns="0" anchor="ctr"/>
          <a:lstStyle/>
          <a:p>
            <a:pPr marL="0" indent="0" algn="ctr">
              <a:buNone/>
            </a:pPr>
            <a:r>
              <a:rPr sz="780">
                <a:solidFill>
                  <a:srgbClr val="72839A"/>
                </a:solidFill>
                <a:latin typeface="Inter"/>
                <a:ea typeface="Inter"/>
                <a:cs typeface="Inter"/>
              </a:rPr>
              <a:t>DEC 25</a:t>
            </a:r>
            <a:endParaRPr sz="780"/>
          </a:p>
        </p:txBody>
      </p:sp>
      <p:sp>
        <p:nvSpPr>
          <p:cNvPr id="47" name="Text 44">
            <a:extLst>
              <a:ext uri="{FF2B5EF4-FFF2-40B4-BE49-F238E27FC236}">
                <a16:creationId xmlns:a16="http://schemas.microsoft.com/office/drawing/2014/main" id="{E46FD72B-F4DE-45AA-A929-085351AB9DD6}"/>
              </a:ext>
            </a:extLst>
          </p:cNvPr>
          <p:cNvSpPr>
            <a:spLocks noGrp="1"/>
          </p:cNvSpPr>
          <p:nvPr/>
        </p:nvSpPr>
        <p:spPr>
          <a:xfrm>
            <a:off x="10415016" y="3209544"/>
            <a:ext cx="685800" cy="164592"/>
          </a:xfrm>
          <a:prstGeom prst="rect">
            <a:avLst/>
          </a:prstGeom>
          <a:noFill/>
        </p:spPr>
        <p:txBody>
          <a:bodyPr wrap="square" lIns="0" tIns="0" rIns="0" bIns="0" anchor="ctr"/>
          <a:lstStyle/>
          <a:p>
            <a:pPr marL="0" indent="0" algn="ctr">
              <a:buNone/>
            </a:pPr>
            <a:r>
              <a:rPr sz="780">
                <a:solidFill>
                  <a:srgbClr val="72839A"/>
                </a:solidFill>
                <a:latin typeface="Inter"/>
                <a:ea typeface="Inter"/>
                <a:cs typeface="Inter"/>
              </a:rPr>
              <a:t>SEP 26</a:t>
            </a:r>
            <a:endParaRPr sz="780"/>
          </a:p>
        </p:txBody>
      </p:sp>
      <p:sp>
        <p:nvSpPr>
          <p:cNvPr id="48" name="Shape 45">
            <a:extLst>
              <a:ext uri="{FF2B5EF4-FFF2-40B4-BE49-F238E27FC236}">
                <a16:creationId xmlns:a16="http://schemas.microsoft.com/office/drawing/2014/main" id="{F1BCB6DC-2693-4F43-B226-B6A76ACFF942}"/>
              </a:ext>
            </a:extLst>
          </p:cNvPr>
          <p:cNvSpPr>
            <a:spLocks noGrp="1"/>
          </p:cNvSpPr>
          <p:nvPr/>
        </p:nvSpPr>
        <p:spPr>
          <a:xfrm>
            <a:off x="4690872" y="3785616"/>
            <a:ext cx="6922008" cy="2112264"/>
          </a:xfrm>
          <a:prstGeom prst="roundRect">
            <a:avLst>
              <a:gd name="adj" fmla="val 3463"/>
            </a:avLst>
          </a:prstGeom>
          <a:solidFill>
            <a:srgbClr val="0D182B"/>
          </a:solidFill>
          <a:ln w="12700">
            <a:solidFill>
              <a:srgbClr val="293A51"/>
            </a:solidFill>
            <a:prstDash val="solid"/>
          </a:ln>
        </p:spPr>
        <p:txBody>
          <a:bodyPr/>
          <a:lstStyle/>
          <a:p>
            <a:endParaRPr/>
          </a:p>
        </p:txBody>
      </p:sp>
      <p:sp>
        <p:nvSpPr>
          <p:cNvPr id="49" name="Text 46">
            <a:extLst>
              <a:ext uri="{FF2B5EF4-FFF2-40B4-BE49-F238E27FC236}">
                <a16:creationId xmlns:a16="http://schemas.microsoft.com/office/drawing/2014/main" id="{54EA4B8B-FDF9-4D31-BFAC-ACB8D50200BE}"/>
              </a:ext>
            </a:extLst>
          </p:cNvPr>
          <p:cNvSpPr>
            <a:spLocks noGrp="1"/>
          </p:cNvSpPr>
          <p:nvPr/>
        </p:nvSpPr>
        <p:spPr>
          <a:xfrm>
            <a:off x="5001768" y="4087368"/>
            <a:ext cx="2286000" cy="201168"/>
          </a:xfrm>
          <a:prstGeom prst="rect">
            <a:avLst/>
          </a:prstGeom>
          <a:noFill/>
        </p:spPr>
        <p:txBody>
          <a:bodyPr wrap="square" lIns="0" tIns="0" rIns="0" bIns="0" anchor="ctr"/>
          <a:lstStyle/>
          <a:p>
            <a:pPr marL="0" indent="0">
              <a:buNone/>
            </a:pPr>
            <a:r>
              <a:rPr sz="900" b="1" spc="110">
                <a:solidFill>
                  <a:srgbClr val="FF6FA8"/>
                </a:solidFill>
                <a:latin typeface="Inter"/>
                <a:ea typeface="Inter"/>
                <a:cs typeface="Inter"/>
              </a:rPr>
              <a:t>THE REQUIREMENTS CHANGE</a:t>
            </a:r>
            <a:endParaRPr sz="900"/>
          </a:p>
        </p:txBody>
      </p:sp>
      <p:pic>
        <p:nvPicPr>
          <p:cNvPr id="116"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10912" y="4502404"/>
            <a:ext cx="228600" cy="203200"/>
          </a:xfrm>
          <a:prstGeom prst="rect">
            <a:avLst/>
          </a:prstGeom>
        </p:spPr>
      </p:pic>
      <p:sp>
        <p:nvSpPr>
          <p:cNvPr id="51" name="Text 47">
            <a:extLst>
              <a:ext uri="{FF2B5EF4-FFF2-40B4-BE49-F238E27FC236}">
                <a16:creationId xmlns:a16="http://schemas.microsoft.com/office/drawing/2014/main" id="{3A698963-49F1-4022-BD8F-A9EE62B219E5}"/>
              </a:ext>
            </a:extLst>
          </p:cNvPr>
          <p:cNvSpPr>
            <a:spLocks noGrp="1"/>
          </p:cNvSpPr>
          <p:nvPr/>
        </p:nvSpPr>
        <p:spPr>
          <a:xfrm>
            <a:off x="5376672" y="4480560"/>
            <a:ext cx="3429000" cy="246888"/>
          </a:xfrm>
          <a:prstGeom prst="rect">
            <a:avLst/>
          </a:prstGeom>
          <a:noFill/>
        </p:spPr>
        <p:txBody>
          <a:bodyPr wrap="square" lIns="0" tIns="0" rIns="0" bIns="0" anchor="ctr"/>
          <a:lstStyle/>
          <a:p>
            <a:pPr marL="0" indent="0">
              <a:buNone/>
            </a:pPr>
            <a:r>
              <a:rPr sz="1250" b="1">
                <a:solidFill>
                  <a:srgbClr val="EAF0F8"/>
                </a:solidFill>
                <a:latin typeface="Inter"/>
                <a:ea typeface="Inter"/>
                <a:cs typeface="Inter"/>
              </a:rPr>
              <a:t>Can another user see my data?</a:t>
            </a:r>
            <a:endParaRPr sz="1250"/>
          </a:p>
        </p:txBody>
      </p:sp>
      <p:sp>
        <p:nvSpPr>
          <p:cNvPr id="52" name="Shape 48">
            <a:extLst>
              <a:ext uri="{FF2B5EF4-FFF2-40B4-BE49-F238E27FC236}">
                <a16:creationId xmlns:a16="http://schemas.microsoft.com/office/drawing/2014/main" id="{243BD13F-95AF-4F97-BEFE-4A5225E64667}"/>
              </a:ext>
            </a:extLst>
          </p:cNvPr>
          <p:cNvSpPr>
            <a:spLocks noGrp="1"/>
          </p:cNvSpPr>
          <p:nvPr/>
        </p:nvSpPr>
        <p:spPr>
          <a:xfrm>
            <a:off x="10808208" y="4517136"/>
            <a:ext cx="146304" cy="146304"/>
          </a:xfrm>
          <a:prstGeom prst="ellipse">
            <a:avLst/>
          </a:prstGeom>
          <a:solidFill>
            <a:srgbClr val="35D4E7"/>
          </a:solidFill>
          <a:ln w="12700">
            <a:solidFill>
              <a:srgbClr val="35D4E7"/>
            </a:solidFill>
            <a:prstDash val="solid"/>
          </a:ln>
        </p:spPr>
        <p:txBody>
          <a:bodyPr/>
          <a:lstStyle/>
          <a:p>
            <a:endParaRPr/>
          </a:p>
        </p:txBody>
      </p:sp>
      <p:pic>
        <p:nvPicPr>
          <p:cNvPr id="119"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25200" y="4919472"/>
            <a:ext cx="200025" cy="228600"/>
          </a:xfrm>
          <a:prstGeom prst="rect">
            <a:avLst/>
          </a:prstGeom>
        </p:spPr>
      </p:pic>
      <p:sp>
        <p:nvSpPr>
          <p:cNvPr id="54" name="Text 49">
            <a:extLst>
              <a:ext uri="{FF2B5EF4-FFF2-40B4-BE49-F238E27FC236}">
                <a16:creationId xmlns:a16="http://schemas.microsoft.com/office/drawing/2014/main" id="{7D241636-0F45-47CE-97D9-5754BF1E2BCA}"/>
              </a:ext>
            </a:extLst>
          </p:cNvPr>
          <p:cNvSpPr>
            <a:spLocks noGrp="1"/>
          </p:cNvSpPr>
          <p:nvPr/>
        </p:nvSpPr>
        <p:spPr>
          <a:xfrm>
            <a:off x="5376672" y="4910328"/>
            <a:ext cx="3429000" cy="246888"/>
          </a:xfrm>
          <a:prstGeom prst="rect">
            <a:avLst/>
          </a:prstGeom>
          <a:noFill/>
        </p:spPr>
        <p:txBody>
          <a:bodyPr wrap="square" lIns="0" tIns="0" rIns="0" bIns="0" anchor="ctr"/>
          <a:lstStyle/>
          <a:p>
            <a:pPr marL="0" indent="0">
              <a:buNone/>
            </a:pPr>
            <a:r>
              <a:rPr sz="1250" b="1">
                <a:solidFill>
                  <a:srgbClr val="EAF0F8"/>
                </a:solidFill>
                <a:latin typeface="Inter"/>
                <a:ea typeface="Inter"/>
                <a:cs typeface="Inter"/>
              </a:rPr>
              <a:t>Can the agent invoke a write tool?</a:t>
            </a:r>
            <a:endParaRPr sz="1250"/>
          </a:p>
        </p:txBody>
      </p:sp>
      <p:sp>
        <p:nvSpPr>
          <p:cNvPr id="55" name="Shape 50">
            <a:extLst>
              <a:ext uri="{FF2B5EF4-FFF2-40B4-BE49-F238E27FC236}">
                <a16:creationId xmlns:a16="http://schemas.microsoft.com/office/drawing/2014/main" id="{7580A5FD-1D8A-47C3-8248-513B3AC2E9C7}"/>
              </a:ext>
            </a:extLst>
          </p:cNvPr>
          <p:cNvSpPr>
            <a:spLocks noGrp="1"/>
          </p:cNvSpPr>
          <p:nvPr/>
        </p:nvSpPr>
        <p:spPr>
          <a:xfrm>
            <a:off x="10808208" y="4946904"/>
            <a:ext cx="146304" cy="146304"/>
          </a:xfrm>
          <a:prstGeom prst="ellipse">
            <a:avLst/>
          </a:prstGeom>
          <a:solidFill>
            <a:srgbClr val="F7B955"/>
          </a:solidFill>
          <a:ln w="12700">
            <a:solidFill>
              <a:srgbClr val="F7B955"/>
            </a:solidFill>
            <a:prstDash val="solid"/>
          </a:ln>
        </p:spPr>
        <p:txBody>
          <a:bodyPr/>
          <a:lstStyle/>
          <a:p>
            <a:endParaRPr/>
          </a:p>
        </p:txBody>
      </p:sp>
      <p:pic>
        <p:nvPicPr>
          <p:cNvPr id="122" name="Image 3"/>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010912" y="5349240"/>
            <a:ext cx="228600" cy="228600"/>
          </a:xfrm>
          <a:prstGeom prst="rect">
            <a:avLst/>
          </a:prstGeom>
        </p:spPr>
      </p:pic>
      <p:sp>
        <p:nvSpPr>
          <p:cNvPr id="57" name="Text 51">
            <a:extLst>
              <a:ext uri="{FF2B5EF4-FFF2-40B4-BE49-F238E27FC236}">
                <a16:creationId xmlns:a16="http://schemas.microsoft.com/office/drawing/2014/main" id="{8045A710-45CC-45F7-88EC-A32C6DEBE6C7}"/>
              </a:ext>
            </a:extLst>
          </p:cNvPr>
          <p:cNvSpPr>
            <a:spLocks noGrp="1"/>
          </p:cNvSpPr>
          <p:nvPr/>
        </p:nvSpPr>
        <p:spPr>
          <a:xfrm>
            <a:off x="5376672" y="5340096"/>
            <a:ext cx="3429000" cy="246888"/>
          </a:xfrm>
          <a:prstGeom prst="rect">
            <a:avLst/>
          </a:prstGeom>
          <a:noFill/>
        </p:spPr>
        <p:txBody>
          <a:bodyPr wrap="square" lIns="0" tIns="0" rIns="0" bIns="0" anchor="ctr"/>
          <a:lstStyle/>
          <a:p>
            <a:pPr marL="0" indent="0">
              <a:buNone/>
            </a:pPr>
            <a:r>
              <a:rPr sz="1250" b="1">
                <a:solidFill>
                  <a:srgbClr val="EAF0F8"/>
                </a:solidFill>
                <a:latin typeface="Inter"/>
                <a:ea typeface="Inter"/>
                <a:cs typeface="Inter"/>
              </a:rPr>
              <a:t>Can I reproduce the answer?</a:t>
            </a:r>
            <a:endParaRPr sz="1250"/>
          </a:p>
        </p:txBody>
      </p:sp>
      <p:sp>
        <p:nvSpPr>
          <p:cNvPr id="58" name="Shape 52">
            <a:extLst>
              <a:ext uri="{FF2B5EF4-FFF2-40B4-BE49-F238E27FC236}">
                <a16:creationId xmlns:a16="http://schemas.microsoft.com/office/drawing/2014/main" id="{9619EAF8-88C7-4EDC-A142-643ED11DC9CC}"/>
              </a:ext>
            </a:extLst>
          </p:cNvPr>
          <p:cNvSpPr>
            <a:spLocks noGrp="1"/>
          </p:cNvSpPr>
          <p:nvPr/>
        </p:nvSpPr>
        <p:spPr>
          <a:xfrm>
            <a:off x="10808208" y="5376672"/>
            <a:ext cx="146304" cy="146304"/>
          </a:xfrm>
          <a:prstGeom prst="ellipse">
            <a:avLst/>
          </a:prstGeom>
          <a:solidFill>
            <a:srgbClr val="A879FF"/>
          </a:solidFill>
          <a:ln w="12700">
            <a:solidFill>
              <a:srgbClr val="A879FF"/>
            </a:solidFill>
            <a:prstDash val="solid"/>
          </a:ln>
        </p:spPr>
        <p:txBody>
          <a:bodyPr/>
          <a:lstStyle/>
          <a:p>
            <a:endParaRPr/>
          </a:p>
        </p:txBody>
      </p:sp>
      <p:sp>
        <p:nvSpPr>
          <p:cNvPr id="59" name="Text 53">
            <a:extLst>
              <a:ext uri="{FF2B5EF4-FFF2-40B4-BE49-F238E27FC236}">
                <a16:creationId xmlns:a16="http://schemas.microsoft.com/office/drawing/2014/main" id="{B9E85CC5-9003-417E-B0E6-87AC09DCD145}"/>
              </a:ext>
            </a:extLst>
          </p:cNvPr>
          <p:cNvSpPr>
            <a:spLocks noGrp="1"/>
          </p:cNvSpPr>
          <p:nvPr/>
        </p:nvSpPr>
        <p:spPr>
          <a:xfrm>
            <a:off x="8439912" y="5660136"/>
            <a:ext cx="2834640" cy="155448"/>
          </a:xfrm>
          <a:prstGeom prst="rect">
            <a:avLst/>
          </a:prstGeom>
          <a:noFill/>
        </p:spPr>
        <p:txBody>
          <a:bodyPr wrap="square" lIns="0" tIns="0" rIns="0" bIns="0" anchor="ctr"/>
          <a:lstStyle/>
          <a:p>
            <a:pPr marL="0" indent="0" algn="r">
              <a:buNone/>
            </a:pPr>
            <a:r>
              <a:rPr sz="780" i="1">
                <a:solidFill>
                  <a:srgbClr val="72839A"/>
                </a:solidFill>
                <a:latin typeface="Inter"/>
                <a:ea typeface="Inter"/>
                <a:cs typeface="Inter"/>
              </a:rPr>
              <a:t>Milestone illustration, not a daily price series.</a:t>
            </a:r>
            <a:endParaRPr sz="780"/>
          </a:p>
        </p:txBody>
      </p:sp>
      <p:sp>
        <p:nvSpPr>
          <p:cNvPr id="60" name="Shape 54">
            <a:extLst>
              <a:ext uri="{FF2B5EF4-FFF2-40B4-BE49-F238E27FC236}">
                <a16:creationId xmlns:a16="http://schemas.microsoft.com/office/drawing/2014/main" id="{AF10D755-B85E-48F5-95B3-81DC74D82497}"/>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61" name="Text 55">
            <a:extLst>
              <a:ext uri="{FF2B5EF4-FFF2-40B4-BE49-F238E27FC236}">
                <a16:creationId xmlns:a16="http://schemas.microsoft.com/office/drawing/2014/main" id="{8B51A0B2-65C9-4C43-9D64-B0EE450906AE}"/>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ACT I · PRODUCT</a:t>
            </a:r>
            <a:endParaRPr sz="850"/>
          </a:p>
        </p:txBody>
      </p:sp>
      <p:sp>
        <p:nvSpPr>
          <p:cNvPr id="62" name="Text 56">
            <a:extLst>
              <a:ext uri="{FF2B5EF4-FFF2-40B4-BE49-F238E27FC236}">
                <a16:creationId xmlns:a16="http://schemas.microsoft.com/office/drawing/2014/main" id="{31BBD849-9694-4AAB-865D-9499CC27D481}"/>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63" name="Text 57">
            <a:extLst>
              <a:ext uri="{FF2B5EF4-FFF2-40B4-BE49-F238E27FC236}">
                <a16:creationId xmlns:a16="http://schemas.microsoft.com/office/drawing/2014/main" id="{7A5E860A-17D0-402C-BAF6-EDDCA7F40DFF}"/>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05</a:t>
            </a:r>
            <a:endParaRPr sz="850"/>
          </a:p>
        </p:txBody>
      </p:sp>
    </p:spTree>
    <p:extLst>
      <p:ext uri="{BB962C8B-B14F-4D97-AF65-F5344CB8AC3E}">
        <p14:creationId xmlns:p14="http://schemas.microsoft.com/office/powerpoint/2010/main" val="10837012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6"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601F3DB4-0586-47D7-A14D-A9DB10C5444D}"/>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FROM CAPABILITY TO CONTROL</a:t>
            </a:r>
            <a:endParaRPr sz="950"/>
          </a:p>
        </p:txBody>
      </p:sp>
      <p:sp>
        <p:nvSpPr>
          <p:cNvPr id="4" name="Text 1">
            <a:extLst>
              <a:ext uri="{FF2B5EF4-FFF2-40B4-BE49-F238E27FC236}">
                <a16:creationId xmlns:a16="http://schemas.microsoft.com/office/drawing/2014/main" id="{CE7A35E4-4D8D-4871-97AE-8147328F9EA0}"/>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650" b="1">
                <a:solidFill>
                  <a:srgbClr val="F7FAFF"/>
                </a:solidFill>
                <a:latin typeface="Inter"/>
                <a:ea typeface="Inter"/>
                <a:cs typeface="Inter"/>
              </a:rPr>
              <a:t>Production expands the control surface</a:t>
            </a:r>
            <a:endParaRPr sz="2650"/>
          </a:p>
        </p:txBody>
      </p:sp>
      <p:sp>
        <p:nvSpPr>
          <p:cNvPr id="5" name="Shape 2">
            <a:extLst>
              <a:ext uri="{FF2B5EF4-FFF2-40B4-BE49-F238E27FC236}">
                <a16:creationId xmlns:a16="http://schemas.microsoft.com/office/drawing/2014/main" id="{F01FE2A1-03CE-40F2-A796-D58AA966ED44}"/>
              </a:ext>
            </a:extLst>
          </p:cNvPr>
          <p:cNvSpPr>
            <a:spLocks noGrp="1"/>
          </p:cNvSpPr>
          <p:nvPr/>
        </p:nvSpPr>
        <p:spPr>
          <a:xfrm>
            <a:off x="566928" y="1353312"/>
            <a:ext cx="3456432" cy="1261872"/>
          </a:xfrm>
          <a:prstGeom prst="roundRect">
            <a:avLst>
              <a:gd name="adj" fmla="val 5797"/>
            </a:avLst>
          </a:prstGeom>
          <a:solidFill>
            <a:srgbClr val="0E1B2E"/>
          </a:solidFill>
          <a:ln w="12700">
            <a:solidFill>
              <a:srgbClr val="293A51"/>
            </a:solidFill>
            <a:prstDash val="solid"/>
          </a:ln>
          <a:effectLst>
            <a:outerShdw algn="bl" rotWithShape="0">
              <a:srgbClr val="000000">
                <a:alpha val="0"/>
              </a:srgbClr>
            </a:outerShdw>
          </a:effectLst>
        </p:spPr>
        <p:txBody>
          <a:bodyPr/>
          <a:lstStyle/>
          <a:p>
            <a:endParaRPr/>
          </a:p>
        </p:txBody>
      </p:sp>
      <p:sp>
        <p:nvSpPr>
          <p:cNvPr id="6" name="Shape 3">
            <a:extLst>
              <a:ext uri="{FF2B5EF4-FFF2-40B4-BE49-F238E27FC236}">
                <a16:creationId xmlns:a16="http://schemas.microsoft.com/office/drawing/2014/main" id="{2265839B-3738-4A61-8AD7-DFC17FD744EB}"/>
              </a:ext>
            </a:extLst>
          </p:cNvPr>
          <p:cNvSpPr>
            <a:spLocks noGrp="1"/>
          </p:cNvSpPr>
          <p:nvPr/>
        </p:nvSpPr>
        <p:spPr>
          <a:xfrm>
            <a:off x="731520" y="1508760"/>
            <a:ext cx="438912" cy="438912"/>
          </a:xfrm>
          <a:prstGeom prst="ellipse">
            <a:avLst/>
          </a:prstGeom>
          <a:solidFill>
            <a:srgbClr val="5B7CFF">
              <a:alpha val="18000"/>
            </a:srgbClr>
          </a:solidFill>
          <a:ln w="12700">
            <a:solidFill>
              <a:srgbClr val="5B7CFF">
                <a:alpha val="0"/>
              </a:srgbClr>
            </a:solidFill>
            <a:prstDash val="solid"/>
          </a:ln>
        </p:spPr>
        <p:txBody>
          <a:bodyPr/>
          <a:lstStyle/>
          <a:p>
            <a:endParaRPr/>
          </a:p>
        </p:txBody>
      </p:sp>
      <p:pic>
        <p:nvPicPr>
          <p:cNvPr id="61"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2104" y="1609344"/>
            <a:ext cx="237744" cy="237744"/>
          </a:xfrm>
          <a:prstGeom prst="rect">
            <a:avLst/>
          </a:prstGeom>
        </p:spPr>
      </p:pic>
      <p:sp>
        <p:nvSpPr>
          <p:cNvPr id="8" name="Text 4">
            <a:extLst>
              <a:ext uri="{FF2B5EF4-FFF2-40B4-BE49-F238E27FC236}">
                <a16:creationId xmlns:a16="http://schemas.microsoft.com/office/drawing/2014/main" id="{6932E7DA-F812-4BA7-8006-AA8E321126EF}"/>
              </a:ext>
            </a:extLst>
          </p:cNvPr>
          <p:cNvSpPr>
            <a:spLocks noGrp="1"/>
          </p:cNvSpPr>
          <p:nvPr/>
        </p:nvSpPr>
        <p:spPr>
          <a:xfrm>
            <a:off x="1280160" y="1517904"/>
            <a:ext cx="2578608" cy="256032"/>
          </a:xfrm>
          <a:prstGeom prst="rect">
            <a:avLst/>
          </a:prstGeom>
          <a:noFill/>
        </p:spPr>
        <p:txBody>
          <a:bodyPr wrap="square" lIns="0" tIns="0" rIns="0" bIns="0" anchor="ctr"/>
          <a:lstStyle/>
          <a:p>
            <a:pPr marL="0" indent="0">
              <a:buNone/>
            </a:pPr>
            <a:r>
              <a:rPr sz="1450" b="1">
                <a:solidFill>
                  <a:srgbClr val="F7FAFF"/>
                </a:solidFill>
                <a:latin typeface="Inter"/>
                <a:ea typeface="Inter"/>
                <a:cs typeface="Inter"/>
              </a:rPr>
              <a:t>Identity &amp; entitlements</a:t>
            </a:r>
            <a:endParaRPr sz="1450"/>
          </a:p>
        </p:txBody>
      </p:sp>
      <p:sp>
        <p:nvSpPr>
          <p:cNvPr id="9" name="Text 5">
            <a:extLst>
              <a:ext uri="{FF2B5EF4-FFF2-40B4-BE49-F238E27FC236}">
                <a16:creationId xmlns:a16="http://schemas.microsoft.com/office/drawing/2014/main" id="{84480214-DA5B-4842-9743-E8B138615A68}"/>
              </a:ext>
            </a:extLst>
          </p:cNvPr>
          <p:cNvSpPr>
            <a:spLocks noGrp="1"/>
          </p:cNvSpPr>
          <p:nvPr/>
        </p:nvSpPr>
        <p:spPr>
          <a:xfrm>
            <a:off x="1280160" y="1847088"/>
            <a:ext cx="2578608" cy="658368"/>
          </a:xfrm>
          <a:prstGeom prst="rect">
            <a:avLst/>
          </a:prstGeom>
          <a:noFill/>
        </p:spPr>
        <p:txBody>
          <a:bodyPr wrap="square" lIns="0" tIns="0" rIns="0" bIns="0" anchor="t"/>
          <a:lstStyle/>
          <a:p>
            <a:pPr marL="0" indent="0">
              <a:buNone/>
            </a:pPr>
            <a:r>
              <a:rPr sz="1050">
                <a:solidFill>
                  <a:srgbClr val="A7B5C8"/>
                </a:solidFill>
                <a:latin typeface="Inter"/>
                <a:ea typeface="Inter"/>
                <a:cs typeface="Inter"/>
              </a:rPr>
              <a:t>Delegated JWT · dataset grants</a:t>
            </a:r>
            <a:endParaRPr sz="1050"/>
          </a:p>
        </p:txBody>
      </p:sp>
      <p:sp>
        <p:nvSpPr>
          <p:cNvPr id="10" name="Shape 6">
            <a:extLst>
              <a:ext uri="{FF2B5EF4-FFF2-40B4-BE49-F238E27FC236}">
                <a16:creationId xmlns:a16="http://schemas.microsoft.com/office/drawing/2014/main" id="{C321DA25-ED18-4C63-BF74-09F433BD5154}"/>
              </a:ext>
            </a:extLst>
          </p:cNvPr>
          <p:cNvSpPr>
            <a:spLocks noGrp="1"/>
          </p:cNvSpPr>
          <p:nvPr/>
        </p:nvSpPr>
        <p:spPr>
          <a:xfrm>
            <a:off x="4352544" y="1353312"/>
            <a:ext cx="3456432" cy="1261872"/>
          </a:xfrm>
          <a:prstGeom prst="roundRect">
            <a:avLst>
              <a:gd name="adj" fmla="val 5797"/>
            </a:avLst>
          </a:prstGeom>
          <a:solidFill>
            <a:srgbClr val="0E1B2E"/>
          </a:solidFill>
          <a:ln w="12700">
            <a:solidFill>
              <a:srgbClr val="293A51"/>
            </a:solidFill>
            <a:prstDash val="solid"/>
          </a:ln>
          <a:effectLst>
            <a:outerShdw algn="bl" rotWithShape="0">
              <a:srgbClr val="000000">
                <a:alpha val="0"/>
              </a:srgbClr>
            </a:outerShdw>
          </a:effectLst>
        </p:spPr>
        <p:txBody>
          <a:bodyPr/>
          <a:lstStyle/>
          <a:p>
            <a:endParaRPr/>
          </a:p>
        </p:txBody>
      </p:sp>
      <p:sp>
        <p:nvSpPr>
          <p:cNvPr id="11" name="Shape 7">
            <a:extLst>
              <a:ext uri="{FF2B5EF4-FFF2-40B4-BE49-F238E27FC236}">
                <a16:creationId xmlns:a16="http://schemas.microsoft.com/office/drawing/2014/main" id="{58F4310B-C2B5-45E0-9B39-96970BA5F011}"/>
              </a:ext>
            </a:extLst>
          </p:cNvPr>
          <p:cNvSpPr>
            <a:spLocks noGrp="1"/>
          </p:cNvSpPr>
          <p:nvPr/>
        </p:nvSpPr>
        <p:spPr>
          <a:xfrm>
            <a:off x="4517136" y="1508760"/>
            <a:ext cx="438912" cy="438912"/>
          </a:xfrm>
          <a:prstGeom prst="ellipse">
            <a:avLst/>
          </a:prstGeom>
          <a:solidFill>
            <a:srgbClr val="3BE0B5">
              <a:alpha val="18000"/>
            </a:srgbClr>
          </a:solidFill>
          <a:ln w="12700">
            <a:solidFill>
              <a:srgbClr val="3BE0B5">
                <a:alpha val="0"/>
              </a:srgbClr>
            </a:solidFill>
            <a:prstDash val="solid"/>
          </a:ln>
        </p:spPr>
        <p:txBody>
          <a:bodyPr/>
          <a:lstStyle/>
          <a:p>
            <a:endParaRPr/>
          </a:p>
        </p:txBody>
      </p:sp>
      <p:pic>
        <p:nvPicPr>
          <p:cNvPr id="66"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617720" y="1633118"/>
            <a:ext cx="237744" cy="190195"/>
          </a:xfrm>
          <a:prstGeom prst="rect">
            <a:avLst/>
          </a:prstGeom>
        </p:spPr>
      </p:pic>
      <p:sp>
        <p:nvSpPr>
          <p:cNvPr id="13" name="Text 8">
            <a:extLst>
              <a:ext uri="{FF2B5EF4-FFF2-40B4-BE49-F238E27FC236}">
                <a16:creationId xmlns:a16="http://schemas.microsoft.com/office/drawing/2014/main" id="{04247129-ED64-41A4-A6DC-BF85353F4E83}"/>
              </a:ext>
            </a:extLst>
          </p:cNvPr>
          <p:cNvSpPr>
            <a:spLocks noGrp="1"/>
          </p:cNvSpPr>
          <p:nvPr/>
        </p:nvSpPr>
        <p:spPr>
          <a:xfrm>
            <a:off x="5065776" y="1517904"/>
            <a:ext cx="2578608" cy="256032"/>
          </a:xfrm>
          <a:prstGeom prst="rect">
            <a:avLst/>
          </a:prstGeom>
          <a:noFill/>
        </p:spPr>
        <p:txBody>
          <a:bodyPr wrap="square" lIns="0" tIns="0" rIns="0" bIns="0" anchor="ctr"/>
          <a:lstStyle/>
          <a:p>
            <a:pPr marL="0" indent="0">
              <a:buNone/>
            </a:pPr>
            <a:r>
              <a:rPr sz="1450" b="1">
                <a:solidFill>
                  <a:srgbClr val="F7FAFF"/>
                </a:solidFill>
                <a:latin typeface="Inter"/>
                <a:ea typeface="Inter"/>
                <a:cs typeface="Inter"/>
              </a:rPr>
              <a:t>Least privilege</a:t>
            </a:r>
            <a:endParaRPr sz="1450"/>
          </a:p>
        </p:txBody>
      </p:sp>
      <p:sp>
        <p:nvSpPr>
          <p:cNvPr id="14" name="Text 9">
            <a:extLst>
              <a:ext uri="{FF2B5EF4-FFF2-40B4-BE49-F238E27FC236}">
                <a16:creationId xmlns:a16="http://schemas.microsoft.com/office/drawing/2014/main" id="{AEC49314-C3EC-4102-AFFA-6686B0798D15}"/>
              </a:ext>
            </a:extLst>
          </p:cNvPr>
          <p:cNvSpPr>
            <a:spLocks noGrp="1"/>
          </p:cNvSpPr>
          <p:nvPr/>
        </p:nvSpPr>
        <p:spPr>
          <a:xfrm>
            <a:off x="5065776" y="1847088"/>
            <a:ext cx="2578608" cy="658368"/>
          </a:xfrm>
          <a:prstGeom prst="rect">
            <a:avLst/>
          </a:prstGeom>
          <a:noFill/>
        </p:spPr>
        <p:txBody>
          <a:bodyPr wrap="square" lIns="0" tIns="0" rIns="0" bIns="0" anchor="t"/>
          <a:lstStyle/>
          <a:p>
            <a:pPr marL="0" indent="0">
              <a:buNone/>
            </a:pPr>
            <a:r>
              <a:rPr sz="1050">
                <a:solidFill>
                  <a:srgbClr val="A7B5C8"/>
                </a:solidFill>
                <a:latin typeface="Inter"/>
                <a:ea typeface="Inter"/>
                <a:cs typeface="Inter"/>
              </a:rPr>
              <a:t>Read-only SQL · exact relations</a:t>
            </a:r>
            <a:endParaRPr sz="1050"/>
          </a:p>
        </p:txBody>
      </p:sp>
      <p:sp>
        <p:nvSpPr>
          <p:cNvPr id="15" name="Shape 10">
            <a:extLst>
              <a:ext uri="{FF2B5EF4-FFF2-40B4-BE49-F238E27FC236}">
                <a16:creationId xmlns:a16="http://schemas.microsoft.com/office/drawing/2014/main" id="{8F78653E-AF97-4E8A-BA2A-0C81C7C6D387}"/>
              </a:ext>
            </a:extLst>
          </p:cNvPr>
          <p:cNvSpPr>
            <a:spLocks noGrp="1"/>
          </p:cNvSpPr>
          <p:nvPr/>
        </p:nvSpPr>
        <p:spPr>
          <a:xfrm>
            <a:off x="8138160" y="1353312"/>
            <a:ext cx="3456432" cy="1261872"/>
          </a:xfrm>
          <a:prstGeom prst="roundRect">
            <a:avLst>
              <a:gd name="adj" fmla="val 5797"/>
            </a:avLst>
          </a:prstGeom>
          <a:solidFill>
            <a:srgbClr val="0E1B2E"/>
          </a:solidFill>
          <a:ln w="12700">
            <a:solidFill>
              <a:srgbClr val="293A51"/>
            </a:solidFill>
            <a:prstDash val="solid"/>
          </a:ln>
          <a:effectLst>
            <a:outerShdw algn="bl" rotWithShape="0">
              <a:srgbClr val="000000">
                <a:alpha val="0"/>
              </a:srgbClr>
            </a:outerShdw>
          </a:effectLst>
        </p:spPr>
        <p:txBody>
          <a:bodyPr/>
          <a:lstStyle/>
          <a:p>
            <a:endParaRPr/>
          </a:p>
        </p:txBody>
      </p:sp>
      <p:sp>
        <p:nvSpPr>
          <p:cNvPr id="16" name="Shape 11">
            <a:extLst>
              <a:ext uri="{FF2B5EF4-FFF2-40B4-BE49-F238E27FC236}">
                <a16:creationId xmlns:a16="http://schemas.microsoft.com/office/drawing/2014/main" id="{444B0FC9-D42A-4C75-9521-F682BA657FD1}"/>
              </a:ext>
            </a:extLst>
          </p:cNvPr>
          <p:cNvSpPr>
            <a:spLocks noGrp="1"/>
          </p:cNvSpPr>
          <p:nvPr/>
        </p:nvSpPr>
        <p:spPr>
          <a:xfrm>
            <a:off x="8302752" y="1508760"/>
            <a:ext cx="438912" cy="438912"/>
          </a:xfrm>
          <a:prstGeom prst="ellipse">
            <a:avLst/>
          </a:prstGeom>
          <a:solidFill>
            <a:srgbClr val="F7B955">
              <a:alpha val="18000"/>
            </a:srgbClr>
          </a:solidFill>
          <a:ln w="12700">
            <a:solidFill>
              <a:srgbClr val="F7B955">
                <a:alpha val="0"/>
              </a:srgbClr>
            </a:solidFill>
            <a:prstDash val="solid"/>
          </a:ln>
        </p:spPr>
        <p:txBody>
          <a:bodyPr/>
          <a:lstStyle/>
          <a:p>
            <a:endParaRPr/>
          </a:p>
        </p:txBody>
      </p:sp>
      <p:pic>
        <p:nvPicPr>
          <p:cNvPr id="71" name="Image 3"/>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03336" y="1609344"/>
            <a:ext cx="237744" cy="237744"/>
          </a:xfrm>
          <a:prstGeom prst="rect">
            <a:avLst/>
          </a:prstGeom>
        </p:spPr>
      </p:pic>
      <p:sp>
        <p:nvSpPr>
          <p:cNvPr id="18" name="Text 12">
            <a:extLst>
              <a:ext uri="{FF2B5EF4-FFF2-40B4-BE49-F238E27FC236}">
                <a16:creationId xmlns:a16="http://schemas.microsoft.com/office/drawing/2014/main" id="{CE32BC5B-4616-46AD-8412-F72BF98A9BB8}"/>
              </a:ext>
            </a:extLst>
          </p:cNvPr>
          <p:cNvSpPr>
            <a:spLocks noGrp="1"/>
          </p:cNvSpPr>
          <p:nvPr/>
        </p:nvSpPr>
        <p:spPr>
          <a:xfrm>
            <a:off x="8851392" y="1517904"/>
            <a:ext cx="2578608" cy="256032"/>
          </a:xfrm>
          <a:prstGeom prst="rect">
            <a:avLst/>
          </a:prstGeom>
          <a:noFill/>
        </p:spPr>
        <p:txBody>
          <a:bodyPr wrap="square" lIns="0" tIns="0" rIns="0" bIns="0" anchor="ctr"/>
          <a:lstStyle/>
          <a:p>
            <a:pPr marL="0" indent="0">
              <a:buNone/>
            </a:pPr>
            <a:r>
              <a:rPr sz="1450" b="1">
                <a:solidFill>
                  <a:srgbClr val="F7FAFF"/>
                </a:solidFill>
                <a:latin typeface="Inter"/>
                <a:ea typeface="Inter"/>
                <a:cs typeface="Inter"/>
              </a:rPr>
              <a:t>Guardrails</a:t>
            </a:r>
            <a:endParaRPr sz="1450"/>
          </a:p>
        </p:txBody>
      </p:sp>
      <p:sp>
        <p:nvSpPr>
          <p:cNvPr id="19" name="Text 13">
            <a:extLst>
              <a:ext uri="{FF2B5EF4-FFF2-40B4-BE49-F238E27FC236}">
                <a16:creationId xmlns:a16="http://schemas.microsoft.com/office/drawing/2014/main" id="{87C10FB1-D3F7-417E-A672-7ABFB322372B}"/>
              </a:ext>
            </a:extLst>
          </p:cNvPr>
          <p:cNvSpPr>
            <a:spLocks noGrp="1"/>
          </p:cNvSpPr>
          <p:nvPr/>
        </p:nvSpPr>
        <p:spPr>
          <a:xfrm>
            <a:off x="8851392" y="1847088"/>
            <a:ext cx="2578608" cy="658368"/>
          </a:xfrm>
          <a:prstGeom prst="rect">
            <a:avLst/>
          </a:prstGeom>
          <a:noFill/>
        </p:spPr>
        <p:txBody>
          <a:bodyPr wrap="square" lIns="0" tIns="0" rIns="0" bIns="0" anchor="t"/>
          <a:lstStyle/>
          <a:p>
            <a:pPr marL="0" indent="0">
              <a:buNone/>
            </a:pPr>
            <a:r>
              <a:rPr sz="1050">
                <a:solidFill>
                  <a:srgbClr val="A7B5C8"/>
                </a:solidFill>
                <a:latin typeface="Inter"/>
                <a:ea typeface="Inter"/>
                <a:cs typeface="Inter"/>
              </a:rPr>
              <a:t>AST validation · fail closed</a:t>
            </a:r>
            <a:endParaRPr sz="1050"/>
          </a:p>
        </p:txBody>
      </p:sp>
      <p:sp>
        <p:nvSpPr>
          <p:cNvPr id="20" name="Shape 14">
            <a:extLst>
              <a:ext uri="{FF2B5EF4-FFF2-40B4-BE49-F238E27FC236}">
                <a16:creationId xmlns:a16="http://schemas.microsoft.com/office/drawing/2014/main" id="{56263E2C-1F88-4870-BB5B-8E81E57F3F52}"/>
              </a:ext>
            </a:extLst>
          </p:cNvPr>
          <p:cNvSpPr>
            <a:spLocks noGrp="1"/>
          </p:cNvSpPr>
          <p:nvPr/>
        </p:nvSpPr>
        <p:spPr>
          <a:xfrm>
            <a:off x="566928" y="2953512"/>
            <a:ext cx="3456432" cy="1261872"/>
          </a:xfrm>
          <a:prstGeom prst="roundRect">
            <a:avLst>
              <a:gd name="adj" fmla="val 5797"/>
            </a:avLst>
          </a:prstGeom>
          <a:solidFill>
            <a:srgbClr val="0E1B2E"/>
          </a:solidFill>
          <a:ln w="12700">
            <a:solidFill>
              <a:srgbClr val="293A51"/>
            </a:solidFill>
            <a:prstDash val="solid"/>
          </a:ln>
          <a:effectLst>
            <a:outerShdw algn="bl" rotWithShape="0">
              <a:srgbClr val="000000">
                <a:alpha val="0"/>
              </a:srgbClr>
            </a:outerShdw>
          </a:effectLst>
        </p:spPr>
        <p:txBody>
          <a:bodyPr/>
          <a:lstStyle/>
          <a:p>
            <a:endParaRPr/>
          </a:p>
        </p:txBody>
      </p:sp>
      <p:sp>
        <p:nvSpPr>
          <p:cNvPr id="21" name="Shape 15">
            <a:extLst>
              <a:ext uri="{FF2B5EF4-FFF2-40B4-BE49-F238E27FC236}">
                <a16:creationId xmlns:a16="http://schemas.microsoft.com/office/drawing/2014/main" id="{A2E614FD-66F5-46CB-860F-0D86EC4B1919}"/>
              </a:ext>
            </a:extLst>
          </p:cNvPr>
          <p:cNvSpPr>
            <a:spLocks noGrp="1"/>
          </p:cNvSpPr>
          <p:nvPr/>
        </p:nvSpPr>
        <p:spPr>
          <a:xfrm>
            <a:off x="731520" y="3108960"/>
            <a:ext cx="438912" cy="438912"/>
          </a:xfrm>
          <a:prstGeom prst="ellipse">
            <a:avLst/>
          </a:prstGeom>
          <a:solidFill>
            <a:srgbClr val="A879FF">
              <a:alpha val="18000"/>
            </a:srgbClr>
          </a:solidFill>
          <a:ln w="12700">
            <a:solidFill>
              <a:srgbClr val="A879FF">
                <a:alpha val="0"/>
              </a:srgbClr>
            </a:solidFill>
            <a:prstDash val="solid"/>
          </a:ln>
        </p:spPr>
        <p:txBody>
          <a:bodyPr/>
          <a:lstStyle/>
          <a:p>
            <a:endParaRPr/>
          </a:p>
        </p:txBody>
      </p:sp>
      <p:pic>
        <p:nvPicPr>
          <p:cNvPr id="76" name="Image 4"/>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32104" y="3222752"/>
            <a:ext cx="237744" cy="211328"/>
          </a:xfrm>
          <a:prstGeom prst="rect">
            <a:avLst/>
          </a:prstGeom>
        </p:spPr>
      </p:pic>
      <p:sp>
        <p:nvSpPr>
          <p:cNvPr id="23" name="Text 16">
            <a:extLst>
              <a:ext uri="{FF2B5EF4-FFF2-40B4-BE49-F238E27FC236}">
                <a16:creationId xmlns:a16="http://schemas.microsoft.com/office/drawing/2014/main" id="{00DD3E5A-F84F-4862-AE5E-08C6194902B6}"/>
              </a:ext>
            </a:extLst>
          </p:cNvPr>
          <p:cNvSpPr>
            <a:spLocks noGrp="1"/>
          </p:cNvSpPr>
          <p:nvPr/>
        </p:nvSpPr>
        <p:spPr>
          <a:xfrm>
            <a:off x="1280160" y="3118104"/>
            <a:ext cx="2578608" cy="256032"/>
          </a:xfrm>
          <a:prstGeom prst="rect">
            <a:avLst/>
          </a:prstGeom>
          <a:noFill/>
        </p:spPr>
        <p:txBody>
          <a:bodyPr wrap="square" lIns="0" tIns="0" rIns="0" bIns="0" anchor="ctr"/>
          <a:lstStyle/>
          <a:p>
            <a:pPr marL="0" indent="0">
              <a:buNone/>
            </a:pPr>
            <a:r>
              <a:rPr sz="1450" b="1">
                <a:solidFill>
                  <a:srgbClr val="F7FAFF"/>
                </a:solidFill>
                <a:latin typeface="Inter"/>
                <a:ea typeface="Inter"/>
                <a:cs typeface="Inter"/>
              </a:rPr>
              <a:t>Audit &amp; telemetry</a:t>
            </a:r>
            <a:endParaRPr sz="1450"/>
          </a:p>
        </p:txBody>
      </p:sp>
      <p:sp>
        <p:nvSpPr>
          <p:cNvPr id="24" name="Text 17">
            <a:extLst>
              <a:ext uri="{FF2B5EF4-FFF2-40B4-BE49-F238E27FC236}">
                <a16:creationId xmlns:a16="http://schemas.microsoft.com/office/drawing/2014/main" id="{34C33EA0-9B15-4919-B5A2-93824E363AA2}"/>
              </a:ext>
            </a:extLst>
          </p:cNvPr>
          <p:cNvSpPr>
            <a:spLocks noGrp="1"/>
          </p:cNvSpPr>
          <p:nvPr/>
        </p:nvSpPr>
        <p:spPr>
          <a:xfrm>
            <a:off x="1280160" y="3447288"/>
            <a:ext cx="2578608" cy="658368"/>
          </a:xfrm>
          <a:prstGeom prst="rect">
            <a:avLst/>
          </a:prstGeom>
          <a:noFill/>
        </p:spPr>
        <p:txBody>
          <a:bodyPr wrap="square" lIns="0" tIns="0" rIns="0" bIns="0" anchor="t"/>
          <a:lstStyle/>
          <a:p>
            <a:pPr marL="0" indent="0">
              <a:buNone/>
            </a:pPr>
            <a:r>
              <a:rPr sz="1050">
                <a:solidFill>
                  <a:srgbClr val="A7B5C8"/>
                </a:solidFill>
                <a:latin typeface="Inter"/>
                <a:ea typeface="Inter"/>
                <a:cs typeface="Inter"/>
              </a:rPr>
              <a:t>Request ID · route · outcome</a:t>
            </a:r>
            <a:endParaRPr sz="1050"/>
          </a:p>
        </p:txBody>
      </p:sp>
      <p:sp>
        <p:nvSpPr>
          <p:cNvPr id="25" name="Shape 18">
            <a:extLst>
              <a:ext uri="{FF2B5EF4-FFF2-40B4-BE49-F238E27FC236}">
                <a16:creationId xmlns:a16="http://schemas.microsoft.com/office/drawing/2014/main" id="{FF261CF9-3517-402A-A651-33C965E60EDF}"/>
              </a:ext>
            </a:extLst>
          </p:cNvPr>
          <p:cNvSpPr>
            <a:spLocks noGrp="1"/>
          </p:cNvSpPr>
          <p:nvPr/>
        </p:nvSpPr>
        <p:spPr>
          <a:xfrm>
            <a:off x="4352544" y="2953512"/>
            <a:ext cx="3456432" cy="1261872"/>
          </a:xfrm>
          <a:prstGeom prst="roundRect">
            <a:avLst>
              <a:gd name="adj" fmla="val 5797"/>
            </a:avLst>
          </a:prstGeom>
          <a:solidFill>
            <a:srgbClr val="0E1B2E"/>
          </a:solidFill>
          <a:ln w="12700">
            <a:solidFill>
              <a:srgbClr val="293A51"/>
            </a:solidFill>
            <a:prstDash val="solid"/>
          </a:ln>
          <a:effectLst>
            <a:outerShdw algn="bl" rotWithShape="0">
              <a:srgbClr val="000000">
                <a:alpha val="0"/>
              </a:srgbClr>
            </a:outerShdw>
          </a:effectLst>
        </p:spPr>
        <p:txBody>
          <a:bodyPr/>
          <a:lstStyle/>
          <a:p>
            <a:endParaRPr/>
          </a:p>
        </p:txBody>
      </p:sp>
      <p:sp>
        <p:nvSpPr>
          <p:cNvPr id="26" name="Shape 19">
            <a:extLst>
              <a:ext uri="{FF2B5EF4-FFF2-40B4-BE49-F238E27FC236}">
                <a16:creationId xmlns:a16="http://schemas.microsoft.com/office/drawing/2014/main" id="{D5783B24-9B9A-41CF-ADD9-FC6C93FA7828}"/>
              </a:ext>
            </a:extLst>
          </p:cNvPr>
          <p:cNvSpPr>
            <a:spLocks noGrp="1"/>
          </p:cNvSpPr>
          <p:nvPr/>
        </p:nvSpPr>
        <p:spPr>
          <a:xfrm>
            <a:off x="4517136" y="3108960"/>
            <a:ext cx="438912" cy="438912"/>
          </a:xfrm>
          <a:prstGeom prst="ellipse">
            <a:avLst/>
          </a:prstGeom>
          <a:solidFill>
            <a:srgbClr val="35D4E7">
              <a:alpha val="18000"/>
            </a:srgbClr>
          </a:solidFill>
          <a:ln w="12700">
            <a:solidFill>
              <a:srgbClr val="35D4E7">
                <a:alpha val="0"/>
              </a:srgbClr>
            </a:solidFill>
            <a:prstDash val="solid"/>
          </a:ln>
        </p:spPr>
        <p:txBody>
          <a:bodyPr/>
          <a:lstStyle/>
          <a:p>
            <a:endParaRPr/>
          </a:p>
        </p:txBody>
      </p:sp>
      <p:pic>
        <p:nvPicPr>
          <p:cNvPr id="81" name="Image 5"/>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617720" y="3222752"/>
            <a:ext cx="237744" cy="211328"/>
          </a:xfrm>
          <a:prstGeom prst="rect">
            <a:avLst/>
          </a:prstGeom>
        </p:spPr>
      </p:pic>
      <p:sp>
        <p:nvSpPr>
          <p:cNvPr id="28" name="Text 20">
            <a:extLst>
              <a:ext uri="{FF2B5EF4-FFF2-40B4-BE49-F238E27FC236}">
                <a16:creationId xmlns:a16="http://schemas.microsoft.com/office/drawing/2014/main" id="{3295DA71-0798-433E-89FF-6BB4DC9FF28F}"/>
              </a:ext>
            </a:extLst>
          </p:cNvPr>
          <p:cNvSpPr>
            <a:spLocks noGrp="1"/>
          </p:cNvSpPr>
          <p:nvPr/>
        </p:nvSpPr>
        <p:spPr>
          <a:xfrm>
            <a:off x="5065776" y="3118104"/>
            <a:ext cx="2578608" cy="256032"/>
          </a:xfrm>
          <a:prstGeom prst="rect">
            <a:avLst/>
          </a:prstGeom>
          <a:noFill/>
        </p:spPr>
        <p:txBody>
          <a:bodyPr wrap="square" lIns="0" tIns="0" rIns="0" bIns="0" anchor="ctr"/>
          <a:lstStyle/>
          <a:p>
            <a:pPr marL="0" indent="0">
              <a:buNone/>
            </a:pPr>
            <a:r>
              <a:rPr sz="1450" b="1">
                <a:solidFill>
                  <a:srgbClr val="F7FAFF"/>
                </a:solidFill>
                <a:latin typeface="Inter"/>
                <a:ea typeface="Inter"/>
                <a:cs typeface="Inter"/>
              </a:rPr>
              <a:t>Evidence &amp; provenance</a:t>
            </a:r>
            <a:endParaRPr sz="1450"/>
          </a:p>
        </p:txBody>
      </p:sp>
      <p:sp>
        <p:nvSpPr>
          <p:cNvPr id="29" name="Text 21">
            <a:extLst>
              <a:ext uri="{FF2B5EF4-FFF2-40B4-BE49-F238E27FC236}">
                <a16:creationId xmlns:a16="http://schemas.microsoft.com/office/drawing/2014/main" id="{7A95EAD9-F1AD-45E6-BA09-DA94DA9138A1}"/>
              </a:ext>
            </a:extLst>
          </p:cNvPr>
          <p:cNvSpPr>
            <a:spLocks noGrp="1"/>
          </p:cNvSpPr>
          <p:nvPr/>
        </p:nvSpPr>
        <p:spPr>
          <a:xfrm>
            <a:off x="5065776" y="3447288"/>
            <a:ext cx="2578608" cy="658368"/>
          </a:xfrm>
          <a:prstGeom prst="rect">
            <a:avLst/>
          </a:prstGeom>
          <a:noFill/>
        </p:spPr>
        <p:txBody>
          <a:bodyPr wrap="square" lIns="0" tIns="0" rIns="0" bIns="0" anchor="t"/>
          <a:lstStyle/>
          <a:p>
            <a:pPr marL="0" indent="0">
              <a:buNone/>
            </a:pPr>
            <a:r>
              <a:rPr sz="1050">
                <a:solidFill>
                  <a:srgbClr val="A7B5C8"/>
                </a:solidFill>
                <a:latin typeface="Inter"/>
                <a:ea typeface="Inter"/>
                <a:cs typeface="Inter"/>
              </a:rPr>
              <a:t>Dataset · SQL · source metadata</a:t>
            </a:r>
            <a:endParaRPr sz="1050"/>
          </a:p>
        </p:txBody>
      </p:sp>
      <p:sp>
        <p:nvSpPr>
          <p:cNvPr id="30" name="Shape 22">
            <a:extLst>
              <a:ext uri="{FF2B5EF4-FFF2-40B4-BE49-F238E27FC236}">
                <a16:creationId xmlns:a16="http://schemas.microsoft.com/office/drawing/2014/main" id="{05E0D767-9F78-414B-86B2-EB369B6FC1AB}"/>
              </a:ext>
            </a:extLst>
          </p:cNvPr>
          <p:cNvSpPr>
            <a:spLocks noGrp="1"/>
          </p:cNvSpPr>
          <p:nvPr/>
        </p:nvSpPr>
        <p:spPr>
          <a:xfrm>
            <a:off x="8138160" y="2953512"/>
            <a:ext cx="3456432" cy="1261872"/>
          </a:xfrm>
          <a:prstGeom prst="roundRect">
            <a:avLst>
              <a:gd name="adj" fmla="val 5797"/>
            </a:avLst>
          </a:prstGeom>
          <a:solidFill>
            <a:srgbClr val="0E1B2E"/>
          </a:solidFill>
          <a:ln w="12700">
            <a:solidFill>
              <a:srgbClr val="293A51"/>
            </a:solidFill>
            <a:prstDash val="solid"/>
          </a:ln>
          <a:effectLst>
            <a:outerShdw algn="bl" rotWithShape="0">
              <a:srgbClr val="000000">
                <a:alpha val="0"/>
              </a:srgbClr>
            </a:outerShdw>
          </a:effectLst>
        </p:spPr>
        <p:txBody>
          <a:bodyPr/>
          <a:lstStyle/>
          <a:p>
            <a:endParaRPr/>
          </a:p>
        </p:txBody>
      </p:sp>
      <p:sp>
        <p:nvSpPr>
          <p:cNvPr id="31" name="Shape 23">
            <a:extLst>
              <a:ext uri="{FF2B5EF4-FFF2-40B4-BE49-F238E27FC236}">
                <a16:creationId xmlns:a16="http://schemas.microsoft.com/office/drawing/2014/main" id="{FEE21A79-E160-4C3A-B979-658FEB87B51F}"/>
              </a:ext>
            </a:extLst>
          </p:cNvPr>
          <p:cNvSpPr>
            <a:spLocks noGrp="1"/>
          </p:cNvSpPr>
          <p:nvPr/>
        </p:nvSpPr>
        <p:spPr>
          <a:xfrm>
            <a:off x="8302752" y="3108960"/>
            <a:ext cx="438912" cy="438912"/>
          </a:xfrm>
          <a:prstGeom prst="ellipse">
            <a:avLst/>
          </a:prstGeom>
          <a:solidFill>
            <a:srgbClr val="63E69C">
              <a:alpha val="18000"/>
            </a:srgbClr>
          </a:solidFill>
          <a:ln w="12700">
            <a:solidFill>
              <a:srgbClr val="63E69C">
                <a:alpha val="0"/>
              </a:srgbClr>
            </a:solidFill>
            <a:prstDash val="solid"/>
          </a:ln>
        </p:spPr>
        <p:txBody>
          <a:bodyPr/>
          <a:lstStyle/>
          <a:p>
            <a:endParaRPr/>
          </a:p>
        </p:txBody>
      </p:sp>
      <p:pic>
        <p:nvPicPr>
          <p:cNvPr id="86" name="Image 6"/>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418195" y="3209544"/>
            <a:ext cx="208026" cy="237744"/>
          </a:xfrm>
          <a:prstGeom prst="rect">
            <a:avLst/>
          </a:prstGeom>
        </p:spPr>
      </p:pic>
      <p:sp>
        <p:nvSpPr>
          <p:cNvPr id="33" name="Text 24">
            <a:extLst>
              <a:ext uri="{FF2B5EF4-FFF2-40B4-BE49-F238E27FC236}">
                <a16:creationId xmlns:a16="http://schemas.microsoft.com/office/drawing/2014/main" id="{13C19DAF-7604-416A-9773-A9DAAB2FC4AC}"/>
              </a:ext>
            </a:extLst>
          </p:cNvPr>
          <p:cNvSpPr>
            <a:spLocks noGrp="1"/>
          </p:cNvSpPr>
          <p:nvPr/>
        </p:nvSpPr>
        <p:spPr>
          <a:xfrm>
            <a:off x="8851392" y="3118104"/>
            <a:ext cx="2578608" cy="256032"/>
          </a:xfrm>
          <a:prstGeom prst="rect">
            <a:avLst/>
          </a:prstGeom>
          <a:noFill/>
        </p:spPr>
        <p:txBody>
          <a:bodyPr wrap="square" lIns="0" tIns="0" rIns="0" bIns="0" anchor="ctr"/>
          <a:lstStyle/>
          <a:p>
            <a:pPr marL="0" indent="0">
              <a:buNone/>
            </a:pPr>
            <a:r>
              <a:rPr sz="1450" b="1">
                <a:solidFill>
                  <a:srgbClr val="F7FAFF"/>
                </a:solidFill>
                <a:latin typeface="Inter"/>
                <a:ea typeface="Inter"/>
                <a:cs typeface="Inter"/>
              </a:rPr>
              <a:t>Tests &amp; release gates</a:t>
            </a:r>
            <a:endParaRPr sz="1450"/>
          </a:p>
        </p:txBody>
      </p:sp>
      <p:sp>
        <p:nvSpPr>
          <p:cNvPr id="34" name="Text 25">
            <a:extLst>
              <a:ext uri="{FF2B5EF4-FFF2-40B4-BE49-F238E27FC236}">
                <a16:creationId xmlns:a16="http://schemas.microsoft.com/office/drawing/2014/main" id="{7664AC24-C675-494A-9ED9-C8B2998D78A7}"/>
              </a:ext>
            </a:extLst>
          </p:cNvPr>
          <p:cNvSpPr>
            <a:spLocks noGrp="1"/>
          </p:cNvSpPr>
          <p:nvPr/>
        </p:nvSpPr>
        <p:spPr>
          <a:xfrm>
            <a:off x="8851392" y="3447288"/>
            <a:ext cx="2578608" cy="658368"/>
          </a:xfrm>
          <a:prstGeom prst="rect">
            <a:avLst/>
          </a:prstGeom>
          <a:noFill/>
        </p:spPr>
        <p:txBody>
          <a:bodyPr wrap="square" lIns="0" tIns="0" rIns="0" bIns="0" anchor="t"/>
          <a:lstStyle/>
          <a:p>
            <a:pPr marL="0" indent="0">
              <a:buNone/>
            </a:pPr>
            <a:r>
              <a:rPr sz="1050">
                <a:solidFill>
                  <a:srgbClr val="A7B5C8"/>
                </a:solidFill>
                <a:latin typeface="Inter"/>
                <a:ea typeface="Inter"/>
                <a:cs typeface="Inter"/>
              </a:rPr>
              <a:t>470 passed · lint · security scans</a:t>
            </a:r>
            <a:endParaRPr sz="1050"/>
          </a:p>
        </p:txBody>
      </p:sp>
      <p:sp>
        <p:nvSpPr>
          <p:cNvPr id="35" name="Shape 26">
            <a:extLst>
              <a:ext uri="{FF2B5EF4-FFF2-40B4-BE49-F238E27FC236}">
                <a16:creationId xmlns:a16="http://schemas.microsoft.com/office/drawing/2014/main" id="{B33BEDB2-853F-4A5C-8A74-C733DE59A72E}"/>
              </a:ext>
            </a:extLst>
          </p:cNvPr>
          <p:cNvSpPr>
            <a:spLocks noGrp="1"/>
          </p:cNvSpPr>
          <p:nvPr/>
        </p:nvSpPr>
        <p:spPr>
          <a:xfrm>
            <a:off x="566928" y="4736592"/>
            <a:ext cx="11045952" cy="1115568"/>
          </a:xfrm>
          <a:prstGeom prst="roundRect">
            <a:avLst>
              <a:gd name="adj" fmla="val 6557"/>
            </a:avLst>
          </a:prstGeom>
          <a:solidFill>
            <a:srgbClr val="0B182B"/>
          </a:solidFill>
          <a:ln w="12700">
            <a:solidFill>
              <a:srgbClr val="293A51"/>
            </a:solidFill>
            <a:prstDash val="solid"/>
          </a:ln>
        </p:spPr>
        <p:txBody>
          <a:bodyPr/>
          <a:lstStyle/>
          <a:p>
            <a:endParaRPr/>
          </a:p>
        </p:txBody>
      </p:sp>
      <p:sp>
        <p:nvSpPr>
          <p:cNvPr id="36" name="Shape 27">
            <a:extLst>
              <a:ext uri="{FF2B5EF4-FFF2-40B4-BE49-F238E27FC236}">
                <a16:creationId xmlns:a16="http://schemas.microsoft.com/office/drawing/2014/main" id="{D2D7A1D3-0E1D-4FEB-A068-AE6521244A17}"/>
              </a:ext>
            </a:extLst>
          </p:cNvPr>
          <p:cNvSpPr>
            <a:spLocks noGrp="1"/>
          </p:cNvSpPr>
          <p:nvPr/>
        </p:nvSpPr>
        <p:spPr>
          <a:xfrm>
            <a:off x="841248" y="5047488"/>
            <a:ext cx="1078992" cy="310896"/>
          </a:xfrm>
          <a:prstGeom prst="roundRect">
            <a:avLst>
              <a:gd name="adj" fmla="val 23529"/>
            </a:avLst>
          </a:prstGeom>
          <a:solidFill>
            <a:srgbClr val="35D4E7">
              <a:alpha val="16000"/>
            </a:srgbClr>
          </a:solidFill>
          <a:ln w="12700">
            <a:solidFill>
              <a:srgbClr val="35D4E7">
                <a:alpha val="40000"/>
              </a:srgbClr>
            </a:solidFill>
            <a:prstDash val="solid"/>
          </a:ln>
        </p:spPr>
        <p:txBody>
          <a:bodyPr/>
          <a:lstStyle/>
          <a:p>
            <a:endParaRPr/>
          </a:p>
        </p:txBody>
      </p:sp>
      <p:sp>
        <p:nvSpPr>
          <p:cNvPr id="37" name="Text 28">
            <a:extLst>
              <a:ext uri="{FF2B5EF4-FFF2-40B4-BE49-F238E27FC236}">
                <a16:creationId xmlns:a16="http://schemas.microsoft.com/office/drawing/2014/main" id="{BD07C4F2-2DC1-42BC-BB15-B3553193D0FD}"/>
              </a:ext>
            </a:extLst>
          </p:cNvPr>
          <p:cNvSpPr>
            <a:spLocks noGrp="1"/>
          </p:cNvSpPr>
          <p:nvPr/>
        </p:nvSpPr>
        <p:spPr>
          <a:xfrm>
            <a:off x="914400" y="5056632"/>
            <a:ext cx="932688" cy="292608"/>
          </a:xfrm>
          <a:prstGeom prst="rect">
            <a:avLst/>
          </a:prstGeom>
          <a:noFill/>
        </p:spPr>
        <p:txBody>
          <a:bodyPr wrap="square" lIns="0" tIns="0" rIns="0" bIns="0" anchor="ctr"/>
          <a:lstStyle/>
          <a:p>
            <a:pPr marL="0" indent="0" algn="ctr">
              <a:buNone/>
            </a:pPr>
            <a:r>
              <a:rPr sz="950" b="1">
                <a:solidFill>
                  <a:srgbClr val="35D4E7"/>
                </a:solidFill>
                <a:latin typeface="Inter"/>
                <a:ea typeface="Inter"/>
                <a:cs typeface="Inter"/>
              </a:rPr>
              <a:t>STARTUP</a:t>
            </a:r>
            <a:endParaRPr sz="950"/>
          </a:p>
        </p:txBody>
      </p:sp>
      <p:sp>
        <p:nvSpPr>
          <p:cNvPr id="38" name="Text 29">
            <a:extLst>
              <a:ext uri="{FF2B5EF4-FFF2-40B4-BE49-F238E27FC236}">
                <a16:creationId xmlns:a16="http://schemas.microsoft.com/office/drawing/2014/main" id="{944B2911-F659-4D5F-A580-B7298C765471}"/>
              </a:ext>
            </a:extLst>
          </p:cNvPr>
          <p:cNvSpPr>
            <a:spLocks noGrp="1"/>
          </p:cNvSpPr>
          <p:nvPr/>
        </p:nvSpPr>
        <p:spPr>
          <a:xfrm>
            <a:off x="2103120" y="5047488"/>
            <a:ext cx="2880360" cy="274320"/>
          </a:xfrm>
          <a:prstGeom prst="rect">
            <a:avLst/>
          </a:prstGeom>
          <a:noFill/>
        </p:spPr>
        <p:txBody>
          <a:bodyPr wrap="square" lIns="0" tIns="0" rIns="0" bIns="0" anchor="ctr"/>
          <a:lstStyle/>
          <a:p>
            <a:pPr marL="0" indent="0">
              <a:buNone/>
            </a:pPr>
            <a:r>
              <a:rPr sz="1300" b="1">
                <a:solidFill>
                  <a:srgbClr val="EAF0F8"/>
                </a:solidFill>
                <a:latin typeface="Inter"/>
                <a:ea typeface="Inter"/>
                <a:cs typeface="Inter"/>
              </a:rPr>
              <a:t>Implement controls inside one product.</a:t>
            </a:r>
            <a:endParaRPr sz="1300"/>
          </a:p>
        </p:txBody>
      </p:sp>
      <p:sp>
        <p:nvSpPr>
          <p:cNvPr id="39" name="Shape 30">
            <a:extLst>
              <a:ext uri="{FF2B5EF4-FFF2-40B4-BE49-F238E27FC236}">
                <a16:creationId xmlns:a16="http://schemas.microsoft.com/office/drawing/2014/main" id="{84C066E1-F6BE-4542-8AF6-27F2AA81AC86}"/>
              </a:ext>
            </a:extLst>
          </p:cNvPr>
          <p:cNvSpPr>
            <a:spLocks noGrp="1"/>
          </p:cNvSpPr>
          <p:nvPr/>
        </p:nvSpPr>
        <p:spPr>
          <a:xfrm>
            <a:off x="5193792" y="5230368"/>
            <a:ext cx="749808" cy="0"/>
          </a:xfrm>
          <a:prstGeom prst="line">
            <a:avLst/>
          </a:prstGeom>
          <a:noFill/>
          <a:ln w="12700">
            <a:solidFill>
              <a:srgbClr val="72839A"/>
            </a:solidFill>
            <a:prstDash val="solid"/>
            <a:headEnd type="none"/>
            <a:tailEnd type="triangle"/>
          </a:ln>
        </p:spPr>
        <p:txBody>
          <a:bodyPr/>
          <a:lstStyle/>
          <a:p>
            <a:endParaRPr/>
          </a:p>
        </p:txBody>
      </p:sp>
      <p:sp>
        <p:nvSpPr>
          <p:cNvPr id="40" name="Shape 31">
            <a:extLst>
              <a:ext uri="{FF2B5EF4-FFF2-40B4-BE49-F238E27FC236}">
                <a16:creationId xmlns:a16="http://schemas.microsoft.com/office/drawing/2014/main" id="{90FE0CC8-C85D-441F-BBEF-0D7B3D4AF912}"/>
              </a:ext>
            </a:extLst>
          </p:cNvPr>
          <p:cNvSpPr>
            <a:spLocks noGrp="1"/>
          </p:cNvSpPr>
          <p:nvPr/>
        </p:nvSpPr>
        <p:spPr>
          <a:xfrm>
            <a:off x="6181344" y="5047488"/>
            <a:ext cx="1353312" cy="310896"/>
          </a:xfrm>
          <a:prstGeom prst="roundRect">
            <a:avLst>
              <a:gd name="adj" fmla="val 23529"/>
            </a:avLst>
          </a:prstGeom>
          <a:solidFill>
            <a:srgbClr val="F7B955">
              <a:alpha val="16000"/>
            </a:srgbClr>
          </a:solidFill>
          <a:ln w="12700">
            <a:solidFill>
              <a:srgbClr val="F7B955">
                <a:alpha val="40000"/>
              </a:srgbClr>
            </a:solidFill>
            <a:prstDash val="solid"/>
          </a:ln>
        </p:spPr>
        <p:txBody>
          <a:bodyPr/>
          <a:lstStyle/>
          <a:p>
            <a:endParaRPr/>
          </a:p>
        </p:txBody>
      </p:sp>
      <p:sp>
        <p:nvSpPr>
          <p:cNvPr id="41" name="Text 32">
            <a:extLst>
              <a:ext uri="{FF2B5EF4-FFF2-40B4-BE49-F238E27FC236}">
                <a16:creationId xmlns:a16="http://schemas.microsoft.com/office/drawing/2014/main" id="{E631E74B-5347-479A-AA5E-BCBB286D231F}"/>
              </a:ext>
            </a:extLst>
          </p:cNvPr>
          <p:cNvSpPr>
            <a:spLocks noGrp="1"/>
          </p:cNvSpPr>
          <p:nvPr/>
        </p:nvSpPr>
        <p:spPr>
          <a:xfrm>
            <a:off x="6254496" y="5056632"/>
            <a:ext cx="1207008" cy="292608"/>
          </a:xfrm>
          <a:prstGeom prst="rect">
            <a:avLst/>
          </a:prstGeom>
          <a:noFill/>
        </p:spPr>
        <p:txBody>
          <a:bodyPr wrap="square" lIns="0" tIns="0" rIns="0" bIns="0" anchor="ctr"/>
          <a:lstStyle/>
          <a:p>
            <a:pPr marL="0" indent="0" algn="ctr">
              <a:buNone/>
            </a:pPr>
            <a:r>
              <a:rPr sz="950" b="1">
                <a:solidFill>
                  <a:srgbClr val="F7B955"/>
                </a:solidFill>
                <a:latin typeface="Inter"/>
                <a:ea typeface="Inter"/>
                <a:cs typeface="Inter"/>
              </a:rPr>
              <a:t>ENTERPRISE</a:t>
            </a:r>
            <a:endParaRPr sz="950"/>
          </a:p>
        </p:txBody>
      </p:sp>
      <p:sp>
        <p:nvSpPr>
          <p:cNvPr id="42" name="Text 33">
            <a:extLst>
              <a:ext uri="{FF2B5EF4-FFF2-40B4-BE49-F238E27FC236}">
                <a16:creationId xmlns:a16="http://schemas.microsoft.com/office/drawing/2014/main" id="{AEB18A20-E821-4BED-B801-8106CB07B3F1}"/>
              </a:ext>
            </a:extLst>
          </p:cNvPr>
          <p:cNvSpPr>
            <a:spLocks noGrp="1"/>
          </p:cNvSpPr>
          <p:nvPr/>
        </p:nvSpPr>
        <p:spPr>
          <a:xfrm>
            <a:off x="7808976" y="5047488"/>
            <a:ext cx="3401568" cy="274320"/>
          </a:xfrm>
          <a:prstGeom prst="rect">
            <a:avLst/>
          </a:prstGeom>
          <a:noFill/>
        </p:spPr>
        <p:txBody>
          <a:bodyPr wrap="square" lIns="0" tIns="0" rIns="0" bIns="0" anchor="ctr"/>
          <a:lstStyle/>
          <a:p>
            <a:pPr marL="0" indent="0">
              <a:buNone/>
            </a:pPr>
            <a:r>
              <a:rPr sz="1300" b="1">
                <a:solidFill>
                  <a:srgbClr val="EAF0F8"/>
                </a:solidFill>
                <a:latin typeface="Inter"/>
                <a:ea typeface="Inter"/>
                <a:cs typeface="Inter"/>
              </a:rPr>
              <a:t>Enforce controls consistently across every product.</a:t>
            </a:r>
            <a:endParaRPr sz="1300"/>
          </a:p>
        </p:txBody>
      </p:sp>
      <p:sp>
        <p:nvSpPr>
          <p:cNvPr id="43" name="Shape 34">
            <a:extLst>
              <a:ext uri="{FF2B5EF4-FFF2-40B4-BE49-F238E27FC236}">
                <a16:creationId xmlns:a16="http://schemas.microsoft.com/office/drawing/2014/main" id="{08614A52-2F4C-45C6-B99D-01E371639D43}"/>
              </a:ext>
            </a:extLst>
          </p:cNvPr>
          <p:cNvSpPr>
            <a:spLocks noGrp="1"/>
          </p:cNvSpPr>
          <p:nvPr/>
        </p:nvSpPr>
        <p:spPr>
          <a:xfrm>
            <a:off x="3977640" y="5989320"/>
            <a:ext cx="4224528" cy="310896"/>
          </a:xfrm>
          <a:prstGeom prst="roundRect">
            <a:avLst>
              <a:gd name="adj" fmla="val 23529"/>
            </a:avLst>
          </a:prstGeom>
          <a:solidFill>
            <a:srgbClr val="5B7CFF">
              <a:alpha val="14000"/>
            </a:srgbClr>
          </a:solidFill>
          <a:ln w="12700">
            <a:solidFill>
              <a:srgbClr val="5B7CFF">
                <a:alpha val="35000"/>
              </a:srgbClr>
            </a:solidFill>
            <a:prstDash val="solid"/>
          </a:ln>
        </p:spPr>
        <p:txBody>
          <a:bodyPr/>
          <a:lstStyle/>
          <a:p>
            <a:endParaRPr/>
          </a:p>
        </p:txBody>
      </p:sp>
      <p:sp>
        <p:nvSpPr>
          <p:cNvPr id="44" name="Text 35">
            <a:extLst>
              <a:ext uri="{FF2B5EF4-FFF2-40B4-BE49-F238E27FC236}">
                <a16:creationId xmlns:a16="http://schemas.microsoft.com/office/drawing/2014/main" id="{12997F6F-769E-4A8B-BC76-2D2F8CE110F1}"/>
              </a:ext>
            </a:extLst>
          </p:cNvPr>
          <p:cNvSpPr>
            <a:spLocks noGrp="1"/>
          </p:cNvSpPr>
          <p:nvPr/>
        </p:nvSpPr>
        <p:spPr>
          <a:xfrm>
            <a:off x="4050792" y="5998464"/>
            <a:ext cx="4078224" cy="292608"/>
          </a:xfrm>
          <a:prstGeom prst="rect">
            <a:avLst/>
          </a:prstGeom>
          <a:noFill/>
        </p:spPr>
        <p:txBody>
          <a:bodyPr wrap="square" lIns="0" tIns="0" rIns="0" bIns="0" anchor="ctr"/>
          <a:lstStyle/>
          <a:p>
            <a:pPr marL="0" indent="0" algn="ctr">
              <a:buNone/>
            </a:pPr>
            <a:r>
              <a:rPr sz="1030" b="1">
                <a:solidFill>
                  <a:srgbClr val="BFCBFF"/>
                </a:solidFill>
                <a:latin typeface="Inter"/>
                <a:ea typeface="Inter"/>
                <a:cs typeface="Inter"/>
              </a:rPr>
              <a:t>TRUST = CONTROL + EVIDENCE</a:t>
            </a:r>
            <a:endParaRPr sz="1030"/>
          </a:p>
        </p:txBody>
      </p:sp>
      <p:sp>
        <p:nvSpPr>
          <p:cNvPr id="45" name="Shape 36">
            <a:extLst>
              <a:ext uri="{FF2B5EF4-FFF2-40B4-BE49-F238E27FC236}">
                <a16:creationId xmlns:a16="http://schemas.microsoft.com/office/drawing/2014/main" id="{1DE320EF-4A9D-404A-94D4-88C7885E9A91}"/>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46" name="Text 37">
            <a:extLst>
              <a:ext uri="{FF2B5EF4-FFF2-40B4-BE49-F238E27FC236}">
                <a16:creationId xmlns:a16="http://schemas.microsoft.com/office/drawing/2014/main" id="{8DC2736D-CA23-4E44-9427-C6C5F6BF9B20}"/>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BRIDGE · PRODUCT → PLATFORM</a:t>
            </a:r>
            <a:endParaRPr sz="850"/>
          </a:p>
        </p:txBody>
      </p:sp>
      <p:sp>
        <p:nvSpPr>
          <p:cNvPr id="47" name="Text 38">
            <a:extLst>
              <a:ext uri="{FF2B5EF4-FFF2-40B4-BE49-F238E27FC236}">
                <a16:creationId xmlns:a16="http://schemas.microsoft.com/office/drawing/2014/main" id="{585C1AF2-80CC-4D96-B830-C8DA014F0C8F}"/>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48" name="Text 39">
            <a:extLst>
              <a:ext uri="{FF2B5EF4-FFF2-40B4-BE49-F238E27FC236}">
                <a16:creationId xmlns:a16="http://schemas.microsoft.com/office/drawing/2014/main" id="{20B9E302-1A86-4A59-BABF-3729EA1FE13B}"/>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06</a:t>
            </a:r>
            <a:endParaRPr sz="850"/>
          </a:p>
        </p:txBody>
      </p:sp>
    </p:spTree>
    <p:extLst>
      <p:ext uri="{BB962C8B-B14F-4D97-AF65-F5344CB8AC3E}">
        <p14:creationId xmlns:p14="http://schemas.microsoft.com/office/powerpoint/2010/main" val="19458267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40DC2BDB-CB02-49A1-B71F-775B7534DDE5}"/>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WHAT BUILDERS REPORT</a:t>
            </a:r>
            <a:endParaRPr sz="950"/>
          </a:p>
        </p:txBody>
      </p:sp>
      <p:sp>
        <p:nvSpPr>
          <p:cNvPr id="4" name="Text 1">
            <a:extLst>
              <a:ext uri="{FF2B5EF4-FFF2-40B4-BE49-F238E27FC236}">
                <a16:creationId xmlns:a16="http://schemas.microsoft.com/office/drawing/2014/main" id="{A6A0239D-1AEB-4D27-B578-D492E255E53C}"/>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700" b="1">
                <a:solidFill>
                  <a:srgbClr val="F7FAFF"/>
                </a:solidFill>
                <a:latin typeface="Inter"/>
                <a:ea typeface="Inter"/>
                <a:cs typeface="Inter"/>
              </a:rPr>
              <a:t>Security is not a workstream. It is the work.</a:t>
            </a:r>
            <a:endParaRPr sz="2700"/>
          </a:p>
        </p:txBody>
      </p:sp>
      <p:sp>
        <p:nvSpPr>
          <p:cNvPr id="5" name="Text 2">
            <a:extLst>
              <a:ext uri="{FF2B5EF4-FFF2-40B4-BE49-F238E27FC236}">
                <a16:creationId xmlns:a16="http://schemas.microsoft.com/office/drawing/2014/main" id="{8E824390-C460-4A9B-9ECF-740A2FBEC420}"/>
              </a:ext>
            </a:extLst>
          </p:cNvPr>
          <p:cNvSpPr>
            <a:spLocks noGrp="1"/>
          </p:cNvSpPr>
          <p:nvPr/>
        </p:nvSpPr>
        <p:spPr>
          <a:xfrm>
            <a:off x="621792" y="1234440"/>
            <a:ext cx="3794760" cy="1828800"/>
          </a:xfrm>
          <a:prstGeom prst="rect">
            <a:avLst/>
          </a:prstGeom>
          <a:noFill/>
        </p:spPr>
        <p:txBody>
          <a:bodyPr wrap="square" lIns="0" tIns="0" rIns="0" bIns="0" anchor="ctr">
            <a:normAutofit/>
          </a:bodyPr>
          <a:lstStyle/>
          <a:p>
            <a:pPr marL="0" indent="0">
              <a:buNone/>
            </a:pPr>
            <a:r>
              <a:rPr sz="9800" b="1">
                <a:solidFill>
                  <a:srgbClr val="FF647C"/>
                </a:solidFill>
                <a:latin typeface="Inter"/>
                <a:ea typeface="Inter"/>
                <a:cs typeface="Inter"/>
              </a:rPr>
              <a:t>50%</a:t>
            </a:r>
            <a:endParaRPr sz="9800"/>
          </a:p>
        </p:txBody>
      </p:sp>
      <p:sp>
        <p:nvSpPr>
          <p:cNvPr id="6" name="Text 3">
            <a:extLst>
              <a:ext uri="{FF2B5EF4-FFF2-40B4-BE49-F238E27FC236}">
                <a16:creationId xmlns:a16="http://schemas.microsoft.com/office/drawing/2014/main" id="{666D6F2D-8DD0-4397-8398-66B30AD46527}"/>
              </a:ext>
            </a:extLst>
          </p:cNvPr>
          <p:cNvSpPr>
            <a:spLocks noGrp="1"/>
          </p:cNvSpPr>
          <p:nvPr/>
        </p:nvSpPr>
        <p:spPr>
          <a:xfrm>
            <a:off x="749808" y="2852928"/>
            <a:ext cx="3291840" cy="365760"/>
          </a:xfrm>
          <a:prstGeom prst="rect">
            <a:avLst/>
          </a:prstGeom>
          <a:noFill/>
        </p:spPr>
        <p:txBody>
          <a:bodyPr wrap="square" lIns="0" tIns="0" rIns="0" bIns="0" anchor="ctr"/>
          <a:lstStyle/>
          <a:p>
            <a:pPr marL="0" indent="0">
              <a:buNone/>
            </a:pPr>
            <a:r>
              <a:rPr sz="2000" b="1">
                <a:solidFill>
                  <a:srgbClr val="F7FAFF"/>
                </a:solidFill>
                <a:latin typeface="Inter"/>
                <a:ea typeface="Inter"/>
                <a:cs typeface="Inter"/>
              </a:rPr>
              <a:t>of MCP builders</a:t>
            </a:r>
            <a:endParaRPr sz="2000"/>
          </a:p>
        </p:txBody>
      </p:sp>
      <p:sp>
        <p:nvSpPr>
          <p:cNvPr id="7" name="Text 4">
            <a:extLst>
              <a:ext uri="{FF2B5EF4-FFF2-40B4-BE49-F238E27FC236}">
                <a16:creationId xmlns:a16="http://schemas.microsoft.com/office/drawing/2014/main" id="{EDFB7CC2-E56A-4D53-BFB8-1D53BF1829B4}"/>
              </a:ext>
            </a:extLst>
          </p:cNvPr>
          <p:cNvSpPr>
            <a:spLocks noGrp="1"/>
          </p:cNvSpPr>
          <p:nvPr/>
        </p:nvSpPr>
        <p:spPr>
          <a:xfrm>
            <a:off x="749808" y="3273552"/>
            <a:ext cx="3749040" cy="777240"/>
          </a:xfrm>
          <a:prstGeom prst="rect">
            <a:avLst/>
          </a:prstGeom>
          <a:noFill/>
        </p:spPr>
        <p:txBody>
          <a:bodyPr wrap="square" lIns="0" tIns="0" rIns="0" bIns="0" anchor="ctr"/>
          <a:lstStyle/>
          <a:p>
            <a:pPr marL="0" indent="0">
              <a:buNone/>
            </a:pPr>
            <a:r>
              <a:rPr sz="1800">
                <a:solidFill>
                  <a:srgbClr val="A7B5C8"/>
                </a:solidFill>
                <a:latin typeface="Inter"/>
                <a:ea typeface="Inter"/>
                <a:cs typeface="Inter"/>
              </a:rPr>
              <a:t>cite security / access control</a:t>
            </a:r>
            <a:endParaRPr sz="1800"/>
          </a:p>
          <a:p>
            <a:pPr marL="0" indent="0">
              <a:buNone/>
            </a:pPr>
            <a:r>
              <a:rPr sz="1800">
                <a:solidFill>
                  <a:srgbClr val="A7B5C8"/>
                </a:solidFill>
                <a:latin typeface="Inter"/>
                <a:ea typeface="Inter"/>
                <a:cs typeface="Inter"/>
              </a:rPr>
              <a:t>as their top challenge.</a:t>
            </a:r>
            <a:endParaRPr sz="1800"/>
          </a:p>
        </p:txBody>
      </p:sp>
      <p:sp>
        <p:nvSpPr>
          <p:cNvPr id="8" name="Shape 5">
            <a:extLst>
              <a:ext uri="{FF2B5EF4-FFF2-40B4-BE49-F238E27FC236}">
                <a16:creationId xmlns:a16="http://schemas.microsoft.com/office/drawing/2014/main" id="{02561DCB-D9CE-4348-AB75-47575962E704}"/>
              </a:ext>
            </a:extLst>
          </p:cNvPr>
          <p:cNvSpPr>
            <a:spLocks noGrp="1"/>
          </p:cNvSpPr>
          <p:nvPr/>
        </p:nvSpPr>
        <p:spPr>
          <a:xfrm>
            <a:off x="4892040" y="1353312"/>
            <a:ext cx="6720840" cy="2029968"/>
          </a:xfrm>
          <a:prstGeom prst="roundRect">
            <a:avLst>
              <a:gd name="adj" fmla="val 3604"/>
            </a:avLst>
          </a:prstGeom>
          <a:solidFill>
            <a:srgbClr val="101B2D"/>
          </a:solidFill>
          <a:ln w="12700">
            <a:solidFill>
              <a:srgbClr val="FF647C"/>
            </a:solidFill>
            <a:prstDash val="solid"/>
          </a:ln>
          <a:effectLst>
            <a:outerShdw algn="bl" rotWithShape="0">
              <a:srgbClr val="000000">
                <a:alpha val="0"/>
              </a:srgbClr>
            </a:outerShdw>
          </a:effectLst>
        </p:spPr>
        <p:txBody>
          <a:bodyPr/>
          <a:lstStyle/>
          <a:p>
            <a:endParaRPr/>
          </a:p>
        </p:txBody>
      </p:sp>
      <p:pic>
        <p:nvPicPr>
          <p:cNvPr id="37"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39512" y="1746504"/>
            <a:ext cx="566928" cy="566928"/>
          </a:xfrm>
          <a:prstGeom prst="rect">
            <a:avLst/>
          </a:prstGeom>
        </p:spPr>
      </p:pic>
      <p:sp>
        <p:nvSpPr>
          <p:cNvPr id="10" name="Text 6">
            <a:extLst>
              <a:ext uri="{FF2B5EF4-FFF2-40B4-BE49-F238E27FC236}">
                <a16:creationId xmlns:a16="http://schemas.microsoft.com/office/drawing/2014/main" id="{FE9DFDC5-00A8-4397-B115-8F347F2FF2F1}"/>
              </a:ext>
            </a:extLst>
          </p:cNvPr>
          <p:cNvSpPr>
            <a:spLocks noGrp="1"/>
          </p:cNvSpPr>
          <p:nvPr/>
        </p:nvSpPr>
        <p:spPr>
          <a:xfrm>
            <a:off x="6089904" y="1673352"/>
            <a:ext cx="4983480" cy="1033272"/>
          </a:xfrm>
          <a:prstGeom prst="rect">
            <a:avLst/>
          </a:prstGeom>
          <a:noFill/>
        </p:spPr>
        <p:txBody>
          <a:bodyPr wrap="square" lIns="0" tIns="0" rIns="0" bIns="0" anchor="ctr"/>
          <a:lstStyle/>
          <a:p>
            <a:pPr marL="0" indent="0">
              <a:buNone/>
            </a:pPr>
            <a:r>
              <a:rPr sz="2100" b="1">
                <a:solidFill>
                  <a:srgbClr val="F7FAFF"/>
                </a:solidFill>
                <a:latin typeface="Inter"/>
                <a:ea typeface="Inter"/>
                <a:cs typeface="Inter"/>
              </a:rPr>
              <a:t>“Security and access control is the top challenge</a:t>
            </a:r>
            <a:endParaRPr sz="2100"/>
          </a:p>
          <a:p>
            <a:pPr marL="0" indent="0">
              <a:buNone/>
            </a:pPr>
            <a:r>
              <a:rPr sz="2100" b="1">
                <a:solidFill>
                  <a:srgbClr val="F7FAFF"/>
                </a:solidFill>
                <a:latin typeface="Inter"/>
                <a:ea typeface="Inter"/>
                <a:cs typeface="Inter"/>
              </a:rPr>
              <a:t>for builders, cited by 50% of respondents.”</a:t>
            </a:r>
            <a:endParaRPr sz="2100"/>
          </a:p>
        </p:txBody>
      </p:sp>
      <p:sp>
        <p:nvSpPr>
          <p:cNvPr id="11" name="Text 7">
            <a:extLst>
              <a:ext uri="{FF2B5EF4-FFF2-40B4-BE49-F238E27FC236}">
                <a16:creationId xmlns:a16="http://schemas.microsoft.com/office/drawing/2014/main" id="{DF081670-44B5-463A-B5FD-69B44AF25198}"/>
              </a:ext>
            </a:extLst>
          </p:cNvPr>
          <p:cNvSpPr>
            <a:spLocks noGrp="1"/>
          </p:cNvSpPr>
          <p:nvPr/>
        </p:nvSpPr>
        <p:spPr>
          <a:xfrm>
            <a:off x="6099048" y="2816352"/>
            <a:ext cx="4251960" cy="210312"/>
          </a:xfrm>
          <a:prstGeom prst="rect">
            <a:avLst/>
          </a:prstGeom>
          <a:noFill/>
        </p:spPr>
        <p:txBody>
          <a:bodyPr wrap="square" lIns="0" tIns="0" rIns="0" bIns="0" anchor="ctr"/>
          <a:lstStyle/>
          <a:p>
            <a:pPr marL="0" indent="0">
              <a:buNone/>
            </a:pPr>
            <a:r>
              <a:rPr sz="920">
                <a:solidFill>
                  <a:srgbClr val="72839A"/>
                </a:solidFill>
                <a:latin typeface="Inter"/>
                <a:ea typeface="Inter"/>
                <a:cs typeface="Inter"/>
              </a:rPr>
              <a:t>Zuplo · State of MCP survey · fielded Nov–Dec 2025 · self-selected, no N published</a:t>
            </a:r>
            <a:endParaRPr sz="920"/>
          </a:p>
        </p:txBody>
      </p:sp>
      <p:sp>
        <p:nvSpPr>
          <p:cNvPr id="12" name="Shape 8">
            <a:extLst>
              <a:ext uri="{FF2B5EF4-FFF2-40B4-BE49-F238E27FC236}">
                <a16:creationId xmlns:a16="http://schemas.microsoft.com/office/drawing/2014/main" id="{75717B94-B27A-4899-BBE0-7380F442C5BA}"/>
              </a:ext>
            </a:extLst>
          </p:cNvPr>
          <p:cNvSpPr>
            <a:spLocks noGrp="1"/>
          </p:cNvSpPr>
          <p:nvPr/>
        </p:nvSpPr>
        <p:spPr>
          <a:xfrm>
            <a:off x="4892040" y="3758184"/>
            <a:ext cx="3163824" cy="1234440"/>
          </a:xfrm>
          <a:prstGeom prst="roundRect">
            <a:avLst>
              <a:gd name="adj" fmla="val 5926"/>
            </a:avLst>
          </a:prstGeom>
          <a:solidFill>
            <a:srgbClr val="0E1B2E"/>
          </a:solidFill>
          <a:ln w="12700">
            <a:solidFill>
              <a:srgbClr val="293A51"/>
            </a:solidFill>
            <a:prstDash val="solid"/>
          </a:ln>
        </p:spPr>
        <p:txBody>
          <a:bodyPr/>
          <a:lstStyle/>
          <a:p>
            <a:endParaRPr/>
          </a:p>
        </p:txBody>
      </p:sp>
      <p:sp>
        <p:nvSpPr>
          <p:cNvPr id="13" name="Text 9">
            <a:extLst>
              <a:ext uri="{FF2B5EF4-FFF2-40B4-BE49-F238E27FC236}">
                <a16:creationId xmlns:a16="http://schemas.microsoft.com/office/drawing/2014/main" id="{751F3F50-4E2E-4E25-BC63-2E3B4C86CDE4}"/>
              </a:ext>
            </a:extLst>
          </p:cNvPr>
          <p:cNvSpPr>
            <a:spLocks noGrp="1"/>
          </p:cNvSpPr>
          <p:nvPr/>
        </p:nvSpPr>
        <p:spPr>
          <a:xfrm>
            <a:off x="5166360" y="3950208"/>
            <a:ext cx="1115568" cy="457200"/>
          </a:xfrm>
          <a:prstGeom prst="rect">
            <a:avLst/>
          </a:prstGeom>
          <a:noFill/>
        </p:spPr>
        <p:txBody>
          <a:bodyPr wrap="square" lIns="0" tIns="0" rIns="0" bIns="0" anchor="ctr">
            <a:normAutofit/>
          </a:bodyPr>
          <a:lstStyle/>
          <a:p>
            <a:pPr marL="0" indent="0">
              <a:buNone/>
            </a:pPr>
            <a:r>
              <a:rPr sz="2600" b="1">
                <a:solidFill>
                  <a:srgbClr val="F7B955"/>
                </a:solidFill>
                <a:latin typeface="Inter"/>
                <a:ea typeface="Inter"/>
                <a:cs typeface="Inter"/>
              </a:rPr>
              <a:t>38%</a:t>
            </a:r>
            <a:endParaRPr sz="2600"/>
          </a:p>
        </p:txBody>
      </p:sp>
      <p:sp>
        <p:nvSpPr>
          <p:cNvPr id="14" name="Text 10">
            <a:extLst>
              <a:ext uri="{FF2B5EF4-FFF2-40B4-BE49-F238E27FC236}">
                <a16:creationId xmlns:a16="http://schemas.microsoft.com/office/drawing/2014/main" id="{5F46CA12-C621-40BB-80B3-DBA03322134D}"/>
              </a:ext>
            </a:extLst>
          </p:cNvPr>
          <p:cNvSpPr>
            <a:spLocks noGrp="1"/>
          </p:cNvSpPr>
          <p:nvPr/>
        </p:nvSpPr>
        <p:spPr>
          <a:xfrm>
            <a:off x="6291072" y="3950208"/>
            <a:ext cx="1554480" cy="502920"/>
          </a:xfrm>
          <a:prstGeom prst="rect">
            <a:avLst/>
          </a:prstGeom>
          <a:noFill/>
        </p:spPr>
        <p:txBody>
          <a:bodyPr wrap="square" lIns="0" tIns="0" rIns="0" bIns="0" anchor="ctr"/>
          <a:lstStyle/>
          <a:p>
            <a:pPr marL="0" indent="0">
              <a:buNone/>
            </a:pPr>
            <a:r>
              <a:rPr sz="1080" b="1">
                <a:solidFill>
                  <a:srgbClr val="EAF0F8"/>
                </a:solidFill>
                <a:latin typeface="Inter"/>
                <a:ea typeface="Inter"/>
                <a:cs typeface="Inter"/>
              </a:rPr>
              <a:t>blocked by security concerns</a:t>
            </a:r>
            <a:endParaRPr sz="1080"/>
          </a:p>
        </p:txBody>
      </p:sp>
      <p:sp>
        <p:nvSpPr>
          <p:cNvPr id="15" name="Shape 11">
            <a:extLst>
              <a:ext uri="{FF2B5EF4-FFF2-40B4-BE49-F238E27FC236}">
                <a16:creationId xmlns:a16="http://schemas.microsoft.com/office/drawing/2014/main" id="{E43E6DEC-6763-430F-8BA5-D6846F96B567}"/>
              </a:ext>
            </a:extLst>
          </p:cNvPr>
          <p:cNvSpPr>
            <a:spLocks noGrp="1"/>
          </p:cNvSpPr>
          <p:nvPr/>
        </p:nvSpPr>
        <p:spPr>
          <a:xfrm>
            <a:off x="8348472" y="3758184"/>
            <a:ext cx="3163824" cy="1234440"/>
          </a:xfrm>
          <a:prstGeom prst="roundRect">
            <a:avLst>
              <a:gd name="adj" fmla="val 5926"/>
            </a:avLst>
          </a:prstGeom>
          <a:solidFill>
            <a:srgbClr val="0E1B2E"/>
          </a:solidFill>
          <a:ln w="12700">
            <a:solidFill>
              <a:srgbClr val="293A51"/>
            </a:solidFill>
            <a:prstDash val="solid"/>
          </a:ln>
        </p:spPr>
        <p:txBody>
          <a:bodyPr/>
          <a:lstStyle/>
          <a:p>
            <a:endParaRPr/>
          </a:p>
        </p:txBody>
      </p:sp>
      <p:sp>
        <p:nvSpPr>
          <p:cNvPr id="16" name="Text 12">
            <a:extLst>
              <a:ext uri="{FF2B5EF4-FFF2-40B4-BE49-F238E27FC236}">
                <a16:creationId xmlns:a16="http://schemas.microsoft.com/office/drawing/2014/main" id="{DBF978A7-4786-41A3-B79E-CC30833C315D}"/>
              </a:ext>
            </a:extLst>
          </p:cNvPr>
          <p:cNvSpPr>
            <a:spLocks noGrp="1"/>
          </p:cNvSpPr>
          <p:nvPr/>
        </p:nvSpPr>
        <p:spPr>
          <a:xfrm>
            <a:off x="8622792" y="3950208"/>
            <a:ext cx="1115568" cy="457200"/>
          </a:xfrm>
          <a:prstGeom prst="rect">
            <a:avLst/>
          </a:prstGeom>
          <a:noFill/>
        </p:spPr>
        <p:txBody>
          <a:bodyPr wrap="square" lIns="0" tIns="0" rIns="0" bIns="0" anchor="ctr">
            <a:normAutofit/>
          </a:bodyPr>
          <a:lstStyle/>
          <a:p>
            <a:pPr marL="0" indent="0">
              <a:buNone/>
            </a:pPr>
            <a:r>
              <a:rPr sz="2600" b="1">
                <a:solidFill>
                  <a:srgbClr val="A879FF"/>
                </a:solidFill>
                <a:latin typeface="Inter"/>
                <a:ea typeface="Inter"/>
                <a:cs typeface="Inter"/>
              </a:rPr>
              <a:t>~24%</a:t>
            </a:r>
            <a:endParaRPr sz="2600"/>
          </a:p>
        </p:txBody>
      </p:sp>
      <p:sp>
        <p:nvSpPr>
          <p:cNvPr id="17" name="Text 13">
            <a:extLst>
              <a:ext uri="{FF2B5EF4-FFF2-40B4-BE49-F238E27FC236}">
                <a16:creationId xmlns:a16="http://schemas.microsoft.com/office/drawing/2014/main" id="{380334C1-4933-4EA7-B9F9-7EF41542C6B8}"/>
              </a:ext>
            </a:extLst>
          </p:cNvPr>
          <p:cNvSpPr>
            <a:spLocks noGrp="1"/>
          </p:cNvSpPr>
          <p:nvPr/>
        </p:nvSpPr>
        <p:spPr>
          <a:xfrm>
            <a:off x="9747504" y="3950208"/>
            <a:ext cx="1554480" cy="502920"/>
          </a:xfrm>
          <a:prstGeom prst="rect">
            <a:avLst/>
          </a:prstGeom>
          <a:noFill/>
        </p:spPr>
        <p:txBody>
          <a:bodyPr wrap="square" lIns="0" tIns="0" rIns="0" bIns="0" anchor="ctr"/>
          <a:lstStyle/>
          <a:p>
            <a:pPr marL="0" indent="0">
              <a:buNone/>
            </a:pPr>
            <a:r>
              <a:rPr sz="1080" b="1">
                <a:solidFill>
                  <a:srgbClr val="EAF0F8"/>
                </a:solidFill>
                <a:latin typeface="Inter"/>
                <a:ea typeface="Inter"/>
                <a:cs typeface="Inter"/>
              </a:rPr>
              <a:t>of respondents run servers</a:t>
            </a:r>
            <a:endParaRPr sz="1080"/>
          </a:p>
          <a:p>
            <a:pPr marL="0" indent="0">
              <a:buNone/>
            </a:pPr>
            <a:r>
              <a:rPr sz="1080" b="1">
                <a:solidFill>
                  <a:srgbClr val="EAF0F8"/>
                </a:solidFill>
                <a:latin typeface="Inter"/>
                <a:ea typeface="Inter"/>
                <a:cs typeface="Inter"/>
              </a:rPr>
              <a:t>with no authentication</a:t>
            </a:r>
            <a:endParaRPr sz="1080"/>
          </a:p>
        </p:txBody>
      </p:sp>
      <p:sp>
        <p:nvSpPr>
          <p:cNvPr id="18" name="Shape 14">
            <a:extLst>
              <a:ext uri="{FF2B5EF4-FFF2-40B4-BE49-F238E27FC236}">
                <a16:creationId xmlns:a16="http://schemas.microsoft.com/office/drawing/2014/main" id="{F30857C0-0FB1-4400-A52C-2E42AAEAF5C8}"/>
              </a:ext>
            </a:extLst>
          </p:cNvPr>
          <p:cNvSpPr>
            <a:spLocks noGrp="1"/>
          </p:cNvSpPr>
          <p:nvPr/>
        </p:nvSpPr>
        <p:spPr>
          <a:xfrm>
            <a:off x="749808" y="4608576"/>
            <a:ext cx="3639312" cy="1060704"/>
          </a:xfrm>
          <a:prstGeom prst="roundRect">
            <a:avLst>
              <a:gd name="adj" fmla="val 6897"/>
            </a:avLst>
          </a:prstGeom>
          <a:solidFill>
            <a:srgbClr val="0A1729"/>
          </a:solidFill>
          <a:ln w="12700">
            <a:solidFill>
              <a:srgbClr val="293A51"/>
            </a:solidFill>
            <a:prstDash val="solid"/>
          </a:ln>
        </p:spPr>
        <p:txBody>
          <a:bodyPr/>
          <a:lstStyle/>
          <a:p>
            <a:endParaRPr/>
          </a:p>
        </p:txBody>
      </p:sp>
      <p:pic>
        <p:nvPicPr>
          <p:cNvPr id="47"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87552" y="4882896"/>
            <a:ext cx="301752" cy="301752"/>
          </a:xfrm>
          <a:prstGeom prst="rect">
            <a:avLst/>
          </a:prstGeom>
        </p:spPr>
      </p:pic>
      <p:sp>
        <p:nvSpPr>
          <p:cNvPr id="20" name="Text 15">
            <a:extLst>
              <a:ext uri="{FF2B5EF4-FFF2-40B4-BE49-F238E27FC236}">
                <a16:creationId xmlns:a16="http://schemas.microsoft.com/office/drawing/2014/main" id="{71563751-DBB9-4942-853F-AC429E894C3B}"/>
              </a:ext>
            </a:extLst>
          </p:cNvPr>
          <p:cNvSpPr>
            <a:spLocks noGrp="1"/>
          </p:cNvSpPr>
          <p:nvPr/>
        </p:nvSpPr>
        <p:spPr>
          <a:xfrm>
            <a:off x="1463040" y="4791456"/>
            <a:ext cx="2542032" cy="530352"/>
          </a:xfrm>
          <a:prstGeom prst="rect">
            <a:avLst/>
          </a:prstGeom>
          <a:noFill/>
        </p:spPr>
        <p:txBody>
          <a:bodyPr wrap="square" lIns="0" tIns="0" rIns="0" bIns="0" anchor="ctr"/>
          <a:lstStyle/>
          <a:p>
            <a:pPr marL="0" indent="0">
              <a:buNone/>
            </a:pPr>
            <a:r>
              <a:rPr sz="1400" b="1">
                <a:solidFill>
                  <a:srgbClr val="EAF0F8"/>
                </a:solidFill>
                <a:latin typeface="Inter"/>
                <a:ea typeface="Inter"/>
                <a:cs typeface="Inter"/>
              </a:rPr>
              <a:t>Authentication is mature.</a:t>
            </a:r>
            <a:endParaRPr sz="1400"/>
          </a:p>
          <a:p>
            <a:pPr marL="0" indent="0">
              <a:buNone/>
            </a:pPr>
            <a:r>
              <a:rPr sz="1400" b="1">
                <a:solidFill>
                  <a:srgbClr val="EAF0F8"/>
                </a:solidFill>
                <a:latin typeface="Inter"/>
                <a:ea typeface="Inter"/>
                <a:cs typeface="Inter"/>
              </a:rPr>
              <a:t>Authorization is contextual.</a:t>
            </a:r>
            <a:endParaRPr sz="1400"/>
          </a:p>
        </p:txBody>
      </p:sp>
      <p:sp>
        <p:nvSpPr>
          <p:cNvPr id="21" name="Shape 16">
            <a:extLst>
              <a:ext uri="{FF2B5EF4-FFF2-40B4-BE49-F238E27FC236}">
                <a16:creationId xmlns:a16="http://schemas.microsoft.com/office/drawing/2014/main" id="{9D9B2885-6E7C-45DB-8398-F26E4DC91C93}"/>
              </a:ext>
            </a:extLst>
          </p:cNvPr>
          <p:cNvSpPr>
            <a:spLocks noGrp="1"/>
          </p:cNvSpPr>
          <p:nvPr/>
        </p:nvSpPr>
        <p:spPr>
          <a:xfrm>
            <a:off x="4910328" y="5394960"/>
            <a:ext cx="6684264" cy="438912"/>
          </a:xfrm>
          <a:prstGeom prst="roundRect">
            <a:avLst>
              <a:gd name="adj" fmla="val 16667"/>
            </a:avLst>
          </a:prstGeom>
          <a:solidFill>
            <a:srgbClr val="FF647C">
              <a:alpha val="14000"/>
            </a:srgbClr>
          </a:solidFill>
          <a:ln w="12700">
            <a:solidFill>
              <a:srgbClr val="FF647C">
                <a:alpha val="35000"/>
              </a:srgbClr>
            </a:solidFill>
            <a:prstDash val="solid"/>
          </a:ln>
        </p:spPr>
        <p:txBody>
          <a:bodyPr/>
          <a:lstStyle/>
          <a:p>
            <a:endParaRPr/>
          </a:p>
        </p:txBody>
      </p:sp>
      <p:sp>
        <p:nvSpPr>
          <p:cNvPr id="22" name="Text 17">
            <a:extLst>
              <a:ext uri="{FF2B5EF4-FFF2-40B4-BE49-F238E27FC236}">
                <a16:creationId xmlns:a16="http://schemas.microsoft.com/office/drawing/2014/main" id="{B6FF10A7-6AE1-407C-89F0-68D66A3D5B08}"/>
              </a:ext>
            </a:extLst>
          </p:cNvPr>
          <p:cNvSpPr>
            <a:spLocks noGrp="1"/>
          </p:cNvSpPr>
          <p:nvPr/>
        </p:nvSpPr>
        <p:spPr>
          <a:xfrm>
            <a:off x="4983480" y="5404104"/>
            <a:ext cx="6537960" cy="420624"/>
          </a:xfrm>
          <a:prstGeom prst="rect">
            <a:avLst/>
          </a:prstGeom>
          <a:noFill/>
        </p:spPr>
        <p:txBody>
          <a:bodyPr wrap="square" lIns="0" tIns="0" rIns="0" bIns="0" anchor="ctr"/>
          <a:lstStyle/>
          <a:p>
            <a:pPr marL="0" indent="0" algn="ctr">
              <a:buNone/>
            </a:pPr>
            <a:r>
              <a:rPr sz="1130" b="1">
                <a:solidFill>
                  <a:srgbClr val="FF647C"/>
                </a:solidFill>
                <a:latin typeface="Inter"/>
                <a:ea typeface="Inter"/>
                <a:cs typeface="Inter"/>
              </a:rPr>
              <a:t>MEASURED, NOT SELF-REPORTED: 40.55% OF 7,973 LIVE SERVERS EXPOSE TOOLS WITH NO AUTH · arXiv:2605.22333</a:t>
            </a:r>
            <a:endParaRPr sz="1130"/>
          </a:p>
        </p:txBody>
      </p:sp>
      <p:sp>
        <p:nvSpPr>
          <p:cNvPr id="23" name="Shape 18">
            <a:extLst>
              <a:ext uri="{FF2B5EF4-FFF2-40B4-BE49-F238E27FC236}">
                <a16:creationId xmlns:a16="http://schemas.microsoft.com/office/drawing/2014/main" id="{ED56C05C-3596-444B-BEA5-1FEAF0B5DD9F}"/>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24" name="Text 19">
            <a:extLst>
              <a:ext uri="{FF2B5EF4-FFF2-40B4-BE49-F238E27FC236}">
                <a16:creationId xmlns:a16="http://schemas.microsoft.com/office/drawing/2014/main" id="{02A8685C-0A3E-4490-B13C-69C77C02C30A}"/>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ACT II · ENTERPRISE</a:t>
            </a:r>
            <a:endParaRPr sz="850"/>
          </a:p>
        </p:txBody>
      </p:sp>
      <p:sp>
        <p:nvSpPr>
          <p:cNvPr id="25" name="Text 20">
            <a:extLst>
              <a:ext uri="{FF2B5EF4-FFF2-40B4-BE49-F238E27FC236}">
                <a16:creationId xmlns:a16="http://schemas.microsoft.com/office/drawing/2014/main" id="{0FE36094-6B4E-4191-BADB-DAC1F40FD68D}"/>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r>
              <a:rPr sz="850">
                <a:solidFill>
                  <a:srgbClr val="72839A"/>
                </a:solidFill>
                <a:latin typeface="Inter"/>
                <a:ea typeface="Inter"/>
                <a:cs typeface="Inter"/>
              </a:rPr>
              <a:t>12:16:35–12:18:45 · 2:10</a:t>
            </a:r>
            <a:endParaRPr sz="850"/>
          </a:p>
        </p:txBody>
      </p:sp>
      <p:sp>
        <p:nvSpPr>
          <p:cNvPr id="26" name="Text 21">
            <a:extLst>
              <a:ext uri="{FF2B5EF4-FFF2-40B4-BE49-F238E27FC236}">
                <a16:creationId xmlns:a16="http://schemas.microsoft.com/office/drawing/2014/main" id="{5EEA42C9-06E3-4195-88D7-DAC789CEB92D}"/>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08</a:t>
            </a:r>
            <a:endParaRPr sz="850"/>
          </a:p>
        </p:txBody>
      </p:sp>
    </p:spTree>
    <p:extLst>
      <p:ext uri="{BB962C8B-B14F-4D97-AF65-F5344CB8AC3E}">
        <p14:creationId xmlns:p14="http://schemas.microsoft.com/office/powerpoint/2010/main" val="11897531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23312D4F-1592-4E22-9B12-D1F5552D7A3F}"/>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THE ENTERPRISE INFLECTION POINT</a:t>
            </a:r>
            <a:endParaRPr sz="950"/>
          </a:p>
        </p:txBody>
      </p:sp>
      <p:sp>
        <p:nvSpPr>
          <p:cNvPr id="4" name="Text 1">
            <a:extLst>
              <a:ext uri="{FF2B5EF4-FFF2-40B4-BE49-F238E27FC236}">
                <a16:creationId xmlns:a16="http://schemas.microsoft.com/office/drawing/2014/main" id="{0091AC09-F4A8-4451-B87E-A4673D915195}"/>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900" b="1">
                <a:solidFill>
                  <a:srgbClr val="F7FAFF"/>
                </a:solidFill>
                <a:latin typeface="Inter"/>
                <a:ea typeface="Inter"/>
                <a:cs typeface="Inter"/>
              </a:rPr>
              <a:t>“This might take longer.”</a:t>
            </a:r>
            <a:endParaRPr sz="2900"/>
          </a:p>
        </p:txBody>
      </p:sp>
      <p:sp>
        <p:nvSpPr>
          <p:cNvPr id="5" name="Shape 2">
            <a:extLst>
              <a:ext uri="{FF2B5EF4-FFF2-40B4-BE49-F238E27FC236}">
                <a16:creationId xmlns:a16="http://schemas.microsoft.com/office/drawing/2014/main" id="{FA9F172F-9CB0-44FA-9C7B-45DA702AB547}"/>
              </a:ext>
            </a:extLst>
          </p:cNvPr>
          <p:cNvSpPr>
            <a:spLocks noGrp="1"/>
          </p:cNvSpPr>
          <p:nvPr/>
        </p:nvSpPr>
        <p:spPr>
          <a:xfrm>
            <a:off x="566928" y="1298448"/>
            <a:ext cx="5687568" cy="4462272"/>
          </a:xfrm>
          <a:prstGeom prst="roundRect">
            <a:avLst>
              <a:gd name="adj" fmla="val 1639"/>
            </a:avLst>
          </a:prstGeom>
          <a:solidFill>
            <a:srgbClr val="0E192B"/>
          </a:solidFill>
          <a:ln w="12700">
            <a:solidFill>
              <a:srgbClr val="293A51"/>
            </a:solidFill>
            <a:prstDash val="solid"/>
          </a:ln>
          <a:effectLst>
            <a:outerShdw algn="bl" rotWithShape="0">
              <a:srgbClr val="000000">
                <a:alpha val="0"/>
              </a:srgbClr>
            </a:outerShdw>
          </a:effectLst>
        </p:spPr>
        <p:txBody>
          <a:bodyPr/>
          <a:lstStyle/>
          <a:p>
            <a:endParaRPr/>
          </a:p>
        </p:txBody>
      </p:sp>
      <p:sp>
        <p:nvSpPr>
          <p:cNvPr id="6" name="Shape 3">
            <a:extLst>
              <a:ext uri="{FF2B5EF4-FFF2-40B4-BE49-F238E27FC236}">
                <a16:creationId xmlns:a16="http://schemas.microsoft.com/office/drawing/2014/main" id="{DA2FCB9B-1DA2-4509-A822-E4F514D5332D}"/>
              </a:ext>
            </a:extLst>
          </p:cNvPr>
          <p:cNvSpPr>
            <a:spLocks noGrp="1"/>
          </p:cNvSpPr>
          <p:nvPr/>
        </p:nvSpPr>
        <p:spPr>
          <a:xfrm>
            <a:off x="850392" y="1572768"/>
            <a:ext cx="1170432" cy="310896"/>
          </a:xfrm>
          <a:prstGeom prst="roundRect">
            <a:avLst>
              <a:gd name="adj" fmla="val 23529"/>
            </a:avLst>
          </a:prstGeom>
          <a:solidFill>
            <a:srgbClr val="5B7CFF">
              <a:alpha val="15000"/>
            </a:srgbClr>
          </a:solidFill>
          <a:ln w="12700">
            <a:solidFill>
              <a:srgbClr val="5B7CFF">
                <a:alpha val="35000"/>
              </a:srgbClr>
            </a:solidFill>
            <a:prstDash val="solid"/>
          </a:ln>
        </p:spPr>
        <p:txBody>
          <a:bodyPr/>
          <a:lstStyle/>
          <a:p>
            <a:endParaRPr/>
          </a:p>
        </p:txBody>
      </p:sp>
      <p:sp>
        <p:nvSpPr>
          <p:cNvPr id="7" name="Text 4">
            <a:extLst>
              <a:ext uri="{FF2B5EF4-FFF2-40B4-BE49-F238E27FC236}">
                <a16:creationId xmlns:a16="http://schemas.microsoft.com/office/drawing/2014/main" id="{683FFA0D-2141-4EAB-8624-78C57CBF234A}"/>
              </a:ext>
            </a:extLst>
          </p:cNvPr>
          <p:cNvSpPr>
            <a:spLocks noGrp="1"/>
          </p:cNvSpPr>
          <p:nvPr/>
        </p:nvSpPr>
        <p:spPr>
          <a:xfrm>
            <a:off x="923544" y="1581912"/>
            <a:ext cx="1024128" cy="292608"/>
          </a:xfrm>
          <a:prstGeom prst="rect">
            <a:avLst/>
          </a:prstGeom>
          <a:noFill/>
        </p:spPr>
        <p:txBody>
          <a:bodyPr wrap="square" lIns="0" tIns="0" rIns="0" bIns="0" anchor="ctr"/>
          <a:lstStyle/>
          <a:p>
            <a:pPr marL="0" indent="0" algn="ctr">
              <a:buNone/>
            </a:pPr>
            <a:r>
              <a:rPr sz="870" b="1">
                <a:solidFill>
                  <a:srgbClr val="C8D2FF"/>
                </a:solidFill>
                <a:latin typeface="Inter"/>
                <a:ea typeface="Inter"/>
                <a:cs typeface="Inter"/>
              </a:rPr>
              <a:t>PROJECT CHAT</a:t>
            </a:r>
            <a:endParaRPr sz="870"/>
          </a:p>
        </p:txBody>
      </p:sp>
      <p:sp>
        <p:nvSpPr>
          <p:cNvPr id="8" name="Text 5">
            <a:extLst>
              <a:ext uri="{FF2B5EF4-FFF2-40B4-BE49-F238E27FC236}">
                <a16:creationId xmlns:a16="http://schemas.microsoft.com/office/drawing/2014/main" id="{6C2978EE-1215-4F02-9EF5-58B90FF07CB8}"/>
              </a:ext>
            </a:extLst>
          </p:cNvPr>
          <p:cNvSpPr>
            <a:spLocks noGrp="1"/>
          </p:cNvSpPr>
          <p:nvPr/>
        </p:nvSpPr>
        <p:spPr>
          <a:xfrm>
            <a:off x="969264" y="1856232"/>
            <a:ext cx="1005840" cy="164592"/>
          </a:xfrm>
          <a:prstGeom prst="rect">
            <a:avLst/>
          </a:prstGeom>
          <a:noFill/>
        </p:spPr>
        <p:txBody>
          <a:bodyPr wrap="square" lIns="0" tIns="0" rIns="0" bIns="0" anchor="ctr"/>
          <a:lstStyle/>
          <a:p>
            <a:pPr marL="0" indent="0" algn="l">
              <a:buNone/>
            </a:pPr>
            <a:r>
              <a:rPr sz="830" b="1">
                <a:solidFill>
                  <a:srgbClr val="5B7CFF"/>
                </a:solidFill>
                <a:latin typeface="Inter"/>
                <a:ea typeface="Inter"/>
                <a:cs typeface="Inter"/>
              </a:rPr>
              <a:t>Founder</a:t>
            </a:r>
            <a:endParaRPr sz="830"/>
          </a:p>
        </p:txBody>
      </p:sp>
      <p:sp>
        <p:nvSpPr>
          <p:cNvPr id="9" name="Shape 6">
            <a:extLst>
              <a:ext uri="{FF2B5EF4-FFF2-40B4-BE49-F238E27FC236}">
                <a16:creationId xmlns:a16="http://schemas.microsoft.com/office/drawing/2014/main" id="{87CD80C7-3D57-4723-83F7-F7ABE16F6111}"/>
              </a:ext>
            </a:extLst>
          </p:cNvPr>
          <p:cNvSpPr>
            <a:spLocks noGrp="1"/>
          </p:cNvSpPr>
          <p:nvPr/>
        </p:nvSpPr>
        <p:spPr>
          <a:xfrm>
            <a:off x="969264" y="2084832"/>
            <a:ext cx="3611880" cy="566928"/>
          </a:xfrm>
          <a:prstGeom prst="roundRect">
            <a:avLst/>
          </a:prstGeom>
          <a:solidFill>
            <a:srgbClr val="5B7CFF">
              <a:alpha val="16000"/>
            </a:srgbClr>
          </a:solidFill>
          <a:ln w="12700">
            <a:solidFill>
              <a:srgbClr val="5B7CFF">
                <a:alpha val="50000"/>
              </a:srgbClr>
            </a:solidFill>
            <a:prstDash val="solid"/>
          </a:ln>
        </p:spPr>
        <p:txBody>
          <a:bodyPr/>
          <a:lstStyle/>
          <a:p>
            <a:endParaRPr/>
          </a:p>
        </p:txBody>
      </p:sp>
      <p:sp>
        <p:nvSpPr>
          <p:cNvPr id="10" name="Text 7">
            <a:extLst>
              <a:ext uri="{FF2B5EF4-FFF2-40B4-BE49-F238E27FC236}">
                <a16:creationId xmlns:a16="http://schemas.microsoft.com/office/drawing/2014/main" id="{E80FECB9-609F-4817-AD0F-4C74D3146F1C}"/>
              </a:ext>
            </a:extLst>
          </p:cNvPr>
          <p:cNvSpPr>
            <a:spLocks noGrp="1"/>
          </p:cNvSpPr>
          <p:nvPr/>
        </p:nvSpPr>
        <p:spPr>
          <a:xfrm>
            <a:off x="1133856" y="2194560"/>
            <a:ext cx="3282696" cy="365760"/>
          </a:xfrm>
          <a:prstGeom prst="rect">
            <a:avLst/>
          </a:prstGeom>
          <a:noFill/>
        </p:spPr>
        <p:txBody>
          <a:bodyPr wrap="square" lIns="0" tIns="0" rIns="0" bIns="0" anchor="ctr"/>
          <a:lstStyle/>
          <a:p>
            <a:pPr marL="0" indent="0">
              <a:buNone/>
            </a:pPr>
            <a:r>
              <a:rPr sz="1210">
                <a:solidFill>
                  <a:srgbClr val="EAF0F8"/>
                </a:solidFill>
                <a:latin typeface="Inter"/>
                <a:ea typeface="Inter"/>
                <a:cs typeface="Inter"/>
              </a:rPr>
              <a:t>Can we add enterprise SSO?</a:t>
            </a:r>
            <a:endParaRPr sz="1210"/>
          </a:p>
        </p:txBody>
      </p:sp>
      <p:sp>
        <p:nvSpPr>
          <p:cNvPr id="11" name="Text 8">
            <a:extLst>
              <a:ext uri="{FF2B5EF4-FFF2-40B4-BE49-F238E27FC236}">
                <a16:creationId xmlns:a16="http://schemas.microsoft.com/office/drawing/2014/main" id="{A5F0135A-0817-4770-A5FA-D6198F62EFF3}"/>
              </a:ext>
            </a:extLst>
          </p:cNvPr>
          <p:cNvSpPr>
            <a:spLocks noGrp="1"/>
          </p:cNvSpPr>
          <p:nvPr/>
        </p:nvSpPr>
        <p:spPr>
          <a:xfrm>
            <a:off x="4782312" y="2633472"/>
            <a:ext cx="1005840" cy="164592"/>
          </a:xfrm>
          <a:prstGeom prst="rect">
            <a:avLst/>
          </a:prstGeom>
          <a:noFill/>
        </p:spPr>
        <p:txBody>
          <a:bodyPr wrap="square" lIns="0" tIns="0" rIns="0" bIns="0" anchor="ctr"/>
          <a:lstStyle/>
          <a:p>
            <a:pPr marL="0" indent="0" algn="r">
              <a:buNone/>
            </a:pPr>
            <a:r>
              <a:rPr sz="830" b="1">
                <a:solidFill>
                  <a:srgbClr val="3BE0B5"/>
                </a:solidFill>
                <a:latin typeface="Inter"/>
                <a:ea typeface="Inter"/>
                <a:cs typeface="Inter"/>
              </a:rPr>
              <a:t>Engineer</a:t>
            </a:r>
            <a:endParaRPr sz="830"/>
          </a:p>
        </p:txBody>
      </p:sp>
      <p:sp>
        <p:nvSpPr>
          <p:cNvPr id="12" name="Shape 9">
            <a:extLst>
              <a:ext uri="{FF2B5EF4-FFF2-40B4-BE49-F238E27FC236}">
                <a16:creationId xmlns:a16="http://schemas.microsoft.com/office/drawing/2014/main" id="{B2E3E98B-A8E2-423E-BC19-1B141DAD7BC8}"/>
              </a:ext>
            </a:extLst>
          </p:cNvPr>
          <p:cNvSpPr>
            <a:spLocks noGrp="1"/>
          </p:cNvSpPr>
          <p:nvPr/>
        </p:nvSpPr>
        <p:spPr>
          <a:xfrm>
            <a:off x="1965960" y="2862072"/>
            <a:ext cx="3822192" cy="566928"/>
          </a:xfrm>
          <a:prstGeom prst="roundRect">
            <a:avLst/>
          </a:prstGeom>
          <a:solidFill>
            <a:srgbClr val="3BE0B5">
              <a:alpha val="16000"/>
            </a:srgbClr>
          </a:solidFill>
          <a:ln w="12700">
            <a:solidFill>
              <a:srgbClr val="3BE0B5">
                <a:alpha val="50000"/>
              </a:srgbClr>
            </a:solidFill>
            <a:prstDash val="solid"/>
          </a:ln>
        </p:spPr>
        <p:txBody>
          <a:bodyPr/>
          <a:lstStyle/>
          <a:p>
            <a:endParaRPr/>
          </a:p>
        </p:txBody>
      </p:sp>
      <p:sp>
        <p:nvSpPr>
          <p:cNvPr id="13" name="Text 10">
            <a:extLst>
              <a:ext uri="{FF2B5EF4-FFF2-40B4-BE49-F238E27FC236}">
                <a16:creationId xmlns:a16="http://schemas.microsoft.com/office/drawing/2014/main" id="{64795974-C9B1-488C-A4D2-538FCADE507E}"/>
              </a:ext>
            </a:extLst>
          </p:cNvPr>
          <p:cNvSpPr>
            <a:spLocks noGrp="1"/>
          </p:cNvSpPr>
          <p:nvPr/>
        </p:nvSpPr>
        <p:spPr>
          <a:xfrm>
            <a:off x="2130552" y="2971800"/>
            <a:ext cx="3493008" cy="365760"/>
          </a:xfrm>
          <a:prstGeom prst="rect">
            <a:avLst/>
          </a:prstGeom>
          <a:noFill/>
        </p:spPr>
        <p:txBody>
          <a:bodyPr wrap="square" lIns="0" tIns="0" rIns="0" bIns="0" anchor="ctr"/>
          <a:lstStyle/>
          <a:p>
            <a:pPr marL="0" indent="0">
              <a:buNone/>
            </a:pPr>
            <a:r>
              <a:rPr sz="1210">
                <a:solidFill>
                  <a:srgbClr val="EAF0F8"/>
                </a:solidFill>
                <a:latin typeface="Inter"/>
                <a:ea typeface="Inter"/>
                <a:cs typeface="Inter"/>
              </a:rPr>
              <a:t>Sure. That should be manageable.</a:t>
            </a:r>
            <a:endParaRPr sz="1210"/>
          </a:p>
        </p:txBody>
      </p:sp>
      <p:sp>
        <p:nvSpPr>
          <p:cNvPr id="14" name="Text 11">
            <a:extLst>
              <a:ext uri="{FF2B5EF4-FFF2-40B4-BE49-F238E27FC236}">
                <a16:creationId xmlns:a16="http://schemas.microsoft.com/office/drawing/2014/main" id="{DCEDDF8F-4DA1-4713-A87F-DB6DE651AF9B}"/>
              </a:ext>
            </a:extLst>
          </p:cNvPr>
          <p:cNvSpPr>
            <a:spLocks noGrp="1"/>
          </p:cNvSpPr>
          <p:nvPr/>
        </p:nvSpPr>
        <p:spPr>
          <a:xfrm>
            <a:off x="969264" y="3456432"/>
            <a:ext cx="1005840" cy="164592"/>
          </a:xfrm>
          <a:prstGeom prst="rect">
            <a:avLst/>
          </a:prstGeom>
          <a:noFill/>
        </p:spPr>
        <p:txBody>
          <a:bodyPr wrap="square" lIns="0" tIns="0" rIns="0" bIns="0" anchor="ctr"/>
          <a:lstStyle/>
          <a:p>
            <a:pPr marL="0" indent="0" algn="l">
              <a:buNone/>
            </a:pPr>
            <a:r>
              <a:rPr sz="830" b="1">
                <a:solidFill>
                  <a:srgbClr val="F7B955"/>
                </a:solidFill>
                <a:latin typeface="Inter"/>
                <a:ea typeface="Inter"/>
                <a:cs typeface="Inter"/>
              </a:rPr>
              <a:t>Security</a:t>
            </a:r>
            <a:endParaRPr sz="830"/>
          </a:p>
        </p:txBody>
      </p:sp>
      <p:sp>
        <p:nvSpPr>
          <p:cNvPr id="15" name="Shape 12">
            <a:extLst>
              <a:ext uri="{FF2B5EF4-FFF2-40B4-BE49-F238E27FC236}">
                <a16:creationId xmlns:a16="http://schemas.microsoft.com/office/drawing/2014/main" id="{6A42995F-E1E5-4085-80FD-BC6F07FDC255}"/>
              </a:ext>
            </a:extLst>
          </p:cNvPr>
          <p:cNvSpPr>
            <a:spLocks noGrp="1"/>
          </p:cNvSpPr>
          <p:nvPr/>
        </p:nvSpPr>
        <p:spPr>
          <a:xfrm>
            <a:off x="969264" y="3685032"/>
            <a:ext cx="4645152" cy="859536"/>
          </a:xfrm>
          <a:prstGeom prst="roundRect">
            <a:avLst/>
          </a:prstGeom>
          <a:solidFill>
            <a:srgbClr val="F7B955">
              <a:alpha val="16000"/>
            </a:srgbClr>
          </a:solidFill>
          <a:ln w="12700">
            <a:solidFill>
              <a:srgbClr val="F7B955">
                <a:alpha val="50000"/>
              </a:srgbClr>
            </a:solidFill>
            <a:prstDash val="solid"/>
          </a:ln>
        </p:spPr>
        <p:txBody>
          <a:bodyPr/>
          <a:lstStyle/>
          <a:p>
            <a:endParaRPr/>
          </a:p>
        </p:txBody>
      </p:sp>
      <p:sp>
        <p:nvSpPr>
          <p:cNvPr id="16" name="Text 13">
            <a:extLst>
              <a:ext uri="{FF2B5EF4-FFF2-40B4-BE49-F238E27FC236}">
                <a16:creationId xmlns:a16="http://schemas.microsoft.com/office/drawing/2014/main" id="{531A7246-6B42-48DF-9288-47B4E587BB6C}"/>
              </a:ext>
            </a:extLst>
          </p:cNvPr>
          <p:cNvSpPr>
            <a:spLocks noGrp="1"/>
          </p:cNvSpPr>
          <p:nvPr/>
        </p:nvSpPr>
        <p:spPr>
          <a:xfrm>
            <a:off x="1133856" y="3794760"/>
            <a:ext cx="4315968" cy="658368"/>
          </a:xfrm>
          <a:prstGeom prst="rect">
            <a:avLst/>
          </a:prstGeom>
          <a:noFill/>
        </p:spPr>
        <p:txBody>
          <a:bodyPr wrap="square" lIns="0" tIns="0" rIns="0" bIns="0" anchor="ctr"/>
          <a:lstStyle/>
          <a:p>
            <a:pPr marL="0" indent="0">
              <a:buNone/>
            </a:pPr>
            <a:r>
              <a:rPr sz="1050">
                <a:solidFill>
                  <a:srgbClr val="EAF0F8"/>
                </a:solidFill>
                <a:latin typeface="Inter"/>
                <a:ea typeface="Inter"/>
                <a:cs typeface="Inter"/>
              </a:rPr>
              <a:t>Great. Also delegated identity, user + non-user personas, entitlements, token exchange, audit, tenant isolation, offboarding…</a:t>
            </a:r>
            <a:endParaRPr sz="1050"/>
          </a:p>
        </p:txBody>
      </p:sp>
      <p:sp>
        <p:nvSpPr>
          <p:cNvPr id="17" name="Text 14">
            <a:extLst>
              <a:ext uri="{FF2B5EF4-FFF2-40B4-BE49-F238E27FC236}">
                <a16:creationId xmlns:a16="http://schemas.microsoft.com/office/drawing/2014/main" id="{18985573-1C83-4071-B880-3C42F1F19709}"/>
              </a:ext>
            </a:extLst>
          </p:cNvPr>
          <p:cNvSpPr>
            <a:spLocks noGrp="1"/>
          </p:cNvSpPr>
          <p:nvPr/>
        </p:nvSpPr>
        <p:spPr>
          <a:xfrm>
            <a:off x="4645152" y="4636008"/>
            <a:ext cx="1005840" cy="164592"/>
          </a:xfrm>
          <a:prstGeom prst="rect">
            <a:avLst/>
          </a:prstGeom>
          <a:noFill/>
        </p:spPr>
        <p:txBody>
          <a:bodyPr wrap="square" lIns="0" tIns="0" rIns="0" bIns="0" anchor="ctr"/>
          <a:lstStyle/>
          <a:p>
            <a:pPr marL="0" indent="0" algn="r">
              <a:buNone/>
            </a:pPr>
            <a:r>
              <a:rPr sz="830" b="1">
                <a:solidFill>
                  <a:srgbClr val="FF647C"/>
                </a:solidFill>
                <a:latin typeface="Inter"/>
                <a:ea typeface="Inter"/>
                <a:cs typeface="Inter"/>
              </a:rPr>
              <a:t>Engineer</a:t>
            </a:r>
            <a:endParaRPr sz="830"/>
          </a:p>
        </p:txBody>
      </p:sp>
      <p:sp>
        <p:nvSpPr>
          <p:cNvPr id="18" name="Shape 15">
            <a:extLst>
              <a:ext uri="{FF2B5EF4-FFF2-40B4-BE49-F238E27FC236}">
                <a16:creationId xmlns:a16="http://schemas.microsoft.com/office/drawing/2014/main" id="{57ABF722-2BE3-4126-A89E-7C809053D459}"/>
              </a:ext>
            </a:extLst>
          </p:cNvPr>
          <p:cNvSpPr>
            <a:spLocks noGrp="1"/>
          </p:cNvSpPr>
          <p:nvPr/>
        </p:nvSpPr>
        <p:spPr>
          <a:xfrm>
            <a:off x="2340864" y="4864608"/>
            <a:ext cx="3310128" cy="566928"/>
          </a:xfrm>
          <a:prstGeom prst="roundRect">
            <a:avLst/>
          </a:prstGeom>
          <a:solidFill>
            <a:srgbClr val="FF647C">
              <a:alpha val="16000"/>
            </a:srgbClr>
          </a:solidFill>
          <a:ln w="12700">
            <a:solidFill>
              <a:srgbClr val="FF647C">
                <a:alpha val="50000"/>
              </a:srgbClr>
            </a:solidFill>
            <a:prstDash val="solid"/>
          </a:ln>
        </p:spPr>
        <p:txBody>
          <a:bodyPr/>
          <a:lstStyle/>
          <a:p>
            <a:endParaRPr/>
          </a:p>
        </p:txBody>
      </p:sp>
      <p:sp>
        <p:nvSpPr>
          <p:cNvPr id="19" name="Text 16">
            <a:extLst>
              <a:ext uri="{FF2B5EF4-FFF2-40B4-BE49-F238E27FC236}">
                <a16:creationId xmlns:a16="http://schemas.microsoft.com/office/drawing/2014/main" id="{05F1C601-5584-4C9D-8EF4-17A81A23BB34}"/>
              </a:ext>
            </a:extLst>
          </p:cNvPr>
          <p:cNvSpPr>
            <a:spLocks noGrp="1"/>
          </p:cNvSpPr>
          <p:nvPr/>
        </p:nvSpPr>
        <p:spPr>
          <a:xfrm>
            <a:off x="2505456" y="4974336"/>
            <a:ext cx="2980944" cy="365760"/>
          </a:xfrm>
          <a:prstGeom prst="rect">
            <a:avLst/>
          </a:prstGeom>
          <a:noFill/>
        </p:spPr>
        <p:txBody>
          <a:bodyPr wrap="square" lIns="0" tIns="0" rIns="0" bIns="0" anchor="ctr"/>
          <a:lstStyle/>
          <a:p>
            <a:pPr marL="0" indent="0">
              <a:buNone/>
            </a:pPr>
            <a:r>
              <a:rPr sz="1210" b="1">
                <a:solidFill>
                  <a:srgbClr val="EAF0F8"/>
                </a:solidFill>
                <a:latin typeface="Inter"/>
                <a:ea typeface="Inter"/>
                <a:cs typeface="Inter"/>
              </a:rPr>
              <a:t>This might take longer.</a:t>
            </a:r>
            <a:endParaRPr sz="1210"/>
          </a:p>
        </p:txBody>
      </p:sp>
      <p:sp>
        <p:nvSpPr>
          <p:cNvPr id="20" name="Shape 17">
            <a:extLst>
              <a:ext uri="{FF2B5EF4-FFF2-40B4-BE49-F238E27FC236}">
                <a16:creationId xmlns:a16="http://schemas.microsoft.com/office/drawing/2014/main" id="{0D5B2820-B15A-46B9-BE9E-9A54EA0C10ED}"/>
              </a:ext>
            </a:extLst>
          </p:cNvPr>
          <p:cNvSpPr>
            <a:spLocks noGrp="1"/>
          </p:cNvSpPr>
          <p:nvPr/>
        </p:nvSpPr>
        <p:spPr>
          <a:xfrm>
            <a:off x="6601968" y="1298448"/>
            <a:ext cx="5010912" cy="4462272"/>
          </a:xfrm>
          <a:prstGeom prst="roundRect">
            <a:avLst>
              <a:gd name="adj" fmla="val 1639"/>
            </a:avLst>
          </a:prstGeom>
          <a:solidFill>
            <a:srgbClr val="0D192B"/>
          </a:solidFill>
          <a:ln w="12700">
            <a:solidFill>
              <a:srgbClr val="A879FF"/>
            </a:solidFill>
            <a:prstDash val="solid"/>
          </a:ln>
          <a:effectLst>
            <a:outerShdw algn="bl" rotWithShape="0">
              <a:srgbClr val="000000">
                <a:alpha val="0"/>
              </a:srgbClr>
            </a:outerShdw>
          </a:effectLst>
        </p:spPr>
        <p:txBody>
          <a:bodyPr/>
          <a:lstStyle/>
          <a:p>
            <a:endParaRPr/>
          </a:p>
        </p:txBody>
      </p:sp>
      <p:sp>
        <p:nvSpPr>
          <p:cNvPr id="21" name="Text 18">
            <a:extLst>
              <a:ext uri="{FF2B5EF4-FFF2-40B4-BE49-F238E27FC236}">
                <a16:creationId xmlns:a16="http://schemas.microsoft.com/office/drawing/2014/main" id="{E91E848E-E820-436B-9B72-C8B79D83EB2F}"/>
              </a:ext>
            </a:extLst>
          </p:cNvPr>
          <p:cNvSpPr>
            <a:spLocks noGrp="1"/>
          </p:cNvSpPr>
          <p:nvPr/>
        </p:nvSpPr>
        <p:spPr>
          <a:xfrm>
            <a:off x="6922008" y="1609344"/>
            <a:ext cx="3154680" cy="237744"/>
          </a:xfrm>
          <a:prstGeom prst="rect">
            <a:avLst/>
          </a:prstGeom>
          <a:noFill/>
        </p:spPr>
        <p:txBody>
          <a:bodyPr wrap="square" lIns="0" tIns="0" rIns="0" bIns="0" anchor="ctr"/>
          <a:lstStyle/>
          <a:p>
            <a:pPr marL="0" indent="0">
              <a:buNone/>
            </a:pPr>
            <a:r>
              <a:rPr sz="1000" b="1" spc="110">
                <a:solidFill>
                  <a:srgbClr val="A879FF"/>
                </a:solidFill>
                <a:latin typeface="Inter"/>
                <a:ea typeface="Inter"/>
                <a:cs typeface="Inter"/>
              </a:rPr>
              <a:t>TARGET: ENTERPRISE MCP GATEWAY</a:t>
            </a:r>
            <a:endParaRPr sz="1000"/>
          </a:p>
        </p:txBody>
      </p:sp>
      <p:sp>
        <p:nvSpPr>
          <p:cNvPr id="22" name="Shape 19">
            <a:extLst>
              <a:ext uri="{FF2B5EF4-FFF2-40B4-BE49-F238E27FC236}">
                <a16:creationId xmlns:a16="http://schemas.microsoft.com/office/drawing/2014/main" id="{A984D278-1959-4C04-85ED-4B0F57D81DA8}"/>
              </a:ext>
            </a:extLst>
          </p:cNvPr>
          <p:cNvSpPr>
            <a:spLocks noGrp="1"/>
          </p:cNvSpPr>
          <p:nvPr/>
        </p:nvSpPr>
        <p:spPr>
          <a:xfrm>
            <a:off x="6976872" y="2039112"/>
            <a:ext cx="1353312" cy="822960"/>
          </a:xfrm>
          <a:prstGeom prst="roundRect">
            <a:avLst>
              <a:gd name="adj" fmla="val 8889"/>
            </a:avLst>
          </a:prstGeom>
          <a:solidFill>
            <a:srgbClr val="0E1B2E"/>
          </a:solidFill>
          <a:ln w="12700">
            <a:solidFill>
              <a:srgbClr val="5B7CFF"/>
            </a:solidFill>
            <a:prstDash val="solid"/>
          </a:ln>
        </p:spPr>
        <p:txBody>
          <a:bodyPr/>
          <a:lstStyle/>
          <a:p>
            <a:endParaRPr/>
          </a:p>
        </p:txBody>
      </p:sp>
      <p:sp>
        <p:nvSpPr>
          <p:cNvPr id="23" name="Shape 20">
            <a:extLst>
              <a:ext uri="{FF2B5EF4-FFF2-40B4-BE49-F238E27FC236}">
                <a16:creationId xmlns:a16="http://schemas.microsoft.com/office/drawing/2014/main" id="{4E2E7F94-F472-4D37-8B94-A4C1387B6189}"/>
              </a:ext>
            </a:extLst>
          </p:cNvPr>
          <p:cNvSpPr>
            <a:spLocks noGrp="1"/>
          </p:cNvSpPr>
          <p:nvPr/>
        </p:nvSpPr>
        <p:spPr>
          <a:xfrm>
            <a:off x="7114032" y="2185416"/>
            <a:ext cx="384048" cy="384048"/>
          </a:xfrm>
          <a:prstGeom prst="ellipse">
            <a:avLst/>
          </a:prstGeom>
          <a:solidFill>
            <a:srgbClr val="5B7CFF">
              <a:alpha val="18000"/>
            </a:srgbClr>
          </a:solidFill>
          <a:ln w="12700">
            <a:solidFill>
              <a:srgbClr val="5B7CFF">
                <a:alpha val="0"/>
              </a:srgbClr>
            </a:solidFill>
            <a:prstDash val="solid"/>
          </a:ln>
        </p:spPr>
        <p:txBody>
          <a:bodyPr/>
          <a:lstStyle/>
          <a:p>
            <a:endParaRPr/>
          </a:p>
        </p:txBody>
      </p:sp>
      <p:pic>
        <p:nvPicPr>
          <p:cNvPr id="86"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05472" y="2296973"/>
            <a:ext cx="201168" cy="160934"/>
          </a:xfrm>
          <a:prstGeom prst="rect">
            <a:avLst/>
          </a:prstGeom>
        </p:spPr>
      </p:pic>
      <p:sp>
        <p:nvSpPr>
          <p:cNvPr id="25" name="Text 21">
            <a:extLst>
              <a:ext uri="{FF2B5EF4-FFF2-40B4-BE49-F238E27FC236}">
                <a16:creationId xmlns:a16="http://schemas.microsoft.com/office/drawing/2014/main" id="{A3B25258-698D-4187-9571-7A7B04328CCE}"/>
              </a:ext>
            </a:extLst>
          </p:cNvPr>
          <p:cNvSpPr>
            <a:spLocks noGrp="1"/>
          </p:cNvSpPr>
          <p:nvPr/>
        </p:nvSpPr>
        <p:spPr>
          <a:xfrm>
            <a:off x="7598664" y="2203704"/>
            <a:ext cx="594360" cy="219456"/>
          </a:xfrm>
          <a:prstGeom prst="rect">
            <a:avLst/>
          </a:prstGeom>
          <a:noFill/>
        </p:spPr>
        <p:txBody>
          <a:bodyPr wrap="square" lIns="0" tIns="0" rIns="0" bIns="0" anchor="ctr">
            <a:normAutofit/>
          </a:bodyPr>
          <a:lstStyle/>
          <a:p>
            <a:pPr marL="0" indent="0">
              <a:buNone/>
            </a:pPr>
            <a:r>
              <a:rPr sz="1200" b="1">
                <a:solidFill>
                  <a:srgbClr val="F7FAFF"/>
                </a:solidFill>
                <a:latin typeface="Inter"/>
                <a:ea typeface="Inter"/>
                <a:cs typeface="Inter"/>
              </a:rPr>
              <a:t>Client</a:t>
            </a:r>
            <a:endParaRPr sz="1200"/>
          </a:p>
        </p:txBody>
      </p:sp>
      <p:sp>
        <p:nvSpPr>
          <p:cNvPr id="26" name="Shape 22">
            <a:extLst>
              <a:ext uri="{FF2B5EF4-FFF2-40B4-BE49-F238E27FC236}">
                <a16:creationId xmlns:a16="http://schemas.microsoft.com/office/drawing/2014/main" id="{ABFF7D34-689D-40DA-96BB-9FAA9F8E9AE0}"/>
              </a:ext>
            </a:extLst>
          </p:cNvPr>
          <p:cNvSpPr>
            <a:spLocks noGrp="1"/>
          </p:cNvSpPr>
          <p:nvPr/>
        </p:nvSpPr>
        <p:spPr>
          <a:xfrm>
            <a:off x="8339328" y="2441448"/>
            <a:ext cx="283464" cy="0"/>
          </a:xfrm>
          <a:prstGeom prst="line">
            <a:avLst/>
          </a:prstGeom>
          <a:noFill/>
          <a:ln w="12700">
            <a:solidFill>
              <a:srgbClr val="72839A"/>
            </a:solidFill>
            <a:prstDash val="solid"/>
            <a:headEnd type="none"/>
            <a:tailEnd type="triangle"/>
          </a:ln>
        </p:spPr>
        <p:txBody>
          <a:bodyPr/>
          <a:lstStyle/>
          <a:p>
            <a:endParaRPr/>
          </a:p>
        </p:txBody>
      </p:sp>
      <p:sp>
        <p:nvSpPr>
          <p:cNvPr id="27" name="Shape 23">
            <a:extLst>
              <a:ext uri="{FF2B5EF4-FFF2-40B4-BE49-F238E27FC236}">
                <a16:creationId xmlns:a16="http://schemas.microsoft.com/office/drawing/2014/main" id="{52D5F4A6-0000-48FB-9EE0-55117EECC218}"/>
              </a:ext>
            </a:extLst>
          </p:cNvPr>
          <p:cNvSpPr>
            <a:spLocks noGrp="1"/>
          </p:cNvSpPr>
          <p:nvPr/>
        </p:nvSpPr>
        <p:spPr>
          <a:xfrm>
            <a:off x="8668512" y="1901952"/>
            <a:ext cx="1984248" cy="1124712"/>
          </a:xfrm>
          <a:prstGeom prst="roundRect">
            <a:avLst>
              <a:gd name="adj" fmla="val 6504"/>
            </a:avLst>
          </a:prstGeom>
          <a:solidFill>
            <a:srgbClr val="16213A"/>
          </a:solidFill>
          <a:ln w="12700">
            <a:solidFill>
              <a:srgbClr val="A879FF"/>
            </a:solidFill>
            <a:prstDash val="solid"/>
          </a:ln>
        </p:spPr>
        <p:txBody>
          <a:bodyPr/>
          <a:lstStyle/>
          <a:p>
            <a:endParaRPr/>
          </a:p>
        </p:txBody>
      </p:sp>
      <p:pic>
        <p:nvPicPr>
          <p:cNvPr id="90"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42248" y="2167128"/>
            <a:ext cx="310896" cy="310896"/>
          </a:xfrm>
          <a:prstGeom prst="rect">
            <a:avLst/>
          </a:prstGeom>
        </p:spPr>
      </p:pic>
      <p:sp>
        <p:nvSpPr>
          <p:cNvPr id="29" name="Text 24">
            <a:extLst>
              <a:ext uri="{FF2B5EF4-FFF2-40B4-BE49-F238E27FC236}">
                <a16:creationId xmlns:a16="http://schemas.microsoft.com/office/drawing/2014/main" id="{E77EC616-F0A2-4077-BD02-BC87AC5B82DD}"/>
              </a:ext>
            </a:extLst>
          </p:cNvPr>
          <p:cNvSpPr>
            <a:spLocks noGrp="1"/>
          </p:cNvSpPr>
          <p:nvPr/>
        </p:nvSpPr>
        <p:spPr>
          <a:xfrm>
            <a:off x="9253728" y="2048256"/>
            <a:ext cx="1143000" cy="228600"/>
          </a:xfrm>
          <a:prstGeom prst="rect">
            <a:avLst/>
          </a:prstGeom>
          <a:noFill/>
        </p:spPr>
        <p:txBody>
          <a:bodyPr wrap="square" lIns="0" tIns="0" rIns="0" bIns="0" anchor="ctr"/>
          <a:lstStyle/>
          <a:p>
            <a:pPr marL="0" indent="0">
              <a:buNone/>
            </a:pPr>
            <a:r>
              <a:rPr sz="1250" b="1">
                <a:solidFill>
                  <a:srgbClr val="F7FAFF"/>
                </a:solidFill>
                <a:latin typeface="Inter"/>
                <a:ea typeface="Inter"/>
                <a:cs typeface="Inter"/>
              </a:rPr>
              <a:t>GATEWAY</a:t>
            </a:r>
            <a:endParaRPr sz="1250"/>
          </a:p>
        </p:txBody>
      </p:sp>
      <p:sp>
        <p:nvSpPr>
          <p:cNvPr id="30" name="Text 25">
            <a:extLst>
              <a:ext uri="{FF2B5EF4-FFF2-40B4-BE49-F238E27FC236}">
                <a16:creationId xmlns:a16="http://schemas.microsoft.com/office/drawing/2014/main" id="{44A02A76-481D-4684-9B44-386A76DF910B}"/>
              </a:ext>
            </a:extLst>
          </p:cNvPr>
          <p:cNvSpPr>
            <a:spLocks noGrp="1"/>
          </p:cNvSpPr>
          <p:nvPr/>
        </p:nvSpPr>
        <p:spPr>
          <a:xfrm>
            <a:off x="9253728" y="2368296"/>
            <a:ext cx="1143000" cy="256032"/>
          </a:xfrm>
          <a:prstGeom prst="rect">
            <a:avLst/>
          </a:prstGeom>
          <a:noFill/>
        </p:spPr>
        <p:txBody>
          <a:bodyPr wrap="square" lIns="0" tIns="0" rIns="0" bIns="0" anchor="ctr"/>
          <a:lstStyle/>
          <a:p>
            <a:pPr marL="0" indent="0">
              <a:buNone/>
            </a:pPr>
            <a:r>
              <a:rPr sz="870">
                <a:solidFill>
                  <a:srgbClr val="A7B5C8"/>
                </a:solidFill>
                <a:latin typeface="Inter"/>
                <a:ea typeface="Inter"/>
                <a:cs typeface="Inter"/>
              </a:rPr>
              <a:t>identity · policy · audit</a:t>
            </a:r>
            <a:endParaRPr sz="870"/>
          </a:p>
        </p:txBody>
      </p:sp>
      <p:sp>
        <p:nvSpPr>
          <p:cNvPr id="31" name="Shape 26">
            <a:extLst>
              <a:ext uri="{FF2B5EF4-FFF2-40B4-BE49-F238E27FC236}">
                <a16:creationId xmlns:a16="http://schemas.microsoft.com/office/drawing/2014/main" id="{7C26A11F-1621-4173-A617-7C2EC7DAA835}"/>
              </a:ext>
            </a:extLst>
          </p:cNvPr>
          <p:cNvSpPr>
            <a:spLocks noGrp="1"/>
          </p:cNvSpPr>
          <p:nvPr/>
        </p:nvSpPr>
        <p:spPr>
          <a:xfrm>
            <a:off x="10661904" y="2441448"/>
            <a:ext cx="384048" cy="0"/>
          </a:xfrm>
          <a:prstGeom prst="line">
            <a:avLst/>
          </a:prstGeom>
          <a:noFill/>
          <a:ln w="12700">
            <a:solidFill>
              <a:srgbClr val="72839A"/>
            </a:solidFill>
            <a:prstDash val="solid"/>
            <a:headEnd type="none"/>
            <a:tailEnd type="triangle"/>
          </a:ln>
        </p:spPr>
        <p:txBody>
          <a:bodyPr/>
          <a:lstStyle/>
          <a:p>
            <a:endParaRPr/>
          </a:p>
        </p:txBody>
      </p:sp>
      <p:sp>
        <p:nvSpPr>
          <p:cNvPr id="32" name="Shape 27">
            <a:extLst>
              <a:ext uri="{FF2B5EF4-FFF2-40B4-BE49-F238E27FC236}">
                <a16:creationId xmlns:a16="http://schemas.microsoft.com/office/drawing/2014/main" id="{1BAFE618-D04E-4305-B823-0E41D23B075F}"/>
              </a:ext>
            </a:extLst>
          </p:cNvPr>
          <p:cNvSpPr>
            <a:spLocks noGrp="1"/>
          </p:cNvSpPr>
          <p:nvPr/>
        </p:nvSpPr>
        <p:spPr>
          <a:xfrm>
            <a:off x="11045951" y="2039112"/>
            <a:ext cx="457193" cy="822960"/>
          </a:xfrm>
          <a:prstGeom prst="roundRect">
            <a:avLst>
              <a:gd name="adj" fmla="val 19048"/>
            </a:avLst>
          </a:prstGeom>
          <a:solidFill>
            <a:srgbClr val="0E1B2E"/>
          </a:solidFill>
          <a:ln w="12700">
            <a:solidFill>
              <a:srgbClr val="3BE0B5"/>
            </a:solidFill>
            <a:prstDash val="solid"/>
          </a:ln>
        </p:spPr>
        <p:txBody>
          <a:bodyPr/>
          <a:lstStyle/>
          <a:p>
            <a:endParaRPr/>
          </a:p>
        </p:txBody>
      </p:sp>
      <p:sp>
        <p:nvSpPr>
          <p:cNvPr id="33" name="Shape 28">
            <a:extLst>
              <a:ext uri="{FF2B5EF4-FFF2-40B4-BE49-F238E27FC236}">
                <a16:creationId xmlns:a16="http://schemas.microsoft.com/office/drawing/2014/main" id="{6200C8D5-93E7-47AF-AC5F-F0E93BA9CAF4}"/>
              </a:ext>
            </a:extLst>
          </p:cNvPr>
          <p:cNvSpPr>
            <a:spLocks noGrp="1"/>
          </p:cNvSpPr>
          <p:nvPr/>
        </p:nvSpPr>
        <p:spPr>
          <a:xfrm>
            <a:off x="11119104" y="2185416"/>
            <a:ext cx="347472" cy="347472"/>
          </a:xfrm>
          <a:prstGeom prst="ellipse">
            <a:avLst/>
          </a:prstGeom>
          <a:solidFill>
            <a:srgbClr val="3BE0B5">
              <a:alpha val="18000"/>
            </a:srgbClr>
          </a:solidFill>
          <a:ln w="12700">
            <a:solidFill>
              <a:srgbClr val="3BE0B5">
                <a:alpha val="0"/>
              </a:srgbClr>
            </a:solidFill>
            <a:prstDash val="solid"/>
          </a:ln>
        </p:spPr>
        <p:txBody>
          <a:bodyPr/>
          <a:lstStyle/>
          <a:p>
            <a:endParaRPr/>
          </a:p>
        </p:txBody>
      </p:sp>
      <p:pic>
        <p:nvPicPr>
          <p:cNvPr id="96" name="Image 3"/>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201400" y="2267712"/>
            <a:ext cx="182880" cy="182880"/>
          </a:xfrm>
          <a:prstGeom prst="rect">
            <a:avLst/>
          </a:prstGeom>
        </p:spPr>
      </p:pic>
      <p:sp>
        <p:nvSpPr>
          <p:cNvPr id="35" name="Text 29">
            <a:extLst>
              <a:ext uri="{FF2B5EF4-FFF2-40B4-BE49-F238E27FC236}">
                <a16:creationId xmlns:a16="http://schemas.microsoft.com/office/drawing/2014/main" id="{29A233ED-C85A-4C73-8368-16B17692F78E}"/>
              </a:ext>
            </a:extLst>
          </p:cNvPr>
          <p:cNvSpPr>
            <a:spLocks noGrp="1"/>
          </p:cNvSpPr>
          <p:nvPr/>
        </p:nvSpPr>
        <p:spPr>
          <a:xfrm>
            <a:off x="11503152" y="2203704"/>
            <a:ext cx="0" cy="219456"/>
          </a:xfrm>
          <a:prstGeom prst="rect">
            <a:avLst/>
          </a:prstGeom>
          <a:noFill/>
        </p:spPr>
        <p:txBody>
          <a:bodyPr wrap="square" lIns="0" tIns="0" rIns="0" bIns="0" anchor="ctr">
            <a:normAutofit/>
          </a:bodyPr>
          <a:lstStyle/>
          <a:p>
            <a:pPr marL="0" indent="0">
              <a:buNone/>
            </a:pPr>
            <a:endParaRPr sz="1020"/>
          </a:p>
        </p:txBody>
      </p:sp>
      <p:pic>
        <p:nvPicPr>
          <p:cNvPr id="98" name="Image 4"/>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03720" y="3429000"/>
            <a:ext cx="256032" cy="256032"/>
          </a:xfrm>
          <a:prstGeom prst="rect">
            <a:avLst/>
          </a:prstGeom>
        </p:spPr>
      </p:pic>
      <p:sp>
        <p:nvSpPr>
          <p:cNvPr id="37" name="Text 30">
            <a:extLst>
              <a:ext uri="{FF2B5EF4-FFF2-40B4-BE49-F238E27FC236}">
                <a16:creationId xmlns:a16="http://schemas.microsoft.com/office/drawing/2014/main" id="{F78FE42F-7512-40D9-8355-827E67532AE9}"/>
              </a:ext>
            </a:extLst>
          </p:cNvPr>
          <p:cNvSpPr>
            <a:spLocks noGrp="1"/>
          </p:cNvSpPr>
          <p:nvPr/>
        </p:nvSpPr>
        <p:spPr>
          <a:xfrm>
            <a:off x="7260336" y="3419856"/>
            <a:ext cx="1444752" cy="256032"/>
          </a:xfrm>
          <a:prstGeom prst="rect">
            <a:avLst/>
          </a:prstGeom>
          <a:noFill/>
        </p:spPr>
        <p:txBody>
          <a:bodyPr wrap="square" lIns="0" tIns="0" rIns="0" bIns="0" anchor="ctr"/>
          <a:lstStyle/>
          <a:p>
            <a:pPr marL="0" indent="0">
              <a:buNone/>
            </a:pPr>
            <a:r>
              <a:rPr sz="1020" b="1">
                <a:solidFill>
                  <a:srgbClr val="EAF0F8"/>
                </a:solidFill>
                <a:latin typeface="Inter"/>
                <a:ea typeface="Inter"/>
                <a:cs typeface="Inter"/>
              </a:rPr>
              <a:t>Authenticate once</a:t>
            </a:r>
            <a:endParaRPr sz="1020"/>
          </a:p>
        </p:txBody>
      </p:sp>
      <p:pic>
        <p:nvPicPr>
          <p:cNvPr id="100" name="Image 5"/>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897112" y="3429000"/>
            <a:ext cx="256032" cy="256032"/>
          </a:xfrm>
          <a:prstGeom prst="rect">
            <a:avLst/>
          </a:prstGeom>
        </p:spPr>
      </p:pic>
      <p:sp>
        <p:nvSpPr>
          <p:cNvPr id="39" name="Text 31">
            <a:extLst>
              <a:ext uri="{FF2B5EF4-FFF2-40B4-BE49-F238E27FC236}">
                <a16:creationId xmlns:a16="http://schemas.microsoft.com/office/drawing/2014/main" id="{9C43CDD4-6A85-49B6-A4A5-72AF97AA8E6C}"/>
              </a:ext>
            </a:extLst>
          </p:cNvPr>
          <p:cNvSpPr>
            <a:spLocks noGrp="1"/>
          </p:cNvSpPr>
          <p:nvPr/>
        </p:nvSpPr>
        <p:spPr>
          <a:xfrm>
            <a:off x="9253728" y="3419856"/>
            <a:ext cx="1444752" cy="256032"/>
          </a:xfrm>
          <a:prstGeom prst="rect">
            <a:avLst/>
          </a:prstGeom>
          <a:noFill/>
        </p:spPr>
        <p:txBody>
          <a:bodyPr wrap="square" lIns="0" tIns="0" rIns="0" bIns="0" anchor="ctr"/>
          <a:lstStyle/>
          <a:p>
            <a:pPr marL="0" indent="0">
              <a:buNone/>
            </a:pPr>
            <a:r>
              <a:rPr sz="1020" b="1">
                <a:solidFill>
                  <a:srgbClr val="EAF0F8"/>
                </a:solidFill>
                <a:latin typeface="Inter"/>
                <a:ea typeface="Inter"/>
                <a:cs typeface="Inter"/>
              </a:rPr>
              <a:t>Delegate identity</a:t>
            </a:r>
            <a:endParaRPr sz="1020"/>
          </a:p>
        </p:txBody>
      </p:sp>
      <p:pic>
        <p:nvPicPr>
          <p:cNvPr id="102" name="Image 6"/>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03720" y="4041648"/>
            <a:ext cx="256032" cy="256032"/>
          </a:xfrm>
          <a:prstGeom prst="rect">
            <a:avLst/>
          </a:prstGeom>
        </p:spPr>
      </p:pic>
      <p:sp>
        <p:nvSpPr>
          <p:cNvPr id="41" name="Text 32">
            <a:extLst>
              <a:ext uri="{FF2B5EF4-FFF2-40B4-BE49-F238E27FC236}">
                <a16:creationId xmlns:a16="http://schemas.microsoft.com/office/drawing/2014/main" id="{98D3CED2-DF37-4760-97C1-23081F7D52AA}"/>
              </a:ext>
            </a:extLst>
          </p:cNvPr>
          <p:cNvSpPr>
            <a:spLocks noGrp="1"/>
          </p:cNvSpPr>
          <p:nvPr/>
        </p:nvSpPr>
        <p:spPr>
          <a:xfrm>
            <a:off x="7260336" y="4032504"/>
            <a:ext cx="1444752" cy="256032"/>
          </a:xfrm>
          <a:prstGeom prst="rect">
            <a:avLst/>
          </a:prstGeom>
          <a:noFill/>
        </p:spPr>
        <p:txBody>
          <a:bodyPr wrap="square" lIns="0" tIns="0" rIns="0" bIns="0" anchor="ctr"/>
          <a:lstStyle/>
          <a:p>
            <a:pPr marL="0" indent="0">
              <a:buNone/>
            </a:pPr>
            <a:r>
              <a:rPr sz="1020" b="1">
                <a:solidFill>
                  <a:srgbClr val="EAF0F8"/>
                </a:solidFill>
                <a:latin typeface="Inter"/>
                <a:ea typeface="Inter"/>
                <a:cs typeface="Inter"/>
              </a:rPr>
              <a:t>Enforce policy</a:t>
            </a:r>
            <a:endParaRPr sz="1020"/>
          </a:p>
        </p:txBody>
      </p:sp>
      <p:pic>
        <p:nvPicPr>
          <p:cNvPr id="104" name="Image 7"/>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897112" y="4055872"/>
            <a:ext cx="256032" cy="227584"/>
          </a:xfrm>
          <a:prstGeom prst="rect">
            <a:avLst/>
          </a:prstGeom>
        </p:spPr>
      </p:pic>
      <p:sp>
        <p:nvSpPr>
          <p:cNvPr id="43" name="Text 33">
            <a:extLst>
              <a:ext uri="{FF2B5EF4-FFF2-40B4-BE49-F238E27FC236}">
                <a16:creationId xmlns:a16="http://schemas.microsoft.com/office/drawing/2014/main" id="{00FFAC1F-452E-4693-80A0-F5DC5E79D208}"/>
              </a:ext>
            </a:extLst>
          </p:cNvPr>
          <p:cNvSpPr>
            <a:spLocks noGrp="1"/>
          </p:cNvSpPr>
          <p:nvPr/>
        </p:nvSpPr>
        <p:spPr>
          <a:xfrm>
            <a:off x="9253728" y="4032504"/>
            <a:ext cx="1444752" cy="256032"/>
          </a:xfrm>
          <a:prstGeom prst="rect">
            <a:avLst/>
          </a:prstGeom>
          <a:noFill/>
        </p:spPr>
        <p:txBody>
          <a:bodyPr wrap="square" lIns="0" tIns="0" rIns="0" bIns="0" anchor="ctr"/>
          <a:lstStyle/>
          <a:p>
            <a:pPr marL="0" indent="0">
              <a:buNone/>
            </a:pPr>
            <a:r>
              <a:rPr sz="1020" b="1">
                <a:solidFill>
                  <a:srgbClr val="EAF0F8"/>
                </a:solidFill>
                <a:latin typeface="Inter"/>
                <a:ea typeface="Inter"/>
                <a:cs typeface="Inter"/>
              </a:rPr>
              <a:t>Unify telemetry</a:t>
            </a:r>
            <a:endParaRPr sz="1020"/>
          </a:p>
        </p:txBody>
      </p:sp>
      <p:sp>
        <p:nvSpPr>
          <p:cNvPr id="44" name="Shape 34">
            <a:extLst>
              <a:ext uri="{FF2B5EF4-FFF2-40B4-BE49-F238E27FC236}">
                <a16:creationId xmlns:a16="http://schemas.microsoft.com/office/drawing/2014/main" id="{9139D486-10AD-4E86-921E-F6A267A6ABA1}"/>
              </a:ext>
            </a:extLst>
          </p:cNvPr>
          <p:cNvSpPr>
            <a:spLocks noGrp="1"/>
          </p:cNvSpPr>
          <p:nvPr/>
        </p:nvSpPr>
        <p:spPr>
          <a:xfrm>
            <a:off x="6903720" y="4718304"/>
            <a:ext cx="3273552" cy="310896"/>
          </a:xfrm>
          <a:prstGeom prst="roundRect">
            <a:avLst>
              <a:gd name="adj" fmla="val 23529"/>
            </a:avLst>
          </a:prstGeom>
          <a:solidFill>
            <a:srgbClr val="A879FF">
              <a:alpha val="13000"/>
            </a:srgbClr>
          </a:solidFill>
          <a:ln w="12700">
            <a:solidFill>
              <a:srgbClr val="A879FF">
                <a:alpha val="35000"/>
              </a:srgbClr>
            </a:solidFill>
            <a:prstDash val="solid"/>
          </a:ln>
        </p:spPr>
        <p:txBody>
          <a:bodyPr/>
          <a:lstStyle/>
          <a:p>
            <a:endParaRPr/>
          </a:p>
        </p:txBody>
      </p:sp>
      <p:sp>
        <p:nvSpPr>
          <p:cNvPr id="45" name="Text 35">
            <a:extLst>
              <a:ext uri="{FF2B5EF4-FFF2-40B4-BE49-F238E27FC236}">
                <a16:creationId xmlns:a16="http://schemas.microsoft.com/office/drawing/2014/main" id="{87CA8C91-E981-487E-BEB6-A349CEDD879C}"/>
              </a:ext>
            </a:extLst>
          </p:cNvPr>
          <p:cNvSpPr>
            <a:spLocks noGrp="1"/>
          </p:cNvSpPr>
          <p:nvPr/>
        </p:nvSpPr>
        <p:spPr>
          <a:xfrm>
            <a:off x="6976872" y="4727448"/>
            <a:ext cx="3127248" cy="292608"/>
          </a:xfrm>
          <a:prstGeom prst="rect">
            <a:avLst/>
          </a:prstGeom>
          <a:noFill/>
        </p:spPr>
        <p:txBody>
          <a:bodyPr wrap="square" lIns="0" tIns="0" rIns="0" bIns="0" anchor="ctr"/>
          <a:lstStyle/>
          <a:p>
            <a:pPr marL="0" indent="0" algn="ctr">
              <a:buNone/>
            </a:pPr>
            <a:r>
              <a:rPr sz="860" b="1">
                <a:solidFill>
                  <a:srgbClr val="D9C9FF"/>
                </a:solidFill>
                <a:latin typeface="Inter"/>
                <a:ea typeface="Inter"/>
                <a:cs typeface="Inter"/>
              </a:rPr>
              <a:t>arXiv:2608.10760 · production pattern</a:t>
            </a:r>
            <a:endParaRPr sz="860"/>
          </a:p>
        </p:txBody>
      </p:sp>
      <p:pic>
        <p:nvPicPr>
          <p:cNvPr id="108" name="Image 8"/>
          <p:cNvPicPr>
            <a:picLocks noChangeAspect="1"/>
          </p:cNvPicPr>
          <p:nvPr/>
        </p:nvPicPr>
        <p:blipFill>
          <a:blip r:embed="rId11"/>
          <a:stretch>
            <a:fillRect/>
          </a:stretch>
        </p:blipFill>
        <p:spPr>
          <a:xfrm>
            <a:off x="10497312" y="4224528"/>
            <a:ext cx="749808" cy="749808"/>
          </a:xfrm>
          <a:prstGeom prst="rect">
            <a:avLst/>
          </a:prstGeom>
        </p:spPr>
      </p:pic>
      <p:sp>
        <p:nvSpPr>
          <p:cNvPr id="47" name="Text 36">
            <a:extLst>
              <a:ext uri="{FF2B5EF4-FFF2-40B4-BE49-F238E27FC236}">
                <a16:creationId xmlns:a16="http://schemas.microsoft.com/office/drawing/2014/main" id="{A184D280-8F25-4143-8F3B-A9893E1A9337}"/>
              </a:ext>
            </a:extLst>
          </p:cNvPr>
          <p:cNvSpPr>
            <a:spLocks noGrp="1"/>
          </p:cNvSpPr>
          <p:nvPr/>
        </p:nvSpPr>
        <p:spPr>
          <a:xfrm>
            <a:off x="10268712" y="5010912"/>
            <a:ext cx="1188720" cy="182880"/>
          </a:xfrm>
          <a:prstGeom prst="rect">
            <a:avLst/>
          </a:prstGeom>
          <a:noFill/>
        </p:spPr>
        <p:txBody>
          <a:bodyPr wrap="square" lIns="0" tIns="0" rIns="0" bIns="0" anchor="ctr"/>
          <a:lstStyle/>
          <a:p>
            <a:pPr marL="0" indent="0" algn="ctr">
              <a:buNone/>
            </a:pPr>
            <a:r>
              <a:rPr sz="750" b="1">
                <a:solidFill>
                  <a:srgbClr val="A7B5C8"/>
                </a:solidFill>
                <a:latin typeface="Inter"/>
                <a:ea typeface="Inter"/>
                <a:cs typeface="Inter"/>
              </a:rPr>
              <a:t>OWASP MCP TOP 10</a:t>
            </a:r>
            <a:endParaRPr sz="750"/>
          </a:p>
        </p:txBody>
      </p:sp>
      <p:sp>
        <p:nvSpPr>
          <p:cNvPr id="48" name="Shape 37">
            <a:extLst>
              <a:ext uri="{FF2B5EF4-FFF2-40B4-BE49-F238E27FC236}">
                <a16:creationId xmlns:a16="http://schemas.microsoft.com/office/drawing/2014/main" id="{3FABCF59-888D-4085-9362-2B77F751E0D8}"/>
              </a:ext>
            </a:extLst>
          </p:cNvPr>
          <p:cNvSpPr>
            <a:spLocks noGrp="1"/>
          </p:cNvSpPr>
          <p:nvPr/>
        </p:nvSpPr>
        <p:spPr>
          <a:xfrm>
            <a:off x="6903720" y="5175504"/>
            <a:ext cx="3493008" cy="347472"/>
          </a:xfrm>
          <a:prstGeom prst="roundRect">
            <a:avLst>
              <a:gd name="adj" fmla="val 21053"/>
            </a:avLst>
          </a:prstGeom>
          <a:solidFill>
            <a:srgbClr val="35D4E7">
              <a:alpha val="14000"/>
            </a:srgbClr>
          </a:solidFill>
          <a:ln w="12700">
            <a:solidFill>
              <a:srgbClr val="35D4E7">
                <a:alpha val="35000"/>
              </a:srgbClr>
            </a:solidFill>
            <a:prstDash val="solid"/>
          </a:ln>
        </p:spPr>
        <p:txBody>
          <a:bodyPr/>
          <a:lstStyle/>
          <a:p>
            <a:endParaRPr/>
          </a:p>
        </p:txBody>
      </p:sp>
      <p:sp>
        <p:nvSpPr>
          <p:cNvPr id="49" name="Text 38">
            <a:extLst>
              <a:ext uri="{FF2B5EF4-FFF2-40B4-BE49-F238E27FC236}">
                <a16:creationId xmlns:a16="http://schemas.microsoft.com/office/drawing/2014/main" id="{F1E7127F-E82F-48B4-AF15-4434FC1B88A3}"/>
              </a:ext>
            </a:extLst>
          </p:cNvPr>
          <p:cNvSpPr>
            <a:spLocks noGrp="1"/>
          </p:cNvSpPr>
          <p:nvPr/>
        </p:nvSpPr>
        <p:spPr>
          <a:xfrm>
            <a:off x="6976872" y="5184648"/>
            <a:ext cx="3346704" cy="329184"/>
          </a:xfrm>
          <a:prstGeom prst="rect">
            <a:avLst/>
          </a:prstGeom>
          <a:noFill/>
        </p:spPr>
        <p:txBody>
          <a:bodyPr wrap="square" lIns="0" tIns="0" rIns="0" bIns="0" anchor="ctr"/>
          <a:lstStyle/>
          <a:p>
            <a:pPr marL="0" indent="0" algn="ctr">
              <a:buNone/>
            </a:pPr>
            <a:r>
              <a:rPr sz="900" b="1">
                <a:solidFill>
                  <a:srgbClr val="35D4E7"/>
                </a:solidFill>
                <a:latin typeface="Inter"/>
                <a:ea typeface="Inter"/>
                <a:cs typeface="Inter"/>
              </a:rPr>
              <a:t>IMPLEMENTED: STATELESS HTTP</a:t>
            </a:r>
            <a:endParaRPr sz="900"/>
          </a:p>
        </p:txBody>
      </p:sp>
      <p:sp>
        <p:nvSpPr>
          <p:cNvPr id="50" name="Text 39">
            <a:extLst>
              <a:ext uri="{FF2B5EF4-FFF2-40B4-BE49-F238E27FC236}">
                <a16:creationId xmlns:a16="http://schemas.microsoft.com/office/drawing/2014/main" id="{F4DB8B88-33F1-4556-A1DF-D887905AF1E2}"/>
              </a:ext>
            </a:extLst>
          </p:cNvPr>
          <p:cNvSpPr>
            <a:spLocks noGrp="1"/>
          </p:cNvSpPr>
          <p:nvPr/>
        </p:nvSpPr>
        <p:spPr>
          <a:xfrm>
            <a:off x="6903720" y="5501640"/>
            <a:ext cx="4315968" cy="219456"/>
          </a:xfrm>
          <a:prstGeom prst="rect">
            <a:avLst/>
          </a:prstGeom>
          <a:noFill/>
        </p:spPr>
        <p:txBody>
          <a:bodyPr wrap="square" lIns="0" tIns="0" rIns="0" bIns="0" anchor="ctr"/>
          <a:lstStyle/>
          <a:p>
            <a:pPr marL="0" indent="0">
              <a:buNone/>
            </a:pPr>
            <a:r>
              <a:rPr sz="920">
                <a:solidFill>
                  <a:srgbClr val="A7B5C8"/>
                </a:solidFill>
                <a:latin typeface="Inter"/>
                <a:ea typeface="Inter"/>
                <a:cs typeface="Inter"/>
              </a:rPr>
              <a:t>Stateless requests scale cleanly; session context remains optional.</a:t>
            </a:r>
            <a:endParaRPr sz="920"/>
          </a:p>
        </p:txBody>
      </p:sp>
      <p:sp>
        <p:nvSpPr>
          <p:cNvPr id="51" name="Shape 40">
            <a:extLst>
              <a:ext uri="{FF2B5EF4-FFF2-40B4-BE49-F238E27FC236}">
                <a16:creationId xmlns:a16="http://schemas.microsoft.com/office/drawing/2014/main" id="{5A4439EC-7A62-40C6-AF18-4BAA1736BB8B}"/>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52" name="Text 41">
            <a:extLst>
              <a:ext uri="{FF2B5EF4-FFF2-40B4-BE49-F238E27FC236}">
                <a16:creationId xmlns:a16="http://schemas.microsoft.com/office/drawing/2014/main" id="{C4FD2D8F-9A9A-43ED-AA11-254C90E734ED}"/>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ACT II · ENTERPRISE</a:t>
            </a:r>
            <a:endParaRPr sz="850"/>
          </a:p>
        </p:txBody>
      </p:sp>
      <p:sp>
        <p:nvSpPr>
          <p:cNvPr id="53" name="Text 42">
            <a:extLst>
              <a:ext uri="{FF2B5EF4-FFF2-40B4-BE49-F238E27FC236}">
                <a16:creationId xmlns:a16="http://schemas.microsoft.com/office/drawing/2014/main" id="{696A7ECD-F893-4204-BA29-2053D513BE25}"/>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54" name="Text 43">
            <a:extLst>
              <a:ext uri="{FF2B5EF4-FFF2-40B4-BE49-F238E27FC236}">
                <a16:creationId xmlns:a16="http://schemas.microsoft.com/office/drawing/2014/main" id="{53EB597D-EA76-421C-9806-1C97AB6CF710}"/>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08</a:t>
            </a:r>
            <a:endParaRPr sz="850"/>
          </a:p>
        </p:txBody>
      </p:sp>
    </p:spTree>
    <p:extLst>
      <p:ext uri="{BB962C8B-B14F-4D97-AF65-F5344CB8AC3E}">
        <p14:creationId xmlns:p14="http://schemas.microsoft.com/office/powerpoint/2010/main" val="2070515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4"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9AC1FDDB-5EDD-412C-8717-2744EF374E2D}"/>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FROM PLAUSIBLE TO REPEATABLE</a:t>
            </a:r>
            <a:endParaRPr sz="950"/>
          </a:p>
        </p:txBody>
      </p:sp>
      <p:sp>
        <p:nvSpPr>
          <p:cNvPr id="4" name="Text 1">
            <a:extLst>
              <a:ext uri="{FF2B5EF4-FFF2-40B4-BE49-F238E27FC236}">
                <a16:creationId xmlns:a16="http://schemas.microsoft.com/office/drawing/2014/main" id="{5BDAC1CB-35CC-4EFE-BBC9-EE6C7CCAFEBD}"/>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550" b="1">
                <a:solidFill>
                  <a:srgbClr val="F7FAFF"/>
                </a:solidFill>
                <a:latin typeface="Inter"/>
                <a:ea typeface="Inter"/>
                <a:cs typeface="Inter"/>
              </a:rPr>
              <a:t>Accuracy starts with routing and ends with evidence</a:t>
            </a:r>
            <a:endParaRPr sz="2550"/>
          </a:p>
        </p:txBody>
      </p:sp>
      <p:sp>
        <p:nvSpPr>
          <p:cNvPr id="5" name="Shape 2">
            <a:extLst>
              <a:ext uri="{FF2B5EF4-FFF2-40B4-BE49-F238E27FC236}">
                <a16:creationId xmlns:a16="http://schemas.microsoft.com/office/drawing/2014/main" id="{6111F7DD-1E90-4E91-91ED-F393E81DCEDC}"/>
              </a:ext>
            </a:extLst>
          </p:cNvPr>
          <p:cNvSpPr>
            <a:spLocks noGrp="1"/>
          </p:cNvSpPr>
          <p:nvPr/>
        </p:nvSpPr>
        <p:spPr>
          <a:xfrm>
            <a:off x="621792" y="1371600"/>
            <a:ext cx="3447288" cy="1143000"/>
          </a:xfrm>
          <a:prstGeom prst="roundRect">
            <a:avLst>
              <a:gd name="adj" fmla="val 6400"/>
            </a:avLst>
          </a:prstGeom>
          <a:solidFill>
            <a:srgbClr val="0E1B2E"/>
          </a:solidFill>
          <a:ln w="12700">
            <a:solidFill>
              <a:srgbClr val="63E69C"/>
            </a:solidFill>
            <a:prstDash val="solid"/>
          </a:ln>
        </p:spPr>
        <p:txBody>
          <a:bodyPr/>
          <a:lstStyle/>
          <a:p>
            <a:endParaRPr/>
          </a:p>
        </p:txBody>
      </p:sp>
      <p:sp>
        <p:nvSpPr>
          <p:cNvPr id="6" name="Shape 3">
            <a:extLst>
              <a:ext uri="{FF2B5EF4-FFF2-40B4-BE49-F238E27FC236}">
                <a16:creationId xmlns:a16="http://schemas.microsoft.com/office/drawing/2014/main" id="{59C08F7F-D132-4A75-AAB1-7B9A1F7F5E61}"/>
              </a:ext>
            </a:extLst>
          </p:cNvPr>
          <p:cNvSpPr>
            <a:spLocks noGrp="1"/>
          </p:cNvSpPr>
          <p:nvPr/>
        </p:nvSpPr>
        <p:spPr>
          <a:xfrm>
            <a:off x="795528" y="1545336"/>
            <a:ext cx="384048" cy="384048"/>
          </a:xfrm>
          <a:prstGeom prst="ellipse">
            <a:avLst/>
          </a:prstGeom>
          <a:solidFill>
            <a:srgbClr val="63E69C">
              <a:alpha val="20000"/>
            </a:srgbClr>
          </a:solidFill>
          <a:ln w="12700">
            <a:solidFill>
              <a:srgbClr val="63E69C">
                <a:alpha val="0"/>
              </a:srgbClr>
            </a:solidFill>
            <a:prstDash val="solid"/>
          </a:ln>
        </p:spPr>
        <p:txBody>
          <a:bodyPr/>
          <a:lstStyle/>
          <a:p>
            <a:endParaRPr/>
          </a:p>
        </p:txBody>
      </p:sp>
      <p:sp>
        <p:nvSpPr>
          <p:cNvPr id="7" name="Text 4">
            <a:extLst>
              <a:ext uri="{FF2B5EF4-FFF2-40B4-BE49-F238E27FC236}">
                <a16:creationId xmlns:a16="http://schemas.microsoft.com/office/drawing/2014/main" id="{DC110805-5250-4913-A1C7-47526757F582}"/>
              </a:ext>
            </a:extLst>
          </p:cNvPr>
          <p:cNvSpPr>
            <a:spLocks noGrp="1"/>
          </p:cNvSpPr>
          <p:nvPr/>
        </p:nvSpPr>
        <p:spPr>
          <a:xfrm>
            <a:off x="795528" y="1609344"/>
            <a:ext cx="384048" cy="182880"/>
          </a:xfrm>
          <a:prstGeom prst="rect">
            <a:avLst/>
          </a:prstGeom>
          <a:noFill/>
        </p:spPr>
        <p:txBody>
          <a:bodyPr wrap="square" lIns="0" tIns="0" rIns="0" bIns="0" anchor="ctr"/>
          <a:lstStyle/>
          <a:p>
            <a:pPr marL="0" indent="0" algn="ctr">
              <a:buNone/>
            </a:pPr>
            <a:r>
              <a:rPr sz="1000" b="1">
                <a:solidFill>
                  <a:srgbClr val="63E69C"/>
                </a:solidFill>
                <a:latin typeface="Inter"/>
                <a:ea typeface="Inter"/>
                <a:cs typeface="Inter"/>
              </a:rPr>
              <a:t>1</a:t>
            </a:r>
            <a:endParaRPr sz="1000"/>
          </a:p>
        </p:txBody>
      </p:sp>
      <p:pic>
        <p:nvPicPr>
          <p:cNvPr id="80"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89304" y="1545336"/>
            <a:ext cx="310896" cy="310896"/>
          </a:xfrm>
          <a:prstGeom prst="rect">
            <a:avLst/>
          </a:prstGeom>
        </p:spPr>
      </p:pic>
      <p:sp>
        <p:nvSpPr>
          <p:cNvPr id="9" name="Text 5">
            <a:extLst>
              <a:ext uri="{FF2B5EF4-FFF2-40B4-BE49-F238E27FC236}">
                <a16:creationId xmlns:a16="http://schemas.microsoft.com/office/drawing/2014/main" id="{FE106075-1CE5-450B-9DB4-1024DB29B873}"/>
              </a:ext>
            </a:extLst>
          </p:cNvPr>
          <p:cNvSpPr>
            <a:spLocks noGrp="1"/>
          </p:cNvSpPr>
          <p:nvPr/>
        </p:nvSpPr>
        <p:spPr>
          <a:xfrm>
            <a:off x="1709928" y="1517904"/>
            <a:ext cx="2121408" cy="265176"/>
          </a:xfrm>
          <a:prstGeom prst="rect">
            <a:avLst/>
          </a:prstGeom>
          <a:noFill/>
        </p:spPr>
        <p:txBody>
          <a:bodyPr wrap="square" lIns="0" tIns="0" rIns="0" bIns="0" anchor="ctr"/>
          <a:lstStyle/>
          <a:p>
            <a:pPr marL="0" indent="0">
              <a:buNone/>
            </a:pPr>
            <a:r>
              <a:rPr sz="1310" b="1">
                <a:solidFill>
                  <a:srgbClr val="F7FAFF"/>
                </a:solidFill>
                <a:latin typeface="Inter"/>
                <a:ea typeface="Inter"/>
                <a:cs typeface="Inter"/>
              </a:rPr>
              <a:t>Preserve the prompt</a:t>
            </a:r>
            <a:endParaRPr sz="1310"/>
          </a:p>
        </p:txBody>
      </p:sp>
      <p:sp>
        <p:nvSpPr>
          <p:cNvPr id="10" name="Text 6">
            <a:extLst>
              <a:ext uri="{FF2B5EF4-FFF2-40B4-BE49-F238E27FC236}">
                <a16:creationId xmlns:a16="http://schemas.microsoft.com/office/drawing/2014/main" id="{02D97C73-6012-401C-88C2-422C1DB42277}"/>
              </a:ext>
            </a:extLst>
          </p:cNvPr>
          <p:cNvSpPr>
            <a:spLocks noGrp="1"/>
          </p:cNvSpPr>
          <p:nvPr/>
        </p:nvSpPr>
        <p:spPr>
          <a:xfrm>
            <a:off x="1709928" y="1865376"/>
            <a:ext cx="2103120" cy="411480"/>
          </a:xfrm>
          <a:prstGeom prst="rect">
            <a:avLst/>
          </a:prstGeom>
          <a:noFill/>
        </p:spPr>
        <p:txBody>
          <a:bodyPr wrap="square" lIns="0" tIns="0" rIns="0" bIns="0" anchor="ctr"/>
          <a:lstStyle/>
          <a:p>
            <a:pPr marL="0" indent="0">
              <a:buNone/>
            </a:pPr>
            <a:r>
              <a:rPr sz="940">
                <a:solidFill>
                  <a:srgbClr val="A7B5C8"/>
                </a:solidFill>
                <a:latin typeface="Inter"/>
                <a:ea typeface="Inter"/>
                <a:cs typeface="Inter"/>
              </a:rPr>
              <a:t>Keep the user’s original wording</a:t>
            </a:r>
            <a:endParaRPr sz="940"/>
          </a:p>
        </p:txBody>
      </p:sp>
      <p:sp>
        <p:nvSpPr>
          <p:cNvPr id="11" name="Shape 7">
            <a:extLst>
              <a:ext uri="{FF2B5EF4-FFF2-40B4-BE49-F238E27FC236}">
                <a16:creationId xmlns:a16="http://schemas.microsoft.com/office/drawing/2014/main" id="{124C401C-CB95-4688-9388-43CAF1AA526B}"/>
              </a:ext>
            </a:extLst>
          </p:cNvPr>
          <p:cNvSpPr>
            <a:spLocks noGrp="1"/>
          </p:cNvSpPr>
          <p:nvPr/>
        </p:nvSpPr>
        <p:spPr>
          <a:xfrm>
            <a:off x="4443984" y="1371600"/>
            <a:ext cx="3447288" cy="1143000"/>
          </a:xfrm>
          <a:prstGeom prst="roundRect">
            <a:avLst>
              <a:gd name="adj" fmla="val 6400"/>
            </a:avLst>
          </a:prstGeom>
          <a:solidFill>
            <a:srgbClr val="0E1B2E"/>
          </a:solidFill>
          <a:ln w="12700">
            <a:solidFill>
              <a:srgbClr val="F7B955"/>
            </a:solidFill>
            <a:prstDash val="solid"/>
          </a:ln>
        </p:spPr>
        <p:txBody>
          <a:bodyPr/>
          <a:lstStyle/>
          <a:p>
            <a:endParaRPr/>
          </a:p>
        </p:txBody>
      </p:sp>
      <p:sp>
        <p:nvSpPr>
          <p:cNvPr id="12" name="Shape 8">
            <a:extLst>
              <a:ext uri="{FF2B5EF4-FFF2-40B4-BE49-F238E27FC236}">
                <a16:creationId xmlns:a16="http://schemas.microsoft.com/office/drawing/2014/main" id="{AAD61570-4FB5-4552-8AD1-E587A5F8616F}"/>
              </a:ext>
            </a:extLst>
          </p:cNvPr>
          <p:cNvSpPr>
            <a:spLocks noGrp="1"/>
          </p:cNvSpPr>
          <p:nvPr/>
        </p:nvSpPr>
        <p:spPr>
          <a:xfrm>
            <a:off x="4617720" y="1545336"/>
            <a:ext cx="384048" cy="384048"/>
          </a:xfrm>
          <a:prstGeom prst="ellipse">
            <a:avLst/>
          </a:prstGeom>
          <a:solidFill>
            <a:srgbClr val="F7B955">
              <a:alpha val="20000"/>
            </a:srgbClr>
          </a:solidFill>
          <a:ln w="12700">
            <a:solidFill>
              <a:srgbClr val="F7B955">
                <a:alpha val="0"/>
              </a:srgbClr>
            </a:solidFill>
            <a:prstDash val="solid"/>
          </a:ln>
        </p:spPr>
        <p:txBody>
          <a:bodyPr/>
          <a:lstStyle/>
          <a:p>
            <a:endParaRPr/>
          </a:p>
        </p:txBody>
      </p:sp>
      <p:sp>
        <p:nvSpPr>
          <p:cNvPr id="13" name="Text 9">
            <a:extLst>
              <a:ext uri="{FF2B5EF4-FFF2-40B4-BE49-F238E27FC236}">
                <a16:creationId xmlns:a16="http://schemas.microsoft.com/office/drawing/2014/main" id="{0CF6F5E4-7F42-4B98-85AA-913F54DB7E2F}"/>
              </a:ext>
            </a:extLst>
          </p:cNvPr>
          <p:cNvSpPr>
            <a:spLocks noGrp="1"/>
          </p:cNvSpPr>
          <p:nvPr/>
        </p:nvSpPr>
        <p:spPr>
          <a:xfrm>
            <a:off x="4617720" y="1609344"/>
            <a:ext cx="384048" cy="182880"/>
          </a:xfrm>
          <a:prstGeom prst="rect">
            <a:avLst/>
          </a:prstGeom>
          <a:noFill/>
        </p:spPr>
        <p:txBody>
          <a:bodyPr wrap="square" lIns="0" tIns="0" rIns="0" bIns="0" anchor="ctr"/>
          <a:lstStyle/>
          <a:p>
            <a:pPr marL="0" indent="0" algn="ctr">
              <a:buNone/>
            </a:pPr>
            <a:r>
              <a:rPr sz="1000" b="1">
                <a:solidFill>
                  <a:srgbClr val="F7B955"/>
                </a:solidFill>
                <a:latin typeface="Inter"/>
                <a:ea typeface="Inter"/>
                <a:cs typeface="Inter"/>
              </a:rPr>
              <a:t>2</a:t>
            </a:r>
            <a:endParaRPr sz="1000"/>
          </a:p>
        </p:txBody>
      </p:sp>
      <p:pic>
        <p:nvPicPr>
          <p:cNvPr id="86"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11496" y="1576426"/>
            <a:ext cx="310896" cy="248717"/>
          </a:xfrm>
          <a:prstGeom prst="rect">
            <a:avLst/>
          </a:prstGeom>
        </p:spPr>
      </p:pic>
      <p:sp>
        <p:nvSpPr>
          <p:cNvPr id="15" name="Text 10">
            <a:extLst>
              <a:ext uri="{FF2B5EF4-FFF2-40B4-BE49-F238E27FC236}">
                <a16:creationId xmlns:a16="http://schemas.microsoft.com/office/drawing/2014/main" id="{4341DF93-BC13-4EE2-AC2C-67610A26BD15}"/>
              </a:ext>
            </a:extLst>
          </p:cNvPr>
          <p:cNvSpPr>
            <a:spLocks noGrp="1"/>
          </p:cNvSpPr>
          <p:nvPr/>
        </p:nvSpPr>
        <p:spPr>
          <a:xfrm>
            <a:off x="5532120" y="1517904"/>
            <a:ext cx="2121408" cy="265176"/>
          </a:xfrm>
          <a:prstGeom prst="rect">
            <a:avLst/>
          </a:prstGeom>
          <a:noFill/>
        </p:spPr>
        <p:txBody>
          <a:bodyPr wrap="square" lIns="0" tIns="0" rIns="0" bIns="0" anchor="ctr"/>
          <a:lstStyle/>
          <a:p>
            <a:pPr marL="0" indent="0">
              <a:buNone/>
            </a:pPr>
            <a:r>
              <a:rPr sz="1310" b="1">
                <a:solidFill>
                  <a:srgbClr val="F7FAFF"/>
                </a:solidFill>
                <a:latin typeface="Inter"/>
                <a:ea typeface="Inter"/>
                <a:cs typeface="Inter"/>
              </a:rPr>
              <a:t>Explicit route</a:t>
            </a:r>
            <a:endParaRPr sz="1310"/>
          </a:p>
        </p:txBody>
      </p:sp>
      <p:sp>
        <p:nvSpPr>
          <p:cNvPr id="16" name="Text 11">
            <a:extLst>
              <a:ext uri="{FF2B5EF4-FFF2-40B4-BE49-F238E27FC236}">
                <a16:creationId xmlns:a16="http://schemas.microsoft.com/office/drawing/2014/main" id="{48AEFDB6-CA49-4990-BD5A-8334F247A1DD}"/>
              </a:ext>
            </a:extLst>
          </p:cNvPr>
          <p:cNvSpPr>
            <a:spLocks noGrp="1"/>
          </p:cNvSpPr>
          <p:nvPr/>
        </p:nvSpPr>
        <p:spPr>
          <a:xfrm>
            <a:off x="5532120" y="1865376"/>
            <a:ext cx="2103120" cy="411480"/>
          </a:xfrm>
          <a:prstGeom prst="rect">
            <a:avLst/>
          </a:prstGeom>
          <a:noFill/>
        </p:spPr>
        <p:txBody>
          <a:bodyPr wrap="square" lIns="0" tIns="0" rIns="0" bIns="0" anchor="ctr"/>
          <a:lstStyle/>
          <a:p>
            <a:pPr marL="0" indent="0">
              <a:buNone/>
            </a:pPr>
            <a:r>
              <a:rPr sz="940">
                <a:solidFill>
                  <a:srgbClr val="A7B5C8"/>
                </a:solidFill>
                <a:latin typeface="Inter"/>
                <a:ea typeface="Inter"/>
                <a:cs typeface="Inter"/>
              </a:rPr>
              <a:t>Return one required next step</a:t>
            </a:r>
            <a:endParaRPr sz="940"/>
          </a:p>
        </p:txBody>
      </p:sp>
      <p:sp>
        <p:nvSpPr>
          <p:cNvPr id="17" name="Shape 12">
            <a:extLst>
              <a:ext uri="{FF2B5EF4-FFF2-40B4-BE49-F238E27FC236}">
                <a16:creationId xmlns:a16="http://schemas.microsoft.com/office/drawing/2014/main" id="{820288B3-8906-457A-9936-3E4AC5CAC733}"/>
              </a:ext>
            </a:extLst>
          </p:cNvPr>
          <p:cNvSpPr>
            <a:spLocks noGrp="1"/>
          </p:cNvSpPr>
          <p:nvPr/>
        </p:nvSpPr>
        <p:spPr>
          <a:xfrm>
            <a:off x="8266176" y="1371600"/>
            <a:ext cx="3447288" cy="1143000"/>
          </a:xfrm>
          <a:prstGeom prst="roundRect">
            <a:avLst>
              <a:gd name="adj" fmla="val 6400"/>
            </a:avLst>
          </a:prstGeom>
          <a:solidFill>
            <a:srgbClr val="0E1B2E"/>
          </a:solidFill>
          <a:ln w="12700">
            <a:solidFill>
              <a:srgbClr val="35D4E7"/>
            </a:solidFill>
            <a:prstDash val="solid"/>
          </a:ln>
        </p:spPr>
        <p:txBody>
          <a:bodyPr/>
          <a:lstStyle/>
          <a:p>
            <a:endParaRPr/>
          </a:p>
        </p:txBody>
      </p:sp>
      <p:sp>
        <p:nvSpPr>
          <p:cNvPr id="18" name="Shape 13">
            <a:extLst>
              <a:ext uri="{FF2B5EF4-FFF2-40B4-BE49-F238E27FC236}">
                <a16:creationId xmlns:a16="http://schemas.microsoft.com/office/drawing/2014/main" id="{840C91C0-46E6-4ABD-A6ED-7F8DD89193D2}"/>
              </a:ext>
            </a:extLst>
          </p:cNvPr>
          <p:cNvSpPr>
            <a:spLocks noGrp="1"/>
          </p:cNvSpPr>
          <p:nvPr/>
        </p:nvSpPr>
        <p:spPr>
          <a:xfrm>
            <a:off x="8439912" y="1545336"/>
            <a:ext cx="384048" cy="384048"/>
          </a:xfrm>
          <a:prstGeom prst="ellipse">
            <a:avLst/>
          </a:prstGeom>
          <a:solidFill>
            <a:srgbClr val="35D4E7">
              <a:alpha val="20000"/>
            </a:srgbClr>
          </a:solidFill>
          <a:ln w="12700">
            <a:solidFill>
              <a:srgbClr val="35D4E7">
                <a:alpha val="0"/>
              </a:srgbClr>
            </a:solidFill>
            <a:prstDash val="solid"/>
          </a:ln>
        </p:spPr>
        <p:txBody>
          <a:bodyPr/>
          <a:lstStyle/>
          <a:p>
            <a:endParaRPr/>
          </a:p>
        </p:txBody>
      </p:sp>
      <p:sp>
        <p:nvSpPr>
          <p:cNvPr id="19" name="Text 14">
            <a:extLst>
              <a:ext uri="{FF2B5EF4-FFF2-40B4-BE49-F238E27FC236}">
                <a16:creationId xmlns:a16="http://schemas.microsoft.com/office/drawing/2014/main" id="{85A102A7-D2B0-4317-948A-EAC32078CC40}"/>
              </a:ext>
            </a:extLst>
          </p:cNvPr>
          <p:cNvSpPr>
            <a:spLocks noGrp="1"/>
          </p:cNvSpPr>
          <p:nvPr/>
        </p:nvSpPr>
        <p:spPr>
          <a:xfrm>
            <a:off x="8439912" y="1609344"/>
            <a:ext cx="384048" cy="182880"/>
          </a:xfrm>
          <a:prstGeom prst="rect">
            <a:avLst/>
          </a:prstGeom>
          <a:noFill/>
        </p:spPr>
        <p:txBody>
          <a:bodyPr wrap="square" lIns="0" tIns="0" rIns="0" bIns="0" anchor="ctr"/>
          <a:lstStyle/>
          <a:p>
            <a:pPr marL="0" indent="0" algn="ctr">
              <a:buNone/>
            </a:pPr>
            <a:r>
              <a:rPr sz="1000" b="1">
                <a:solidFill>
                  <a:srgbClr val="35D4E7"/>
                </a:solidFill>
                <a:latin typeface="Inter"/>
                <a:ea typeface="Inter"/>
                <a:cs typeface="Inter"/>
              </a:rPr>
              <a:t>3</a:t>
            </a:r>
            <a:endParaRPr sz="1000"/>
          </a:p>
        </p:txBody>
      </p:sp>
      <p:pic>
        <p:nvPicPr>
          <p:cNvPr id="92" name="Image 3"/>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33688" y="1545336"/>
            <a:ext cx="310896" cy="310896"/>
          </a:xfrm>
          <a:prstGeom prst="rect">
            <a:avLst/>
          </a:prstGeom>
        </p:spPr>
      </p:pic>
      <p:sp>
        <p:nvSpPr>
          <p:cNvPr id="21" name="Text 15">
            <a:extLst>
              <a:ext uri="{FF2B5EF4-FFF2-40B4-BE49-F238E27FC236}">
                <a16:creationId xmlns:a16="http://schemas.microsoft.com/office/drawing/2014/main" id="{19BD3036-3804-4C43-8724-3CE44CC6966F}"/>
              </a:ext>
            </a:extLst>
          </p:cNvPr>
          <p:cNvSpPr>
            <a:spLocks noGrp="1"/>
          </p:cNvSpPr>
          <p:nvPr/>
        </p:nvSpPr>
        <p:spPr>
          <a:xfrm>
            <a:off x="9354312" y="1517904"/>
            <a:ext cx="2121408" cy="265176"/>
          </a:xfrm>
          <a:prstGeom prst="rect">
            <a:avLst/>
          </a:prstGeom>
          <a:noFill/>
        </p:spPr>
        <p:txBody>
          <a:bodyPr wrap="square" lIns="0" tIns="0" rIns="0" bIns="0" anchor="ctr"/>
          <a:lstStyle/>
          <a:p>
            <a:pPr marL="0" indent="0">
              <a:buNone/>
            </a:pPr>
            <a:r>
              <a:rPr sz="1310" b="1">
                <a:solidFill>
                  <a:srgbClr val="F7FAFF"/>
                </a:solidFill>
                <a:latin typeface="Inter"/>
                <a:ea typeface="Inter"/>
                <a:cs typeface="Inter"/>
              </a:rPr>
              <a:t>Trusted template</a:t>
            </a:r>
            <a:endParaRPr sz="1310"/>
          </a:p>
        </p:txBody>
      </p:sp>
      <p:sp>
        <p:nvSpPr>
          <p:cNvPr id="22" name="Text 16">
            <a:extLst>
              <a:ext uri="{FF2B5EF4-FFF2-40B4-BE49-F238E27FC236}">
                <a16:creationId xmlns:a16="http://schemas.microsoft.com/office/drawing/2014/main" id="{79816EC1-29E1-402B-B3BB-53A6A3A53B96}"/>
              </a:ext>
            </a:extLst>
          </p:cNvPr>
          <p:cNvSpPr>
            <a:spLocks noGrp="1"/>
          </p:cNvSpPr>
          <p:nvPr/>
        </p:nvSpPr>
        <p:spPr>
          <a:xfrm>
            <a:off x="9354312" y="1865376"/>
            <a:ext cx="2103120" cy="411480"/>
          </a:xfrm>
          <a:prstGeom prst="rect">
            <a:avLst/>
          </a:prstGeom>
          <a:noFill/>
        </p:spPr>
        <p:txBody>
          <a:bodyPr wrap="square" lIns="0" tIns="0" rIns="0" bIns="0" anchor="ctr"/>
          <a:lstStyle/>
          <a:p>
            <a:pPr marL="0" indent="0">
              <a:buNone/>
            </a:pPr>
            <a:r>
              <a:rPr sz="940">
                <a:solidFill>
                  <a:srgbClr val="A7B5C8"/>
                </a:solidFill>
                <a:latin typeface="Inter"/>
                <a:ea typeface="Inter"/>
                <a:cs typeface="Inter"/>
              </a:rPr>
              <a:t>21 fixed patterns before discovery</a:t>
            </a:r>
            <a:endParaRPr sz="940"/>
          </a:p>
        </p:txBody>
      </p:sp>
      <p:sp>
        <p:nvSpPr>
          <p:cNvPr id="23" name="Shape 17">
            <a:extLst>
              <a:ext uri="{FF2B5EF4-FFF2-40B4-BE49-F238E27FC236}">
                <a16:creationId xmlns:a16="http://schemas.microsoft.com/office/drawing/2014/main" id="{BB715E0F-DEBA-4404-86B1-AD93BD6E4DB1}"/>
              </a:ext>
            </a:extLst>
          </p:cNvPr>
          <p:cNvSpPr>
            <a:spLocks noGrp="1"/>
          </p:cNvSpPr>
          <p:nvPr/>
        </p:nvSpPr>
        <p:spPr>
          <a:xfrm>
            <a:off x="621792" y="2852928"/>
            <a:ext cx="3447288" cy="1143000"/>
          </a:xfrm>
          <a:prstGeom prst="roundRect">
            <a:avLst>
              <a:gd name="adj" fmla="val 6400"/>
            </a:avLst>
          </a:prstGeom>
          <a:solidFill>
            <a:srgbClr val="0E1B2E"/>
          </a:solidFill>
          <a:ln w="12700">
            <a:solidFill>
              <a:srgbClr val="A879FF"/>
            </a:solidFill>
            <a:prstDash val="solid"/>
          </a:ln>
        </p:spPr>
        <p:txBody>
          <a:bodyPr/>
          <a:lstStyle/>
          <a:p>
            <a:endParaRPr/>
          </a:p>
        </p:txBody>
      </p:sp>
      <p:sp>
        <p:nvSpPr>
          <p:cNvPr id="24" name="Shape 18">
            <a:extLst>
              <a:ext uri="{FF2B5EF4-FFF2-40B4-BE49-F238E27FC236}">
                <a16:creationId xmlns:a16="http://schemas.microsoft.com/office/drawing/2014/main" id="{CEAF391A-E43B-4E64-A904-6DF597E82986}"/>
              </a:ext>
            </a:extLst>
          </p:cNvPr>
          <p:cNvSpPr>
            <a:spLocks noGrp="1"/>
          </p:cNvSpPr>
          <p:nvPr/>
        </p:nvSpPr>
        <p:spPr>
          <a:xfrm>
            <a:off x="795528" y="3026664"/>
            <a:ext cx="384048" cy="384048"/>
          </a:xfrm>
          <a:prstGeom prst="ellipse">
            <a:avLst/>
          </a:prstGeom>
          <a:solidFill>
            <a:srgbClr val="A879FF">
              <a:alpha val="20000"/>
            </a:srgbClr>
          </a:solidFill>
          <a:ln w="12700">
            <a:solidFill>
              <a:srgbClr val="A879FF">
                <a:alpha val="0"/>
              </a:srgbClr>
            </a:solidFill>
            <a:prstDash val="solid"/>
          </a:ln>
        </p:spPr>
        <p:txBody>
          <a:bodyPr/>
          <a:lstStyle/>
          <a:p>
            <a:endParaRPr/>
          </a:p>
        </p:txBody>
      </p:sp>
      <p:sp>
        <p:nvSpPr>
          <p:cNvPr id="25" name="Text 19">
            <a:extLst>
              <a:ext uri="{FF2B5EF4-FFF2-40B4-BE49-F238E27FC236}">
                <a16:creationId xmlns:a16="http://schemas.microsoft.com/office/drawing/2014/main" id="{3E496B62-C7AD-4F37-8E17-55F98B4FBE16}"/>
              </a:ext>
            </a:extLst>
          </p:cNvPr>
          <p:cNvSpPr>
            <a:spLocks noGrp="1"/>
          </p:cNvSpPr>
          <p:nvPr/>
        </p:nvSpPr>
        <p:spPr>
          <a:xfrm>
            <a:off x="795528" y="3090672"/>
            <a:ext cx="384048" cy="182880"/>
          </a:xfrm>
          <a:prstGeom prst="rect">
            <a:avLst/>
          </a:prstGeom>
          <a:noFill/>
        </p:spPr>
        <p:txBody>
          <a:bodyPr wrap="square" lIns="0" tIns="0" rIns="0" bIns="0" anchor="ctr"/>
          <a:lstStyle/>
          <a:p>
            <a:pPr marL="0" indent="0" algn="ctr">
              <a:buNone/>
            </a:pPr>
            <a:r>
              <a:rPr sz="1000" b="1">
                <a:solidFill>
                  <a:srgbClr val="A879FF"/>
                </a:solidFill>
                <a:latin typeface="Inter"/>
                <a:ea typeface="Inter"/>
                <a:cs typeface="Inter"/>
              </a:rPr>
              <a:t>4</a:t>
            </a:r>
            <a:endParaRPr sz="1000"/>
          </a:p>
        </p:txBody>
      </p:sp>
      <p:pic>
        <p:nvPicPr>
          <p:cNvPr id="98" name="Image 4"/>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289304" y="3026664"/>
            <a:ext cx="310896" cy="310896"/>
          </a:xfrm>
          <a:prstGeom prst="rect">
            <a:avLst/>
          </a:prstGeom>
        </p:spPr>
      </p:pic>
      <p:sp>
        <p:nvSpPr>
          <p:cNvPr id="27" name="Text 20">
            <a:extLst>
              <a:ext uri="{FF2B5EF4-FFF2-40B4-BE49-F238E27FC236}">
                <a16:creationId xmlns:a16="http://schemas.microsoft.com/office/drawing/2014/main" id="{B81AC6E6-95D5-4B07-A650-C3CCD561077D}"/>
              </a:ext>
            </a:extLst>
          </p:cNvPr>
          <p:cNvSpPr>
            <a:spLocks noGrp="1"/>
          </p:cNvSpPr>
          <p:nvPr/>
        </p:nvSpPr>
        <p:spPr>
          <a:xfrm>
            <a:off x="1709928" y="2999232"/>
            <a:ext cx="2121408" cy="265176"/>
          </a:xfrm>
          <a:prstGeom prst="rect">
            <a:avLst/>
          </a:prstGeom>
          <a:noFill/>
        </p:spPr>
        <p:txBody>
          <a:bodyPr wrap="square" lIns="0" tIns="0" rIns="0" bIns="0" anchor="ctr"/>
          <a:lstStyle/>
          <a:p>
            <a:pPr marL="0" indent="0">
              <a:buNone/>
            </a:pPr>
            <a:r>
              <a:rPr sz="1310" b="1">
                <a:solidFill>
                  <a:srgbClr val="F7FAFF"/>
                </a:solidFill>
                <a:latin typeface="Inter"/>
                <a:ea typeface="Inter"/>
                <a:cs typeface="Inter"/>
              </a:rPr>
              <a:t>Hybrid retrieval</a:t>
            </a:r>
            <a:endParaRPr sz="1310"/>
          </a:p>
        </p:txBody>
      </p:sp>
      <p:sp>
        <p:nvSpPr>
          <p:cNvPr id="28" name="Text 21">
            <a:extLst>
              <a:ext uri="{FF2B5EF4-FFF2-40B4-BE49-F238E27FC236}">
                <a16:creationId xmlns:a16="http://schemas.microsoft.com/office/drawing/2014/main" id="{9982A59A-C313-4B83-ABA3-CA4399B829CC}"/>
              </a:ext>
            </a:extLst>
          </p:cNvPr>
          <p:cNvSpPr>
            <a:spLocks noGrp="1"/>
          </p:cNvSpPr>
          <p:nvPr/>
        </p:nvSpPr>
        <p:spPr>
          <a:xfrm>
            <a:off x="1709928" y="3346704"/>
            <a:ext cx="2103120" cy="411480"/>
          </a:xfrm>
          <a:prstGeom prst="rect">
            <a:avLst/>
          </a:prstGeom>
          <a:noFill/>
        </p:spPr>
        <p:txBody>
          <a:bodyPr wrap="square" lIns="0" tIns="0" rIns="0" bIns="0" anchor="ctr"/>
          <a:lstStyle/>
          <a:p>
            <a:pPr marL="0" indent="0">
              <a:buNone/>
            </a:pPr>
            <a:r>
              <a:rPr sz="940">
                <a:solidFill>
                  <a:srgbClr val="A7B5C8"/>
                </a:solidFill>
                <a:latin typeface="Inter"/>
                <a:ea typeface="Inter"/>
                <a:cs typeface="Inter"/>
              </a:rPr>
              <a:t>70% lexical · 30% vector</a:t>
            </a:r>
            <a:endParaRPr sz="940"/>
          </a:p>
        </p:txBody>
      </p:sp>
      <p:sp>
        <p:nvSpPr>
          <p:cNvPr id="29" name="Shape 22">
            <a:extLst>
              <a:ext uri="{FF2B5EF4-FFF2-40B4-BE49-F238E27FC236}">
                <a16:creationId xmlns:a16="http://schemas.microsoft.com/office/drawing/2014/main" id="{7336543A-3D14-4E64-BCD5-6517FB28D076}"/>
              </a:ext>
            </a:extLst>
          </p:cNvPr>
          <p:cNvSpPr>
            <a:spLocks noGrp="1"/>
          </p:cNvSpPr>
          <p:nvPr/>
        </p:nvSpPr>
        <p:spPr>
          <a:xfrm>
            <a:off x="4443984" y="2852928"/>
            <a:ext cx="3447288" cy="1143000"/>
          </a:xfrm>
          <a:prstGeom prst="roundRect">
            <a:avLst>
              <a:gd name="adj" fmla="val 6400"/>
            </a:avLst>
          </a:prstGeom>
          <a:solidFill>
            <a:srgbClr val="0E1B2E"/>
          </a:solidFill>
          <a:ln w="12700">
            <a:solidFill>
              <a:srgbClr val="5B7CFF"/>
            </a:solidFill>
            <a:prstDash val="solid"/>
          </a:ln>
        </p:spPr>
        <p:txBody>
          <a:bodyPr/>
          <a:lstStyle/>
          <a:p>
            <a:endParaRPr/>
          </a:p>
        </p:txBody>
      </p:sp>
      <p:sp>
        <p:nvSpPr>
          <p:cNvPr id="30" name="Shape 23">
            <a:extLst>
              <a:ext uri="{FF2B5EF4-FFF2-40B4-BE49-F238E27FC236}">
                <a16:creationId xmlns:a16="http://schemas.microsoft.com/office/drawing/2014/main" id="{572E7916-15D1-4ED6-A7BA-58E98DE3FD4B}"/>
              </a:ext>
            </a:extLst>
          </p:cNvPr>
          <p:cNvSpPr>
            <a:spLocks noGrp="1"/>
          </p:cNvSpPr>
          <p:nvPr/>
        </p:nvSpPr>
        <p:spPr>
          <a:xfrm>
            <a:off x="4617720" y="3026664"/>
            <a:ext cx="384048" cy="384048"/>
          </a:xfrm>
          <a:prstGeom prst="ellipse">
            <a:avLst/>
          </a:prstGeom>
          <a:solidFill>
            <a:srgbClr val="5B7CFF">
              <a:alpha val="20000"/>
            </a:srgbClr>
          </a:solidFill>
          <a:ln w="12700">
            <a:solidFill>
              <a:srgbClr val="5B7CFF">
                <a:alpha val="0"/>
              </a:srgbClr>
            </a:solidFill>
            <a:prstDash val="solid"/>
          </a:ln>
        </p:spPr>
        <p:txBody>
          <a:bodyPr/>
          <a:lstStyle/>
          <a:p>
            <a:endParaRPr/>
          </a:p>
        </p:txBody>
      </p:sp>
      <p:sp>
        <p:nvSpPr>
          <p:cNvPr id="31" name="Text 24">
            <a:extLst>
              <a:ext uri="{FF2B5EF4-FFF2-40B4-BE49-F238E27FC236}">
                <a16:creationId xmlns:a16="http://schemas.microsoft.com/office/drawing/2014/main" id="{6B4F5309-0F40-4E89-9CE1-85C4F62A7613}"/>
              </a:ext>
            </a:extLst>
          </p:cNvPr>
          <p:cNvSpPr>
            <a:spLocks noGrp="1"/>
          </p:cNvSpPr>
          <p:nvPr/>
        </p:nvSpPr>
        <p:spPr>
          <a:xfrm>
            <a:off x="4617720" y="3090672"/>
            <a:ext cx="384048" cy="182880"/>
          </a:xfrm>
          <a:prstGeom prst="rect">
            <a:avLst/>
          </a:prstGeom>
          <a:noFill/>
        </p:spPr>
        <p:txBody>
          <a:bodyPr wrap="square" lIns="0" tIns="0" rIns="0" bIns="0" anchor="ctr"/>
          <a:lstStyle/>
          <a:p>
            <a:pPr marL="0" indent="0" algn="ctr">
              <a:buNone/>
            </a:pPr>
            <a:r>
              <a:rPr sz="1000" b="1">
                <a:solidFill>
                  <a:srgbClr val="5B7CFF"/>
                </a:solidFill>
                <a:latin typeface="Inter"/>
                <a:ea typeface="Inter"/>
                <a:cs typeface="Inter"/>
              </a:rPr>
              <a:t>5</a:t>
            </a:r>
            <a:endParaRPr sz="1000"/>
          </a:p>
        </p:txBody>
      </p:sp>
      <p:pic>
        <p:nvPicPr>
          <p:cNvPr id="104" name="Image 5"/>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111496" y="3026664"/>
            <a:ext cx="310896" cy="310896"/>
          </a:xfrm>
          <a:prstGeom prst="rect">
            <a:avLst/>
          </a:prstGeom>
        </p:spPr>
      </p:pic>
      <p:sp>
        <p:nvSpPr>
          <p:cNvPr id="33" name="Text 25">
            <a:extLst>
              <a:ext uri="{FF2B5EF4-FFF2-40B4-BE49-F238E27FC236}">
                <a16:creationId xmlns:a16="http://schemas.microsoft.com/office/drawing/2014/main" id="{6D3F0C57-3E8C-455A-A0CE-9C6176856726}"/>
              </a:ext>
            </a:extLst>
          </p:cNvPr>
          <p:cNvSpPr>
            <a:spLocks noGrp="1"/>
          </p:cNvSpPr>
          <p:nvPr/>
        </p:nvSpPr>
        <p:spPr>
          <a:xfrm>
            <a:off x="5532120" y="2999232"/>
            <a:ext cx="2121408" cy="265176"/>
          </a:xfrm>
          <a:prstGeom prst="rect">
            <a:avLst/>
          </a:prstGeom>
          <a:noFill/>
        </p:spPr>
        <p:txBody>
          <a:bodyPr wrap="square" lIns="0" tIns="0" rIns="0" bIns="0" anchor="ctr"/>
          <a:lstStyle/>
          <a:p>
            <a:pPr marL="0" indent="0">
              <a:buNone/>
            </a:pPr>
            <a:r>
              <a:rPr sz="1310" b="1">
                <a:solidFill>
                  <a:srgbClr val="F7FAFF"/>
                </a:solidFill>
                <a:latin typeface="Inter"/>
                <a:ea typeface="Inter"/>
                <a:cs typeface="Inter"/>
              </a:rPr>
              <a:t>Schema + safety</a:t>
            </a:r>
            <a:endParaRPr sz="1310"/>
          </a:p>
        </p:txBody>
      </p:sp>
      <p:sp>
        <p:nvSpPr>
          <p:cNvPr id="34" name="Text 26">
            <a:extLst>
              <a:ext uri="{FF2B5EF4-FFF2-40B4-BE49-F238E27FC236}">
                <a16:creationId xmlns:a16="http://schemas.microsoft.com/office/drawing/2014/main" id="{5294EE2B-2486-4C5E-90AD-30B14D771CB6}"/>
              </a:ext>
            </a:extLst>
          </p:cNvPr>
          <p:cNvSpPr>
            <a:spLocks noGrp="1"/>
          </p:cNvSpPr>
          <p:nvPr/>
        </p:nvSpPr>
        <p:spPr>
          <a:xfrm>
            <a:off x="5532120" y="3346704"/>
            <a:ext cx="2103120" cy="411480"/>
          </a:xfrm>
          <a:prstGeom prst="rect">
            <a:avLst/>
          </a:prstGeom>
          <a:noFill/>
        </p:spPr>
        <p:txBody>
          <a:bodyPr wrap="square" lIns="0" tIns="0" rIns="0" bIns="0" anchor="ctr"/>
          <a:lstStyle/>
          <a:p>
            <a:pPr marL="0" indent="0">
              <a:buNone/>
            </a:pPr>
            <a:r>
              <a:rPr sz="940">
                <a:solidFill>
                  <a:srgbClr val="A7B5C8"/>
                </a:solidFill>
                <a:latin typeface="Inter"/>
                <a:ea typeface="Inter"/>
                <a:cs typeface="Inter"/>
              </a:rPr>
              <a:t>Exact columns · every SQL relation</a:t>
            </a:r>
            <a:endParaRPr sz="940"/>
          </a:p>
        </p:txBody>
      </p:sp>
      <p:sp>
        <p:nvSpPr>
          <p:cNvPr id="35" name="Shape 27">
            <a:extLst>
              <a:ext uri="{FF2B5EF4-FFF2-40B4-BE49-F238E27FC236}">
                <a16:creationId xmlns:a16="http://schemas.microsoft.com/office/drawing/2014/main" id="{292168C9-1DAC-4C35-A94D-BF385A29FA6D}"/>
              </a:ext>
            </a:extLst>
          </p:cNvPr>
          <p:cNvSpPr>
            <a:spLocks noGrp="1"/>
          </p:cNvSpPr>
          <p:nvPr/>
        </p:nvSpPr>
        <p:spPr>
          <a:xfrm>
            <a:off x="8266176" y="2852928"/>
            <a:ext cx="3447288" cy="1143000"/>
          </a:xfrm>
          <a:prstGeom prst="roundRect">
            <a:avLst>
              <a:gd name="adj" fmla="val 6400"/>
            </a:avLst>
          </a:prstGeom>
          <a:solidFill>
            <a:srgbClr val="0E1B2E"/>
          </a:solidFill>
          <a:ln w="12700">
            <a:solidFill>
              <a:srgbClr val="FF6FA8"/>
            </a:solidFill>
            <a:prstDash val="solid"/>
          </a:ln>
        </p:spPr>
        <p:txBody>
          <a:bodyPr/>
          <a:lstStyle/>
          <a:p>
            <a:endParaRPr/>
          </a:p>
        </p:txBody>
      </p:sp>
      <p:sp>
        <p:nvSpPr>
          <p:cNvPr id="36" name="Shape 28">
            <a:extLst>
              <a:ext uri="{FF2B5EF4-FFF2-40B4-BE49-F238E27FC236}">
                <a16:creationId xmlns:a16="http://schemas.microsoft.com/office/drawing/2014/main" id="{DF1B2DA4-ACB5-40DC-A4C7-9B8E60CE6E87}"/>
              </a:ext>
            </a:extLst>
          </p:cNvPr>
          <p:cNvSpPr>
            <a:spLocks noGrp="1"/>
          </p:cNvSpPr>
          <p:nvPr/>
        </p:nvSpPr>
        <p:spPr>
          <a:xfrm>
            <a:off x="8439912" y="3026664"/>
            <a:ext cx="384048" cy="384048"/>
          </a:xfrm>
          <a:prstGeom prst="ellipse">
            <a:avLst/>
          </a:prstGeom>
          <a:solidFill>
            <a:srgbClr val="FF6FA8">
              <a:alpha val="20000"/>
            </a:srgbClr>
          </a:solidFill>
          <a:ln w="12700">
            <a:solidFill>
              <a:srgbClr val="FF6FA8">
                <a:alpha val="0"/>
              </a:srgbClr>
            </a:solidFill>
            <a:prstDash val="solid"/>
          </a:ln>
        </p:spPr>
        <p:txBody>
          <a:bodyPr/>
          <a:lstStyle/>
          <a:p>
            <a:endParaRPr/>
          </a:p>
        </p:txBody>
      </p:sp>
      <p:sp>
        <p:nvSpPr>
          <p:cNvPr id="37" name="Text 29">
            <a:extLst>
              <a:ext uri="{FF2B5EF4-FFF2-40B4-BE49-F238E27FC236}">
                <a16:creationId xmlns:a16="http://schemas.microsoft.com/office/drawing/2014/main" id="{9AF28FB9-6E3A-40C1-9CFF-459DA994A2B0}"/>
              </a:ext>
            </a:extLst>
          </p:cNvPr>
          <p:cNvSpPr>
            <a:spLocks noGrp="1"/>
          </p:cNvSpPr>
          <p:nvPr/>
        </p:nvSpPr>
        <p:spPr>
          <a:xfrm>
            <a:off x="8439912" y="3090672"/>
            <a:ext cx="384048" cy="182880"/>
          </a:xfrm>
          <a:prstGeom prst="rect">
            <a:avLst/>
          </a:prstGeom>
          <a:noFill/>
        </p:spPr>
        <p:txBody>
          <a:bodyPr wrap="square" lIns="0" tIns="0" rIns="0" bIns="0" anchor="ctr"/>
          <a:lstStyle/>
          <a:p>
            <a:pPr marL="0" indent="0" algn="ctr">
              <a:buNone/>
            </a:pPr>
            <a:r>
              <a:rPr sz="1000" b="1">
                <a:solidFill>
                  <a:srgbClr val="FF6FA8"/>
                </a:solidFill>
                <a:latin typeface="Inter"/>
                <a:ea typeface="Inter"/>
                <a:cs typeface="Inter"/>
              </a:rPr>
              <a:t>6</a:t>
            </a:r>
            <a:endParaRPr sz="1000"/>
          </a:p>
        </p:txBody>
      </p:sp>
      <p:pic>
        <p:nvPicPr>
          <p:cNvPr id="110" name="Image 6"/>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953119" y="3026664"/>
            <a:ext cx="272034" cy="310896"/>
          </a:xfrm>
          <a:prstGeom prst="rect">
            <a:avLst/>
          </a:prstGeom>
        </p:spPr>
      </p:pic>
      <p:sp>
        <p:nvSpPr>
          <p:cNvPr id="39" name="Text 30">
            <a:extLst>
              <a:ext uri="{FF2B5EF4-FFF2-40B4-BE49-F238E27FC236}">
                <a16:creationId xmlns:a16="http://schemas.microsoft.com/office/drawing/2014/main" id="{E58C82BC-5C46-4808-A6AD-89E751A18386}"/>
              </a:ext>
            </a:extLst>
          </p:cNvPr>
          <p:cNvSpPr>
            <a:spLocks noGrp="1"/>
          </p:cNvSpPr>
          <p:nvPr/>
        </p:nvSpPr>
        <p:spPr>
          <a:xfrm>
            <a:off x="9354312" y="2999232"/>
            <a:ext cx="2121408" cy="265176"/>
          </a:xfrm>
          <a:prstGeom prst="rect">
            <a:avLst/>
          </a:prstGeom>
          <a:noFill/>
        </p:spPr>
        <p:txBody>
          <a:bodyPr wrap="square" lIns="0" tIns="0" rIns="0" bIns="0" anchor="ctr"/>
          <a:lstStyle/>
          <a:p>
            <a:pPr marL="0" indent="0">
              <a:buNone/>
            </a:pPr>
            <a:r>
              <a:rPr sz="1310" b="1">
                <a:solidFill>
                  <a:srgbClr val="F7FAFF"/>
                </a:solidFill>
                <a:latin typeface="Inter"/>
                <a:ea typeface="Inter"/>
                <a:cs typeface="Inter"/>
              </a:rPr>
              <a:t>Execute + evidence</a:t>
            </a:r>
            <a:endParaRPr sz="1310"/>
          </a:p>
        </p:txBody>
      </p:sp>
      <p:sp>
        <p:nvSpPr>
          <p:cNvPr id="40" name="Text 31">
            <a:extLst>
              <a:ext uri="{FF2B5EF4-FFF2-40B4-BE49-F238E27FC236}">
                <a16:creationId xmlns:a16="http://schemas.microsoft.com/office/drawing/2014/main" id="{0B4B0FA5-22A7-4114-A02D-C7C4BD162881}"/>
              </a:ext>
            </a:extLst>
          </p:cNvPr>
          <p:cNvSpPr>
            <a:spLocks noGrp="1"/>
          </p:cNvSpPr>
          <p:nvPr/>
        </p:nvSpPr>
        <p:spPr>
          <a:xfrm>
            <a:off x="9354312" y="3346704"/>
            <a:ext cx="2103120" cy="411480"/>
          </a:xfrm>
          <a:prstGeom prst="rect">
            <a:avLst/>
          </a:prstGeom>
          <a:noFill/>
        </p:spPr>
        <p:txBody>
          <a:bodyPr wrap="square" lIns="0" tIns="0" rIns="0" bIns="0" anchor="ctr"/>
          <a:lstStyle/>
          <a:p>
            <a:pPr marL="0" indent="0">
              <a:buNone/>
            </a:pPr>
            <a:r>
              <a:rPr sz="940">
                <a:solidFill>
                  <a:srgbClr val="A7B5C8"/>
                </a:solidFill>
                <a:latin typeface="Inter"/>
                <a:ea typeface="Inter"/>
                <a:cs typeface="Inter"/>
              </a:rPr>
              <a:t>Authorize · read-only · request ID</a:t>
            </a:r>
            <a:endParaRPr sz="940"/>
          </a:p>
        </p:txBody>
      </p:sp>
      <p:sp>
        <p:nvSpPr>
          <p:cNvPr id="41" name="Shape 32">
            <a:extLst>
              <a:ext uri="{FF2B5EF4-FFF2-40B4-BE49-F238E27FC236}">
                <a16:creationId xmlns:a16="http://schemas.microsoft.com/office/drawing/2014/main" id="{76CFCE24-0ECC-457D-8417-D0580AA0975C}"/>
              </a:ext>
            </a:extLst>
          </p:cNvPr>
          <p:cNvSpPr>
            <a:spLocks noGrp="1"/>
          </p:cNvSpPr>
          <p:nvPr/>
        </p:nvSpPr>
        <p:spPr>
          <a:xfrm>
            <a:off x="621792" y="4553712"/>
            <a:ext cx="7461504" cy="1097280"/>
          </a:xfrm>
          <a:prstGeom prst="roundRect">
            <a:avLst>
              <a:gd name="adj" fmla="val 6667"/>
            </a:avLst>
          </a:prstGeom>
          <a:solidFill>
            <a:srgbClr val="0B182B"/>
          </a:solidFill>
          <a:ln w="12700">
            <a:solidFill>
              <a:srgbClr val="293A51"/>
            </a:solidFill>
            <a:prstDash val="solid"/>
          </a:ln>
        </p:spPr>
        <p:txBody>
          <a:bodyPr/>
          <a:lstStyle/>
          <a:p>
            <a:endParaRPr/>
          </a:p>
        </p:txBody>
      </p:sp>
      <p:sp>
        <p:nvSpPr>
          <p:cNvPr id="42" name="Text 33">
            <a:extLst>
              <a:ext uri="{FF2B5EF4-FFF2-40B4-BE49-F238E27FC236}">
                <a16:creationId xmlns:a16="http://schemas.microsoft.com/office/drawing/2014/main" id="{018C3BDD-77AC-4080-BE00-30D935FAC465}"/>
              </a:ext>
            </a:extLst>
          </p:cNvPr>
          <p:cNvSpPr>
            <a:spLocks noGrp="1"/>
          </p:cNvSpPr>
          <p:nvPr/>
        </p:nvSpPr>
        <p:spPr>
          <a:xfrm>
            <a:off x="896112" y="4818888"/>
            <a:ext cx="1572768" cy="201168"/>
          </a:xfrm>
          <a:prstGeom prst="rect">
            <a:avLst/>
          </a:prstGeom>
          <a:noFill/>
        </p:spPr>
        <p:txBody>
          <a:bodyPr wrap="square" lIns="0" tIns="0" rIns="0" bIns="0" anchor="ctr"/>
          <a:lstStyle/>
          <a:p>
            <a:pPr marL="0" indent="0">
              <a:buNone/>
            </a:pPr>
            <a:r>
              <a:rPr sz="900" b="1" spc="110">
                <a:solidFill>
                  <a:srgbClr val="72839A"/>
                </a:solidFill>
                <a:latin typeface="Inter"/>
                <a:ea typeface="Inter"/>
                <a:cs typeface="Inter"/>
              </a:rPr>
              <a:t>CONFIDENCE GATE</a:t>
            </a:r>
            <a:endParaRPr sz="900"/>
          </a:p>
        </p:txBody>
      </p:sp>
      <p:sp>
        <p:nvSpPr>
          <p:cNvPr id="43" name="Shape 34">
            <a:extLst>
              <a:ext uri="{FF2B5EF4-FFF2-40B4-BE49-F238E27FC236}">
                <a16:creationId xmlns:a16="http://schemas.microsoft.com/office/drawing/2014/main" id="{CC3AF1F6-3DDC-4D52-8A38-7C00ED23C8D2}"/>
              </a:ext>
            </a:extLst>
          </p:cNvPr>
          <p:cNvSpPr>
            <a:spLocks noGrp="1"/>
          </p:cNvSpPr>
          <p:nvPr/>
        </p:nvSpPr>
        <p:spPr>
          <a:xfrm>
            <a:off x="2468880" y="4837176"/>
            <a:ext cx="557784" cy="219456"/>
          </a:xfrm>
          <a:prstGeom prst="rect">
            <a:avLst/>
          </a:prstGeom>
          <a:solidFill>
            <a:srgbClr val="FF647C"/>
          </a:solidFill>
          <a:ln w="12700">
            <a:solidFill>
              <a:srgbClr val="FF647C"/>
            </a:solidFill>
            <a:prstDash val="solid"/>
          </a:ln>
        </p:spPr>
        <p:txBody>
          <a:bodyPr/>
          <a:lstStyle/>
          <a:p>
            <a:endParaRPr/>
          </a:p>
        </p:txBody>
      </p:sp>
      <p:sp>
        <p:nvSpPr>
          <p:cNvPr id="44" name="Shape 35">
            <a:extLst>
              <a:ext uri="{FF2B5EF4-FFF2-40B4-BE49-F238E27FC236}">
                <a16:creationId xmlns:a16="http://schemas.microsoft.com/office/drawing/2014/main" id="{F6EACB3C-3550-4FE5-90B7-618E76D67476}"/>
              </a:ext>
            </a:extLst>
          </p:cNvPr>
          <p:cNvSpPr>
            <a:spLocks noGrp="1"/>
          </p:cNvSpPr>
          <p:nvPr/>
        </p:nvSpPr>
        <p:spPr>
          <a:xfrm>
            <a:off x="3099816" y="4837176"/>
            <a:ext cx="557784" cy="219456"/>
          </a:xfrm>
          <a:prstGeom prst="rect">
            <a:avLst/>
          </a:prstGeom>
          <a:solidFill>
            <a:srgbClr val="FF9E64"/>
          </a:solidFill>
          <a:ln w="12700">
            <a:solidFill>
              <a:srgbClr val="FF9E64"/>
            </a:solidFill>
            <a:prstDash val="solid"/>
          </a:ln>
        </p:spPr>
        <p:txBody>
          <a:bodyPr/>
          <a:lstStyle/>
          <a:p>
            <a:endParaRPr/>
          </a:p>
        </p:txBody>
      </p:sp>
      <p:sp>
        <p:nvSpPr>
          <p:cNvPr id="45" name="Shape 36">
            <a:extLst>
              <a:ext uri="{FF2B5EF4-FFF2-40B4-BE49-F238E27FC236}">
                <a16:creationId xmlns:a16="http://schemas.microsoft.com/office/drawing/2014/main" id="{0C34119A-6AD6-4A16-BE14-5533A3DB3F35}"/>
              </a:ext>
            </a:extLst>
          </p:cNvPr>
          <p:cNvSpPr>
            <a:spLocks noGrp="1"/>
          </p:cNvSpPr>
          <p:nvPr/>
        </p:nvSpPr>
        <p:spPr>
          <a:xfrm>
            <a:off x="3730752" y="4837176"/>
            <a:ext cx="557784" cy="219456"/>
          </a:xfrm>
          <a:prstGeom prst="rect">
            <a:avLst/>
          </a:prstGeom>
          <a:solidFill>
            <a:srgbClr val="F7B955"/>
          </a:solidFill>
          <a:ln w="12700">
            <a:solidFill>
              <a:srgbClr val="F7B955"/>
            </a:solidFill>
            <a:prstDash val="solid"/>
          </a:ln>
        </p:spPr>
        <p:txBody>
          <a:bodyPr/>
          <a:lstStyle/>
          <a:p>
            <a:endParaRPr/>
          </a:p>
        </p:txBody>
      </p:sp>
      <p:sp>
        <p:nvSpPr>
          <p:cNvPr id="46" name="Shape 37">
            <a:extLst>
              <a:ext uri="{FF2B5EF4-FFF2-40B4-BE49-F238E27FC236}">
                <a16:creationId xmlns:a16="http://schemas.microsoft.com/office/drawing/2014/main" id="{59064561-237E-4A72-AB2E-5EE38AE71A96}"/>
              </a:ext>
            </a:extLst>
          </p:cNvPr>
          <p:cNvSpPr>
            <a:spLocks noGrp="1"/>
          </p:cNvSpPr>
          <p:nvPr/>
        </p:nvSpPr>
        <p:spPr>
          <a:xfrm>
            <a:off x="4361688" y="4837176"/>
            <a:ext cx="557784" cy="219456"/>
          </a:xfrm>
          <a:prstGeom prst="rect">
            <a:avLst/>
          </a:prstGeom>
          <a:solidFill>
            <a:srgbClr val="35D4E7"/>
          </a:solidFill>
          <a:ln w="12700">
            <a:solidFill>
              <a:srgbClr val="35D4E7"/>
            </a:solidFill>
            <a:prstDash val="solid"/>
          </a:ln>
        </p:spPr>
        <p:txBody>
          <a:bodyPr/>
          <a:lstStyle/>
          <a:p>
            <a:endParaRPr/>
          </a:p>
        </p:txBody>
      </p:sp>
      <p:sp>
        <p:nvSpPr>
          <p:cNvPr id="47" name="Shape 38">
            <a:extLst>
              <a:ext uri="{FF2B5EF4-FFF2-40B4-BE49-F238E27FC236}">
                <a16:creationId xmlns:a16="http://schemas.microsoft.com/office/drawing/2014/main" id="{A201AC82-EDB9-433D-9CDC-6B13334B769C}"/>
              </a:ext>
            </a:extLst>
          </p:cNvPr>
          <p:cNvSpPr>
            <a:spLocks noGrp="1"/>
          </p:cNvSpPr>
          <p:nvPr/>
        </p:nvSpPr>
        <p:spPr>
          <a:xfrm>
            <a:off x="4992624" y="4837176"/>
            <a:ext cx="557784" cy="219456"/>
          </a:xfrm>
          <a:prstGeom prst="rect">
            <a:avLst/>
          </a:prstGeom>
          <a:solidFill>
            <a:srgbClr val="3BE0B5"/>
          </a:solidFill>
          <a:ln w="12700">
            <a:solidFill>
              <a:srgbClr val="3BE0B5"/>
            </a:solidFill>
            <a:prstDash val="solid"/>
          </a:ln>
        </p:spPr>
        <p:txBody>
          <a:bodyPr/>
          <a:lstStyle/>
          <a:p>
            <a:endParaRPr/>
          </a:p>
        </p:txBody>
      </p:sp>
      <p:sp>
        <p:nvSpPr>
          <p:cNvPr id="48" name="Shape 39">
            <a:extLst>
              <a:ext uri="{FF2B5EF4-FFF2-40B4-BE49-F238E27FC236}">
                <a16:creationId xmlns:a16="http://schemas.microsoft.com/office/drawing/2014/main" id="{844D6E33-9F19-42D4-A495-0A73300875EE}"/>
              </a:ext>
            </a:extLst>
          </p:cNvPr>
          <p:cNvSpPr>
            <a:spLocks noGrp="1"/>
          </p:cNvSpPr>
          <p:nvPr/>
        </p:nvSpPr>
        <p:spPr>
          <a:xfrm>
            <a:off x="5623560" y="4837176"/>
            <a:ext cx="557784" cy="219456"/>
          </a:xfrm>
          <a:prstGeom prst="rect">
            <a:avLst/>
          </a:prstGeom>
          <a:solidFill>
            <a:srgbClr val="63E69C"/>
          </a:solidFill>
          <a:ln w="12700">
            <a:solidFill>
              <a:srgbClr val="63E69C"/>
            </a:solidFill>
            <a:prstDash val="solid"/>
          </a:ln>
        </p:spPr>
        <p:txBody>
          <a:bodyPr/>
          <a:lstStyle/>
          <a:p>
            <a:endParaRPr/>
          </a:p>
        </p:txBody>
      </p:sp>
      <p:sp>
        <p:nvSpPr>
          <p:cNvPr id="49" name="Text 40">
            <a:extLst>
              <a:ext uri="{FF2B5EF4-FFF2-40B4-BE49-F238E27FC236}">
                <a16:creationId xmlns:a16="http://schemas.microsoft.com/office/drawing/2014/main" id="{03D90A67-366A-495B-ADB8-B8D68DC95C0B}"/>
              </a:ext>
            </a:extLst>
          </p:cNvPr>
          <p:cNvSpPr>
            <a:spLocks noGrp="1"/>
          </p:cNvSpPr>
          <p:nvPr/>
        </p:nvSpPr>
        <p:spPr>
          <a:xfrm>
            <a:off x="2450592" y="5129784"/>
            <a:ext cx="731520" cy="164592"/>
          </a:xfrm>
          <a:prstGeom prst="rect">
            <a:avLst/>
          </a:prstGeom>
          <a:noFill/>
        </p:spPr>
        <p:txBody>
          <a:bodyPr wrap="square" lIns="0" tIns="0" rIns="0" bIns="0" anchor="ctr"/>
          <a:lstStyle/>
          <a:p>
            <a:pPr marL="0" indent="0">
              <a:buNone/>
            </a:pPr>
            <a:r>
              <a:rPr sz="780">
                <a:solidFill>
                  <a:srgbClr val="72839A"/>
                </a:solidFill>
                <a:latin typeface="Inter"/>
                <a:ea typeface="Inter"/>
                <a:cs typeface="Inter"/>
              </a:rPr>
              <a:t>LOW</a:t>
            </a:r>
            <a:endParaRPr sz="780"/>
          </a:p>
        </p:txBody>
      </p:sp>
      <p:sp>
        <p:nvSpPr>
          <p:cNvPr id="50" name="Text 41">
            <a:extLst>
              <a:ext uri="{FF2B5EF4-FFF2-40B4-BE49-F238E27FC236}">
                <a16:creationId xmlns:a16="http://schemas.microsoft.com/office/drawing/2014/main" id="{9670BF5A-544C-4FCE-8446-64C3C009F7C7}"/>
              </a:ext>
            </a:extLst>
          </p:cNvPr>
          <p:cNvSpPr>
            <a:spLocks noGrp="1"/>
          </p:cNvSpPr>
          <p:nvPr/>
        </p:nvSpPr>
        <p:spPr>
          <a:xfrm>
            <a:off x="5559552" y="5129784"/>
            <a:ext cx="731520" cy="164592"/>
          </a:xfrm>
          <a:prstGeom prst="rect">
            <a:avLst/>
          </a:prstGeom>
          <a:noFill/>
        </p:spPr>
        <p:txBody>
          <a:bodyPr wrap="square" lIns="0" tIns="0" rIns="0" bIns="0" anchor="ctr"/>
          <a:lstStyle/>
          <a:p>
            <a:pPr marL="0" indent="0" algn="r">
              <a:buNone/>
            </a:pPr>
            <a:r>
              <a:rPr sz="780">
                <a:solidFill>
                  <a:srgbClr val="72839A"/>
                </a:solidFill>
                <a:latin typeface="Inter"/>
                <a:ea typeface="Inter"/>
                <a:cs typeface="Inter"/>
              </a:rPr>
              <a:t>HIGH</a:t>
            </a:r>
            <a:endParaRPr sz="780"/>
          </a:p>
        </p:txBody>
      </p:sp>
      <p:pic>
        <p:nvPicPr>
          <p:cNvPr id="123" name="Image 7"/>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11112" y="4791456"/>
            <a:ext cx="310896" cy="310896"/>
          </a:xfrm>
          <a:prstGeom prst="rect">
            <a:avLst/>
          </a:prstGeom>
        </p:spPr>
      </p:pic>
      <p:sp>
        <p:nvSpPr>
          <p:cNvPr id="52" name="Text 42">
            <a:extLst>
              <a:ext uri="{FF2B5EF4-FFF2-40B4-BE49-F238E27FC236}">
                <a16:creationId xmlns:a16="http://schemas.microsoft.com/office/drawing/2014/main" id="{16A42ED8-15FE-422E-8D67-39492379BE80}"/>
              </a:ext>
            </a:extLst>
          </p:cNvPr>
          <p:cNvSpPr>
            <a:spLocks noGrp="1"/>
          </p:cNvSpPr>
          <p:nvPr/>
        </p:nvSpPr>
        <p:spPr>
          <a:xfrm>
            <a:off x="7040880" y="4754880"/>
            <a:ext cx="841248" cy="566928"/>
          </a:xfrm>
          <a:prstGeom prst="rect">
            <a:avLst/>
          </a:prstGeom>
          <a:noFill/>
        </p:spPr>
        <p:txBody>
          <a:bodyPr wrap="square" lIns="0" tIns="0" rIns="0" bIns="0" anchor="ctr">
            <a:normAutofit fontScale="97940"/>
          </a:bodyPr>
          <a:lstStyle/>
          <a:p>
            <a:pPr marL="0" indent="0">
              <a:buNone/>
            </a:pPr>
            <a:r>
              <a:rPr sz="1100" b="1">
                <a:solidFill>
                  <a:srgbClr val="EAF0F8"/>
                </a:solidFill>
                <a:latin typeface="Inter"/>
                <a:ea typeface="Inter"/>
                <a:cs typeface="Inter"/>
              </a:rPr>
              <a:t>No confident match?</a:t>
            </a:r>
            <a:endParaRPr sz="1100"/>
          </a:p>
          <a:p>
            <a:pPr marL="0" indent="0">
              <a:buNone/>
            </a:pPr>
            <a:r>
              <a:rPr sz="1100" b="1">
                <a:solidFill>
                  <a:srgbClr val="EAF0F8"/>
                </a:solidFill>
                <a:latin typeface="Inter"/>
                <a:ea typeface="Inter"/>
                <a:cs typeface="Inter"/>
              </a:rPr>
              <a:t>Ask or stop.</a:t>
            </a:r>
          </a:p>
        </p:txBody>
      </p:sp>
      <p:sp>
        <p:nvSpPr>
          <p:cNvPr id="53" name="Shape 43">
            <a:extLst>
              <a:ext uri="{FF2B5EF4-FFF2-40B4-BE49-F238E27FC236}">
                <a16:creationId xmlns:a16="http://schemas.microsoft.com/office/drawing/2014/main" id="{D9B58A33-7F2F-4731-8AC6-DC1909C96002}"/>
              </a:ext>
            </a:extLst>
          </p:cNvPr>
          <p:cNvSpPr>
            <a:spLocks noGrp="1"/>
          </p:cNvSpPr>
          <p:nvPr/>
        </p:nvSpPr>
        <p:spPr>
          <a:xfrm>
            <a:off x="8394192" y="4553712"/>
            <a:ext cx="3218688" cy="1097280"/>
          </a:xfrm>
          <a:prstGeom prst="roundRect">
            <a:avLst>
              <a:gd name="adj" fmla="val 6667"/>
            </a:avLst>
          </a:prstGeom>
          <a:solidFill>
            <a:srgbClr val="15182D"/>
          </a:solidFill>
          <a:ln w="12700">
            <a:solidFill>
              <a:srgbClr val="A879FF"/>
            </a:solidFill>
            <a:prstDash val="solid"/>
          </a:ln>
        </p:spPr>
        <p:txBody>
          <a:bodyPr/>
          <a:lstStyle/>
          <a:p>
            <a:endParaRPr/>
          </a:p>
        </p:txBody>
      </p:sp>
      <p:sp>
        <p:nvSpPr>
          <p:cNvPr id="54" name="Text 44">
            <a:extLst>
              <a:ext uri="{FF2B5EF4-FFF2-40B4-BE49-F238E27FC236}">
                <a16:creationId xmlns:a16="http://schemas.microsoft.com/office/drawing/2014/main" id="{EA8EAF50-7705-42F9-96AE-0536A60BB6B7}"/>
              </a:ext>
            </a:extLst>
          </p:cNvPr>
          <p:cNvSpPr>
            <a:spLocks noGrp="1"/>
          </p:cNvSpPr>
          <p:nvPr/>
        </p:nvSpPr>
        <p:spPr>
          <a:xfrm>
            <a:off x="8659368" y="4791456"/>
            <a:ext cx="1133856" cy="201168"/>
          </a:xfrm>
          <a:prstGeom prst="rect">
            <a:avLst/>
          </a:prstGeom>
          <a:noFill/>
        </p:spPr>
        <p:txBody>
          <a:bodyPr wrap="square" lIns="0" tIns="0" rIns="0" bIns="0" anchor="ctr"/>
          <a:lstStyle/>
          <a:p>
            <a:pPr marL="0" indent="0">
              <a:buNone/>
            </a:pPr>
            <a:r>
              <a:rPr sz="900" b="1" spc="100">
                <a:solidFill>
                  <a:srgbClr val="63E69C"/>
                </a:solidFill>
                <a:latin typeface="Inter"/>
                <a:ea typeface="Inter"/>
                <a:cs typeface="Inter"/>
              </a:rPr>
              <a:t>SERVER</a:t>
            </a:r>
            <a:endParaRPr sz="900"/>
          </a:p>
        </p:txBody>
      </p:sp>
      <p:sp>
        <p:nvSpPr>
          <p:cNvPr id="55" name="Text 45">
            <a:extLst>
              <a:ext uri="{FF2B5EF4-FFF2-40B4-BE49-F238E27FC236}">
                <a16:creationId xmlns:a16="http://schemas.microsoft.com/office/drawing/2014/main" id="{81F21E52-AAFF-4611-AFA3-3B26FA90E169}"/>
              </a:ext>
            </a:extLst>
          </p:cNvPr>
          <p:cNvSpPr>
            <a:spLocks noGrp="1"/>
          </p:cNvSpPr>
          <p:nvPr/>
        </p:nvSpPr>
        <p:spPr>
          <a:xfrm>
            <a:off x="8659368" y="5102352"/>
            <a:ext cx="1325880" cy="228600"/>
          </a:xfrm>
          <a:prstGeom prst="rect">
            <a:avLst/>
          </a:prstGeom>
          <a:noFill/>
        </p:spPr>
        <p:txBody>
          <a:bodyPr wrap="square" lIns="0" tIns="0" rIns="0" bIns="0" anchor="ctr"/>
          <a:lstStyle/>
          <a:p>
            <a:pPr marL="0" indent="0">
              <a:buNone/>
            </a:pPr>
            <a:r>
              <a:rPr sz="1150" b="1">
                <a:solidFill>
                  <a:srgbClr val="EAF0F8"/>
                </a:solidFill>
                <a:latin typeface="Inter"/>
                <a:ea typeface="Inter"/>
                <a:cs typeface="Inter"/>
              </a:rPr>
              <a:t>returns next step</a:t>
            </a:r>
            <a:endParaRPr sz="1150"/>
          </a:p>
        </p:txBody>
      </p:sp>
      <p:sp>
        <p:nvSpPr>
          <p:cNvPr id="56" name="Shape 46">
            <a:extLst>
              <a:ext uri="{FF2B5EF4-FFF2-40B4-BE49-F238E27FC236}">
                <a16:creationId xmlns:a16="http://schemas.microsoft.com/office/drawing/2014/main" id="{1904A91E-850C-49B5-8449-C1701D7A6C19}"/>
              </a:ext>
            </a:extLst>
          </p:cNvPr>
          <p:cNvSpPr>
            <a:spLocks noGrp="1"/>
          </p:cNvSpPr>
          <p:nvPr/>
        </p:nvSpPr>
        <p:spPr>
          <a:xfrm>
            <a:off x="9939528" y="5074920"/>
            <a:ext cx="393192" cy="0"/>
          </a:xfrm>
          <a:prstGeom prst="line">
            <a:avLst/>
          </a:prstGeom>
          <a:noFill/>
          <a:ln w="12700">
            <a:solidFill>
              <a:srgbClr val="72839A"/>
            </a:solidFill>
            <a:prstDash val="solid"/>
            <a:headEnd type="none"/>
            <a:tailEnd type="triangle"/>
          </a:ln>
        </p:spPr>
        <p:txBody>
          <a:bodyPr/>
          <a:lstStyle/>
          <a:p>
            <a:endParaRPr/>
          </a:p>
        </p:txBody>
      </p:sp>
      <p:sp>
        <p:nvSpPr>
          <p:cNvPr id="57" name="Text 47">
            <a:extLst>
              <a:ext uri="{FF2B5EF4-FFF2-40B4-BE49-F238E27FC236}">
                <a16:creationId xmlns:a16="http://schemas.microsoft.com/office/drawing/2014/main" id="{054402F3-796D-41E4-BCFC-9103ED849C42}"/>
              </a:ext>
            </a:extLst>
          </p:cNvPr>
          <p:cNvSpPr>
            <a:spLocks noGrp="1"/>
          </p:cNvSpPr>
          <p:nvPr/>
        </p:nvSpPr>
        <p:spPr>
          <a:xfrm>
            <a:off x="10479024" y="4791456"/>
            <a:ext cx="530352" cy="201168"/>
          </a:xfrm>
          <a:prstGeom prst="rect">
            <a:avLst/>
          </a:prstGeom>
          <a:noFill/>
        </p:spPr>
        <p:txBody>
          <a:bodyPr wrap="square" lIns="0" tIns="0" rIns="0" bIns="0" anchor="ctr"/>
          <a:lstStyle/>
          <a:p>
            <a:pPr marL="0" indent="0">
              <a:buNone/>
            </a:pPr>
            <a:r>
              <a:rPr sz="900" b="1" spc="100">
                <a:solidFill>
                  <a:srgbClr val="5B7CFF"/>
                </a:solidFill>
                <a:latin typeface="Inter"/>
                <a:ea typeface="Inter"/>
                <a:cs typeface="Inter"/>
              </a:rPr>
              <a:t>CLIENT</a:t>
            </a:r>
            <a:endParaRPr sz="900"/>
          </a:p>
        </p:txBody>
      </p:sp>
      <p:sp>
        <p:nvSpPr>
          <p:cNvPr id="58" name="Text 48">
            <a:extLst>
              <a:ext uri="{FF2B5EF4-FFF2-40B4-BE49-F238E27FC236}">
                <a16:creationId xmlns:a16="http://schemas.microsoft.com/office/drawing/2014/main" id="{83EFA4F0-539B-4046-9459-4752FCA70D2E}"/>
              </a:ext>
            </a:extLst>
          </p:cNvPr>
          <p:cNvSpPr>
            <a:spLocks noGrp="1"/>
          </p:cNvSpPr>
          <p:nvPr/>
        </p:nvSpPr>
        <p:spPr>
          <a:xfrm>
            <a:off x="10479024" y="5102352"/>
            <a:ext cx="868680" cy="228600"/>
          </a:xfrm>
          <a:prstGeom prst="rect">
            <a:avLst/>
          </a:prstGeom>
          <a:noFill/>
        </p:spPr>
        <p:txBody>
          <a:bodyPr wrap="square" lIns="0" tIns="0" rIns="0" bIns="0" anchor="ctr"/>
          <a:lstStyle/>
          <a:p>
            <a:pPr marL="0" indent="0">
              <a:buNone/>
            </a:pPr>
            <a:r>
              <a:rPr sz="1010" b="1">
                <a:solidFill>
                  <a:srgbClr val="EAF0F8"/>
                </a:solidFill>
                <a:latin typeface="Inter"/>
                <a:ea typeface="Inter"/>
                <a:cs typeface="Inter"/>
              </a:rPr>
              <a:t>calls next tool</a:t>
            </a:r>
            <a:endParaRPr sz="1010"/>
          </a:p>
        </p:txBody>
      </p:sp>
      <p:sp>
        <p:nvSpPr>
          <p:cNvPr id="59" name="Text 49">
            <a:extLst>
              <a:ext uri="{FF2B5EF4-FFF2-40B4-BE49-F238E27FC236}">
                <a16:creationId xmlns:a16="http://schemas.microsoft.com/office/drawing/2014/main" id="{80701CD0-C065-4380-B847-6BCC9C8E480C}"/>
              </a:ext>
            </a:extLst>
          </p:cNvPr>
          <p:cNvSpPr>
            <a:spLocks noGrp="1"/>
          </p:cNvSpPr>
          <p:nvPr/>
        </p:nvSpPr>
        <p:spPr>
          <a:xfrm>
            <a:off x="7616952" y="5687568"/>
            <a:ext cx="3977640" cy="164592"/>
          </a:xfrm>
          <a:prstGeom prst="rect">
            <a:avLst/>
          </a:prstGeom>
          <a:noFill/>
        </p:spPr>
        <p:txBody>
          <a:bodyPr wrap="square" lIns="0" tIns="0" rIns="0" bIns="0" anchor="ctr"/>
          <a:lstStyle/>
          <a:p>
            <a:pPr marL="0" indent="0" algn="r">
              <a:buNone/>
            </a:pPr>
            <a:r>
              <a:rPr sz="780" i="1">
                <a:solidFill>
                  <a:srgbClr val="72839A"/>
                </a:solidFill>
                <a:latin typeface="Inter"/>
                <a:ea typeface="Inter"/>
                <a:cs typeface="Inter"/>
              </a:rPr>
              <a:t>Routing guidance is advisory; SQL safety and authorization are enforced.</a:t>
            </a:r>
            <a:endParaRPr sz="780"/>
          </a:p>
        </p:txBody>
      </p:sp>
      <p:sp>
        <p:nvSpPr>
          <p:cNvPr id="60" name="Shape 50">
            <a:extLst>
              <a:ext uri="{FF2B5EF4-FFF2-40B4-BE49-F238E27FC236}">
                <a16:creationId xmlns:a16="http://schemas.microsoft.com/office/drawing/2014/main" id="{FFAA4F87-B888-4F99-903E-C223293CFE4F}"/>
              </a:ext>
            </a:extLst>
          </p:cNvPr>
          <p:cNvSpPr>
            <a:spLocks noGrp="1"/>
          </p:cNvSpPr>
          <p:nvPr/>
        </p:nvSpPr>
        <p:spPr>
          <a:xfrm>
            <a:off x="2313432" y="5916168"/>
            <a:ext cx="7552944" cy="329184"/>
          </a:xfrm>
          <a:prstGeom prst="roundRect">
            <a:avLst>
              <a:gd name="adj" fmla="val 22222"/>
            </a:avLst>
          </a:prstGeom>
          <a:solidFill>
            <a:srgbClr val="35D4E7">
              <a:alpha val="12000"/>
            </a:srgbClr>
          </a:solidFill>
          <a:ln w="12700">
            <a:solidFill>
              <a:srgbClr val="35D4E7">
                <a:alpha val="32000"/>
              </a:srgbClr>
            </a:solidFill>
            <a:prstDash val="solid"/>
          </a:ln>
        </p:spPr>
        <p:txBody>
          <a:bodyPr/>
          <a:lstStyle/>
          <a:p>
            <a:endParaRPr/>
          </a:p>
        </p:txBody>
      </p:sp>
      <p:sp>
        <p:nvSpPr>
          <p:cNvPr id="61" name="Text 51">
            <a:extLst>
              <a:ext uri="{FF2B5EF4-FFF2-40B4-BE49-F238E27FC236}">
                <a16:creationId xmlns:a16="http://schemas.microsoft.com/office/drawing/2014/main" id="{EC4670F4-0758-4A65-83C3-96C2899905BF}"/>
              </a:ext>
            </a:extLst>
          </p:cNvPr>
          <p:cNvSpPr>
            <a:spLocks noGrp="1"/>
          </p:cNvSpPr>
          <p:nvPr/>
        </p:nvSpPr>
        <p:spPr>
          <a:xfrm>
            <a:off x="2386584" y="5925312"/>
            <a:ext cx="7406640" cy="310896"/>
          </a:xfrm>
          <a:prstGeom prst="rect">
            <a:avLst/>
          </a:prstGeom>
          <a:noFill/>
        </p:spPr>
        <p:txBody>
          <a:bodyPr wrap="square" lIns="0" tIns="0" rIns="0" bIns="0" anchor="ctr"/>
          <a:lstStyle/>
          <a:p>
            <a:pPr marL="0" indent="0" algn="ctr">
              <a:buNone/>
            </a:pPr>
            <a:r>
              <a:rPr sz="970" b="1">
                <a:solidFill>
                  <a:srgbClr val="35D4E7"/>
                </a:solidFill>
                <a:latin typeface="Inter"/>
                <a:ea typeface="Inter"/>
                <a:cs typeface="Inter"/>
              </a:rPr>
              <a:t>REPEATABILITY COMES FROM THE ROUTE AND THE EVIDENCE</a:t>
            </a:r>
            <a:endParaRPr sz="970"/>
          </a:p>
        </p:txBody>
      </p:sp>
      <p:sp>
        <p:nvSpPr>
          <p:cNvPr id="62" name="Shape 52">
            <a:extLst>
              <a:ext uri="{FF2B5EF4-FFF2-40B4-BE49-F238E27FC236}">
                <a16:creationId xmlns:a16="http://schemas.microsoft.com/office/drawing/2014/main" id="{40B0AA9E-C18D-42C7-824C-E70B4163A83C}"/>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63" name="Text 53">
            <a:extLst>
              <a:ext uri="{FF2B5EF4-FFF2-40B4-BE49-F238E27FC236}">
                <a16:creationId xmlns:a16="http://schemas.microsoft.com/office/drawing/2014/main" id="{89F5F37F-9CB1-4E0D-96B0-19D957FDCD69}"/>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ACT II · ENTERPRISE</a:t>
            </a:r>
            <a:endParaRPr sz="850"/>
          </a:p>
        </p:txBody>
      </p:sp>
      <p:sp>
        <p:nvSpPr>
          <p:cNvPr id="64" name="Text 54">
            <a:extLst>
              <a:ext uri="{FF2B5EF4-FFF2-40B4-BE49-F238E27FC236}">
                <a16:creationId xmlns:a16="http://schemas.microsoft.com/office/drawing/2014/main" id="{CECD7E6D-9740-495E-95C8-B5E99A0461C4}"/>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65" name="Text 55">
            <a:extLst>
              <a:ext uri="{FF2B5EF4-FFF2-40B4-BE49-F238E27FC236}">
                <a16:creationId xmlns:a16="http://schemas.microsoft.com/office/drawing/2014/main" id="{4E778191-509B-4B61-BDEC-96F3878FFE6B}"/>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09</a:t>
            </a:r>
            <a:endParaRPr sz="850"/>
          </a:p>
        </p:txBody>
      </p:sp>
    </p:spTree>
    <p:extLst>
      <p:ext uri="{BB962C8B-B14F-4D97-AF65-F5344CB8AC3E}">
        <p14:creationId xmlns:p14="http://schemas.microsoft.com/office/powerpoint/2010/main" val="12079306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DF3A6E48-3655-4B6E-A179-72E9D159E04D}"/>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LICENSE AND ACCESS</a:t>
            </a:r>
            <a:endParaRPr sz="950"/>
          </a:p>
        </p:txBody>
      </p:sp>
      <p:sp>
        <p:nvSpPr>
          <p:cNvPr id="4" name="Text 1">
            <a:extLst>
              <a:ext uri="{FF2B5EF4-FFF2-40B4-BE49-F238E27FC236}">
                <a16:creationId xmlns:a16="http://schemas.microsoft.com/office/drawing/2014/main" id="{DA3CD34E-CEF6-4D96-B6B0-9495DA3BADDE}"/>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900" b="1">
                <a:solidFill>
                  <a:srgbClr val="F7FAFF"/>
                </a:solidFill>
                <a:latin typeface="Inter"/>
                <a:ea typeface="Inter"/>
                <a:cs typeface="Inter"/>
              </a:rPr>
              <a:t>The data contract enters the routing layer</a:t>
            </a:r>
            <a:endParaRPr sz="2900"/>
          </a:p>
        </p:txBody>
      </p:sp>
      <p:sp>
        <p:nvSpPr>
          <p:cNvPr id="5" name="Shape 2">
            <a:extLst>
              <a:ext uri="{FF2B5EF4-FFF2-40B4-BE49-F238E27FC236}">
                <a16:creationId xmlns:a16="http://schemas.microsoft.com/office/drawing/2014/main" id="{3DBE6F5C-74AE-4435-959E-5ED72141E9D3}"/>
              </a:ext>
            </a:extLst>
          </p:cNvPr>
          <p:cNvSpPr>
            <a:spLocks noGrp="1"/>
          </p:cNvSpPr>
          <p:nvPr/>
        </p:nvSpPr>
        <p:spPr>
          <a:xfrm>
            <a:off x="566928" y="1335024"/>
            <a:ext cx="3794760" cy="4526280"/>
          </a:xfrm>
          <a:prstGeom prst="roundRect">
            <a:avLst>
              <a:gd name="adj" fmla="val 1928"/>
            </a:avLst>
          </a:prstGeom>
          <a:solidFill>
            <a:srgbClr val="131722"/>
          </a:solidFill>
          <a:ln w="12700">
            <a:solidFill>
              <a:srgbClr val="FF647C"/>
            </a:solidFill>
            <a:prstDash val="solid"/>
          </a:ln>
          <a:effectLst>
            <a:outerShdw algn="bl" rotWithShape="0">
              <a:srgbClr val="000000">
                <a:alpha val="0"/>
              </a:srgbClr>
            </a:outerShdw>
          </a:effectLst>
        </p:spPr>
        <p:txBody>
          <a:bodyPr/>
          <a:lstStyle/>
          <a:p>
            <a:endParaRPr/>
          </a:p>
        </p:txBody>
      </p:sp>
      <p:pic>
        <p:nvPicPr>
          <p:cNvPr id="67"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46404" y="1673352"/>
            <a:ext cx="356616" cy="475488"/>
          </a:xfrm>
          <a:prstGeom prst="rect">
            <a:avLst/>
          </a:prstGeom>
        </p:spPr>
      </p:pic>
      <p:sp>
        <p:nvSpPr>
          <p:cNvPr id="7" name="Text 3">
            <a:extLst>
              <a:ext uri="{FF2B5EF4-FFF2-40B4-BE49-F238E27FC236}">
                <a16:creationId xmlns:a16="http://schemas.microsoft.com/office/drawing/2014/main" id="{821FD0D8-36DA-430D-BB3B-073E94DAF94A}"/>
              </a:ext>
            </a:extLst>
          </p:cNvPr>
          <p:cNvSpPr>
            <a:spLocks noGrp="1"/>
          </p:cNvSpPr>
          <p:nvPr/>
        </p:nvSpPr>
        <p:spPr>
          <a:xfrm>
            <a:off x="1536192" y="1700784"/>
            <a:ext cx="2340864" cy="237744"/>
          </a:xfrm>
          <a:prstGeom prst="rect">
            <a:avLst/>
          </a:prstGeom>
          <a:noFill/>
        </p:spPr>
        <p:txBody>
          <a:bodyPr wrap="square" lIns="0" tIns="0" rIns="0" bIns="0" anchor="ctr"/>
          <a:lstStyle/>
          <a:p>
            <a:pPr marL="0" indent="0">
              <a:buNone/>
            </a:pPr>
            <a:r>
              <a:rPr sz="1100" b="1" spc="100">
                <a:solidFill>
                  <a:srgbClr val="FF647C"/>
                </a:solidFill>
                <a:latin typeface="Inter"/>
                <a:ea typeface="Inter"/>
                <a:cs typeface="Inter"/>
              </a:rPr>
              <a:t>VENDOR DATA AGREEMENT</a:t>
            </a:r>
            <a:endParaRPr sz="1100"/>
          </a:p>
        </p:txBody>
      </p:sp>
      <p:pic>
        <p:nvPicPr>
          <p:cNvPr id="69"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14400" y="2322576"/>
            <a:ext cx="219456" cy="219456"/>
          </a:xfrm>
          <a:prstGeom prst="rect">
            <a:avLst/>
          </a:prstGeom>
        </p:spPr>
      </p:pic>
      <p:sp>
        <p:nvSpPr>
          <p:cNvPr id="9" name="Text 4">
            <a:extLst>
              <a:ext uri="{FF2B5EF4-FFF2-40B4-BE49-F238E27FC236}">
                <a16:creationId xmlns:a16="http://schemas.microsoft.com/office/drawing/2014/main" id="{B66D42B8-5009-45DF-9961-27888EFE6055}"/>
              </a:ext>
            </a:extLst>
          </p:cNvPr>
          <p:cNvSpPr>
            <a:spLocks noGrp="1"/>
          </p:cNvSpPr>
          <p:nvPr/>
        </p:nvSpPr>
        <p:spPr>
          <a:xfrm>
            <a:off x="1280160" y="2295144"/>
            <a:ext cx="2578608" cy="256032"/>
          </a:xfrm>
          <a:prstGeom prst="rect">
            <a:avLst/>
          </a:prstGeom>
          <a:noFill/>
        </p:spPr>
        <p:txBody>
          <a:bodyPr wrap="square" lIns="0" tIns="0" rIns="0" bIns="0" anchor="ctr"/>
          <a:lstStyle/>
          <a:p>
            <a:pPr marL="0" indent="0">
              <a:buNone/>
            </a:pPr>
            <a:r>
              <a:rPr sz="1240" b="1">
                <a:solidFill>
                  <a:srgbClr val="EAF0F8"/>
                </a:solidFill>
                <a:latin typeface="Inter"/>
                <a:ea typeface="Inter"/>
                <a:cs typeface="Inter"/>
              </a:rPr>
              <a:t>AI processing restricted</a:t>
            </a:r>
            <a:endParaRPr sz="1240"/>
          </a:p>
        </p:txBody>
      </p:sp>
      <p:pic>
        <p:nvPicPr>
          <p:cNvPr id="71" name="Image 3"/>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14400" y="2834640"/>
            <a:ext cx="219456" cy="219456"/>
          </a:xfrm>
          <a:prstGeom prst="rect">
            <a:avLst/>
          </a:prstGeom>
        </p:spPr>
      </p:pic>
      <p:sp>
        <p:nvSpPr>
          <p:cNvPr id="11" name="Text 5">
            <a:extLst>
              <a:ext uri="{FF2B5EF4-FFF2-40B4-BE49-F238E27FC236}">
                <a16:creationId xmlns:a16="http://schemas.microsoft.com/office/drawing/2014/main" id="{D462551A-6B49-471E-858E-C56C7A60374D}"/>
              </a:ext>
            </a:extLst>
          </p:cNvPr>
          <p:cNvSpPr>
            <a:spLocks noGrp="1"/>
          </p:cNvSpPr>
          <p:nvPr/>
        </p:nvSpPr>
        <p:spPr>
          <a:xfrm>
            <a:off x="1280160" y="2807208"/>
            <a:ext cx="2578608" cy="256032"/>
          </a:xfrm>
          <a:prstGeom prst="rect">
            <a:avLst/>
          </a:prstGeom>
          <a:noFill/>
        </p:spPr>
        <p:txBody>
          <a:bodyPr wrap="square" lIns="0" tIns="0" rIns="0" bIns="0" anchor="ctr"/>
          <a:lstStyle/>
          <a:p>
            <a:pPr marL="0" indent="0">
              <a:buNone/>
            </a:pPr>
            <a:r>
              <a:rPr sz="1240" b="1">
                <a:solidFill>
                  <a:srgbClr val="EAF0F8"/>
                </a:solidFill>
                <a:latin typeface="Inter"/>
                <a:ea typeface="Inter"/>
                <a:cs typeface="Inter"/>
              </a:rPr>
              <a:t>No model training</a:t>
            </a:r>
            <a:endParaRPr sz="1240"/>
          </a:p>
        </p:txBody>
      </p:sp>
      <p:pic>
        <p:nvPicPr>
          <p:cNvPr id="73" name="Image 4"/>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14400" y="3346704"/>
            <a:ext cx="219456" cy="219456"/>
          </a:xfrm>
          <a:prstGeom prst="rect">
            <a:avLst/>
          </a:prstGeom>
        </p:spPr>
      </p:pic>
      <p:sp>
        <p:nvSpPr>
          <p:cNvPr id="13" name="Text 6">
            <a:extLst>
              <a:ext uri="{FF2B5EF4-FFF2-40B4-BE49-F238E27FC236}">
                <a16:creationId xmlns:a16="http://schemas.microsoft.com/office/drawing/2014/main" id="{E2BD7819-9A1E-4B9D-90B0-79349E6A9292}"/>
              </a:ext>
            </a:extLst>
          </p:cNvPr>
          <p:cNvSpPr>
            <a:spLocks noGrp="1"/>
          </p:cNvSpPr>
          <p:nvPr/>
        </p:nvSpPr>
        <p:spPr>
          <a:xfrm>
            <a:off x="1280160" y="3319272"/>
            <a:ext cx="2578608" cy="256032"/>
          </a:xfrm>
          <a:prstGeom prst="rect">
            <a:avLst/>
          </a:prstGeom>
          <a:noFill/>
        </p:spPr>
        <p:txBody>
          <a:bodyPr wrap="square" lIns="0" tIns="0" rIns="0" bIns="0" anchor="ctr"/>
          <a:lstStyle/>
          <a:p>
            <a:pPr marL="0" indent="0">
              <a:buNone/>
            </a:pPr>
            <a:r>
              <a:rPr sz="1240" b="1">
                <a:solidFill>
                  <a:srgbClr val="EAF0F8"/>
                </a:solidFill>
                <a:latin typeface="Inter"/>
                <a:ea typeface="Inter"/>
                <a:cs typeface="Inter"/>
              </a:rPr>
              <a:t>Licensed users only</a:t>
            </a:r>
            <a:endParaRPr sz="1240"/>
          </a:p>
        </p:txBody>
      </p:sp>
      <p:pic>
        <p:nvPicPr>
          <p:cNvPr id="75" name="Image 5"/>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14400" y="3858768"/>
            <a:ext cx="219456" cy="219456"/>
          </a:xfrm>
          <a:prstGeom prst="rect">
            <a:avLst/>
          </a:prstGeom>
        </p:spPr>
      </p:pic>
      <p:sp>
        <p:nvSpPr>
          <p:cNvPr id="15" name="Text 7">
            <a:extLst>
              <a:ext uri="{FF2B5EF4-FFF2-40B4-BE49-F238E27FC236}">
                <a16:creationId xmlns:a16="http://schemas.microsoft.com/office/drawing/2014/main" id="{229BA583-5B2C-44D3-867E-0FED65A5FB11}"/>
              </a:ext>
            </a:extLst>
          </p:cNvPr>
          <p:cNvSpPr>
            <a:spLocks noGrp="1"/>
          </p:cNvSpPr>
          <p:nvPr/>
        </p:nvSpPr>
        <p:spPr>
          <a:xfrm>
            <a:off x="1280160" y="3831336"/>
            <a:ext cx="2578608" cy="256032"/>
          </a:xfrm>
          <a:prstGeom prst="rect">
            <a:avLst/>
          </a:prstGeom>
          <a:noFill/>
        </p:spPr>
        <p:txBody>
          <a:bodyPr wrap="square" lIns="0" tIns="0" rIns="0" bIns="0" anchor="ctr"/>
          <a:lstStyle/>
          <a:p>
            <a:pPr marL="0" indent="0">
              <a:buNone/>
            </a:pPr>
            <a:r>
              <a:rPr sz="1240" b="1">
                <a:solidFill>
                  <a:srgbClr val="EAF0F8"/>
                </a:solidFill>
                <a:latin typeface="Inter"/>
                <a:ea typeface="Inter"/>
                <a:cs typeface="Inter"/>
              </a:rPr>
              <a:t>No raw redistribution</a:t>
            </a:r>
            <a:endParaRPr sz="1240"/>
          </a:p>
        </p:txBody>
      </p:sp>
      <p:pic>
        <p:nvPicPr>
          <p:cNvPr id="77" name="Image 6"/>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14400" y="4370832"/>
            <a:ext cx="219456" cy="219456"/>
          </a:xfrm>
          <a:prstGeom prst="rect">
            <a:avLst/>
          </a:prstGeom>
        </p:spPr>
      </p:pic>
      <p:sp>
        <p:nvSpPr>
          <p:cNvPr id="17" name="Text 8">
            <a:extLst>
              <a:ext uri="{FF2B5EF4-FFF2-40B4-BE49-F238E27FC236}">
                <a16:creationId xmlns:a16="http://schemas.microsoft.com/office/drawing/2014/main" id="{44869675-5D6C-436C-A943-B994BC1B3E3C}"/>
              </a:ext>
            </a:extLst>
          </p:cNvPr>
          <p:cNvSpPr>
            <a:spLocks noGrp="1"/>
          </p:cNvSpPr>
          <p:nvPr/>
        </p:nvSpPr>
        <p:spPr>
          <a:xfrm>
            <a:off x="1280160" y="4343400"/>
            <a:ext cx="2578608" cy="256032"/>
          </a:xfrm>
          <a:prstGeom prst="rect">
            <a:avLst/>
          </a:prstGeom>
          <a:noFill/>
        </p:spPr>
        <p:txBody>
          <a:bodyPr wrap="square" lIns="0" tIns="0" rIns="0" bIns="0" anchor="ctr"/>
          <a:lstStyle/>
          <a:p>
            <a:pPr marL="0" indent="0">
              <a:buNone/>
            </a:pPr>
            <a:r>
              <a:rPr sz="1240" b="1">
                <a:solidFill>
                  <a:srgbClr val="EAF0F8"/>
                </a:solidFill>
                <a:latin typeface="Inter"/>
                <a:ea typeface="Inter"/>
                <a:cs typeface="Inter"/>
              </a:rPr>
              <a:t>Derived use controlled</a:t>
            </a:r>
            <a:endParaRPr sz="1240"/>
          </a:p>
        </p:txBody>
      </p:sp>
      <p:sp>
        <p:nvSpPr>
          <p:cNvPr id="18" name="Text 9">
            <a:extLst>
              <a:ext uri="{FF2B5EF4-FFF2-40B4-BE49-F238E27FC236}">
                <a16:creationId xmlns:a16="http://schemas.microsoft.com/office/drawing/2014/main" id="{EEB43060-BBDC-4859-9179-D0C1FF8F84B2}"/>
              </a:ext>
            </a:extLst>
          </p:cNvPr>
          <p:cNvSpPr>
            <a:spLocks noGrp="1"/>
          </p:cNvSpPr>
          <p:nvPr/>
        </p:nvSpPr>
        <p:spPr>
          <a:xfrm>
            <a:off x="896112" y="5084064"/>
            <a:ext cx="3145536" cy="530352"/>
          </a:xfrm>
          <a:prstGeom prst="rect">
            <a:avLst/>
          </a:prstGeom>
          <a:noFill/>
        </p:spPr>
        <p:txBody>
          <a:bodyPr wrap="square" lIns="0" tIns="0" rIns="0" bIns="0" anchor="ctr"/>
          <a:lstStyle/>
          <a:p>
            <a:pPr marL="0" indent="0" algn="ctr">
              <a:buNone/>
            </a:pPr>
            <a:r>
              <a:rPr sz="1500" b="1">
                <a:solidFill>
                  <a:srgbClr val="F7FAFF"/>
                </a:solidFill>
                <a:latin typeface="Inter"/>
                <a:ea typeface="Inter"/>
                <a:cs typeface="Inter"/>
              </a:rPr>
              <a:t>The policy must shape routing</a:t>
            </a:r>
            <a:endParaRPr sz="1500"/>
          </a:p>
          <a:p>
            <a:pPr marL="0" indent="0" algn="ctr">
              <a:buNone/>
            </a:pPr>
            <a:r>
              <a:rPr sz="1500" b="1">
                <a:solidFill>
                  <a:srgbClr val="F7FAFF"/>
                </a:solidFill>
                <a:latin typeface="Inter"/>
                <a:ea typeface="Inter"/>
                <a:cs typeface="Inter"/>
              </a:rPr>
              <a:t>before the model sees the data.</a:t>
            </a:r>
            <a:endParaRPr sz="1500"/>
          </a:p>
        </p:txBody>
      </p:sp>
      <p:sp>
        <p:nvSpPr>
          <p:cNvPr id="19" name="Text 10">
            <a:extLst>
              <a:ext uri="{FF2B5EF4-FFF2-40B4-BE49-F238E27FC236}">
                <a16:creationId xmlns:a16="http://schemas.microsoft.com/office/drawing/2014/main" id="{950B4A1B-575E-40BE-B9DB-7DB49F57957A}"/>
              </a:ext>
            </a:extLst>
          </p:cNvPr>
          <p:cNvSpPr>
            <a:spLocks noGrp="1"/>
          </p:cNvSpPr>
          <p:nvPr/>
        </p:nvSpPr>
        <p:spPr>
          <a:xfrm>
            <a:off x="4800600" y="1371600"/>
            <a:ext cx="6629400" cy="704088"/>
          </a:xfrm>
          <a:prstGeom prst="rect">
            <a:avLst/>
          </a:prstGeom>
          <a:noFill/>
        </p:spPr>
        <p:txBody>
          <a:bodyPr wrap="square" lIns="0" tIns="0" rIns="0" bIns="0" anchor="ctr"/>
          <a:lstStyle/>
          <a:p>
            <a:pPr marL="0" indent="0">
              <a:buNone/>
            </a:pPr>
            <a:r>
              <a:rPr sz="2300" b="1">
                <a:solidFill>
                  <a:srgbClr val="F7FAFF"/>
                </a:solidFill>
                <a:latin typeface="Inter"/>
                <a:ea typeface="Inter"/>
                <a:cs typeface="Inter"/>
              </a:rPr>
              <a:t>Separate relevance from permission.</a:t>
            </a:r>
            <a:endParaRPr sz="2300"/>
          </a:p>
        </p:txBody>
      </p:sp>
      <p:sp>
        <p:nvSpPr>
          <p:cNvPr id="20" name="Shape 11">
            <a:extLst>
              <a:ext uri="{FF2B5EF4-FFF2-40B4-BE49-F238E27FC236}">
                <a16:creationId xmlns:a16="http://schemas.microsoft.com/office/drawing/2014/main" id="{6A75EAD1-56E2-4D3D-B34C-344C27033CF9}"/>
              </a:ext>
            </a:extLst>
          </p:cNvPr>
          <p:cNvSpPr>
            <a:spLocks noGrp="1"/>
          </p:cNvSpPr>
          <p:nvPr/>
        </p:nvSpPr>
        <p:spPr>
          <a:xfrm>
            <a:off x="4800600" y="2432304"/>
            <a:ext cx="3108960" cy="804672"/>
          </a:xfrm>
          <a:prstGeom prst="roundRect">
            <a:avLst>
              <a:gd name="adj" fmla="val 9091"/>
            </a:avLst>
          </a:prstGeom>
          <a:solidFill>
            <a:srgbClr val="0E1B2E"/>
          </a:solidFill>
          <a:ln w="12700">
            <a:solidFill>
              <a:srgbClr val="293A51"/>
            </a:solidFill>
            <a:prstDash val="solid"/>
          </a:ln>
        </p:spPr>
        <p:txBody>
          <a:bodyPr/>
          <a:lstStyle/>
          <a:p>
            <a:endParaRPr/>
          </a:p>
        </p:txBody>
      </p:sp>
      <p:pic>
        <p:nvPicPr>
          <p:cNvPr id="82" name="Image 7"/>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983480" y="2658872"/>
            <a:ext cx="292608" cy="260096"/>
          </a:xfrm>
          <a:prstGeom prst="rect">
            <a:avLst/>
          </a:prstGeom>
        </p:spPr>
      </p:pic>
      <p:sp>
        <p:nvSpPr>
          <p:cNvPr id="22" name="Text 12">
            <a:extLst>
              <a:ext uri="{FF2B5EF4-FFF2-40B4-BE49-F238E27FC236}">
                <a16:creationId xmlns:a16="http://schemas.microsoft.com/office/drawing/2014/main" id="{FD83992A-71C7-4958-BB57-4F6A2DE053C9}"/>
              </a:ext>
            </a:extLst>
          </p:cNvPr>
          <p:cNvSpPr>
            <a:spLocks noGrp="1"/>
          </p:cNvSpPr>
          <p:nvPr/>
        </p:nvSpPr>
        <p:spPr>
          <a:xfrm>
            <a:off x="5422392" y="2551176"/>
            <a:ext cx="1417320" cy="237744"/>
          </a:xfrm>
          <a:prstGeom prst="rect">
            <a:avLst/>
          </a:prstGeom>
          <a:noFill/>
        </p:spPr>
        <p:txBody>
          <a:bodyPr wrap="square" lIns="0" tIns="0" rIns="0" bIns="0" anchor="ctr"/>
          <a:lstStyle/>
          <a:p>
            <a:pPr marL="0" indent="0">
              <a:buNone/>
            </a:pPr>
            <a:r>
              <a:rPr sz="1180" b="1">
                <a:solidFill>
                  <a:srgbClr val="F7FAFF"/>
                </a:solidFill>
                <a:latin typeface="Inter"/>
                <a:ea typeface="Inter"/>
                <a:cs typeface="Inter"/>
              </a:rPr>
              <a:t>Terminal denial</a:t>
            </a:r>
            <a:endParaRPr sz="1180"/>
          </a:p>
        </p:txBody>
      </p:sp>
      <p:sp>
        <p:nvSpPr>
          <p:cNvPr id="23" name="Text 13">
            <a:extLst>
              <a:ext uri="{FF2B5EF4-FFF2-40B4-BE49-F238E27FC236}">
                <a16:creationId xmlns:a16="http://schemas.microsoft.com/office/drawing/2014/main" id="{86C4E4A8-1A2C-4E02-AB31-79EC29DDA97A}"/>
              </a:ext>
            </a:extLst>
          </p:cNvPr>
          <p:cNvSpPr>
            <a:spLocks noGrp="1"/>
          </p:cNvSpPr>
          <p:nvPr/>
        </p:nvSpPr>
        <p:spPr>
          <a:xfrm>
            <a:off x="5422392" y="2862072"/>
            <a:ext cx="2212848" cy="18288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access_denied · next_action: stop</a:t>
            </a:r>
            <a:endParaRPr sz="880"/>
          </a:p>
        </p:txBody>
      </p:sp>
      <p:sp>
        <p:nvSpPr>
          <p:cNvPr id="24" name="Shape 14">
            <a:extLst>
              <a:ext uri="{FF2B5EF4-FFF2-40B4-BE49-F238E27FC236}">
                <a16:creationId xmlns:a16="http://schemas.microsoft.com/office/drawing/2014/main" id="{09B6ADA7-0809-4266-A62A-14469253E8BB}"/>
              </a:ext>
            </a:extLst>
          </p:cNvPr>
          <p:cNvSpPr>
            <a:spLocks noGrp="1"/>
          </p:cNvSpPr>
          <p:nvPr/>
        </p:nvSpPr>
        <p:spPr>
          <a:xfrm>
            <a:off x="8202168" y="2432304"/>
            <a:ext cx="3108960" cy="804672"/>
          </a:xfrm>
          <a:prstGeom prst="roundRect">
            <a:avLst>
              <a:gd name="adj" fmla="val 9091"/>
            </a:avLst>
          </a:prstGeom>
          <a:solidFill>
            <a:srgbClr val="0E1B2E"/>
          </a:solidFill>
          <a:ln w="12700">
            <a:solidFill>
              <a:srgbClr val="293A51"/>
            </a:solidFill>
            <a:prstDash val="solid"/>
          </a:ln>
        </p:spPr>
        <p:txBody>
          <a:bodyPr/>
          <a:lstStyle/>
          <a:p>
            <a:endParaRPr/>
          </a:p>
        </p:txBody>
      </p:sp>
      <p:pic>
        <p:nvPicPr>
          <p:cNvPr id="86" name="Image 8"/>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385048" y="2658872"/>
            <a:ext cx="292608" cy="260096"/>
          </a:xfrm>
          <a:prstGeom prst="rect">
            <a:avLst/>
          </a:prstGeom>
        </p:spPr>
      </p:pic>
      <p:sp>
        <p:nvSpPr>
          <p:cNvPr id="26" name="Text 15">
            <a:extLst>
              <a:ext uri="{FF2B5EF4-FFF2-40B4-BE49-F238E27FC236}">
                <a16:creationId xmlns:a16="http://schemas.microsoft.com/office/drawing/2014/main" id="{F2DB2D23-928F-468B-AC42-7C446813E5DB}"/>
              </a:ext>
            </a:extLst>
          </p:cNvPr>
          <p:cNvSpPr>
            <a:spLocks noGrp="1"/>
          </p:cNvSpPr>
          <p:nvPr/>
        </p:nvSpPr>
        <p:spPr>
          <a:xfrm>
            <a:off x="8823960" y="2551176"/>
            <a:ext cx="1417320" cy="237744"/>
          </a:xfrm>
          <a:prstGeom prst="rect">
            <a:avLst/>
          </a:prstGeom>
          <a:noFill/>
        </p:spPr>
        <p:txBody>
          <a:bodyPr wrap="square" lIns="0" tIns="0" rIns="0" bIns="0" anchor="ctr"/>
          <a:lstStyle/>
          <a:p>
            <a:pPr marL="0" indent="0">
              <a:buNone/>
            </a:pPr>
            <a:r>
              <a:rPr sz="1180" b="1">
                <a:solidFill>
                  <a:srgbClr val="F7FAFF"/>
                </a:solidFill>
                <a:latin typeface="Inter"/>
                <a:ea typeface="Inter"/>
                <a:cs typeface="Inter"/>
              </a:rPr>
              <a:t>Metadata only</a:t>
            </a:r>
            <a:endParaRPr sz="1180"/>
          </a:p>
        </p:txBody>
      </p:sp>
      <p:sp>
        <p:nvSpPr>
          <p:cNvPr id="27" name="Text 16">
            <a:extLst>
              <a:ext uri="{FF2B5EF4-FFF2-40B4-BE49-F238E27FC236}">
                <a16:creationId xmlns:a16="http://schemas.microsoft.com/office/drawing/2014/main" id="{1DE798AB-1435-434C-9701-EDE1EE32CBC3}"/>
              </a:ext>
            </a:extLst>
          </p:cNvPr>
          <p:cNvSpPr>
            <a:spLocks noGrp="1"/>
          </p:cNvSpPr>
          <p:nvPr/>
        </p:nvSpPr>
        <p:spPr>
          <a:xfrm>
            <a:off x="8823960" y="2862072"/>
            <a:ext cx="2212848" cy="18288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Discover without raw content</a:t>
            </a:r>
            <a:endParaRPr sz="880"/>
          </a:p>
        </p:txBody>
      </p:sp>
      <p:sp>
        <p:nvSpPr>
          <p:cNvPr id="28" name="Shape 17">
            <a:extLst>
              <a:ext uri="{FF2B5EF4-FFF2-40B4-BE49-F238E27FC236}">
                <a16:creationId xmlns:a16="http://schemas.microsoft.com/office/drawing/2014/main" id="{8C372B24-E0B8-4431-8DDF-5A3B5182A077}"/>
              </a:ext>
            </a:extLst>
          </p:cNvPr>
          <p:cNvSpPr>
            <a:spLocks noGrp="1"/>
          </p:cNvSpPr>
          <p:nvPr/>
        </p:nvSpPr>
        <p:spPr>
          <a:xfrm>
            <a:off x="4800600" y="3493008"/>
            <a:ext cx="3108960" cy="804672"/>
          </a:xfrm>
          <a:prstGeom prst="roundRect">
            <a:avLst>
              <a:gd name="adj" fmla="val 9091"/>
            </a:avLst>
          </a:prstGeom>
          <a:solidFill>
            <a:srgbClr val="0E1B2E"/>
          </a:solidFill>
          <a:ln w="12700">
            <a:solidFill>
              <a:srgbClr val="293A51"/>
            </a:solidFill>
            <a:prstDash val="solid"/>
          </a:ln>
        </p:spPr>
        <p:txBody>
          <a:bodyPr/>
          <a:lstStyle/>
          <a:p>
            <a:endParaRPr/>
          </a:p>
        </p:txBody>
      </p:sp>
      <p:pic>
        <p:nvPicPr>
          <p:cNvPr id="90" name="Image 9"/>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01768" y="3703320"/>
            <a:ext cx="256032" cy="292608"/>
          </a:xfrm>
          <a:prstGeom prst="rect">
            <a:avLst/>
          </a:prstGeom>
        </p:spPr>
      </p:pic>
      <p:sp>
        <p:nvSpPr>
          <p:cNvPr id="30" name="Text 18">
            <a:extLst>
              <a:ext uri="{FF2B5EF4-FFF2-40B4-BE49-F238E27FC236}">
                <a16:creationId xmlns:a16="http://schemas.microsoft.com/office/drawing/2014/main" id="{40CB5AA6-4704-4902-8374-D84BF865422F}"/>
              </a:ext>
            </a:extLst>
          </p:cNvPr>
          <p:cNvSpPr>
            <a:spLocks noGrp="1"/>
          </p:cNvSpPr>
          <p:nvPr/>
        </p:nvSpPr>
        <p:spPr>
          <a:xfrm>
            <a:off x="5422392" y="3611880"/>
            <a:ext cx="1417320" cy="237744"/>
          </a:xfrm>
          <a:prstGeom prst="rect">
            <a:avLst/>
          </a:prstGeom>
          <a:noFill/>
        </p:spPr>
        <p:txBody>
          <a:bodyPr wrap="square" lIns="0" tIns="0" rIns="0" bIns="0" anchor="ctr"/>
          <a:lstStyle/>
          <a:p>
            <a:pPr marL="0" indent="0">
              <a:buNone/>
            </a:pPr>
            <a:r>
              <a:rPr sz="1180" b="1">
                <a:solidFill>
                  <a:srgbClr val="F7FAFF"/>
                </a:solidFill>
                <a:latin typeface="Inter"/>
                <a:ea typeface="Inter"/>
                <a:cs typeface="Inter"/>
              </a:rPr>
              <a:t>Compute beside data</a:t>
            </a:r>
            <a:endParaRPr sz="1180"/>
          </a:p>
        </p:txBody>
      </p:sp>
      <p:sp>
        <p:nvSpPr>
          <p:cNvPr id="31" name="Text 19">
            <a:extLst>
              <a:ext uri="{FF2B5EF4-FFF2-40B4-BE49-F238E27FC236}">
                <a16:creationId xmlns:a16="http://schemas.microsoft.com/office/drawing/2014/main" id="{0FFD0185-BF7B-438C-A6E6-1ED858A42D20}"/>
              </a:ext>
            </a:extLst>
          </p:cNvPr>
          <p:cNvSpPr>
            <a:spLocks noGrp="1"/>
          </p:cNvSpPr>
          <p:nvPr/>
        </p:nvSpPr>
        <p:spPr>
          <a:xfrm>
            <a:off x="5422392" y="3922776"/>
            <a:ext cx="2212848" cy="18288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Return approved aggregates</a:t>
            </a:r>
            <a:endParaRPr sz="880"/>
          </a:p>
        </p:txBody>
      </p:sp>
      <p:sp>
        <p:nvSpPr>
          <p:cNvPr id="32" name="Shape 20">
            <a:extLst>
              <a:ext uri="{FF2B5EF4-FFF2-40B4-BE49-F238E27FC236}">
                <a16:creationId xmlns:a16="http://schemas.microsoft.com/office/drawing/2014/main" id="{CE5EBF17-1F82-4C1C-BFE4-746644E099F8}"/>
              </a:ext>
            </a:extLst>
          </p:cNvPr>
          <p:cNvSpPr>
            <a:spLocks noGrp="1"/>
          </p:cNvSpPr>
          <p:nvPr/>
        </p:nvSpPr>
        <p:spPr>
          <a:xfrm>
            <a:off x="8202168" y="3493008"/>
            <a:ext cx="3108960" cy="804672"/>
          </a:xfrm>
          <a:prstGeom prst="roundRect">
            <a:avLst>
              <a:gd name="adj" fmla="val 9091"/>
            </a:avLst>
          </a:prstGeom>
          <a:solidFill>
            <a:srgbClr val="0E1B2E"/>
          </a:solidFill>
          <a:ln w="12700">
            <a:solidFill>
              <a:srgbClr val="293A51"/>
            </a:solidFill>
            <a:prstDash val="solid"/>
          </a:ln>
        </p:spPr>
        <p:txBody>
          <a:bodyPr/>
          <a:lstStyle/>
          <a:p>
            <a:endParaRPr/>
          </a:p>
        </p:txBody>
      </p:sp>
      <p:pic>
        <p:nvPicPr>
          <p:cNvPr id="94" name="Image 10"/>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403336" y="3703320"/>
            <a:ext cx="256032" cy="292608"/>
          </a:xfrm>
          <a:prstGeom prst="rect">
            <a:avLst/>
          </a:prstGeom>
        </p:spPr>
      </p:pic>
      <p:sp>
        <p:nvSpPr>
          <p:cNvPr id="34" name="Text 21">
            <a:extLst>
              <a:ext uri="{FF2B5EF4-FFF2-40B4-BE49-F238E27FC236}">
                <a16:creationId xmlns:a16="http://schemas.microsoft.com/office/drawing/2014/main" id="{0740476F-9233-4036-838B-96DF07B93976}"/>
              </a:ext>
            </a:extLst>
          </p:cNvPr>
          <p:cNvSpPr>
            <a:spLocks noGrp="1"/>
          </p:cNvSpPr>
          <p:nvPr/>
        </p:nvSpPr>
        <p:spPr>
          <a:xfrm>
            <a:off x="8823960" y="3611880"/>
            <a:ext cx="1417320" cy="237744"/>
          </a:xfrm>
          <a:prstGeom prst="rect">
            <a:avLst/>
          </a:prstGeom>
          <a:noFill/>
        </p:spPr>
        <p:txBody>
          <a:bodyPr wrap="square" lIns="0" tIns="0" rIns="0" bIns="0" anchor="ctr"/>
          <a:lstStyle/>
          <a:p>
            <a:pPr marL="0" indent="0">
              <a:buNone/>
            </a:pPr>
            <a:r>
              <a:rPr sz="1180" b="1">
                <a:solidFill>
                  <a:srgbClr val="F7FAFF"/>
                </a:solidFill>
                <a:latin typeface="Inter"/>
                <a:ea typeface="Inter"/>
                <a:cs typeface="Inter"/>
              </a:rPr>
              <a:t>Private inference</a:t>
            </a:r>
            <a:endParaRPr sz="1180"/>
          </a:p>
        </p:txBody>
      </p:sp>
      <p:sp>
        <p:nvSpPr>
          <p:cNvPr id="35" name="Text 22">
            <a:extLst>
              <a:ext uri="{FF2B5EF4-FFF2-40B4-BE49-F238E27FC236}">
                <a16:creationId xmlns:a16="http://schemas.microsoft.com/office/drawing/2014/main" id="{36811F16-8D00-45CC-8225-96DAFC388B90}"/>
              </a:ext>
            </a:extLst>
          </p:cNvPr>
          <p:cNvSpPr>
            <a:spLocks noGrp="1"/>
          </p:cNvSpPr>
          <p:nvPr/>
        </p:nvSpPr>
        <p:spPr>
          <a:xfrm>
            <a:off x="8823960" y="3922776"/>
            <a:ext cx="2212848" cy="18288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No-retention endpoints</a:t>
            </a:r>
            <a:endParaRPr sz="880"/>
          </a:p>
        </p:txBody>
      </p:sp>
      <p:sp>
        <p:nvSpPr>
          <p:cNvPr id="36" name="Shape 23">
            <a:extLst>
              <a:ext uri="{FF2B5EF4-FFF2-40B4-BE49-F238E27FC236}">
                <a16:creationId xmlns:a16="http://schemas.microsoft.com/office/drawing/2014/main" id="{6074480E-786B-4393-AB59-ADC64F2649AA}"/>
              </a:ext>
            </a:extLst>
          </p:cNvPr>
          <p:cNvSpPr>
            <a:spLocks noGrp="1"/>
          </p:cNvSpPr>
          <p:nvPr/>
        </p:nvSpPr>
        <p:spPr>
          <a:xfrm>
            <a:off x="4800600" y="4553712"/>
            <a:ext cx="3108960" cy="804672"/>
          </a:xfrm>
          <a:prstGeom prst="roundRect">
            <a:avLst>
              <a:gd name="adj" fmla="val 9091"/>
            </a:avLst>
          </a:prstGeom>
          <a:solidFill>
            <a:srgbClr val="0E1B2E"/>
          </a:solidFill>
          <a:ln w="12700">
            <a:solidFill>
              <a:srgbClr val="293A51"/>
            </a:solidFill>
            <a:prstDash val="solid"/>
          </a:ln>
        </p:spPr>
        <p:txBody>
          <a:bodyPr/>
          <a:lstStyle/>
          <a:p>
            <a:endParaRPr/>
          </a:p>
        </p:txBody>
      </p:sp>
      <p:pic>
        <p:nvPicPr>
          <p:cNvPr id="98" name="Image 11"/>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983480" y="4780280"/>
            <a:ext cx="292608" cy="260096"/>
          </a:xfrm>
          <a:prstGeom prst="rect">
            <a:avLst/>
          </a:prstGeom>
        </p:spPr>
      </p:pic>
      <p:sp>
        <p:nvSpPr>
          <p:cNvPr id="38" name="Text 24">
            <a:extLst>
              <a:ext uri="{FF2B5EF4-FFF2-40B4-BE49-F238E27FC236}">
                <a16:creationId xmlns:a16="http://schemas.microsoft.com/office/drawing/2014/main" id="{05AE2329-5494-4B46-9BF4-787254343484}"/>
              </a:ext>
            </a:extLst>
          </p:cNvPr>
          <p:cNvSpPr>
            <a:spLocks noGrp="1"/>
          </p:cNvSpPr>
          <p:nvPr/>
        </p:nvSpPr>
        <p:spPr>
          <a:xfrm>
            <a:off x="5422392" y="4672584"/>
            <a:ext cx="1417320" cy="237744"/>
          </a:xfrm>
          <a:prstGeom prst="rect">
            <a:avLst/>
          </a:prstGeom>
          <a:noFill/>
        </p:spPr>
        <p:txBody>
          <a:bodyPr wrap="square" lIns="0" tIns="0" rIns="0" bIns="0" anchor="ctr"/>
          <a:lstStyle/>
          <a:p>
            <a:pPr marL="0" indent="0">
              <a:buNone/>
            </a:pPr>
            <a:r>
              <a:rPr sz="1180" b="1">
                <a:solidFill>
                  <a:srgbClr val="F7FAFF"/>
                </a:solidFill>
                <a:latin typeface="Inter"/>
                <a:ea typeface="Inter"/>
                <a:cs typeface="Inter"/>
              </a:rPr>
              <a:t>Governed views</a:t>
            </a:r>
            <a:endParaRPr sz="1180"/>
          </a:p>
        </p:txBody>
      </p:sp>
      <p:sp>
        <p:nvSpPr>
          <p:cNvPr id="39" name="Text 25">
            <a:extLst>
              <a:ext uri="{FF2B5EF4-FFF2-40B4-BE49-F238E27FC236}">
                <a16:creationId xmlns:a16="http://schemas.microsoft.com/office/drawing/2014/main" id="{6B87DE60-0E45-490E-91BB-1FAF3828FD8D}"/>
              </a:ext>
            </a:extLst>
          </p:cNvPr>
          <p:cNvSpPr>
            <a:spLocks noGrp="1"/>
          </p:cNvSpPr>
          <p:nvPr/>
        </p:nvSpPr>
        <p:spPr>
          <a:xfrm>
            <a:off x="5422392" y="4983480"/>
            <a:ext cx="2212848" cy="18288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Approved derived products</a:t>
            </a:r>
            <a:endParaRPr sz="880"/>
          </a:p>
        </p:txBody>
      </p:sp>
      <p:sp>
        <p:nvSpPr>
          <p:cNvPr id="40" name="Shape 26">
            <a:extLst>
              <a:ext uri="{FF2B5EF4-FFF2-40B4-BE49-F238E27FC236}">
                <a16:creationId xmlns:a16="http://schemas.microsoft.com/office/drawing/2014/main" id="{BE6E3609-F2B9-4838-95B0-B6BECCA21D33}"/>
              </a:ext>
            </a:extLst>
          </p:cNvPr>
          <p:cNvSpPr>
            <a:spLocks noGrp="1"/>
          </p:cNvSpPr>
          <p:nvPr/>
        </p:nvSpPr>
        <p:spPr>
          <a:xfrm>
            <a:off x="8202168" y="4553712"/>
            <a:ext cx="3108960" cy="804672"/>
          </a:xfrm>
          <a:prstGeom prst="roundRect">
            <a:avLst>
              <a:gd name="adj" fmla="val 9091"/>
            </a:avLst>
          </a:prstGeom>
          <a:solidFill>
            <a:srgbClr val="0E1B2E"/>
          </a:solidFill>
          <a:ln w="12700">
            <a:solidFill>
              <a:srgbClr val="293A51"/>
            </a:solidFill>
            <a:prstDash val="solid"/>
          </a:ln>
        </p:spPr>
        <p:txBody>
          <a:bodyPr/>
          <a:lstStyle/>
          <a:p>
            <a:endParaRPr/>
          </a:p>
        </p:txBody>
      </p:sp>
      <p:pic>
        <p:nvPicPr>
          <p:cNvPr id="102" name="Image 12"/>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03336" y="4764024"/>
            <a:ext cx="256032" cy="292608"/>
          </a:xfrm>
          <a:prstGeom prst="rect">
            <a:avLst/>
          </a:prstGeom>
        </p:spPr>
      </p:pic>
      <p:sp>
        <p:nvSpPr>
          <p:cNvPr id="42" name="Text 27">
            <a:extLst>
              <a:ext uri="{FF2B5EF4-FFF2-40B4-BE49-F238E27FC236}">
                <a16:creationId xmlns:a16="http://schemas.microsoft.com/office/drawing/2014/main" id="{A1F4AD81-41DD-428B-9EE9-3C6CAEA94E8D}"/>
              </a:ext>
            </a:extLst>
          </p:cNvPr>
          <p:cNvSpPr>
            <a:spLocks noGrp="1"/>
          </p:cNvSpPr>
          <p:nvPr/>
        </p:nvSpPr>
        <p:spPr>
          <a:xfrm>
            <a:off x="8823960" y="4672584"/>
            <a:ext cx="1417320" cy="237744"/>
          </a:xfrm>
          <a:prstGeom prst="rect">
            <a:avLst/>
          </a:prstGeom>
          <a:noFill/>
        </p:spPr>
        <p:txBody>
          <a:bodyPr wrap="square" lIns="0" tIns="0" rIns="0" bIns="0" anchor="ctr"/>
          <a:lstStyle/>
          <a:p>
            <a:pPr marL="0" indent="0">
              <a:buNone/>
            </a:pPr>
            <a:r>
              <a:rPr sz="1180" b="1">
                <a:solidFill>
                  <a:srgbClr val="F7FAFF"/>
                </a:solidFill>
                <a:latin typeface="Inter"/>
                <a:ea typeface="Inter"/>
                <a:cs typeface="Inter"/>
              </a:rPr>
              <a:t>Synthetic evals</a:t>
            </a:r>
            <a:endParaRPr sz="1180"/>
          </a:p>
        </p:txBody>
      </p:sp>
      <p:sp>
        <p:nvSpPr>
          <p:cNvPr id="43" name="Text 28">
            <a:extLst>
              <a:ext uri="{FF2B5EF4-FFF2-40B4-BE49-F238E27FC236}">
                <a16:creationId xmlns:a16="http://schemas.microsoft.com/office/drawing/2014/main" id="{95F0E24B-59F3-4891-95D4-9D2E3BA00546}"/>
              </a:ext>
            </a:extLst>
          </p:cNvPr>
          <p:cNvSpPr>
            <a:spLocks noGrp="1"/>
          </p:cNvSpPr>
          <p:nvPr/>
        </p:nvSpPr>
        <p:spPr>
          <a:xfrm>
            <a:off x="8823960" y="4983480"/>
            <a:ext cx="2212848" cy="18288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Test without licensed records</a:t>
            </a:r>
            <a:endParaRPr sz="880"/>
          </a:p>
        </p:txBody>
      </p:sp>
      <p:sp>
        <p:nvSpPr>
          <p:cNvPr id="44" name="Shape 29">
            <a:extLst>
              <a:ext uri="{FF2B5EF4-FFF2-40B4-BE49-F238E27FC236}">
                <a16:creationId xmlns:a16="http://schemas.microsoft.com/office/drawing/2014/main" id="{80508A93-D0C8-41F1-9AAD-99D051BB77E6}"/>
              </a:ext>
            </a:extLst>
          </p:cNvPr>
          <p:cNvSpPr>
            <a:spLocks noGrp="1"/>
          </p:cNvSpPr>
          <p:nvPr/>
        </p:nvSpPr>
        <p:spPr>
          <a:xfrm>
            <a:off x="6446520" y="5696712"/>
            <a:ext cx="4343400" cy="393192"/>
          </a:xfrm>
          <a:prstGeom prst="roundRect">
            <a:avLst>
              <a:gd name="adj" fmla="val 18605"/>
            </a:avLst>
          </a:prstGeom>
          <a:solidFill>
            <a:srgbClr val="F7B955">
              <a:alpha val="15000"/>
            </a:srgbClr>
          </a:solidFill>
          <a:ln w="12700">
            <a:solidFill>
              <a:srgbClr val="F7B955">
                <a:alpha val="38000"/>
              </a:srgbClr>
            </a:solidFill>
            <a:prstDash val="solid"/>
          </a:ln>
        </p:spPr>
        <p:txBody>
          <a:bodyPr/>
          <a:lstStyle/>
          <a:p>
            <a:endParaRPr/>
          </a:p>
        </p:txBody>
      </p:sp>
      <p:sp>
        <p:nvSpPr>
          <p:cNvPr id="45" name="Text 30">
            <a:extLst>
              <a:ext uri="{FF2B5EF4-FFF2-40B4-BE49-F238E27FC236}">
                <a16:creationId xmlns:a16="http://schemas.microsoft.com/office/drawing/2014/main" id="{624E2C9E-B815-4905-B67C-9DDF97E722DF}"/>
              </a:ext>
            </a:extLst>
          </p:cNvPr>
          <p:cNvSpPr>
            <a:spLocks noGrp="1"/>
          </p:cNvSpPr>
          <p:nvPr/>
        </p:nvSpPr>
        <p:spPr>
          <a:xfrm>
            <a:off x="6519672" y="5705856"/>
            <a:ext cx="4197096" cy="374904"/>
          </a:xfrm>
          <a:prstGeom prst="rect">
            <a:avLst/>
          </a:prstGeom>
          <a:noFill/>
        </p:spPr>
        <p:txBody>
          <a:bodyPr wrap="square" lIns="0" tIns="0" rIns="0" bIns="0" anchor="ctr"/>
          <a:lstStyle/>
          <a:p>
            <a:pPr marL="0" indent="0" algn="ctr">
              <a:buNone/>
            </a:pPr>
            <a:r>
              <a:rPr sz="1040" b="1">
                <a:solidFill>
                  <a:srgbClr val="F7B955"/>
                </a:solidFill>
                <a:latin typeface="Inter"/>
                <a:ea typeface="Inter"/>
                <a:cs typeface="Inter"/>
              </a:rPr>
              <a:t>CONTRACT TERMS BECOME POLICY INPUTS</a:t>
            </a:r>
            <a:endParaRPr sz="1040"/>
          </a:p>
        </p:txBody>
      </p:sp>
      <p:sp>
        <p:nvSpPr>
          <p:cNvPr id="46" name="Shape 31">
            <a:extLst>
              <a:ext uri="{FF2B5EF4-FFF2-40B4-BE49-F238E27FC236}">
                <a16:creationId xmlns:a16="http://schemas.microsoft.com/office/drawing/2014/main" id="{5D0B8E89-C83B-44A7-9C2C-6574BBBF7249}"/>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47" name="Text 32">
            <a:extLst>
              <a:ext uri="{FF2B5EF4-FFF2-40B4-BE49-F238E27FC236}">
                <a16:creationId xmlns:a16="http://schemas.microsoft.com/office/drawing/2014/main" id="{9D22F23D-D1CE-4A9E-97C6-10D34F595DFD}"/>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ACT II · ENTERPRISE</a:t>
            </a:r>
            <a:endParaRPr sz="850"/>
          </a:p>
        </p:txBody>
      </p:sp>
      <p:sp>
        <p:nvSpPr>
          <p:cNvPr id="48" name="Text 33">
            <a:extLst>
              <a:ext uri="{FF2B5EF4-FFF2-40B4-BE49-F238E27FC236}">
                <a16:creationId xmlns:a16="http://schemas.microsoft.com/office/drawing/2014/main" id="{D0C2E174-C8BD-4C67-9314-2C45C6A0183E}"/>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49" name="Text 34">
            <a:extLst>
              <a:ext uri="{FF2B5EF4-FFF2-40B4-BE49-F238E27FC236}">
                <a16:creationId xmlns:a16="http://schemas.microsoft.com/office/drawing/2014/main" id="{E9BFC96D-79F1-48FF-9D99-1EB8030082BC}"/>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10</a:t>
            </a:r>
            <a:endParaRPr sz="850"/>
          </a:p>
        </p:txBody>
      </p:sp>
    </p:spTree>
    <p:extLst>
      <p:ext uri="{BB962C8B-B14F-4D97-AF65-F5344CB8AC3E}">
        <p14:creationId xmlns:p14="http://schemas.microsoft.com/office/powerpoint/2010/main" val="17950957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4"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73F6EF8B-A9CD-4766-9610-6F605EBD6786}"/>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TARGET STATE · CENTRAL GOVERNANCE</a:t>
            </a:r>
            <a:endParaRPr sz="950"/>
          </a:p>
        </p:txBody>
      </p:sp>
      <p:sp>
        <p:nvSpPr>
          <p:cNvPr id="4" name="Text 1">
            <a:extLst>
              <a:ext uri="{FF2B5EF4-FFF2-40B4-BE49-F238E27FC236}">
                <a16:creationId xmlns:a16="http://schemas.microsoft.com/office/drawing/2014/main" id="{554785B0-4B16-4D2C-A37E-D9333D113983}"/>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700" b="1">
                <a:solidFill>
                  <a:srgbClr val="F7FAFF"/>
                </a:solidFill>
                <a:latin typeface="Inter"/>
                <a:ea typeface="Inter"/>
                <a:cs typeface="Inter"/>
              </a:rPr>
              <a:t>The platform around a domain MCP server</a:t>
            </a:r>
            <a:endParaRPr sz="2700"/>
          </a:p>
        </p:txBody>
      </p:sp>
      <p:sp>
        <p:nvSpPr>
          <p:cNvPr id="5" name="Text 2">
            <a:extLst>
              <a:ext uri="{FF2B5EF4-FFF2-40B4-BE49-F238E27FC236}">
                <a16:creationId xmlns:a16="http://schemas.microsoft.com/office/drawing/2014/main" id="{7A65A612-8EB6-4EE5-B717-BBE6543A09FC}"/>
              </a:ext>
            </a:extLst>
          </p:cNvPr>
          <p:cNvSpPr>
            <a:spLocks noGrp="1"/>
          </p:cNvSpPr>
          <p:nvPr/>
        </p:nvSpPr>
        <p:spPr>
          <a:xfrm>
            <a:off x="594360" y="1216152"/>
            <a:ext cx="2103120" cy="201168"/>
          </a:xfrm>
          <a:prstGeom prst="rect">
            <a:avLst/>
          </a:prstGeom>
          <a:noFill/>
        </p:spPr>
        <p:txBody>
          <a:bodyPr wrap="square" lIns="0" tIns="0" rIns="0" bIns="0" anchor="ctr"/>
          <a:lstStyle/>
          <a:p>
            <a:pPr marL="0" indent="0">
              <a:buNone/>
            </a:pPr>
            <a:r>
              <a:rPr sz="870" b="1" spc="100">
                <a:solidFill>
                  <a:srgbClr val="72839A"/>
                </a:solidFill>
                <a:latin typeface="Inter"/>
                <a:ea typeface="Inter"/>
                <a:cs typeface="Inter"/>
              </a:rPr>
              <a:t>CHANNELS + PERSONAS</a:t>
            </a:r>
            <a:endParaRPr sz="870"/>
          </a:p>
        </p:txBody>
      </p:sp>
      <p:sp>
        <p:nvSpPr>
          <p:cNvPr id="6" name="Shape 3">
            <a:extLst>
              <a:ext uri="{FF2B5EF4-FFF2-40B4-BE49-F238E27FC236}">
                <a16:creationId xmlns:a16="http://schemas.microsoft.com/office/drawing/2014/main" id="{AF3F07C0-9010-43D7-AFE6-81D55C435DD5}"/>
              </a:ext>
            </a:extLst>
          </p:cNvPr>
          <p:cNvSpPr>
            <a:spLocks noGrp="1"/>
          </p:cNvSpPr>
          <p:nvPr/>
        </p:nvSpPr>
        <p:spPr>
          <a:xfrm>
            <a:off x="594360" y="1490472"/>
            <a:ext cx="1627632" cy="713232"/>
          </a:xfrm>
          <a:prstGeom prst="roundRect">
            <a:avLst>
              <a:gd name="adj" fmla="val 10256"/>
            </a:avLst>
          </a:prstGeom>
          <a:solidFill>
            <a:srgbClr val="0E1B2E"/>
          </a:solidFill>
          <a:ln w="12700">
            <a:solidFill>
              <a:srgbClr val="35D4E7"/>
            </a:solidFill>
            <a:prstDash val="solid"/>
          </a:ln>
        </p:spPr>
        <p:txBody>
          <a:bodyPr/>
          <a:lstStyle/>
          <a:p>
            <a:endParaRPr/>
          </a:p>
        </p:txBody>
      </p:sp>
      <p:pic>
        <p:nvPicPr>
          <p:cNvPr id="99"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9808" y="1708099"/>
            <a:ext cx="256032" cy="204826"/>
          </a:xfrm>
          <a:prstGeom prst="rect">
            <a:avLst/>
          </a:prstGeom>
        </p:spPr>
      </p:pic>
      <p:sp>
        <p:nvSpPr>
          <p:cNvPr id="8" name="Text 4">
            <a:extLst>
              <a:ext uri="{FF2B5EF4-FFF2-40B4-BE49-F238E27FC236}">
                <a16:creationId xmlns:a16="http://schemas.microsoft.com/office/drawing/2014/main" id="{7C8ABEF6-3C1E-45FB-BC58-569BFD53D458}"/>
              </a:ext>
            </a:extLst>
          </p:cNvPr>
          <p:cNvSpPr>
            <a:spLocks noGrp="1"/>
          </p:cNvSpPr>
          <p:nvPr/>
        </p:nvSpPr>
        <p:spPr>
          <a:xfrm>
            <a:off x="1106424" y="1664208"/>
            <a:ext cx="960120" cy="219456"/>
          </a:xfrm>
          <a:prstGeom prst="rect">
            <a:avLst/>
          </a:prstGeom>
          <a:noFill/>
        </p:spPr>
        <p:txBody>
          <a:bodyPr wrap="square" lIns="0" tIns="0" rIns="0" bIns="0" anchor="ctr"/>
          <a:lstStyle/>
          <a:p>
            <a:pPr marL="0" indent="0">
              <a:buNone/>
            </a:pPr>
            <a:r>
              <a:rPr sz="1030" b="1">
                <a:solidFill>
                  <a:srgbClr val="EAF0F8"/>
                </a:solidFill>
                <a:latin typeface="Inter"/>
                <a:ea typeface="Inter"/>
                <a:cs typeface="Inter"/>
              </a:rPr>
              <a:t>Chat / Teams</a:t>
            </a:r>
            <a:endParaRPr sz="1030"/>
          </a:p>
        </p:txBody>
      </p:sp>
      <p:sp>
        <p:nvSpPr>
          <p:cNvPr id="9" name="Shape 5">
            <a:extLst>
              <a:ext uri="{FF2B5EF4-FFF2-40B4-BE49-F238E27FC236}">
                <a16:creationId xmlns:a16="http://schemas.microsoft.com/office/drawing/2014/main" id="{8238BAD7-AFA9-4AD4-8E30-4940F5A102A3}"/>
              </a:ext>
            </a:extLst>
          </p:cNvPr>
          <p:cNvSpPr>
            <a:spLocks noGrp="1"/>
          </p:cNvSpPr>
          <p:nvPr/>
        </p:nvSpPr>
        <p:spPr>
          <a:xfrm>
            <a:off x="2505456" y="1490472"/>
            <a:ext cx="1627632" cy="713232"/>
          </a:xfrm>
          <a:prstGeom prst="roundRect">
            <a:avLst>
              <a:gd name="adj" fmla="val 10256"/>
            </a:avLst>
          </a:prstGeom>
          <a:solidFill>
            <a:srgbClr val="0E1B2E"/>
          </a:solidFill>
          <a:ln w="12700">
            <a:solidFill>
              <a:srgbClr val="5B7CFF"/>
            </a:solidFill>
            <a:prstDash val="solid"/>
          </a:ln>
        </p:spPr>
        <p:txBody>
          <a:bodyPr/>
          <a:lstStyle/>
          <a:p>
            <a:endParaRPr/>
          </a:p>
        </p:txBody>
      </p:sp>
      <p:pic>
        <p:nvPicPr>
          <p:cNvPr id="102"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60904" y="1708099"/>
            <a:ext cx="256032" cy="204826"/>
          </a:xfrm>
          <a:prstGeom prst="rect">
            <a:avLst/>
          </a:prstGeom>
        </p:spPr>
      </p:pic>
      <p:sp>
        <p:nvSpPr>
          <p:cNvPr id="11" name="Text 6">
            <a:extLst>
              <a:ext uri="{FF2B5EF4-FFF2-40B4-BE49-F238E27FC236}">
                <a16:creationId xmlns:a16="http://schemas.microsoft.com/office/drawing/2014/main" id="{EDC067EF-D8AA-4468-AA3E-C7860ACDC429}"/>
              </a:ext>
            </a:extLst>
          </p:cNvPr>
          <p:cNvSpPr>
            <a:spLocks noGrp="1"/>
          </p:cNvSpPr>
          <p:nvPr/>
        </p:nvSpPr>
        <p:spPr>
          <a:xfrm>
            <a:off x="3017520" y="1664208"/>
            <a:ext cx="960120" cy="219456"/>
          </a:xfrm>
          <a:prstGeom prst="rect">
            <a:avLst/>
          </a:prstGeom>
          <a:noFill/>
        </p:spPr>
        <p:txBody>
          <a:bodyPr wrap="square" lIns="0" tIns="0" rIns="0" bIns="0" anchor="ctr"/>
          <a:lstStyle/>
          <a:p>
            <a:pPr marL="0" indent="0">
              <a:buNone/>
            </a:pPr>
            <a:r>
              <a:rPr sz="1030" b="1">
                <a:solidFill>
                  <a:srgbClr val="EAF0F8"/>
                </a:solidFill>
                <a:latin typeface="Inter"/>
                <a:ea typeface="Inter"/>
                <a:cs typeface="Inter"/>
              </a:rPr>
              <a:t>IDE</a:t>
            </a:r>
            <a:endParaRPr sz="1030"/>
          </a:p>
        </p:txBody>
      </p:sp>
      <p:sp>
        <p:nvSpPr>
          <p:cNvPr id="12" name="Shape 7">
            <a:extLst>
              <a:ext uri="{FF2B5EF4-FFF2-40B4-BE49-F238E27FC236}">
                <a16:creationId xmlns:a16="http://schemas.microsoft.com/office/drawing/2014/main" id="{E6DF0461-CD28-4A95-9541-2DD842C2F8B6}"/>
              </a:ext>
            </a:extLst>
          </p:cNvPr>
          <p:cNvSpPr>
            <a:spLocks noGrp="1"/>
          </p:cNvSpPr>
          <p:nvPr/>
        </p:nvSpPr>
        <p:spPr>
          <a:xfrm>
            <a:off x="4416552" y="1490472"/>
            <a:ext cx="1627632" cy="713232"/>
          </a:xfrm>
          <a:prstGeom prst="roundRect">
            <a:avLst>
              <a:gd name="adj" fmla="val 10256"/>
            </a:avLst>
          </a:prstGeom>
          <a:solidFill>
            <a:srgbClr val="0E1B2E"/>
          </a:solidFill>
          <a:ln w="12700">
            <a:solidFill>
              <a:srgbClr val="A879FF"/>
            </a:solidFill>
            <a:prstDash val="solid"/>
          </a:ln>
        </p:spPr>
        <p:txBody>
          <a:bodyPr/>
          <a:lstStyle/>
          <a:p>
            <a:endParaRPr/>
          </a:p>
        </p:txBody>
      </p:sp>
      <p:pic>
        <p:nvPicPr>
          <p:cNvPr id="105" name="Image 3"/>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04004" y="1682496"/>
            <a:ext cx="192024" cy="256032"/>
          </a:xfrm>
          <a:prstGeom prst="rect">
            <a:avLst/>
          </a:prstGeom>
        </p:spPr>
      </p:pic>
      <p:sp>
        <p:nvSpPr>
          <p:cNvPr id="14" name="Text 8">
            <a:extLst>
              <a:ext uri="{FF2B5EF4-FFF2-40B4-BE49-F238E27FC236}">
                <a16:creationId xmlns:a16="http://schemas.microsoft.com/office/drawing/2014/main" id="{BB24D499-9440-455B-8870-3589F8F133E1}"/>
              </a:ext>
            </a:extLst>
          </p:cNvPr>
          <p:cNvSpPr>
            <a:spLocks noGrp="1"/>
          </p:cNvSpPr>
          <p:nvPr/>
        </p:nvSpPr>
        <p:spPr>
          <a:xfrm>
            <a:off x="4928616" y="1664208"/>
            <a:ext cx="960120" cy="219456"/>
          </a:xfrm>
          <a:prstGeom prst="rect">
            <a:avLst/>
          </a:prstGeom>
          <a:noFill/>
        </p:spPr>
        <p:txBody>
          <a:bodyPr wrap="square" lIns="0" tIns="0" rIns="0" bIns="0" anchor="ctr"/>
          <a:lstStyle/>
          <a:p>
            <a:pPr marL="0" indent="0">
              <a:buNone/>
            </a:pPr>
            <a:r>
              <a:rPr sz="1030" b="1">
                <a:solidFill>
                  <a:srgbClr val="EAF0F8"/>
                </a:solidFill>
                <a:latin typeface="Inter"/>
                <a:ea typeface="Inter"/>
                <a:cs typeface="Inter"/>
              </a:rPr>
              <a:t>Apps</a:t>
            </a:r>
            <a:endParaRPr sz="1030"/>
          </a:p>
        </p:txBody>
      </p:sp>
      <p:sp>
        <p:nvSpPr>
          <p:cNvPr id="15" name="Shape 9">
            <a:extLst>
              <a:ext uri="{FF2B5EF4-FFF2-40B4-BE49-F238E27FC236}">
                <a16:creationId xmlns:a16="http://schemas.microsoft.com/office/drawing/2014/main" id="{602D932A-CF7A-4A4B-8270-B905E236E200}"/>
              </a:ext>
            </a:extLst>
          </p:cNvPr>
          <p:cNvSpPr>
            <a:spLocks noGrp="1"/>
          </p:cNvSpPr>
          <p:nvPr/>
        </p:nvSpPr>
        <p:spPr>
          <a:xfrm>
            <a:off x="6327648" y="1490472"/>
            <a:ext cx="1627632" cy="713232"/>
          </a:xfrm>
          <a:prstGeom prst="roundRect">
            <a:avLst>
              <a:gd name="adj" fmla="val 10256"/>
            </a:avLst>
          </a:prstGeom>
          <a:solidFill>
            <a:srgbClr val="0E1B2E"/>
          </a:solidFill>
          <a:ln w="12700">
            <a:solidFill>
              <a:srgbClr val="F7B955"/>
            </a:solidFill>
            <a:prstDash val="solid"/>
          </a:ln>
        </p:spPr>
        <p:txBody>
          <a:bodyPr/>
          <a:lstStyle/>
          <a:p>
            <a:endParaRPr/>
          </a:p>
        </p:txBody>
      </p:sp>
      <p:pic>
        <p:nvPicPr>
          <p:cNvPr id="108" name="Image 4"/>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83096" y="1682496"/>
            <a:ext cx="256032" cy="256032"/>
          </a:xfrm>
          <a:prstGeom prst="rect">
            <a:avLst/>
          </a:prstGeom>
        </p:spPr>
      </p:pic>
      <p:sp>
        <p:nvSpPr>
          <p:cNvPr id="17" name="Text 10">
            <a:extLst>
              <a:ext uri="{FF2B5EF4-FFF2-40B4-BE49-F238E27FC236}">
                <a16:creationId xmlns:a16="http://schemas.microsoft.com/office/drawing/2014/main" id="{84011834-57A9-4975-83F8-341A30F897E0}"/>
              </a:ext>
            </a:extLst>
          </p:cNvPr>
          <p:cNvSpPr>
            <a:spLocks noGrp="1"/>
          </p:cNvSpPr>
          <p:nvPr/>
        </p:nvSpPr>
        <p:spPr>
          <a:xfrm>
            <a:off x="6839712" y="1664208"/>
            <a:ext cx="960120" cy="219456"/>
          </a:xfrm>
          <a:prstGeom prst="rect">
            <a:avLst/>
          </a:prstGeom>
          <a:noFill/>
        </p:spPr>
        <p:txBody>
          <a:bodyPr wrap="square" lIns="0" tIns="0" rIns="0" bIns="0" anchor="ctr"/>
          <a:lstStyle/>
          <a:p>
            <a:pPr marL="0" indent="0">
              <a:buNone/>
            </a:pPr>
            <a:r>
              <a:rPr sz="1030" b="1">
                <a:solidFill>
                  <a:srgbClr val="EAF0F8"/>
                </a:solidFill>
                <a:latin typeface="Inter"/>
                <a:ea typeface="Inter"/>
                <a:cs typeface="Inter"/>
              </a:rPr>
              <a:t>Automation</a:t>
            </a:r>
            <a:endParaRPr sz="1030"/>
          </a:p>
        </p:txBody>
      </p:sp>
      <p:sp>
        <p:nvSpPr>
          <p:cNvPr id="18" name="Shape 11">
            <a:extLst>
              <a:ext uri="{FF2B5EF4-FFF2-40B4-BE49-F238E27FC236}">
                <a16:creationId xmlns:a16="http://schemas.microsoft.com/office/drawing/2014/main" id="{6A4C8F8B-D069-48F6-9B1A-0559B93944F3}"/>
              </a:ext>
            </a:extLst>
          </p:cNvPr>
          <p:cNvSpPr>
            <a:spLocks noGrp="1"/>
          </p:cNvSpPr>
          <p:nvPr/>
        </p:nvSpPr>
        <p:spPr>
          <a:xfrm>
            <a:off x="8430768" y="1490472"/>
            <a:ext cx="3182112" cy="713232"/>
          </a:xfrm>
          <a:prstGeom prst="roundRect">
            <a:avLst>
              <a:gd name="adj" fmla="val 10256"/>
            </a:avLst>
          </a:prstGeom>
          <a:solidFill>
            <a:srgbClr val="141B2A"/>
          </a:solidFill>
          <a:ln w="12700">
            <a:solidFill>
              <a:srgbClr val="F7B955"/>
            </a:solidFill>
            <a:prstDash val="solid"/>
          </a:ln>
        </p:spPr>
        <p:txBody>
          <a:bodyPr/>
          <a:lstStyle/>
          <a:p>
            <a:endParaRPr/>
          </a:p>
        </p:txBody>
      </p:sp>
      <p:pic>
        <p:nvPicPr>
          <p:cNvPr id="111" name="Image 5"/>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650224" y="1708099"/>
            <a:ext cx="256032" cy="204826"/>
          </a:xfrm>
          <a:prstGeom prst="rect">
            <a:avLst/>
          </a:prstGeom>
        </p:spPr>
      </p:pic>
      <p:sp>
        <p:nvSpPr>
          <p:cNvPr id="20" name="Text 12">
            <a:extLst>
              <a:ext uri="{FF2B5EF4-FFF2-40B4-BE49-F238E27FC236}">
                <a16:creationId xmlns:a16="http://schemas.microsoft.com/office/drawing/2014/main" id="{B7A44212-2FDD-4D07-899C-4AE49AA69824}"/>
              </a:ext>
            </a:extLst>
          </p:cNvPr>
          <p:cNvSpPr>
            <a:spLocks noGrp="1"/>
          </p:cNvSpPr>
          <p:nvPr/>
        </p:nvSpPr>
        <p:spPr>
          <a:xfrm>
            <a:off x="9052560" y="1655064"/>
            <a:ext cx="2029968" cy="228600"/>
          </a:xfrm>
          <a:prstGeom prst="rect">
            <a:avLst/>
          </a:prstGeom>
          <a:noFill/>
        </p:spPr>
        <p:txBody>
          <a:bodyPr wrap="square" lIns="0" tIns="0" rIns="0" bIns="0" anchor="ctr"/>
          <a:lstStyle/>
          <a:p>
            <a:pPr marL="0" indent="0">
              <a:buNone/>
            </a:pPr>
            <a:r>
              <a:rPr sz="1120" b="1">
                <a:solidFill>
                  <a:srgbClr val="EAF0F8"/>
                </a:solidFill>
                <a:latin typeface="Inter"/>
                <a:ea typeface="Inter"/>
                <a:cs typeface="Inter"/>
              </a:rPr>
              <a:t>User + agent identity</a:t>
            </a:r>
            <a:endParaRPr sz="1120"/>
          </a:p>
        </p:txBody>
      </p:sp>
      <p:sp>
        <p:nvSpPr>
          <p:cNvPr id="21" name="Shape 13">
            <a:extLst>
              <a:ext uri="{FF2B5EF4-FFF2-40B4-BE49-F238E27FC236}">
                <a16:creationId xmlns:a16="http://schemas.microsoft.com/office/drawing/2014/main" id="{415BAEC6-85AD-4570-ADCC-674971342CF5}"/>
              </a:ext>
            </a:extLst>
          </p:cNvPr>
          <p:cNvSpPr>
            <a:spLocks noGrp="1"/>
          </p:cNvSpPr>
          <p:nvPr/>
        </p:nvSpPr>
        <p:spPr>
          <a:xfrm>
            <a:off x="594360" y="2532888"/>
            <a:ext cx="11018520" cy="1234440"/>
          </a:xfrm>
          <a:prstGeom prst="roundRect">
            <a:avLst>
              <a:gd name="adj" fmla="val 5926"/>
            </a:avLst>
          </a:prstGeom>
          <a:solidFill>
            <a:srgbClr val="13213A"/>
          </a:solidFill>
          <a:ln w="12700">
            <a:solidFill>
              <a:srgbClr val="5B7CFF"/>
            </a:solidFill>
            <a:prstDash val="solid"/>
          </a:ln>
          <a:effectLst>
            <a:outerShdw algn="bl" rotWithShape="0">
              <a:srgbClr val="000000">
                <a:alpha val="0"/>
              </a:srgbClr>
            </a:outerShdw>
          </a:effectLst>
        </p:spPr>
        <p:txBody>
          <a:bodyPr/>
          <a:lstStyle/>
          <a:p>
            <a:endParaRPr/>
          </a:p>
        </p:txBody>
      </p:sp>
      <p:sp>
        <p:nvSpPr>
          <p:cNvPr id="22" name="Text 14">
            <a:extLst>
              <a:ext uri="{FF2B5EF4-FFF2-40B4-BE49-F238E27FC236}">
                <a16:creationId xmlns:a16="http://schemas.microsoft.com/office/drawing/2014/main" id="{954CA539-343F-4FF9-B689-18A07B5A5E54}"/>
              </a:ext>
            </a:extLst>
          </p:cNvPr>
          <p:cNvSpPr>
            <a:spLocks noGrp="1"/>
          </p:cNvSpPr>
          <p:nvPr/>
        </p:nvSpPr>
        <p:spPr>
          <a:xfrm>
            <a:off x="896112" y="2788920"/>
            <a:ext cx="2331720" cy="237744"/>
          </a:xfrm>
          <a:prstGeom prst="rect">
            <a:avLst/>
          </a:prstGeom>
          <a:noFill/>
        </p:spPr>
        <p:txBody>
          <a:bodyPr wrap="square" lIns="0" tIns="0" rIns="0" bIns="0" anchor="ctr"/>
          <a:lstStyle/>
          <a:p>
            <a:pPr marL="0" indent="0">
              <a:buNone/>
            </a:pPr>
            <a:r>
              <a:rPr sz="1200" b="1" spc="100">
                <a:solidFill>
                  <a:srgbClr val="5B7CFF"/>
                </a:solidFill>
                <a:latin typeface="Inter"/>
                <a:ea typeface="Inter"/>
                <a:cs typeface="Inter"/>
              </a:rPr>
              <a:t>ENTERPRISE AI / MCP GATEWAY</a:t>
            </a:r>
            <a:endParaRPr sz="1200"/>
          </a:p>
        </p:txBody>
      </p:sp>
      <p:pic>
        <p:nvPicPr>
          <p:cNvPr id="115" name="Image 6"/>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182112" y="2770632"/>
            <a:ext cx="283464" cy="283464"/>
          </a:xfrm>
          <a:prstGeom prst="rect">
            <a:avLst/>
          </a:prstGeom>
        </p:spPr>
      </p:pic>
      <p:sp>
        <p:nvSpPr>
          <p:cNvPr id="24" name="Text 15">
            <a:extLst>
              <a:ext uri="{FF2B5EF4-FFF2-40B4-BE49-F238E27FC236}">
                <a16:creationId xmlns:a16="http://schemas.microsoft.com/office/drawing/2014/main" id="{B342121A-DE17-4A0A-BAEB-D46DA3680F77}"/>
              </a:ext>
            </a:extLst>
          </p:cNvPr>
          <p:cNvSpPr>
            <a:spLocks noGrp="1"/>
          </p:cNvSpPr>
          <p:nvPr/>
        </p:nvSpPr>
        <p:spPr>
          <a:xfrm>
            <a:off x="3557016" y="2697480"/>
            <a:ext cx="1143000" cy="384048"/>
          </a:xfrm>
          <a:prstGeom prst="rect">
            <a:avLst/>
          </a:prstGeom>
          <a:noFill/>
        </p:spPr>
        <p:txBody>
          <a:bodyPr wrap="square" lIns="0" tIns="0" rIns="0" bIns="0" anchor="ctr">
            <a:normAutofit/>
          </a:bodyPr>
          <a:lstStyle/>
          <a:p>
            <a:pPr marL="0" indent="0">
              <a:buNone/>
            </a:pPr>
            <a:r>
              <a:rPr sz="940" b="1">
                <a:solidFill>
                  <a:srgbClr val="EAF0F8"/>
                </a:solidFill>
                <a:latin typeface="Inter"/>
                <a:ea typeface="Inter"/>
                <a:cs typeface="Inter"/>
              </a:rPr>
              <a:t>Auth + delegation</a:t>
            </a:r>
            <a:endParaRPr sz="940"/>
          </a:p>
        </p:txBody>
      </p:sp>
      <p:pic>
        <p:nvPicPr>
          <p:cNvPr id="117" name="Image 7"/>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800600" y="2770632"/>
            <a:ext cx="283464" cy="283464"/>
          </a:xfrm>
          <a:prstGeom prst="rect">
            <a:avLst/>
          </a:prstGeom>
        </p:spPr>
      </p:pic>
      <p:sp>
        <p:nvSpPr>
          <p:cNvPr id="26" name="Text 16">
            <a:extLst>
              <a:ext uri="{FF2B5EF4-FFF2-40B4-BE49-F238E27FC236}">
                <a16:creationId xmlns:a16="http://schemas.microsoft.com/office/drawing/2014/main" id="{15222017-9EEA-4A8D-B111-8C6C7F476FDF}"/>
              </a:ext>
            </a:extLst>
          </p:cNvPr>
          <p:cNvSpPr>
            <a:spLocks noGrp="1"/>
          </p:cNvSpPr>
          <p:nvPr/>
        </p:nvSpPr>
        <p:spPr>
          <a:xfrm>
            <a:off x="5175504" y="2697480"/>
            <a:ext cx="1143000" cy="384048"/>
          </a:xfrm>
          <a:prstGeom prst="rect">
            <a:avLst/>
          </a:prstGeom>
          <a:noFill/>
        </p:spPr>
        <p:txBody>
          <a:bodyPr wrap="square" lIns="0" tIns="0" rIns="0" bIns="0" anchor="ctr">
            <a:normAutofit/>
          </a:bodyPr>
          <a:lstStyle/>
          <a:p>
            <a:pPr marL="0" indent="0">
              <a:buNone/>
            </a:pPr>
            <a:r>
              <a:rPr sz="940" b="1">
                <a:solidFill>
                  <a:srgbClr val="EAF0F8"/>
                </a:solidFill>
                <a:latin typeface="Inter"/>
                <a:ea typeface="Inter"/>
                <a:cs typeface="Inter"/>
              </a:rPr>
              <a:t>Policy + entitlements</a:t>
            </a:r>
            <a:endParaRPr sz="940"/>
          </a:p>
        </p:txBody>
      </p:sp>
      <p:pic>
        <p:nvPicPr>
          <p:cNvPr id="119" name="Image 8"/>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419088" y="2786380"/>
            <a:ext cx="283464" cy="251968"/>
          </a:xfrm>
          <a:prstGeom prst="rect">
            <a:avLst/>
          </a:prstGeom>
        </p:spPr>
      </p:pic>
      <p:sp>
        <p:nvSpPr>
          <p:cNvPr id="28" name="Text 17">
            <a:extLst>
              <a:ext uri="{FF2B5EF4-FFF2-40B4-BE49-F238E27FC236}">
                <a16:creationId xmlns:a16="http://schemas.microsoft.com/office/drawing/2014/main" id="{A0A2E04A-553E-40A9-84F2-F096B1E590D6}"/>
              </a:ext>
            </a:extLst>
          </p:cNvPr>
          <p:cNvSpPr>
            <a:spLocks noGrp="1"/>
          </p:cNvSpPr>
          <p:nvPr/>
        </p:nvSpPr>
        <p:spPr>
          <a:xfrm>
            <a:off x="6793992" y="2697480"/>
            <a:ext cx="1143000" cy="384048"/>
          </a:xfrm>
          <a:prstGeom prst="rect">
            <a:avLst/>
          </a:prstGeom>
          <a:noFill/>
        </p:spPr>
        <p:txBody>
          <a:bodyPr wrap="square" lIns="0" tIns="0" rIns="0" bIns="0" anchor="ctr">
            <a:normAutofit/>
          </a:bodyPr>
          <a:lstStyle/>
          <a:p>
            <a:pPr marL="0" indent="0">
              <a:buNone/>
            </a:pPr>
            <a:r>
              <a:rPr sz="940" b="1">
                <a:solidFill>
                  <a:srgbClr val="EAF0F8"/>
                </a:solidFill>
                <a:latin typeface="Inter"/>
                <a:ea typeface="Inter"/>
                <a:cs typeface="Inter"/>
              </a:rPr>
              <a:t>Registry + discovery</a:t>
            </a:r>
            <a:endParaRPr sz="940"/>
          </a:p>
        </p:txBody>
      </p:sp>
      <p:pic>
        <p:nvPicPr>
          <p:cNvPr id="121" name="Image 9"/>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037576" y="2770632"/>
            <a:ext cx="283464" cy="283464"/>
          </a:xfrm>
          <a:prstGeom prst="rect">
            <a:avLst/>
          </a:prstGeom>
        </p:spPr>
      </p:pic>
      <p:sp>
        <p:nvSpPr>
          <p:cNvPr id="30" name="Text 18">
            <a:extLst>
              <a:ext uri="{FF2B5EF4-FFF2-40B4-BE49-F238E27FC236}">
                <a16:creationId xmlns:a16="http://schemas.microsoft.com/office/drawing/2014/main" id="{EB905741-6093-4C21-9301-90C3C1D0834B}"/>
              </a:ext>
            </a:extLst>
          </p:cNvPr>
          <p:cNvSpPr>
            <a:spLocks noGrp="1"/>
          </p:cNvSpPr>
          <p:nvPr/>
        </p:nvSpPr>
        <p:spPr>
          <a:xfrm>
            <a:off x="8412480" y="2697480"/>
            <a:ext cx="1143000" cy="384048"/>
          </a:xfrm>
          <a:prstGeom prst="rect">
            <a:avLst/>
          </a:prstGeom>
          <a:noFill/>
        </p:spPr>
        <p:txBody>
          <a:bodyPr wrap="square" lIns="0" tIns="0" rIns="0" bIns="0" anchor="ctr">
            <a:normAutofit/>
          </a:bodyPr>
          <a:lstStyle/>
          <a:p>
            <a:pPr marL="0" indent="0">
              <a:buNone/>
            </a:pPr>
            <a:r>
              <a:rPr sz="940" b="1">
                <a:solidFill>
                  <a:srgbClr val="EAF0F8"/>
                </a:solidFill>
                <a:latin typeface="Inter"/>
                <a:ea typeface="Inter"/>
                <a:cs typeface="Inter"/>
              </a:rPr>
              <a:t>Guardrails</a:t>
            </a:r>
            <a:endParaRPr sz="940"/>
          </a:p>
        </p:txBody>
      </p:sp>
      <p:pic>
        <p:nvPicPr>
          <p:cNvPr id="123" name="Image 10"/>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9656064" y="2786380"/>
            <a:ext cx="283464" cy="251968"/>
          </a:xfrm>
          <a:prstGeom prst="rect">
            <a:avLst/>
          </a:prstGeom>
        </p:spPr>
      </p:pic>
      <p:sp>
        <p:nvSpPr>
          <p:cNvPr id="32" name="Text 19">
            <a:extLst>
              <a:ext uri="{FF2B5EF4-FFF2-40B4-BE49-F238E27FC236}">
                <a16:creationId xmlns:a16="http://schemas.microsoft.com/office/drawing/2014/main" id="{484F2CC5-CA4C-4FA0-BE3A-4F5B9634F8B7}"/>
              </a:ext>
            </a:extLst>
          </p:cNvPr>
          <p:cNvSpPr>
            <a:spLocks noGrp="1"/>
          </p:cNvSpPr>
          <p:nvPr/>
        </p:nvSpPr>
        <p:spPr>
          <a:xfrm>
            <a:off x="10030968" y="2697480"/>
            <a:ext cx="1143000" cy="384048"/>
          </a:xfrm>
          <a:prstGeom prst="rect">
            <a:avLst/>
          </a:prstGeom>
          <a:noFill/>
        </p:spPr>
        <p:txBody>
          <a:bodyPr wrap="square" lIns="0" tIns="0" rIns="0" bIns="0" anchor="ctr">
            <a:normAutofit/>
          </a:bodyPr>
          <a:lstStyle/>
          <a:p>
            <a:pPr marL="0" indent="0">
              <a:buNone/>
            </a:pPr>
            <a:r>
              <a:rPr sz="940" b="1">
                <a:solidFill>
                  <a:srgbClr val="EAF0F8"/>
                </a:solidFill>
                <a:latin typeface="Inter"/>
                <a:ea typeface="Inter"/>
                <a:cs typeface="Inter"/>
              </a:rPr>
              <a:t>Audit + telemetry</a:t>
            </a:r>
            <a:endParaRPr sz="940"/>
          </a:p>
        </p:txBody>
      </p:sp>
      <p:sp>
        <p:nvSpPr>
          <p:cNvPr id="33" name="Text 20">
            <a:extLst>
              <a:ext uri="{FF2B5EF4-FFF2-40B4-BE49-F238E27FC236}">
                <a16:creationId xmlns:a16="http://schemas.microsoft.com/office/drawing/2014/main" id="{2D192EAE-78CF-4E6D-8A5C-77A6407C0CAB}"/>
              </a:ext>
            </a:extLst>
          </p:cNvPr>
          <p:cNvSpPr>
            <a:spLocks noGrp="1"/>
          </p:cNvSpPr>
          <p:nvPr/>
        </p:nvSpPr>
        <p:spPr>
          <a:xfrm>
            <a:off x="3182112" y="3255264"/>
            <a:ext cx="7013448" cy="219456"/>
          </a:xfrm>
          <a:prstGeom prst="rect">
            <a:avLst/>
          </a:prstGeom>
          <a:noFill/>
        </p:spPr>
        <p:txBody>
          <a:bodyPr wrap="square" lIns="0" tIns="0" rIns="0" bIns="0" anchor="ctr"/>
          <a:lstStyle/>
          <a:p>
            <a:pPr marL="0" indent="0">
              <a:buNone/>
            </a:pPr>
            <a:r>
              <a:rPr sz="920">
                <a:solidFill>
                  <a:srgbClr val="A7B5C8"/>
                </a:solidFill>
                <a:latin typeface="Inter"/>
                <a:ea typeface="Inter"/>
                <a:cs typeface="Inter"/>
              </a:rPr>
              <a:t>One policy boundary · many downstream identities · one audit trail</a:t>
            </a:r>
            <a:endParaRPr sz="920"/>
          </a:p>
        </p:txBody>
      </p:sp>
      <p:sp>
        <p:nvSpPr>
          <p:cNvPr id="34" name="Text 21">
            <a:extLst>
              <a:ext uri="{FF2B5EF4-FFF2-40B4-BE49-F238E27FC236}">
                <a16:creationId xmlns:a16="http://schemas.microsoft.com/office/drawing/2014/main" id="{0B915EDB-55DB-46A0-8C02-BCA432926D54}"/>
              </a:ext>
            </a:extLst>
          </p:cNvPr>
          <p:cNvSpPr>
            <a:spLocks noGrp="1"/>
          </p:cNvSpPr>
          <p:nvPr/>
        </p:nvSpPr>
        <p:spPr>
          <a:xfrm>
            <a:off x="594360" y="4050792"/>
            <a:ext cx="2194560" cy="201168"/>
          </a:xfrm>
          <a:prstGeom prst="rect">
            <a:avLst/>
          </a:prstGeom>
          <a:noFill/>
        </p:spPr>
        <p:txBody>
          <a:bodyPr wrap="square" lIns="0" tIns="0" rIns="0" bIns="0" anchor="ctr"/>
          <a:lstStyle/>
          <a:p>
            <a:pPr marL="0" indent="0">
              <a:buNone/>
            </a:pPr>
            <a:endParaRPr sz="870"/>
          </a:p>
        </p:txBody>
      </p:sp>
      <p:sp>
        <p:nvSpPr>
          <p:cNvPr id="35" name="Shape 22">
            <a:extLst>
              <a:ext uri="{FF2B5EF4-FFF2-40B4-BE49-F238E27FC236}">
                <a16:creationId xmlns:a16="http://schemas.microsoft.com/office/drawing/2014/main" id="{F10C0097-E687-408A-903B-17E06BCB7760}"/>
              </a:ext>
            </a:extLst>
          </p:cNvPr>
          <p:cNvSpPr>
            <a:spLocks noGrp="1"/>
          </p:cNvSpPr>
          <p:nvPr/>
        </p:nvSpPr>
        <p:spPr>
          <a:xfrm>
            <a:off x="594360" y="4315968"/>
            <a:ext cx="1874520" cy="786384"/>
          </a:xfrm>
          <a:prstGeom prst="roundRect">
            <a:avLst>
              <a:gd name="adj" fmla="val 9302"/>
            </a:avLst>
          </a:prstGeom>
          <a:solidFill>
            <a:srgbClr val="0E1B2E"/>
          </a:solidFill>
          <a:ln w="12700">
            <a:solidFill>
              <a:srgbClr val="35D4E7"/>
            </a:solidFill>
            <a:prstDash val="solid"/>
          </a:ln>
        </p:spPr>
        <p:txBody>
          <a:bodyPr/>
          <a:lstStyle/>
          <a:p>
            <a:endParaRPr/>
          </a:p>
        </p:txBody>
      </p:sp>
      <p:pic>
        <p:nvPicPr>
          <p:cNvPr id="128" name="Image 11"/>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758952" y="4535424"/>
            <a:ext cx="256032" cy="256032"/>
          </a:xfrm>
          <a:prstGeom prst="rect">
            <a:avLst/>
          </a:prstGeom>
        </p:spPr>
      </p:pic>
      <p:sp>
        <p:nvSpPr>
          <p:cNvPr id="37" name="Text 23">
            <a:extLst>
              <a:ext uri="{FF2B5EF4-FFF2-40B4-BE49-F238E27FC236}">
                <a16:creationId xmlns:a16="http://schemas.microsoft.com/office/drawing/2014/main" id="{0A650F33-A6DC-4F42-A4C5-F43C3A2F0C72}"/>
              </a:ext>
            </a:extLst>
          </p:cNvPr>
          <p:cNvSpPr>
            <a:spLocks noGrp="1"/>
          </p:cNvSpPr>
          <p:nvPr/>
        </p:nvSpPr>
        <p:spPr>
          <a:xfrm>
            <a:off x="1106424" y="4507992"/>
            <a:ext cx="1170432" cy="228600"/>
          </a:xfrm>
          <a:prstGeom prst="rect">
            <a:avLst/>
          </a:prstGeom>
          <a:noFill/>
        </p:spPr>
        <p:txBody>
          <a:bodyPr wrap="square" lIns="0" tIns="0" rIns="0" bIns="0" anchor="ctr">
            <a:normAutofit/>
          </a:bodyPr>
          <a:lstStyle/>
          <a:p>
            <a:pPr marL="0" indent="0">
              <a:buNone/>
            </a:pPr>
            <a:r>
              <a:rPr sz="1020" b="1">
                <a:solidFill>
                  <a:srgbClr val="EAF0F8"/>
                </a:solidFill>
                <a:latin typeface="Inter"/>
                <a:ea typeface="Inter"/>
                <a:cs typeface="Inter"/>
              </a:rPr>
              <a:t>Domain data</a:t>
            </a:r>
            <a:endParaRPr sz="1020"/>
          </a:p>
        </p:txBody>
      </p:sp>
      <p:sp>
        <p:nvSpPr>
          <p:cNvPr id="38" name="Shape 24">
            <a:extLst>
              <a:ext uri="{FF2B5EF4-FFF2-40B4-BE49-F238E27FC236}">
                <a16:creationId xmlns:a16="http://schemas.microsoft.com/office/drawing/2014/main" id="{535E9368-8DB9-42F2-9773-26B6B99BB6BE}"/>
              </a:ext>
            </a:extLst>
          </p:cNvPr>
          <p:cNvSpPr>
            <a:spLocks noGrp="1"/>
          </p:cNvSpPr>
          <p:nvPr/>
        </p:nvSpPr>
        <p:spPr>
          <a:xfrm>
            <a:off x="2734056" y="4315968"/>
            <a:ext cx="1874520" cy="786384"/>
          </a:xfrm>
          <a:prstGeom prst="roundRect">
            <a:avLst>
              <a:gd name="adj" fmla="val 9302"/>
            </a:avLst>
          </a:prstGeom>
          <a:solidFill>
            <a:srgbClr val="0E1B2E"/>
          </a:solidFill>
          <a:ln w="12700">
            <a:solidFill>
              <a:srgbClr val="A879FF"/>
            </a:solidFill>
            <a:prstDash val="solid"/>
          </a:ln>
        </p:spPr>
        <p:txBody>
          <a:bodyPr/>
          <a:lstStyle/>
          <a:p>
            <a:endParaRPr/>
          </a:p>
        </p:txBody>
      </p:sp>
      <p:pic>
        <p:nvPicPr>
          <p:cNvPr id="131" name="Image 12"/>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2898648" y="4535424"/>
            <a:ext cx="256032" cy="256032"/>
          </a:xfrm>
          <a:prstGeom prst="rect">
            <a:avLst/>
          </a:prstGeom>
        </p:spPr>
      </p:pic>
      <p:sp>
        <p:nvSpPr>
          <p:cNvPr id="40" name="Text 25">
            <a:extLst>
              <a:ext uri="{FF2B5EF4-FFF2-40B4-BE49-F238E27FC236}">
                <a16:creationId xmlns:a16="http://schemas.microsoft.com/office/drawing/2014/main" id="{0BB5A30E-BE5A-46EE-97F1-5CEB215F6813}"/>
              </a:ext>
            </a:extLst>
          </p:cNvPr>
          <p:cNvSpPr>
            <a:spLocks noGrp="1"/>
          </p:cNvSpPr>
          <p:nvPr/>
        </p:nvSpPr>
        <p:spPr>
          <a:xfrm>
            <a:off x="3246120" y="4507992"/>
            <a:ext cx="1170432" cy="228600"/>
          </a:xfrm>
          <a:prstGeom prst="rect">
            <a:avLst/>
          </a:prstGeom>
          <a:noFill/>
        </p:spPr>
        <p:txBody>
          <a:bodyPr wrap="square" lIns="0" tIns="0" rIns="0" bIns="0" anchor="ctr">
            <a:normAutofit/>
          </a:bodyPr>
          <a:lstStyle/>
          <a:p>
            <a:pPr marL="0" indent="0">
              <a:buNone/>
            </a:pPr>
            <a:r>
              <a:rPr sz="1020" b="1">
                <a:solidFill>
                  <a:srgbClr val="EAF0F8"/>
                </a:solidFill>
                <a:latin typeface="Inter"/>
                <a:ea typeface="Inter"/>
                <a:cs typeface="Inter"/>
              </a:rPr>
              <a:t>Analytics</a:t>
            </a:r>
            <a:endParaRPr sz="1020"/>
          </a:p>
        </p:txBody>
      </p:sp>
      <p:sp>
        <p:nvSpPr>
          <p:cNvPr id="41" name="Shape 26">
            <a:extLst>
              <a:ext uri="{FF2B5EF4-FFF2-40B4-BE49-F238E27FC236}">
                <a16:creationId xmlns:a16="http://schemas.microsoft.com/office/drawing/2014/main" id="{481327ED-C4F0-49A7-87AA-E2EB290E51E3}"/>
              </a:ext>
            </a:extLst>
          </p:cNvPr>
          <p:cNvSpPr>
            <a:spLocks noGrp="1"/>
          </p:cNvSpPr>
          <p:nvPr/>
        </p:nvSpPr>
        <p:spPr>
          <a:xfrm>
            <a:off x="4873752" y="4315968"/>
            <a:ext cx="1874520" cy="786384"/>
          </a:xfrm>
          <a:prstGeom prst="roundRect">
            <a:avLst>
              <a:gd name="adj" fmla="val 9302"/>
            </a:avLst>
          </a:prstGeom>
          <a:solidFill>
            <a:srgbClr val="0E1B2E"/>
          </a:solidFill>
          <a:ln w="12700">
            <a:solidFill>
              <a:srgbClr val="5B7CFF"/>
            </a:solidFill>
            <a:prstDash val="solid"/>
          </a:ln>
        </p:spPr>
        <p:txBody>
          <a:bodyPr/>
          <a:lstStyle/>
          <a:p>
            <a:endParaRPr/>
          </a:p>
        </p:txBody>
      </p:sp>
      <p:pic>
        <p:nvPicPr>
          <p:cNvPr id="134" name="Image 13"/>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070348" y="4535424"/>
            <a:ext cx="192024" cy="256032"/>
          </a:xfrm>
          <a:prstGeom prst="rect">
            <a:avLst/>
          </a:prstGeom>
        </p:spPr>
      </p:pic>
      <p:sp>
        <p:nvSpPr>
          <p:cNvPr id="43" name="Text 27">
            <a:extLst>
              <a:ext uri="{FF2B5EF4-FFF2-40B4-BE49-F238E27FC236}">
                <a16:creationId xmlns:a16="http://schemas.microsoft.com/office/drawing/2014/main" id="{334CFD3E-7E21-4BD9-97C0-561CB92AFF74}"/>
              </a:ext>
            </a:extLst>
          </p:cNvPr>
          <p:cNvSpPr>
            <a:spLocks noGrp="1"/>
          </p:cNvSpPr>
          <p:nvPr/>
        </p:nvSpPr>
        <p:spPr>
          <a:xfrm>
            <a:off x="5385816" y="4507992"/>
            <a:ext cx="1170432" cy="228600"/>
          </a:xfrm>
          <a:prstGeom prst="rect">
            <a:avLst/>
          </a:prstGeom>
          <a:noFill/>
        </p:spPr>
        <p:txBody>
          <a:bodyPr wrap="square" lIns="0" tIns="0" rIns="0" bIns="0" anchor="ctr">
            <a:normAutofit/>
          </a:bodyPr>
          <a:lstStyle/>
          <a:p>
            <a:pPr marL="0" indent="0">
              <a:buNone/>
            </a:pPr>
            <a:r>
              <a:rPr sz="1020" b="1">
                <a:solidFill>
                  <a:srgbClr val="EAF0F8"/>
                </a:solidFill>
                <a:latin typeface="Inter"/>
                <a:ea typeface="Inter"/>
                <a:cs typeface="Inter"/>
              </a:rPr>
              <a:t>Productivity</a:t>
            </a:r>
            <a:endParaRPr sz="1020"/>
          </a:p>
        </p:txBody>
      </p:sp>
      <p:sp>
        <p:nvSpPr>
          <p:cNvPr id="44" name="Shape 28">
            <a:extLst>
              <a:ext uri="{FF2B5EF4-FFF2-40B4-BE49-F238E27FC236}">
                <a16:creationId xmlns:a16="http://schemas.microsoft.com/office/drawing/2014/main" id="{95C7D3D3-6A9C-45AD-8D3D-B502B18D12DB}"/>
              </a:ext>
            </a:extLst>
          </p:cNvPr>
          <p:cNvSpPr>
            <a:spLocks noGrp="1"/>
          </p:cNvSpPr>
          <p:nvPr/>
        </p:nvSpPr>
        <p:spPr>
          <a:xfrm>
            <a:off x="7013448" y="4315968"/>
            <a:ext cx="1874520" cy="786384"/>
          </a:xfrm>
          <a:prstGeom prst="roundRect">
            <a:avLst>
              <a:gd name="adj" fmla="val 9302"/>
            </a:avLst>
          </a:prstGeom>
          <a:solidFill>
            <a:srgbClr val="0E1B2E"/>
          </a:solidFill>
          <a:ln w="12700">
            <a:solidFill>
              <a:srgbClr val="3BE0B5"/>
            </a:solidFill>
            <a:prstDash val="solid"/>
          </a:ln>
        </p:spPr>
        <p:txBody>
          <a:bodyPr/>
          <a:lstStyle/>
          <a:p>
            <a:endParaRPr/>
          </a:p>
        </p:txBody>
      </p:sp>
      <p:pic>
        <p:nvPicPr>
          <p:cNvPr id="137" name="Image 14"/>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7194042" y="4535424"/>
            <a:ext cx="224028" cy="256032"/>
          </a:xfrm>
          <a:prstGeom prst="rect">
            <a:avLst/>
          </a:prstGeom>
        </p:spPr>
      </p:pic>
      <p:sp>
        <p:nvSpPr>
          <p:cNvPr id="46" name="Text 29">
            <a:extLst>
              <a:ext uri="{FF2B5EF4-FFF2-40B4-BE49-F238E27FC236}">
                <a16:creationId xmlns:a16="http://schemas.microsoft.com/office/drawing/2014/main" id="{560414E6-D7BC-4E8F-9906-5BC8847F8878}"/>
              </a:ext>
            </a:extLst>
          </p:cNvPr>
          <p:cNvSpPr>
            <a:spLocks noGrp="1"/>
          </p:cNvSpPr>
          <p:nvPr/>
        </p:nvSpPr>
        <p:spPr>
          <a:xfrm>
            <a:off x="7525512" y="4507992"/>
            <a:ext cx="1170432" cy="228600"/>
          </a:xfrm>
          <a:prstGeom prst="rect">
            <a:avLst/>
          </a:prstGeom>
          <a:noFill/>
        </p:spPr>
        <p:txBody>
          <a:bodyPr wrap="square" lIns="0" tIns="0" rIns="0" bIns="0" anchor="ctr">
            <a:normAutofit/>
          </a:bodyPr>
          <a:lstStyle/>
          <a:p>
            <a:pPr marL="0" indent="0">
              <a:buNone/>
            </a:pPr>
            <a:r>
              <a:rPr sz="1020" b="1">
                <a:solidFill>
                  <a:srgbClr val="EAF0F8"/>
                </a:solidFill>
                <a:latin typeface="Inter"/>
                <a:ea typeface="Inter"/>
                <a:cs typeface="Inter"/>
              </a:rPr>
              <a:t>Internal APIs</a:t>
            </a:r>
            <a:endParaRPr sz="1020"/>
          </a:p>
        </p:txBody>
      </p:sp>
      <p:sp>
        <p:nvSpPr>
          <p:cNvPr id="47" name="Shape 30">
            <a:extLst>
              <a:ext uri="{FF2B5EF4-FFF2-40B4-BE49-F238E27FC236}">
                <a16:creationId xmlns:a16="http://schemas.microsoft.com/office/drawing/2014/main" id="{112A537B-AB38-4AEC-9ECA-D6BD65AFB76C}"/>
              </a:ext>
            </a:extLst>
          </p:cNvPr>
          <p:cNvSpPr>
            <a:spLocks noGrp="1"/>
          </p:cNvSpPr>
          <p:nvPr/>
        </p:nvSpPr>
        <p:spPr>
          <a:xfrm>
            <a:off x="594360" y="5404104"/>
            <a:ext cx="8138160" cy="566928"/>
          </a:xfrm>
          <a:prstGeom prst="roundRect">
            <a:avLst>
              <a:gd name="adj" fmla="val 12903"/>
            </a:avLst>
          </a:prstGeom>
          <a:solidFill>
            <a:srgbClr val="0C182A"/>
          </a:solidFill>
          <a:ln w="12700">
            <a:solidFill>
              <a:srgbClr val="293A51"/>
            </a:solidFill>
            <a:prstDash val="solid"/>
          </a:ln>
        </p:spPr>
        <p:txBody>
          <a:bodyPr/>
          <a:lstStyle/>
          <a:p>
            <a:endParaRPr/>
          </a:p>
        </p:txBody>
      </p:sp>
      <p:sp>
        <p:nvSpPr>
          <p:cNvPr id="48" name="Text 31">
            <a:extLst>
              <a:ext uri="{FF2B5EF4-FFF2-40B4-BE49-F238E27FC236}">
                <a16:creationId xmlns:a16="http://schemas.microsoft.com/office/drawing/2014/main" id="{2620B98D-E58E-42BB-96A3-49686090E864}"/>
              </a:ext>
            </a:extLst>
          </p:cNvPr>
          <p:cNvSpPr>
            <a:spLocks noGrp="1"/>
          </p:cNvSpPr>
          <p:nvPr/>
        </p:nvSpPr>
        <p:spPr>
          <a:xfrm>
            <a:off x="841248" y="5596128"/>
            <a:ext cx="1298448" cy="164592"/>
          </a:xfrm>
          <a:prstGeom prst="rect">
            <a:avLst/>
          </a:prstGeom>
          <a:noFill/>
        </p:spPr>
        <p:txBody>
          <a:bodyPr wrap="square" lIns="0" tIns="0" rIns="0" bIns="0" anchor="ctr"/>
          <a:lstStyle/>
          <a:p>
            <a:pPr marL="0" indent="0">
              <a:buNone/>
            </a:pPr>
            <a:r>
              <a:rPr sz="850" b="1" spc="100">
                <a:solidFill>
                  <a:srgbClr val="72839A"/>
                </a:solidFill>
                <a:latin typeface="Inter"/>
                <a:ea typeface="Inter"/>
                <a:cs typeface="Inter"/>
              </a:rPr>
              <a:t>SYSTEMS + DATA</a:t>
            </a:r>
            <a:endParaRPr sz="850"/>
          </a:p>
        </p:txBody>
      </p:sp>
      <p:sp>
        <p:nvSpPr>
          <p:cNvPr id="49" name="Text 32">
            <a:extLst>
              <a:ext uri="{FF2B5EF4-FFF2-40B4-BE49-F238E27FC236}">
                <a16:creationId xmlns:a16="http://schemas.microsoft.com/office/drawing/2014/main" id="{7C75F1F0-FD1F-4E5A-BC20-5CD6CA35A6EA}"/>
              </a:ext>
            </a:extLst>
          </p:cNvPr>
          <p:cNvSpPr>
            <a:spLocks noGrp="1"/>
          </p:cNvSpPr>
          <p:nvPr/>
        </p:nvSpPr>
        <p:spPr>
          <a:xfrm>
            <a:off x="2331720" y="5559552"/>
            <a:ext cx="5897880" cy="201168"/>
          </a:xfrm>
          <a:prstGeom prst="rect">
            <a:avLst/>
          </a:prstGeom>
          <a:noFill/>
        </p:spPr>
        <p:txBody>
          <a:bodyPr wrap="square" lIns="0" tIns="0" rIns="0" bIns="0" anchor="ctr"/>
          <a:lstStyle/>
          <a:p>
            <a:pPr marL="0" indent="0">
              <a:buNone/>
            </a:pPr>
            <a:r>
              <a:rPr sz="1050" b="1">
                <a:solidFill>
                  <a:srgbClr val="EAF0F8"/>
                </a:solidFill>
                <a:latin typeface="Inter"/>
                <a:ea typeface="Inter"/>
                <a:cs typeface="Inter"/>
              </a:rPr>
              <a:t>Licensed data  ·  Data platform  ·  SaaS  ·  Operational systems</a:t>
            </a:r>
            <a:endParaRPr sz="1050"/>
          </a:p>
        </p:txBody>
      </p:sp>
      <p:sp>
        <p:nvSpPr>
          <p:cNvPr id="50" name="Shape 33">
            <a:extLst>
              <a:ext uri="{FF2B5EF4-FFF2-40B4-BE49-F238E27FC236}">
                <a16:creationId xmlns:a16="http://schemas.microsoft.com/office/drawing/2014/main" id="{0E58C1ED-64F1-4934-B011-ACDF7E4B7390}"/>
              </a:ext>
            </a:extLst>
          </p:cNvPr>
          <p:cNvSpPr>
            <a:spLocks noGrp="1"/>
          </p:cNvSpPr>
          <p:nvPr/>
        </p:nvSpPr>
        <p:spPr>
          <a:xfrm>
            <a:off x="9162288" y="4315968"/>
            <a:ext cx="2450592" cy="1655064"/>
          </a:xfrm>
          <a:prstGeom prst="roundRect">
            <a:avLst>
              <a:gd name="adj" fmla="val 4420"/>
            </a:avLst>
          </a:prstGeom>
          <a:solidFill>
            <a:srgbClr val="121A2B"/>
          </a:solidFill>
          <a:ln w="12700">
            <a:solidFill>
              <a:srgbClr val="F7B955"/>
            </a:solidFill>
            <a:prstDash val="solid"/>
          </a:ln>
        </p:spPr>
        <p:txBody>
          <a:bodyPr/>
          <a:lstStyle/>
          <a:p>
            <a:endParaRPr/>
          </a:p>
        </p:txBody>
      </p:sp>
      <p:sp>
        <p:nvSpPr>
          <p:cNvPr id="51" name="Text 34">
            <a:extLst>
              <a:ext uri="{FF2B5EF4-FFF2-40B4-BE49-F238E27FC236}">
                <a16:creationId xmlns:a16="http://schemas.microsoft.com/office/drawing/2014/main" id="{AA3E92BF-9451-4C42-80DF-7919C54FB8C1}"/>
              </a:ext>
            </a:extLst>
          </p:cNvPr>
          <p:cNvSpPr>
            <a:spLocks noGrp="1"/>
          </p:cNvSpPr>
          <p:nvPr/>
        </p:nvSpPr>
        <p:spPr>
          <a:xfrm>
            <a:off x="9418320" y="4581144"/>
            <a:ext cx="1444752" cy="201168"/>
          </a:xfrm>
          <a:prstGeom prst="rect">
            <a:avLst/>
          </a:prstGeom>
          <a:noFill/>
        </p:spPr>
        <p:txBody>
          <a:bodyPr wrap="square" lIns="0" tIns="0" rIns="0" bIns="0" anchor="ctr"/>
          <a:lstStyle/>
          <a:p>
            <a:pPr marL="0" indent="0">
              <a:buNone/>
            </a:pPr>
            <a:r>
              <a:rPr sz="870" b="1" spc="100">
                <a:solidFill>
                  <a:srgbClr val="F7B955"/>
                </a:solidFill>
                <a:latin typeface="Inter"/>
                <a:ea typeface="Inter"/>
                <a:cs typeface="Inter"/>
              </a:rPr>
              <a:t>CROSS-CUTTING</a:t>
            </a:r>
            <a:endParaRPr sz="870"/>
          </a:p>
        </p:txBody>
      </p:sp>
      <p:pic>
        <p:nvPicPr>
          <p:cNvPr id="144" name="Image 15"/>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9418320" y="4929632"/>
            <a:ext cx="182880" cy="162560"/>
          </a:xfrm>
          <a:prstGeom prst="rect">
            <a:avLst/>
          </a:prstGeom>
        </p:spPr>
      </p:pic>
      <p:sp>
        <p:nvSpPr>
          <p:cNvPr id="53" name="Text 35">
            <a:extLst>
              <a:ext uri="{FF2B5EF4-FFF2-40B4-BE49-F238E27FC236}">
                <a16:creationId xmlns:a16="http://schemas.microsoft.com/office/drawing/2014/main" id="{BBB0B7BD-F382-4D44-9802-F9CE2C5AD250}"/>
              </a:ext>
            </a:extLst>
          </p:cNvPr>
          <p:cNvSpPr>
            <a:spLocks noGrp="1"/>
          </p:cNvSpPr>
          <p:nvPr/>
        </p:nvSpPr>
        <p:spPr>
          <a:xfrm>
            <a:off x="9692640" y="4901184"/>
            <a:ext cx="1572768" cy="201168"/>
          </a:xfrm>
          <a:prstGeom prst="rect">
            <a:avLst/>
          </a:prstGeom>
          <a:noFill/>
        </p:spPr>
        <p:txBody>
          <a:bodyPr wrap="square" lIns="0" tIns="0" rIns="0" bIns="0" anchor="ctr"/>
          <a:lstStyle/>
          <a:p>
            <a:pPr marL="0" indent="0">
              <a:buNone/>
            </a:pPr>
            <a:r>
              <a:rPr sz="920" b="1">
                <a:solidFill>
                  <a:srgbClr val="EAF0F8"/>
                </a:solidFill>
                <a:latin typeface="Inter"/>
                <a:ea typeface="Inter"/>
                <a:cs typeface="Inter"/>
              </a:rPr>
              <a:t>Catalogue + lineage</a:t>
            </a:r>
            <a:endParaRPr sz="920"/>
          </a:p>
        </p:txBody>
      </p:sp>
      <p:pic>
        <p:nvPicPr>
          <p:cNvPr id="146" name="Image 16"/>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9429750" y="5230368"/>
            <a:ext cx="160020" cy="182880"/>
          </a:xfrm>
          <a:prstGeom prst="rect">
            <a:avLst/>
          </a:prstGeom>
        </p:spPr>
      </p:pic>
      <p:sp>
        <p:nvSpPr>
          <p:cNvPr id="55" name="Text 36">
            <a:extLst>
              <a:ext uri="{FF2B5EF4-FFF2-40B4-BE49-F238E27FC236}">
                <a16:creationId xmlns:a16="http://schemas.microsoft.com/office/drawing/2014/main" id="{0E0E06A5-4862-444E-A2FD-6A90BF8AC50F}"/>
              </a:ext>
            </a:extLst>
          </p:cNvPr>
          <p:cNvSpPr>
            <a:spLocks noGrp="1"/>
          </p:cNvSpPr>
          <p:nvPr/>
        </p:nvSpPr>
        <p:spPr>
          <a:xfrm>
            <a:off x="9692640" y="5212080"/>
            <a:ext cx="1572768" cy="201168"/>
          </a:xfrm>
          <a:prstGeom prst="rect">
            <a:avLst/>
          </a:prstGeom>
          <a:noFill/>
        </p:spPr>
        <p:txBody>
          <a:bodyPr wrap="square" lIns="0" tIns="0" rIns="0" bIns="0" anchor="ctr"/>
          <a:lstStyle/>
          <a:p>
            <a:pPr marL="0" indent="0">
              <a:buNone/>
            </a:pPr>
            <a:r>
              <a:rPr sz="920" b="1">
                <a:solidFill>
                  <a:srgbClr val="EAF0F8"/>
                </a:solidFill>
                <a:latin typeface="Inter"/>
                <a:ea typeface="Inter"/>
                <a:cs typeface="Inter"/>
              </a:rPr>
              <a:t>Evals + regression</a:t>
            </a:r>
            <a:endParaRPr sz="920"/>
          </a:p>
        </p:txBody>
      </p:sp>
      <p:pic>
        <p:nvPicPr>
          <p:cNvPr id="148" name="Image 17"/>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9418320" y="5559552"/>
            <a:ext cx="182880" cy="146304"/>
          </a:xfrm>
          <a:prstGeom prst="rect">
            <a:avLst/>
          </a:prstGeom>
        </p:spPr>
      </p:pic>
      <p:sp>
        <p:nvSpPr>
          <p:cNvPr id="57" name="Text 37">
            <a:extLst>
              <a:ext uri="{FF2B5EF4-FFF2-40B4-BE49-F238E27FC236}">
                <a16:creationId xmlns:a16="http://schemas.microsoft.com/office/drawing/2014/main" id="{E8744B14-4B7F-41BB-AECE-C0707E3F5F8C}"/>
              </a:ext>
            </a:extLst>
          </p:cNvPr>
          <p:cNvSpPr>
            <a:spLocks noGrp="1"/>
          </p:cNvSpPr>
          <p:nvPr/>
        </p:nvSpPr>
        <p:spPr>
          <a:xfrm>
            <a:off x="9692640" y="5522976"/>
            <a:ext cx="1572768" cy="201168"/>
          </a:xfrm>
          <a:prstGeom prst="rect">
            <a:avLst/>
          </a:prstGeom>
          <a:noFill/>
        </p:spPr>
        <p:txBody>
          <a:bodyPr wrap="square" lIns="0" tIns="0" rIns="0" bIns="0" anchor="ctr"/>
          <a:lstStyle/>
          <a:p>
            <a:pPr marL="0" indent="0">
              <a:buNone/>
            </a:pPr>
            <a:r>
              <a:rPr sz="920" b="1">
                <a:solidFill>
                  <a:srgbClr val="EAF0F8"/>
                </a:solidFill>
                <a:latin typeface="Inter"/>
                <a:ea typeface="Inter"/>
                <a:cs typeface="Inter"/>
              </a:rPr>
              <a:t>SIEM + observability</a:t>
            </a:r>
            <a:endParaRPr sz="920"/>
          </a:p>
        </p:txBody>
      </p:sp>
      <p:sp>
        <p:nvSpPr>
          <p:cNvPr id="58" name="Shape 38">
            <a:extLst>
              <a:ext uri="{FF2B5EF4-FFF2-40B4-BE49-F238E27FC236}">
                <a16:creationId xmlns:a16="http://schemas.microsoft.com/office/drawing/2014/main" id="{4C41FE41-C0E2-4AD2-B12D-2509518BB195}"/>
              </a:ext>
            </a:extLst>
          </p:cNvPr>
          <p:cNvSpPr>
            <a:spLocks noGrp="1"/>
          </p:cNvSpPr>
          <p:nvPr/>
        </p:nvSpPr>
        <p:spPr>
          <a:xfrm>
            <a:off x="1389888" y="2203704"/>
            <a:ext cx="0" cy="320040"/>
          </a:xfrm>
          <a:prstGeom prst="line">
            <a:avLst/>
          </a:prstGeom>
          <a:noFill/>
          <a:ln w="12700">
            <a:solidFill>
              <a:srgbClr val="72839A"/>
            </a:solidFill>
            <a:prstDash val="solid"/>
            <a:headEnd type="none"/>
            <a:tailEnd type="triangle"/>
          </a:ln>
        </p:spPr>
        <p:txBody>
          <a:bodyPr/>
          <a:lstStyle/>
          <a:p>
            <a:endParaRPr/>
          </a:p>
        </p:txBody>
      </p:sp>
      <p:sp>
        <p:nvSpPr>
          <p:cNvPr id="59" name="Shape 39">
            <a:extLst>
              <a:ext uri="{FF2B5EF4-FFF2-40B4-BE49-F238E27FC236}">
                <a16:creationId xmlns:a16="http://schemas.microsoft.com/office/drawing/2014/main" id="{CAB76694-A0D2-454F-AB50-65F83594A06B}"/>
              </a:ext>
            </a:extLst>
          </p:cNvPr>
          <p:cNvSpPr>
            <a:spLocks noGrp="1"/>
          </p:cNvSpPr>
          <p:nvPr/>
        </p:nvSpPr>
        <p:spPr>
          <a:xfrm>
            <a:off x="3300984" y="2203704"/>
            <a:ext cx="0" cy="320040"/>
          </a:xfrm>
          <a:prstGeom prst="line">
            <a:avLst/>
          </a:prstGeom>
          <a:noFill/>
          <a:ln w="12700">
            <a:solidFill>
              <a:srgbClr val="72839A"/>
            </a:solidFill>
            <a:prstDash val="solid"/>
            <a:headEnd type="none"/>
            <a:tailEnd type="triangle"/>
          </a:ln>
        </p:spPr>
        <p:txBody>
          <a:bodyPr/>
          <a:lstStyle/>
          <a:p>
            <a:endParaRPr/>
          </a:p>
        </p:txBody>
      </p:sp>
      <p:sp>
        <p:nvSpPr>
          <p:cNvPr id="60" name="Shape 40">
            <a:extLst>
              <a:ext uri="{FF2B5EF4-FFF2-40B4-BE49-F238E27FC236}">
                <a16:creationId xmlns:a16="http://schemas.microsoft.com/office/drawing/2014/main" id="{2E73441F-55F5-4545-9440-AA1CB30B389A}"/>
              </a:ext>
            </a:extLst>
          </p:cNvPr>
          <p:cNvSpPr>
            <a:spLocks noGrp="1"/>
          </p:cNvSpPr>
          <p:nvPr/>
        </p:nvSpPr>
        <p:spPr>
          <a:xfrm>
            <a:off x="5212080" y="2203704"/>
            <a:ext cx="0" cy="320040"/>
          </a:xfrm>
          <a:prstGeom prst="line">
            <a:avLst/>
          </a:prstGeom>
          <a:noFill/>
          <a:ln w="12700">
            <a:solidFill>
              <a:srgbClr val="72839A"/>
            </a:solidFill>
            <a:prstDash val="solid"/>
            <a:headEnd type="none"/>
            <a:tailEnd type="triangle"/>
          </a:ln>
        </p:spPr>
        <p:txBody>
          <a:bodyPr/>
          <a:lstStyle/>
          <a:p>
            <a:endParaRPr/>
          </a:p>
        </p:txBody>
      </p:sp>
      <p:sp>
        <p:nvSpPr>
          <p:cNvPr id="61" name="Shape 41">
            <a:extLst>
              <a:ext uri="{FF2B5EF4-FFF2-40B4-BE49-F238E27FC236}">
                <a16:creationId xmlns:a16="http://schemas.microsoft.com/office/drawing/2014/main" id="{4F81DA21-FC78-4659-B704-9990B2B754FA}"/>
              </a:ext>
            </a:extLst>
          </p:cNvPr>
          <p:cNvSpPr>
            <a:spLocks noGrp="1"/>
          </p:cNvSpPr>
          <p:nvPr/>
        </p:nvSpPr>
        <p:spPr>
          <a:xfrm>
            <a:off x="7123176" y="2203704"/>
            <a:ext cx="0" cy="320040"/>
          </a:xfrm>
          <a:prstGeom prst="line">
            <a:avLst/>
          </a:prstGeom>
          <a:noFill/>
          <a:ln w="12700">
            <a:solidFill>
              <a:srgbClr val="72839A"/>
            </a:solidFill>
            <a:prstDash val="solid"/>
            <a:headEnd type="none"/>
            <a:tailEnd type="triangle"/>
          </a:ln>
        </p:spPr>
        <p:txBody>
          <a:bodyPr/>
          <a:lstStyle/>
          <a:p>
            <a:endParaRPr/>
          </a:p>
        </p:txBody>
      </p:sp>
      <p:sp>
        <p:nvSpPr>
          <p:cNvPr id="62" name="Shape 42">
            <a:extLst>
              <a:ext uri="{FF2B5EF4-FFF2-40B4-BE49-F238E27FC236}">
                <a16:creationId xmlns:a16="http://schemas.microsoft.com/office/drawing/2014/main" id="{5DCCBDC2-768A-40E1-B187-166AE70E573B}"/>
              </a:ext>
            </a:extLst>
          </p:cNvPr>
          <p:cNvSpPr>
            <a:spLocks noGrp="1"/>
          </p:cNvSpPr>
          <p:nvPr/>
        </p:nvSpPr>
        <p:spPr>
          <a:xfrm>
            <a:off x="1536192" y="3767328"/>
            <a:ext cx="0" cy="530352"/>
          </a:xfrm>
          <a:prstGeom prst="line">
            <a:avLst/>
          </a:prstGeom>
          <a:noFill/>
          <a:ln w="12700">
            <a:solidFill>
              <a:srgbClr val="72839A"/>
            </a:solidFill>
            <a:prstDash val="solid"/>
            <a:headEnd type="none"/>
            <a:tailEnd type="triangle"/>
          </a:ln>
        </p:spPr>
        <p:txBody>
          <a:bodyPr/>
          <a:lstStyle/>
          <a:p>
            <a:endParaRPr/>
          </a:p>
        </p:txBody>
      </p:sp>
      <p:sp>
        <p:nvSpPr>
          <p:cNvPr id="63" name="Shape 43">
            <a:extLst>
              <a:ext uri="{FF2B5EF4-FFF2-40B4-BE49-F238E27FC236}">
                <a16:creationId xmlns:a16="http://schemas.microsoft.com/office/drawing/2014/main" id="{F98F2CA1-C1B6-4833-81BC-0A641D76515B}"/>
              </a:ext>
            </a:extLst>
          </p:cNvPr>
          <p:cNvSpPr>
            <a:spLocks noGrp="1"/>
          </p:cNvSpPr>
          <p:nvPr/>
        </p:nvSpPr>
        <p:spPr>
          <a:xfrm>
            <a:off x="3675888" y="3767328"/>
            <a:ext cx="0" cy="530352"/>
          </a:xfrm>
          <a:prstGeom prst="line">
            <a:avLst/>
          </a:prstGeom>
          <a:noFill/>
          <a:ln w="12700">
            <a:solidFill>
              <a:srgbClr val="72839A"/>
            </a:solidFill>
            <a:prstDash val="solid"/>
            <a:headEnd type="none"/>
            <a:tailEnd type="triangle"/>
          </a:ln>
        </p:spPr>
        <p:txBody>
          <a:bodyPr/>
          <a:lstStyle/>
          <a:p>
            <a:endParaRPr/>
          </a:p>
        </p:txBody>
      </p:sp>
      <p:sp>
        <p:nvSpPr>
          <p:cNvPr id="64" name="Shape 44">
            <a:extLst>
              <a:ext uri="{FF2B5EF4-FFF2-40B4-BE49-F238E27FC236}">
                <a16:creationId xmlns:a16="http://schemas.microsoft.com/office/drawing/2014/main" id="{3EBAC907-8BDA-4B36-A19A-EA800A3445CB}"/>
              </a:ext>
            </a:extLst>
          </p:cNvPr>
          <p:cNvSpPr>
            <a:spLocks noGrp="1"/>
          </p:cNvSpPr>
          <p:nvPr/>
        </p:nvSpPr>
        <p:spPr>
          <a:xfrm>
            <a:off x="5815584" y="3767328"/>
            <a:ext cx="0" cy="530352"/>
          </a:xfrm>
          <a:prstGeom prst="line">
            <a:avLst/>
          </a:prstGeom>
          <a:noFill/>
          <a:ln w="12700">
            <a:solidFill>
              <a:srgbClr val="72839A"/>
            </a:solidFill>
            <a:prstDash val="solid"/>
            <a:headEnd type="none"/>
            <a:tailEnd type="triangle"/>
          </a:ln>
        </p:spPr>
        <p:txBody>
          <a:bodyPr/>
          <a:lstStyle/>
          <a:p>
            <a:endParaRPr/>
          </a:p>
        </p:txBody>
      </p:sp>
      <p:sp>
        <p:nvSpPr>
          <p:cNvPr id="65" name="Shape 45">
            <a:extLst>
              <a:ext uri="{FF2B5EF4-FFF2-40B4-BE49-F238E27FC236}">
                <a16:creationId xmlns:a16="http://schemas.microsoft.com/office/drawing/2014/main" id="{851ECA87-C650-43F5-83AB-347AAF351069}"/>
              </a:ext>
            </a:extLst>
          </p:cNvPr>
          <p:cNvSpPr>
            <a:spLocks noGrp="1"/>
          </p:cNvSpPr>
          <p:nvPr/>
        </p:nvSpPr>
        <p:spPr>
          <a:xfrm>
            <a:off x="7955280" y="3767328"/>
            <a:ext cx="0" cy="530352"/>
          </a:xfrm>
          <a:prstGeom prst="line">
            <a:avLst/>
          </a:prstGeom>
          <a:noFill/>
          <a:ln w="12700">
            <a:solidFill>
              <a:srgbClr val="72839A"/>
            </a:solidFill>
            <a:prstDash val="solid"/>
            <a:headEnd type="none"/>
            <a:tailEnd type="triangle"/>
          </a:ln>
        </p:spPr>
        <p:txBody>
          <a:bodyPr/>
          <a:lstStyle/>
          <a:p>
            <a:endParaRPr/>
          </a:p>
        </p:txBody>
      </p:sp>
      <p:sp>
        <p:nvSpPr>
          <p:cNvPr id="66" name="Shape 46">
            <a:extLst>
              <a:ext uri="{FF2B5EF4-FFF2-40B4-BE49-F238E27FC236}">
                <a16:creationId xmlns:a16="http://schemas.microsoft.com/office/drawing/2014/main" id="{2DCE5E8C-5C33-477C-86C7-FBA879714F00}"/>
              </a:ext>
            </a:extLst>
          </p:cNvPr>
          <p:cNvSpPr>
            <a:spLocks noGrp="1"/>
          </p:cNvSpPr>
          <p:nvPr/>
        </p:nvSpPr>
        <p:spPr>
          <a:xfrm>
            <a:off x="1536192" y="5102352"/>
            <a:ext cx="0" cy="292608"/>
          </a:xfrm>
          <a:prstGeom prst="line">
            <a:avLst/>
          </a:prstGeom>
          <a:noFill/>
          <a:ln w="12700">
            <a:solidFill>
              <a:srgbClr val="72839A"/>
            </a:solidFill>
            <a:prstDash val="solid"/>
            <a:headEnd type="none"/>
            <a:tailEnd type="triangle"/>
          </a:ln>
        </p:spPr>
        <p:txBody>
          <a:bodyPr/>
          <a:lstStyle/>
          <a:p>
            <a:endParaRPr/>
          </a:p>
        </p:txBody>
      </p:sp>
      <p:sp>
        <p:nvSpPr>
          <p:cNvPr id="67" name="Shape 47">
            <a:extLst>
              <a:ext uri="{FF2B5EF4-FFF2-40B4-BE49-F238E27FC236}">
                <a16:creationId xmlns:a16="http://schemas.microsoft.com/office/drawing/2014/main" id="{97725E26-D2B7-4F8A-AD89-8C8C157F807C}"/>
              </a:ext>
            </a:extLst>
          </p:cNvPr>
          <p:cNvSpPr>
            <a:spLocks noGrp="1"/>
          </p:cNvSpPr>
          <p:nvPr/>
        </p:nvSpPr>
        <p:spPr>
          <a:xfrm>
            <a:off x="3675888" y="5102352"/>
            <a:ext cx="0" cy="292608"/>
          </a:xfrm>
          <a:prstGeom prst="line">
            <a:avLst/>
          </a:prstGeom>
          <a:noFill/>
          <a:ln w="12700">
            <a:solidFill>
              <a:srgbClr val="72839A"/>
            </a:solidFill>
            <a:prstDash val="solid"/>
            <a:headEnd type="none"/>
            <a:tailEnd type="triangle"/>
          </a:ln>
        </p:spPr>
        <p:txBody>
          <a:bodyPr/>
          <a:lstStyle/>
          <a:p>
            <a:endParaRPr/>
          </a:p>
        </p:txBody>
      </p:sp>
      <p:sp>
        <p:nvSpPr>
          <p:cNvPr id="68" name="Shape 48">
            <a:extLst>
              <a:ext uri="{FF2B5EF4-FFF2-40B4-BE49-F238E27FC236}">
                <a16:creationId xmlns:a16="http://schemas.microsoft.com/office/drawing/2014/main" id="{307E6EE2-359D-46E9-A97C-5F19ED6A6E46}"/>
              </a:ext>
            </a:extLst>
          </p:cNvPr>
          <p:cNvSpPr>
            <a:spLocks noGrp="1"/>
          </p:cNvSpPr>
          <p:nvPr/>
        </p:nvSpPr>
        <p:spPr>
          <a:xfrm>
            <a:off x="5815584" y="5102352"/>
            <a:ext cx="0" cy="292608"/>
          </a:xfrm>
          <a:prstGeom prst="line">
            <a:avLst/>
          </a:prstGeom>
          <a:noFill/>
          <a:ln w="12700">
            <a:solidFill>
              <a:srgbClr val="72839A"/>
            </a:solidFill>
            <a:prstDash val="solid"/>
            <a:headEnd type="none"/>
            <a:tailEnd type="triangle"/>
          </a:ln>
        </p:spPr>
        <p:txBody>
          <a:bodyPr/>
          <a:lstStyle/>
          <a:p>
            <a:endParaRPr/>
          </a:p>
        </p:txBody>
      </p:sp>
      <p:sp>
        <p:nvSpPr>
          <p:cNvPr id="69" name="Shape 49">
            <a:extLst>
              <a:ext uri="{FF2B5EF4-FFF2-40B4-BE49-F238E27FC236}">
                <a16:creationId xmlns:a16="http://schemas.microsoft.com/office/drawing/2014/main" id="{A7B5CCE1-BB1E-4CA6-AA1F-41A37251D677}"/>
              </a:ext>
            </a:extLst>
          </p:cNvPr>
          <p:cNvSpPr>
            <a:spLocks noGrp="1"/>
          </p:cNvSpPr>
          <p:nvPr/>
        </p:nvSpPr>
        <p:spPr>
          <a:xfrm>
            <a:off x="7955280" y="5102352"/>
            <a:ext cx="0" cy="292608"/>
          </a:xfrm>
          <a:prstGeom prst="line">
            <a:avLst/>
          </a:prstGeom>
          <a:noFill/>
          <a:ln w="12700">
            <a:solidFill>
              <a:srgbClr val="72839A"/>
            </a:solidFill>
            <a:prstDash val="solid"/>
            <a:headEnd type="none"/>
            <a:tailEnd type="triangle"/>
          </a:ln>
        </p:spPr>
        <p:txBody>
          <a:bodyPr/>
          <a:lstStyle/>
          <a:p>
            <a:endParaRPr/>
          </a:p>
        </p:txBody>
      </p:sp>
      <p:sp>
        <p:nvSpPr>
          <p:cNvPr id="70" name="Shape 50">
            <a:extLst>
              <a:ext uri="{FF2B5EF4-FFF2-40B4-BE49-F238E27FC236}">
                <a16:creationId xmlns:a16="http://schemas.microsoft.com/office/drawing/2014/main" id="{E5D74683-E4A7-4CDF-AD4C-F5B32B8B7CC5}"/>
              </a:ext>
            </a:extLst>
          </p:cNvPr>
          <p:cNvSpPr>
            <a:spLocks noGrp="1"/>
          </p:cNvSpPr>
          <p:nvPr/>
        </p:nvSpPr>
        <p:spPr>
          <a:xfrm>
            <a:off x="3849624" y="6044184"/>
            <a:ext cx="4498848" cy="320040"/>
          </a:xfrm>
          <a:prstGeom prst="roundRect">
            <a:avLst>
              <a:gd name="adj" fmla="val 22857"/>
            </a:avLst>
          </a:prstGeom>
          <a:solidFill>
            <a:srgbClr val="3BE0B5">
              <a:alpha val="13000"/>
            </a:srgbClr>
          </a:solidFill>
          <a:ln w="12700">
            <a:solidFill>
              <a:srgbClr val="3BE0B5">
                <a:alpha val="35000"/>
              </a:srgbClr>
            </a:solidFill>
            <a:prstDash val="solid"/>
          </a:ln>
        </p:spPr>
        <p:txBody>
          <a:bodyPr/>
          <a:lstStyle/>
          <a:p>
            <a:endParaRPr/>
          </a:p>
        </p:txBody>
      </p:sp>
      <p:sp>
        <p:nvSpPr>
          <p:cNvPr id="71" name="Text 51">
            <a:extLst>
              <a:ext uri="{FF2B5EF4-FFF2-40B4-BE49-F238E27FC236}">
                <a16:creationId xmlns:a16="http://schemas.microsoft.com/office/drawing/2014/main" id="{DF9AF5AB-A5A1-4E08-8D1D-734DF8E7C418}"/>
              </a:ext>
            </a:extLst>
          </p:cNvPr>
          <p:cNvSpPr>
            <a:spLocks noGrp="1"/>
          </p:cNvSpPr>
          <p:nvPr/>
        </p:nvSpPr>
        <p:spPr>
          <a:xfrm>
            <a:off x="3922776" y="6053328"/>
            <a:ext cx="4352544" cy="301752"/>
          </a:xfrm>
          <a:prstGeom prst="rect">
            <a:avLst/>
          </a:prstGeom>
          <a:noFill/>
        </p:spPr>
        <p:txBody>
          <a:bodyPr wrap="square" lIns="0" tIns="0" rIns="0" bIns="0" anchor="ctr"/>
          <a:lstStyle/>
          <a:p>
            <a:pPr marL="0" indent="0" algn="ctr">
              <a:buNone/>
            </a:pPr>
            <a:r>
              <a:rPr sz="1020" b="1">
                <a:solidFill>
                  <a:srgbClr val="3BE0B5"/>
                </a:solidFill>
                <a:latin typeface="Inter"/>
                <a:ea typeface="Inter"/>
                <a:cs typeface="Inter"/>
              </a:rPr>
              <a:t>HORIZONTAL CONTROLS · DOMAIN RULES IN SERVERS</a:t>
            </a:r>
            <a:endParaRPr sz="1020"/>
          </a:p>
        </p:txBody>
      </p:sp>
      <p:sp>
        <p:nvSpPr>
          <p:cNvPr id="72" name="Shape 52">
            <a:extLst>
              <a:ext uri="{FF2B5EF4-FFF2-40B4-BE49-F238E27FC236}">
                <a16:creationId xmlns:a16="http://schemas.microsoft.com/office/drawing/2014/main" id="{CD756713-4D44-4574-A9D8-C2694301D78C}"/>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73" name="Text 53">
            <a:extLst>
              <a:ext uri="{FF2B5EF4-FFF2-40B4-BE49-F238E27FC236}">
                <a16:creationId xmlns:a16="http://schemas.microsoft.com/office/drawing/2014/main" id="{52F09B70-0EA7-49EC-A38C-A2576633C58E}"/>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ACT II · ENTERPRISE</a:t>
            </a:r>
            <a:endParaRPr sz="850"/>
          </a:p>
        </p:txBody>
      </p:sp>
      <p:sp>
        <p:nvSpPr>
          <p:cNvPr id="74" name="Text 54">
            <a:extLst>
              <a:ext uri="{FF2B5EF4-FFF2-40B4-BE49-F238E27FC236}">
                <a16:creationId xmlns:a16="http://schemas.microsoft.com/office/drawing/2014/main" id="{33751BAC-769A-4100-8852-2984F015EEC7}"/>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75" name="Text 55">
            <a:extLst>
              <a:ext uri="{FF2B5EF4-FFF2-40B4-BE49-F238E27FC236}">
                <a16:creationId xmlns:a16="http://schemas.microsoft.com/office/drawing/2014/main" id="{C6ABDE7A-E895-4D38-8E94-6CD19F261D1E}"/>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11</a:t>
            </a:r>
            <a:endParaRPr sz="850"/>
          </a:p>
        </p:txBody>
      </p:sp>
    </p:spTree>
    <p:extLst>
      <p:ext uri="{BB962C8B-B14F-4D97-AF65-F5344CB8AC3E}">
        <p14:creationId xmlns:p14="http://schemas.microsoft.com/office/powerpoint/2010/main" val="5931845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6B77C14D-7E64-4448-91F7-C8B4CB45FB4F}"/>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ONE IDEA TO TAKE HOME</a:t>
            </a:r>
            <a:endParaRPr sz="950"/>
          </a:p>
        </p:txBody>
      </p:sp>
      <p:sp>
        <p:nvSpPr>
          <p:cNvPr id="4" name="Text 1">
            <a:extLst>
              <a:ext uri="{FF2B5EF4-FFF2-40B4-BE49-F238E27FC236}">
                <a16:creationId xmlns:a16="http://schemas.microsoft.com/office/drawing/2014/main" id="{85FEC1AA-B4A8-4F09-9641-719E1499C9D4}"/>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3100" b="1">
                <a:solidFill>
                  <a:srgbClr val="F7FAFF"/>
                </a:solidFill>
                <a:latin typeface="Inter"/>
                <a:ea typeface="Inter"/>
                <a:cs typeface="Inter"/>
              </a:rPr>
              <a:t>The dividing line</a:t>
            </a:r>
            <a:endParaRPr sz="3100"/>
          </a:p>
        </p:txBody>
      </p:sp>
      <p:sp>
        <p:nvSpPr>
          <p:cNvPr id="5" name="Shape 2">
            <a:extLst>
              <a:ext uri="{FF2B5EF4-FFF2-40B4-BE49-F238E27FC236}">
                <a16:creationId xmlns:a16="http://schemas.microsoft.com/office/drawing/2014/main" id="{2E6E58A7-1AFE-4BF4-8D2A-E8F52D0878E7}"/>
              </a:ext>
            </a:extLst>
          </p:cNvPr>
          <p:cNvSpPr>
            <a:spLocks noGrp="1"/>
          </p:cNvSpPr>
          <p:nvPr/>
        </p:nvSpPr>
        <p:spPr>
          <a:xfrm>
            <a:off x="594360" y="1344168"/>
            <a:ext cx="5285232" cy="3246120"/>
          </a:xfrm>
          <a:prstGeom prst="roundRect">
            <a:avLst>
              <a:gd name="adj" fmla="val 2254"/>
            </a:avLst>
          </a:prstGeom>
          <a:solidFill>
            <a:srgbClr val="0B192B"/>
          </a:solidFill>
          <a:ln w="12700">
            <a:solidFill>
              <a:srgbClr val="35D4E7"/>
            </a:solidFill>
            <a:prstDash val="solid"/>
          </a:ln>
          <a:effectLst>
            <a:outerShdw algn="bl" rotWithShape="0">
              <a:srgbClr val="000000">
                <a:alpha val="0"/>
              </a:srgbClr>
            </a:outerShdw>
          </a:effectLst>
        </p:spPr>
        <p:txBody>
          <a:bodyPr/>
          <a:lstStyle/>
          <a:p>
            <a:endParaRPr/>
          </a:p>
        </p:txBody>
      </p:sp>
      <p:sp>
        <p:nvSpPr>
          <p:cNvPr id="6" name="Shape 3">
            <a:extLst>
              <a:ext uri="{FF2B5EF4-FFF2-40B4-BE49-F238E27FC236}">
                <a16:creationId xmlns:a16="http://schemas.microsoft.com/office/drawing/2014/main" id="{6392A863-0DDE-40CF-BB95-CD806799D668}"/>
              </a:ext>
            </a:extLst>
          </p:cNvPr>
          <p:cNvSpPr>
            <a:spLocks noGrp="1"/>
          </p:cNvSpPr>
          <p:nvPr/>
        </p:nvSpPr>
        <p:spPr>
          <a:xfrm>
            <a:off x="896112" y="1664208"/>
            <a:ext cx="1115568" cy="310896"/>
          </a:xfrm>
          <a:prstGeom prst="roundRect">
            <a:avLst>
              <a:gd name="adj" fmla="val 23529"/>
            </a:avLst>
          </a:prstGeom>
          <a:solidFill>
            <a:srgbClr val="35D4E7">
              <a:alpha val="17000"/>
            </a:srgbClr>
          </a:solidFill>
          <a:ln w="12700">
            <a:solidFill>
              <a:srgbClr val="35D4E7">
                <a:alpha val="45000"/>
              </a:srgbClr>
            </a:solidFill>
            <a:prstDash val="solid"/>
          </a:ln>
        </p:spPr>
        <p:txBody>
          <a:bodyPr/>
          <a:lstStyle/>
          <a:p>
            <a:endParaRPr/>
          </a:p>
        </p:txBody>
      </p:sp>
      <p:sp>
        <p:nvSpPr>
          <p:cNvPr id="7" name="Text 4">
            <a:extLst>
              <a:ext uri="{FF2B5EF4-FFF2-40B4-BE49-F238E27FC236}">
                <a16:creationId xmlns:a16="http://schemas.microsoft.com/office/drawing/2014/main" id="{46470DD1-9B11-4E50-BEFE-3EDFB2F699FC}"/>
              </a:ext>
            </a:extLst>
          </p:cNvPr>
          <p:cNvSpPr>
            <a:spLocks noGrp="1"/>
          </p:cNvSpPr>
          <p:nvPr/>
        </p:nvSpPr>
        <p:spPr>
          <a:xfrm>
            <a:off x="969264" y="1673352"/>
            <a:ext cx="969264" cy="292608"/>
          </a:xfrm>
          <a:prstGeom prst="rect">
            <a:avLst/>
          </a:prstGeom>
          <a:noFill/>
        </p:spPr>
        <p:txBody>
          <a:bodyPr wrap="square" lIns="0" tIns="0" rIns="0" bIns="0" anchor="ctr"/>
          <a:lstStyle/>
          <a:p>
            <a:pPr marL="0" indent="0" algn="ctr">
              <a:buNone/>
            </a:pPr>
            <a:r>
              <a:rPr sz="950" b="1">
                <a:solidFill>
                  <a:srgbClr val="35D4E7"/>
                </a:solidFill>
                <a:latin typeface="Inter"/>
                <a:ea typeface="Inter"/>
                <a:cs typeface="Inter"/>
              </a:rPr>
              <a:t>STARTUP</a:t>
            </a:r>
            <a:endParaRPr sz="950"/>
          </a:p>
        </p:txBody>
      </p:sp>
      <p:sp>
        <p:nvSpPr>
          <p:cNvPr id="8" name="Text 5">
            <a:extLst>
              <a:ext uri="{FF2B5EF4-FFF2-40B4-BE49-F238E27FC236}">
                <a16:creationId xmlns:a16="http://schemas.microsoft.com/office/drawing/2014/main" id="{48D22849-4685-465D-9B0E-08ADF2834CFC}"/>
              </a:ext>
            </a:extLst>
          </p:cNvPr>
          <p:cNvSpPr>
            <a:spLocks noGrp="1"/>
          </p:cNvSpPr>
          <p:nvPr/>
        </p:nvSpPr>
        <p:spPr>
          <a:xfrm>
            <a:off x="896112" y="2212848"/>
            <a:ext cx="4407408" cy="1078992"/>
          </a:xfrm>
          <a:prstGeom prst="rect">
            <a:avLst/>
          </a:prstGeom>
          <a:noFill/>
        </p:spPr>
        <p:txBody>
          <a:bodyPr wrap="square" lIns="0" tIns="0" rIns="0" bIns="0" anchor="ctr"/>
          <a:lstStyle/>
          <a:p>
            <a:pPr marL="0" indent="0">
              <a:buNone/>
            </a:pPr>
            <a:r>
              <a:rPr sz="3100" b="1">
                <a:solidFill>
                  <a:srgbClr val="F7FAFF"/>
                </a:solidFill>
                <a:latin typeface="Inter"/>
                <a:ea typeface="Inter"/>
                <a:cs typeface="Inter"/>
              </a:rPr>
              <a:t>Control the route</a:t>
            </a:r>
            <a:endParaRPr sz="3100"/>
          </a:p>
          <a:p>
            <a:pPr marL="0" indent="0">
              <a:buNone/>
            </a:pPr>
            <a:r>
              <a:rPr sz="3100" b="1">
                <a:solidFill>
                  <a:srgbClr val="F7FAFF"/>
                </a:solidFill>
                <a:latin typeface="Inter"/>
                <a:ea typeface="Inter"/>
                <a:cs typeface="Inter"/>
              </a:rPr>
              <a:t>and the output.</a:t>
            </a:r>
          </a:p>
        </p:txBody>
      </p:sp>
      <p:sp>
        <p:nvSpPr>
          <p:cNvPr id="9" name="Text 6">
            <a:extLst>
              <a:ext uri="{FF2B5EF4-FFF2-40B4-BE49-F238E27FC236}">
                <a16:creationId xmlns:a16="http://schemas.microsoft.com/office/drawing/2014/main" id="{DCA4CDDB-E7C1-4D75-B93E-33C8179932B5}"/>
              </a:ext>
            </a:extLst>
          </p:cNvPr>
          <p:cNvSpPr>
            <a:spLocks noGrp="1"/>
          </p:cNvSpPr>
          <p:nvPr/>
        </p:nvSpPr>
        <p:spPr>
          <a:xfrm>
            <a:off x="896112" y="3767328"/>
            <a:ext cx="4370832" cy="310896"/>
          </a:xfrm>
          <a:prstGeom prst="rect">
            <a:avLst/>
          </a:prstGeom>
          <a:noFill/>
        </p:spPr>
        <p:txBody>
          <a:bodyPr wrap="square" lIns="0" tIns="0" rIns="0" bIns="0" anchor="ctr"/>
          <a:lstStyle/>
          <a:p>
            <a:pPr marL="0" indent="0">
              <a:buNone/>
            </a:pPr>
            <a:r>
              <a:rPr sz="1250">
                <a:solidFill>
                  <a:srgbClr val="A7B5C8"/>
                </a:solidFill>
                <a:latin typeface="Inter"/>
                <a:ea typeface="Inter"/>
                <a:cs typeface="Inter"/>
              </a:rPr>
              <a:t>Client loop · routing · accuracy · UX · cost</a:t>
            </a:r>
            <a:endParaRPr sz="1250"/>
          </a:p>
        </p:txBody>
      </p:sp>
      <p:sp>
        <p:nvSpPr>
          <p:cNvPr id="10" name="Shape 7">
            <a:extLst>
              <a:ext uri="{FF2B5EF4-FFF2-40B4-BE49-F238E27FC236}">
                <a16:creationId xmlns:a16="http://schemas.microsoft.com/office/drawing/2014/main" id="{FC6E92DB-93D7-4C2A-970C-034219EA09DA}"/>
              </a:ext>
            </a:extLst>
          </p:cNvPr>
          <p:cNvSpPr>
            <a:spLocks noGrp="1"/>
          </p:cNvSpPr>
          <p:nvPr/>
        </p:nvSpPr>
        <p:spPr>
          <a:xfrm>
            <a:off x="6309360" y="1344168"/>
            <a:ext cx="5285232" cy="3246120"/>
          </a:xfrm>
          <a:prstGeom prst="roundRect">
            <a:avLst>
              <a:gd name="adj" fmla="val 2254"/>
            </a:avLst>
          </a:prstGeom>
          <a:solidFill>
            <a:srgbClr val="171927"/>
          </a:solidFill>
          <a:ln w="12700">
            <a:solidFill>
              <a:srgbClr val="F7B955"/>
            </a:solidFill>
            <a:prstDash val="solid"/>
          </a:ln>
          <a:effectLst>
            <a:outerShdw algn="bl" rotWithShape="0">
              <a:srgbClr val="000000">
                <a:alpha val="0"/>
              </a:srgbClr>
            </a:outerShdw>
          </a:effectLst>
        </p:spPr>
        <p:txBody>
          <a:bodyPr/>
          <a:lstStyle/>
          <a:p>
            <a:endParaRPr/>
          </a:p>
        </p:txBody>
      </p:sp>
      <p:sp>
        <p:nvSpPr>
          <p:cNvPr id="11" name="Shape 8">
            <a:extLst>
              <a:ext uri="{FF2B5EF4-FFF2-40B4-BE49-F238E27FC236}">
                <a16:creationId xmlns:a16="http://schemas.microsoft.com/office/drawing/2014/main" id="{21C45CF0-0AFE-48E9-A0E2-6274C5C4D6FF}"/>
              </a:ext>
            </a:extLst>
          </p:cNvPr>
          <p:cNvSpPr>
            <a:spLocks noGrp="1"/>
          </p:cNvSpPr>
          <p:nvPr/>
        </p:nvSpPr>
        <p:spPr>
          <a:xfrm>
            <a:off x="6611112" y="1664208"/>
            <a:ext cx="1353312" cy="310896"/>
          </a:xfrm>
          <a:prstGeom prst="roundRect">
            <a:avLst>
              <a:gd name="adj" fmla="val 23529"/>
            </a:avLst>
          </a:prstGeom>
          <a:solidFill>
            <a:srgbClr val="F7B955">
              <a:alpha val="17000"/>
            </a:srgbClr>
          </a:solidFill>
          <a:ln w="12700">
            <a:solidFill>
              <a:srgbClr val="F7B955">
                <a:alpha val="45000"/>
              </a:srgbClr>
            </a:solidFill>
            <a:prstDash val="solid"/>
          </a:ln>
        </p:spPr>
        <p:txBody>
          <a:bodyPr/>
          <a:lstStyle/>
          <a:p>
            <a:endParaRPr/>
          </a:p>
        </p:txBody>
      </p:sp>
      <p:sp>
        <p:nvSpPr>
          <p:cNvPr id="12" name="Text 9">
            <a:extLst>
              <a:ext uri="{FF2B5EF4-FFF2-40B4-BE49-F238E27FC236}">
                <a16:creationId xmlns:a16="http://schemas.microsoft.com/office/drawing/2014/main" id="{AE4B508C-E29A-4C6E-BEED-C404ED8C7E49}"/>
              </a:ext>
            </a:extLst>
          </p:cNvPr>
          <p:cNvSpPr>
            <a:spLocks noGrp="1"/>
          </p:cNvSpPr>
          <p:nvPr/>
        </p:nvSpPr>
        <p:spPr>
          <a:xfrm>
            <a:off x="6684264" y="1673352"/>
            <a:ext cx="1207008" cy="292608"/>
          </a:xfrm>
          <a:prstGeom prst="rect">
            <a:avLst/>
          </a:prstGeom>
          <a:noFill/>
        </p:spPr>
        <p:txBody>
          <a:bodyPr wrap="square" lIns="0" tIns="0" rIns="0" bIns="0" anchor="ctr"/>
          <a:lstStyle/>
          <a:p>
            <a:pPr marL="0" indent="0" algn="ctr">
              <a:buNone/>
            </a:pPr>
            <a:r>
              <a:rPr sz="950" b="1">
                <a:solidFill>
                  <a:srgbClr val="F7B955"/>
                </a:solidFill>
                <a:latin typeface="Inter"/>
                <a:ea typeface="Inter"/>
                <a:cs typeface="Inter"/>
              </a:rPr>
              <a:t>ENTERPRISE</a:t>
            </a:r>
            <a:endParaRPr sz="950"/>
          </a:p>
        </p:txBody>
      </p:sp>
      <p:sp>
        <p:nvSpPr>
          <p:cNvPr id="13" name="Text 10">
            <a:extLst>
              <a:ext uri="{FF2B5EF4-FFF2-40B4-BE49-F238E27FC236}">
                <a16:creationId xmlns:a16="http://schemas.microsoft.com/office/drawing/2014/main" id="{75FFA643-DA91-4672-9273-543F79218402}"/>
              </a:ext>
            </a:extLst>
          </p:cNvPr>
          <p:cNvSpPr>
            <a:spLocks noGrp="1"/>
          </p:cNvSpPr>
          <p:nvPr/>
        </p:nvSpPr>
        <p:spPr>
          <a:xfrm>
            <a:off x="6611112" y="2167128"/>
            <a:ext cx="4480560" cy="1207008"/>
          </a:xfrm>
          <a:prstGeom prst="rect">
            <a:avLst/>
          </a:prstGeom>
          <a:noFill/>
        </p:spPr>
        <p:txBody>
          <a:bodyPr wrap="square" lIns="0" tIns="0" rIns="0" bIns="0" anchor="ctr"/>
          <a:lstStyle/>
          <a:p>
            <a:pPr marL="0" indent="0">
              <a:buNone/>
            </a:pPr>
            <a:r>
              <a:rPr sz="2500" b="1">
                <a:solidFill>
                  <a:srgbClr val="F7FAFF"/>
                </a:solidFill>
                <a:latin typeface="Inter"/>
                <a:ea typeface="Inter"/>
                <a:cs typeface="Inter"/>
              </a:rPr>
              <a:t>Control every identity, tool and dataset,</a:t>
            </a:r>
            <a:endParaRPr sz="2500"/>
          </a:p>
          <a:p>
            <a:pPr marL="0" indent="0">
              <a:buNone/>
            </a:pPr>
            <a:r>
              <a:rPr sz="2500" b="1">
                <a:solidFill>
                  <a:srgbClr val="F7FAFF"/>
                </a:solidFill>
                <a:latin typeface="Inter"/>
                <a:ea typeface="Inter"/>
                <a:cs typeface="Inter"/>
              </a:rPr>
              <a:t>then retain the evidence.</a:t>
            </a:r>
          </a:p>
        </p:txBody>
      </p:sp>
      <p:sp>
        <p:nvSpPr>
          <p:cNvPr id="14" name="Text 11">
            <a:extLst>
              <a:ext uri="{FF2B5EF4-FFF2-40B4-BE49-F238E27FC236}">
                <a16:creationId xmlns:a16="http://schemas.microsoft.com/office/drawing/2014/main" id="{9BEA85F4-8792-4235-8960-51B55F758B77}"/>
              </a:ext>
            </a:extLst>
          </p:cNvPr>
          <p:cNvSpPr>
            <a:spLocks noGrp="1"/>
          </p:cNvSpPr>
          <p:nvPr/>
        </p:nvSpPr>
        <p:spPr>
          <a:xfrm>
            <a:off x="6611112" y="3767328"/>
            <a:ext cx="4498848" cy="402336"/>
          </a:xfrm>
          <a:prstGeom prst="rect">
            <a:avLst/>
          </a:prstGeom>
          <a:noFill/>
        </p:spPr>
        <p:txBody>
          <a:bodyPr wrap="square" lIns="0" tIns="0" rIns="0" bIns="0" anchor="ctr"/>
          <a:lstStyle/>
          <a:p>
            <a:pPr marL="0" indent="0">
              <a:buNone/>
            </a:pPr>
            <a:r>
              <a:rPr sz="1180">
                <a:solidFill>
                  <a:srgbClr val="A7B5C8"/>
                </a:solidFill>
                <a:latin typeface="Inter"/>
                <a:ea typeface="Inter"/>
                <a:cs typeface="Inter"/>
              </a:rPr>
              <a:t>Authorization · licensing · policy · audit · operations</a:t>
            </a:r>
            <a:endParaRPr sz="1180"/>
          </a:p>
        </p:txBody>
      </p:sp>
      <p:sp>
        <p:nvSpPr>
          <p:cNvPr id="15" name="Shape 12">
            <a:extLst>
              <a:ext uri="{FF2B5EF4-FFF2-40B4-BE49-F238E27FC236}">
                <a16:creationId xmlns:a16="http://schemas.microsoft.com/office/drawing/2014/main" id="{CA364D6E-9894-4AC5-8F8F-73067DE1806A}"/>
              </a:ext>
            </a:extLst>
          </p:cNvPr>
          <p:cNvSpPr>
            <a:spLocks noGrp="1"/>
          </p:cNvSpPr>
          <p:nvPr/>
        </p:nvSpPr>
        <p:spPr>
          <a:xfrm>
            <a:off x="749808" y="4956048"/>
            <a:ext cx="1874520" cy="384048"/>
          </a:xfrm>
          <a:prstGeom prst="roundRect">
            <a:avLst>
              <a:gd name="adj" fmla="val 19048"/>
            </a:avLst>
          </a:prstGeom>
          <a:solidFill>
            <a:srgbClr val="35D4E7">
              <a:alpha val="16000"/>
            </a:srgbClr>
          </a:solidFill>
          <a:ln w="12700">
            <a:solidFill>
              <a:srgbClr val="35D4E7">
                <a:alpha val="40000"/>
              </a:srgbClr>
            </a:solidFill>
            <a:prstDash val="solid"/>
          </a:ln>
        </p:spPr>
        <p:txBody>
          <a:bodyPr/>
          <a:lstStyle/>
          <a:p>
            <a:endParaRPr/>
          </a:p>
        </p:txBody>
      </p:sp>
      <p:sp>
        <p:nvSpPr>
          <p:cNvPr id="16" name="Text 13">
            <a:extLst>
              <a:ext uri="{FF2B5EF4-FFF2-40B4-BE49-F238E27FC236}">
                <a16:creationId xmlns:a16="http://schemas.microsoft.com/office/drawing/2014/main" id="{DB8E99B6-B789-4BBF-98BF-E3B62587360C}"/>
              </a:ext>
            </a:extLst>
          </p:cNvPr>
          <p:cNvSpPr>
            <a:spLocks noGrp="1"/>
          </p:cNvSpPr>
          <p:nvPr/>
        </p:nvSpPr>
        <p:spPr>
          <a:xfrm>
            <a:off x="822960" y="4965192"/>
            <a:ext cx="1728216" cy="365760"/>
          </a:xfrm>
          <a:prstGeom prst="rect">
            <a:avLst/>
          </a:prstGeom>
          <a:noFill/>
        </p:spPr>
        <p:txBody>
          <a:bodyPr wrap="square" lIns="0" tIns="0" rIns="0" bIns="0" anchor="ctr"/>
          <a:lstStyle/>
          <a:p>
            <a:pPr marL="0" indent="0" algn="ctr">
              <a:buNone/>
            </a:pPr>
            <a:r>
              <a:rPr sz="910" b="1">
                <a:solidFill>
                  <a:srgbClr val="35D4E7"/>
                </a:solidFill>
                <a:latin typeface="Inter"/>
                <a:ea typeface="Inter"/>
                <a:cs typeface="Inter"/>
              </a:rPr>
              <a:t>MAKE IT WORK</a:t>
            </a:r>
            <a:endParaRPr sz="910"/>
          </a:p>
        </p:txBody>
      </p:sp>
      <p:sp>
        <p:nvSpPr>
          <p:cNvPr id="17" name="Shape 14">
            <a:extLst>
              <a:ext uri="{FF2B5EF4-FFF2-40B4-BE49-F238E27FC236}">
                <a16:creationId xmlns:a16="http://schemas.microsoft.com/office/drawing/2014/main" id="{581D4EFC-8C0C-4A18-B1CF-6E9C1AA04F9C}"/>
              </a:ext>
            </a:extLst>
          </p:cNvPr>
          <p:cNvSpPr>
            <a:spLocks noGrp="1"/>
          </p:cNvSpPr>
          <p:nvPr/>
        </p:nvSpPr>
        <p:spPr>
          <a:xfrm>
            <a:off x="2660904" y="5148072"/>
            <a:ext cx="219456" cy="0"/>
          </a:xfrm>
          <a:prstGeom prst="line">
            <a:avLst/>
          </a:prstGeom>
          <a:noFill/>
          <a:ln w="12700">
            <a:solidFill>
              <a:srgbClr val="72839A"/>
            </a:solidFill>
            <a:prstDash val="solid"/>
            <a:headEnd type="none"/>
            <a:tailEnd type="triangle"/>
          </a:ln>
        </p:spPr>
        <p:txBody>
          <a:bodyPr/>
          <a:lstStyle/>
          <a:p>
            <a:endParaRPr/>
          </a:p>
        </p:txBody>
      </p:sp>
      <p:sp>
        <p:nvSpPr>
          <p:cNvPr id="18" name="Shape 15">
            <a:extLst>
              <a:ext uri="{FF2B5EF4-FFF2-40B4-BE49-F238E27FC236}">
                <a16:creationId xmlns:a16="http://schemas.microsoft.com/office/drawing/2014/main" id="{5E76AF3E-5266-4936-8DBD-A1B57CF6331C}"/>
              </a:ext>
            </a:extLst>
          </p:cNvPr>
          <p:cNvSpPr>
            <a:spLocks noGrp="1"/>
          </p:cNvSpPr>
          <p:nvPr/>
        </p:nvSpPr>
        <p:spPr>
          <a:xfrm>
            <a:off x="2962656" y="4956048"/>
            <a:ext cx="1874520" cy="384048"/>
          </a:xfrm>
          <a:prstGeom prst="roundRect">
            <a:avLst>
              <a:gd name="adj" fmla="val 19048"/>
            </a:avLst>
          </a:prstGeom>
          <a:solidFill>
            <a:srgbClr val="5B7CFF">
              <a:alpha val="16000"/>
            </a:srgbClr>
          </a:solidFill>
          <a:ln w="12700">
            <a:solidFill>
              <a:srgbClr val="5B7CFF">
                <a:alpha val="40000"/>
              </a:srgbClr>
            </a:solidFill>
            <a:prstDash val="solid"/>
          </a:ln>
        </p:spPr>
        <p:txBody>
          <a:bodyPr/>
          <a:lstStyle/>
          <a:p>
            <a:endParaRPr/>
          </a:p>
        </p:txBody>
      </p:sp>
      <p:sp>
        <p:nvSpPr>
          <p:cNvPr id="19" name="Text 16">
            <a:extLst>
              <a:ext uri="{FF2B5EF4-FFF2-40B4-BE49-F238E27FC236}">
                <a16:creationId xmlns:a16="http://schemas.microsoft.com/office/drawing/2014/main" id="{9AEF5FDE-7DF7-43D2-A304-644ACC20D946}"/>
              </a:ext>
            </a:extLst>
          </p:cNvPr>
          <p:cNvSpPr>
            <a:spLocks noGrp="1"/>
          </p:cNvSpPr>
          <p:nvPr/>
        </p:nvSpPr>
        <p:spPr>
          <a:xfrm>
            <a:off x="3035808" y="4965192"/>
            <a:ext cx="1728216" cy="365760"/>
          </a:xfrm>
          <a:prstGeom prst="rect">
            <a:avLst/>
          </a:prstGeom>
          <a:noFill/>
        </p:spPr>
        <p:txBody>
          <a:bodyPr wrap="square" lIns="0" tIns="0" rIns="0" bIns="0" anchor="ctr"/>
          <a:lstStyle/>
          <a:p>
            <a:pPr marL="0" indent="0" algn="ctr">
              <a:buNone/>
            </a:pPr>
            <a:r>
              <a:rPr sz="910" b="1">
                <a:solidFill>
                  <a:srgbClr val="5B7CFF"/>
                </a:solidFill>
                <a:latin typeface="Inter"/>
                <a:ea typeface="Inter"/>
                <a:cs typeface="Inter"/>
              </a:rPr>
              <a:t>MAKE IT REPEATABLE</a:t>
            </a:r>
            <a:endParaRPr sz="910"/>
          </a:p>
        </p:txBody>
      </p:sp>
      <p:sp>
        <p:nvSpPr>
          <p:cNvPr id="20" name="Shape 17">
            <a:extLst>
              <a:ext uri="{FF2B5EF4-FFF2-40B4-BE49-F238E27FC236}">
                <a16:creationId xmlns:a16="http://schemas.microsoft.com/office/drawing/2014/main" id="{96CF6CE1-5146-48C9-8DF4-69A0FC6D5420}"/>
              </a:ext>
            </a:extLst>
          </p:cNvPr>
          <p:cNvSpPr>
            <a:spLocks noGrp="1"/>
          </p:cNvSpPr>
          <p:nvPr/>
        </p:nvSpPr>
        <p:spPr>
          <a:xfrm>
            <a:off x="4873752" y="5148072"/>
            <a:ext cx="219456" cy="0"/>
          </a:xfrm>
          <a:prstGeom prst="line">
            <a:avLst/>
          </a:prstGeom>
          <a:noFill/>
          <a:ln w="12700">
            <a:solidFill>
              <a:srgbClr val="72839A"/>
            </a:solidFill>
            <a:prstDash val="solid"/>
            <a:headEnd type="none"/>
            <a:tailEnd type="triangle"/>
          </a:ln>
        </p:spPr>
        <p:txBody>
          <a:bodyPr/>
          <a:lstStyle/>
          <a:p>
            <a:endParaRPr/>
          </a:p>
        </p:txBody>
      </p:sp>
      <p:sp>
        <p:nvSpPr>
          <p:cNvPr id="21" name="Shape 18">
            <a:extLst>
              <a:ext uri="{FF2B5EF4-FFF2-40B4-BE49-F238E27FC236}">
                <a16:creationId xmlns:a16="http://schemas.microsoft.com/office/drawing/2014/main" id="{D2E1BCE6-91DD-4432-8E5E-8186694921BE}"/>
              </a:ext>
            </a:extLst>
          </p:cNvPr>
          <p:cNvSpPr>
            <a:spLocks noGrp="1"/>
          </p:cNvSpPr>
          <p:nvPr/>
        </p:nvSpPr>
        <p:spPr>
          <a:xfrm>
            <a:off x="5175504" y="4956048"/>
            <a:ext cx="1874520" cy="384048"/>
          </a:xfrm>
          <a:prstGeom prst="roundRect">
            <a:avLst>
              <a:gd name="adj" fmla="val 19048"/>
            </a:avLst>
          </a:prstGeom>
          <a:solidFill>
            <a:srgbClr val="F7B955">
              <a:alpha val="16000"/>
            </a:srgbClr>
          </a:solidFill>
          <a:ln w="12700">
            <a:solidFill>
              <a:srgbClr val="F7B955">
                <a:alpha val="40000"/>
              </a:srgbClr>
            </a:solidFill>
            <a:prstDash val="solid"/>
          </a:ln>
        </p:spPr>
        <p:txBody>
          <a:bodyPr/>
          <a:lstStyle/>
          <a:p>
            <a:endParaRPr/>
          </a:p>
        </p:txBody>
      </p:sp>
      <p:sp>
        <p:nvSpPr>
          <p:cNvPr id="22" name="Text 19">
            <a:extLst>
              <a:ext uri="{FF2B5EF4-FFF2-40B4-BE49-F238E27FC236}">
                <a16:creationId xmlns:a16="http://schemas.microsoft.com/office/drawing/2014/main" id="{3B017986-BE82-4C79-A666-80EB15B886E6}"/>
              </a:ext>
            </a:extLst>
          </p:cNvPr>
          <p:cNvSpPr>
            <a:spLocks noGrp="1"/>
          </p:cNvSpPr>
          <p:nvPr/>
        </p:nvSpPr>
        <p:spPr>
          <a:xfrm>
            <a:off x="5248656" y="4965192"/>
            <a:ext cx="1728216" cy="365760"/>
          </a:xfrm>
          <a:prstGeom prst="rect">
            <a:avLst/>
          </a:prstGeom>
          <a:noFill/>
        </p:spPr>
        <p:txBody>
          <a:bodyPr wrap="square" lIns="0" tIns="0" rIns="0" bIns="0" anchor="ctr"/>
          <a:lstStyle/>
          <a:p>
            <a:pPr marL="0" indent="0" algn="ctr">
              <a:buNone/>
            </a:pPr>
            <a:r>
              <a:rPr sz="910" b="1">
                <a:solidFill>
                  <a:srgbClr val="F7B955"/>
                </a:solidFill>
                <a:latin typeface="Inter"/>
                <a:ea typeface="Inter"/>
                <a:cs typeface="Inter"/>
              </a:rPr>
              <a:t>MAKE IT GOVERNABLE</a:t>
            </a:r>
            <a:endParaRPr sz="910"/>
          </a:p>
        </p:txBody>
      </p:sp>
      <p:sp>
        <p:nvSpPr>
          <p:cNvPr id="23" name="Shape 20">
            <a:extLst>
              <a:ext uri="{FF2B5EF4-FFF2-40B4-BE49-F238E27FC236}">
                <a16:creationId xmlns:a16="http://schemas.microsoft.com/office/drawing/2014/main" id="{3C7AE435-5182-48C2-BB02-B1DE05F4C7F9}"/>
              </a:ext>
            </a:extLst>
          </p:cNvPr>
          <p:cNvSpPr>
            <a:spLocks noGrp="1"/>
          </p:cNvSpPr>
          <p:nvPr/>
        </p:nvSpPr>
        <p:spPr>
          <a:xfrm>
            <a:off x="7589520" y="4773168"/>
            <a:ext cx="4005072" cy="1298448"/>
          </a:xfrm>
          <a:prstGeom prst="roundRect">
            <a:avLst>
              <a:gd name="adj" fmla="val 5634"/>
            </a:avLst>
          </a:prstGeom>
          <a:solidFill>
            <a:srgbClr val="0C182A"/>
          </a:solidFill>
          <a:ln w="12700">
            <a:solidFill>
              <a:srgbClr val="293A51"/>
            </a:solidFill>
            <a:prstDash val="solid"/>
          </a:ln>
        </p:spPr>
        <p:txBody>
          <a:bodyPr/>
          <a:lstStyle/>
          <a:p>
            <a:endParaRPr/>
          </a:p>
        </p:txBody>
      </p:sp>
      <p:pic>
        <p:nvPicPr>
          <p:cNvPr id="62" name="Image 1"/>
          <p:cNvPicPr>
            <a:picLocks noChangeAspect="1"/>
          </p:cNvPicPr>
          <p:nvPr/>
        </p:nvPicPr>
        <p:blipFill>
          <a:blip r:embed="rId4"/>
          <a:stretch>
            <a:fillRect/>
          </a:stretch>
        </p:blipFill>
        <p:spPr>
          <a:xfrm>
            <a:off x="7818120" y="4983480"/>
            <a:ext cx="850392" cy="850392"/>
          </a:xfrm>
          <a:prstGeom prst="rect">
            <a:avLst/>
          </a:prstGeom>
        </p:spPr>
      </p:pic>
      <p:pic>
        <p:nvPicPr>
          <p:cNvPr id="63" name="Image 2"/>
          <p:cNvPicPr>
            <a:picLocks noChangeAspect="1"/>
          </p:cNvPicPr>
          <p:nvPr/>
        </p:nvPicPr>
        <p:blipFill>
          <a:blip r:embed="rId5"/>
          <a:stretch>
            <a:fillRect/>
          </a:stretch>
        </p:blipFill>
        <p:spPr>
          <a:xfrm>
            <a:off x="8924544" y="4983480"/>
            <a:ext cx="850392" cy="850392"/>
          </a:xfrm>
          <a:prstGeom prst="rect">
            <a:avLst/>
          </a:prstGeom>
        </p:spPr>
      </p:pic>
      <p:pic>
        <p:nvPicPr>
          <p:cNvPr id="64" name="Image 3"/>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59543" y="4974336"/>
            <a:ext cx="272034" cy="310896"/>
          </a:xfrm>
          <a:prstGeom prst="rect">
            <a:avLst/>
          </a:prstGeom>
        </p:spPr>
      </p:pic>
      <p:sp>
        <p:nvSpPr>
          <p:cNvPr id="27" name="Text 21">
            <a:extLst>
              <a:ext uri="{FF2B5EF4-FFF2-40B4-BE49-F238E27FC236}">
                <a16:creationId xmlns:a16="http://schemas.microsoft.com/office/drawing/2014/main" id="{879678C3-F575-4B92-BC2B-32EC40A212C2}"/>
              </a:ext>
            </a:extLst>
          </p:cNvPr>
          <p:cNvSpPr>
            <a:spLocks noGrp="1"/>
          </p:cNvSpPr>
          <p:nvPr/>
        </p:nvSpPr>
        <p:spPr>
          <a:xfrm>
            <a:off x="10442448" y="4919472"/>
            <a:ext cx="960120" cy="365760"/>
          </a:xfrm>
          <a:prstGeom prst="rect">
            <a:avLst/>
          </a:prstGeom>
          <a:noFill/>
        </p:spPr>
        <p:txBody>
          <a:bodyPr wrap="square" lIns="0" tIns="0" rIns="0" bIns="0" anchor="ctr">
            <a:normAutofit/>
          </a:bodyPr>
          <a:lstStyle/>
          <a:p>
            <a:pPr marL="0" indent="0">
              <a:buNone/>
            </a:pPr>
            <a:r>
              <a:rPr sz="1050" b="1">
                <a:solidFill>
                  <a:srgbClr val="F7FAFF"/>
                </a:solidFill>
                <a:latin typeface="Inter"/>
                <a:ea typeface="Inter"/>
                <a:cs typeface="Inter"/>
              </a:rPr>
              <a:t>Continue the conversation</a:t>
            </a:r>
            <a:endParaRPr sz="1050"/>
          </a:p>
        </p:txBody>
      </p:sp>
      <p:sp>
        <p:nvSpPr>
          <p:cNvPr id="28" name="Text 22">
            <a:extLst>
              <a:ext uri="{FF2B5EF4-FFF2-40B4-BE49-F238E27FC236}">
                <a16:creationId xmlns:a16="http://schemas.microsoft.com/office/drawing/2014/main" id="{DC888B53-1DE2-4FD4-9331-C5E44D53DE11}"/>
              </a:ext>
            </a:extLst>
          </p:cNvPr>
          <p:cNvSpPr>
            <a:spLocks noGrp="1"/>
          </p:cNvSpPr>
          <p:nvPr/>
        </p:nvSpPr>
        <p:spPr>
          <a:xfrm>
            <a:off x="7754112" y="5861304"/>
            <a:ext cx="932688" cy="164592"/>
          </a:xfrm>
          <a:prstGeom prst="rect">
            <a:avLst/>
          </a:prstGeom>
          <a:noFill/>
        </p:spPr>
        <p:txBody>
          <a:bodyPr wrap="square" lIns="0" tIns="0" rIns="0" bIns="0" anchor="ctr"/>
          <a:lstStyle/>
          <a:p>
            <a:pPr marL="0" indent="0" algn="ctr">
              <a:buNone/>
            </a:pPr>
            <a:r>
              <a:rPr sz="790" b="1">
                <a:solidFill>
                  <a:srgbClr val="72839A"/>
                </a:solidFill>
                <a:latin typeface="Inter"/>
                <a:ea typeface="Inter"/>
                <a:cs typeface="Inter"/>
              </a:rPr>
              <a:t>Portfolio</a:t>
            </a:r>
            <a:endParaRPr sz="790"/>
          </a:p>
        </p:txBody>
      </p:sp>
      <p:sp>
        <p:nvSpPr>
          <p:cNvPr id="29" name="Text 23">
            <a:extLst>
              <a:ext uri="{FF2B5EF4-FFF2-40B4-BE49-F238E27FC236}">
                <a16:creationId xmlns:a16="http://schemas.microsoft.com/office/drawing/2014/main" id="{5A69D834-3C83-4DF5-AA52-3BEC13F09B63}"/>
              </a:ext>
            </a:extLst>
          </p:cNvPr>
          <p:cNvSpPr>
            <a:spLocks noGrp="1"/>
          </p:cNvSpPr>
          <p:nvPr/>
        </p:nvSpPr>
        <p:spPr>
          <a:xfrm>
            <a:off x="8887968" y="5861304"/>
            <a:ext cx="932688" cy="164592"/>
          </a:xfrm>
          <a:prstGeom prst="rect">
            <a:avLst/>
          </a:prstGeom>
          <a:noFill/>
        </p:spPr>
        <p:txBody>
          <a:bodyPr wrap="square" lIns="0" tIns="0" rIns="0" bIns="0" anchor="ctr"/>
          <a:lstStyle/>
          <a:p>
            <a:pPr marL="0" indent="0" algn="ctr">
              <a:buNone/>
            </a:pPr>
            <a:r>
              <a:rPr sz="790" b="1">
                <a:solidFill>
                  <a:srgbClr val="72839A"/>
                </a:solidFill>
                <a:latin typeface="Inter"/>
                <a:ea typeface="Inter"/>
                <a:cs typeface="Inter"/>
              </a:rPr>
              <a:t>LinkedIn</a:t>
            </a:r>
            <a:endParaRPr sz="790"/>
          </a:p>
        </p:txBody>
      </p:sp>
      <p:sp>
        <p:nvSpPr>
          <p:cNvPr id="30" name="Text 24">
            <a:extLst>
              <a:ext uri="{FF2B5EF4-FFF2-40B4-BE49-F238E27FC236}">
                <a16:creationId xmlns:a16="http://schemas.microsoft.com/office/drawing/2014/main" id="{A8B4B342-2034-4BEB-B240-DC46A5E5677F}"/>
              </a:ext>
            </a:extLst>
          </p:cNvPr>
          <p:cNvSpPr>
            <a:spLocks noGrp="1"/>
          </p:cNvSpPr>
          <p:nvPr/>
        </p:nvSpPr>
        <p:spPr>
          <a:xfrm>
            <a:off x="10049256" y="5394960"/>
            <a:ext cx="1307592" cy="201168"/>
          </a:xfrm>
          <a:prstGeom prst="rect">
            <a:avLst/>
          </a:prstGeom>
          <a:noFill/>
        </p:spPr>
        <p:txBody>
          <a:bodyPr wrap="square" lIns="0" tIns="0" rIns="0" bIns="0" anchor="ctr"/>
          <a:lstStyle/>
          <a:p>
            <a:pPr marL="0" indent="0">
              <a:buNone/>
            </a:pPr>
            <a:r>
              <a:rPr sz="920">
                <a:solidFill>
                  <a:srgbClr val="A7B5C8"/>
                </a:solidFill>
                <a:latin typeface="Inter"/>
                <a:ea typeface="Inter"/>
                <a:cs typeface="Inter"/>
              </a:rPr>
              <a:t>kolygri.github.io</a:t>
            </a:r>
            <a:endParaRPr sz="920"/>
          </a:p>
        </p:txBody>
      </p:sp>
      <p:sp>
        <p:nvSpPr>
          <p:cNvPr id="31" name="Text 25">
            <a:extLst>
              <a:ext uri="{FF2B5EF4-FFF2-40B4-BE49-F238E27FC236}">
                <a16:creationId xmlns:a16="http://schemas.microsoft.com/office/drawing/2014/main" id="{81C69067-F024-4A39-AF1C-72BC46E4857C}"/>
              </a:ext>
            </a:extLst>
          </p:cNvPr>
          <p:cNvSpPr>
            <a:spLocks noGrp="1"/>
          </p:cNvSpPr>
          <p:nvPr/>
        </p:nvSpPr>
        <p:spPr>
          <a:xfrm>
            <a:off x="749808" y="5797296"/>
            <a:ext cx="1828800" cy="292608"/>
          </a:xfrm>
          <a:prstGeom prst="rect">
            <a:avLst/>
          </a:prstGeom>
          <a:noFill/>
        </p:spPr>
        <p:txBody>
          <a:bodyPr wrap="square" lIns="0" tIns="0" rIns="0" bIns="0" anchor="ctr"/>
          <a:lstStyle/>
          <a:p>
            <a:pPr marL="0" indent="0">
              <a:buNone/>
            </a:pPr>
            <a:r>
              <a:rPr sz="1600" b="1" spc="130">
                <a:solidFill>
                  <a:srgbClr val="F7FAFF"/>
                </a:solidFill>
                <a:latin typeface="Inter"/>
                <a:ea typeface="Inter"/>
                <a:cs typeface="Inter"/>
              </a:rPr>
              <a:t>THANK YOU</a:t>
            </a:r>
            <a:endParaRPr sz="1600"/>
          </a:p>
        </p:txBody>
      </p:sp>
      <p:sp>
        <p:nvSpPr>
          <p:cNvPr id="32" name="Shape 26">
            <a:extLst>
              <a:ext uri="{FF2B5EF4-FFF2-40B4-BE49-F238E27FC236}">
                <a16:creationId xmlns:a16="http://schemas.microsoft.com/office/drawing/2014/main" id="{5D6FF57B-B4E5-476D-BAC2-8DDD0C7A4FB3}"/>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33" name="Text 27">
            <a:extLst>
              <a:ext uri="{FF2B5EF4-FFF2-40B4-BE49-F238E27FC236}">
                <a16:creationId xmlns:a16="http://schemas.microsoft.com/office/drawing/2014/main" id="{5549CBD0-5A87-471C-AD35-BC25FB901741}"/>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CLOSE</a:t>
            </a:r>
            <a:endParaRPr sz="850"/>
          </a:p>
        </p:txBody>
      </p:sp>
      <p:sp>
        <p:nvSpPr>
          <p:cNvPr id="34" name="Text 28">
            <a:extLst>
              <a:ext uri="{FF2B5EF4-FFF2-40B4-BE49-F238E27FC236}">
                <a16:creationId xmlns:a16="http://schemas.microsoft.com/office/drawing/2014/main" id="{5B9930BB-3DC6-4804-83D3-532043C8EFD7}"/>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35" name="Text 29">
            <a:extLst>
              <a:ext uri="{FF2B5EF4-FFF2-40B4-BE49-F238E27FC236}">
                <a16:creationId xmlns:a16="http://schemas.microsoft.com/office/drawing/2014/main" id="{7B2D3B42-AA43-49E3-AFF0-28176914410F}"/>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12</a:t>
            </a:r>
            <a:endParaRPr sz="850"/>
          </a:p>
        </p:txBody>
      </p:sp>
    </p:spTree>
    <p:extLst>
      <p:ext uri="{BB962C8B-B14F-4D97-AF65-F5344CB8AC3E}">
        <p14:creationId xmlns:p14="http://schemas.microsoft.com/office/powerpoint/2010/main" val="4288872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de49536e-9021-4e8b-a813-eda5cb0caf1c}" enabled="1" method="Privileged" siteId="{db1e96a8-a3da-442a-930b-235cac24cd5c}" contentBits="0" removed="0"/>
</clbl:labelList>
</file>

<file path=docProps/app.xml><?xml version="1.0" encoding="utf-8"?>
<Properties xmlns="http://schemas.openxmlformats.org/officeDocument/2006/extended-properties" xmlns:vt="http://schemas.openxmlformats.org/officeDocument/2006/docPropsVTypes">
  <TotalTime>0</TotalTime>
  <Words>4798</Words>
  <Application>Microsoft Macintosh PowerPoint</Application>
  <DocSecurity>0</DocSecurity>
  <PresentationFormat>Widescreen</PresentationFormat>
  <Paragraphs>507</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Inter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Grigorov, Konstantin L SITILTD-ITY/TG/I</cp:lastModifiedBy>
  <cp:revision>1</cp:revision>
  <dcterms:created xsi:type="dcterms:W3CDTF">2026-09-29T15:42:03Z</dcterms:created>
  <dcterms:modified xsi:type="dcterms:W3CDTF">2026-09-29T16:21:54Z</dcterms:modified>
</cp:coreProperties>
</file>