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1cce4b977346a7" /><Relationship Type="http://schemas.openxmlformats.org/officeDocument/2006/relationships/extended-properties" Target="/docProps/app.xml" Id="Rf4aee0b412c84c31" /><Relationship Type="http://schemas.openxmlformats.org/officeDocument/2006/relationships/officeDocument" Target="/ppt/presentation.xml" Id="R9d29c09291304205" /></Relationships>
</file>

<file path=ppt/presentation.xml><?xml version="1.0" encoding="utf-8"?>
<p:presentation xmlns:p="http://schemas.openxmlformats.org/presentationml/2006/main">
  <p:sldMasterIdLst>
    <p:sldMasterId xmlns:r="http://schemas.openxmlformats.org/officeDocument/2006/relationships" id="2147483648" r:id="R82b33125bccc4153"/>
  </p:sldMasterIdLst>
  <p:notesMasterIdLst>
    <p:notesMasterId xmlns:r="http://schemas.openxmlformats.org/officeDocument/2006/relationships" r:id="Raaf45a8d1e8a4247"/>
  </p:notesMasterIdLst>
  <p:sldIdLst>
    <p:sldId xmlns:r="http://schemas.openxmlformats.org/officeDocument/2006/relationships" id="256" r:id="R1552a9d30d894601"/>
    <p:sldId xmlns:r="http://schemas.openxmlformats.org/officeDocument/2006/relationships" id="257" r:id="R88cf0ffc40644592"/>
    <p:sldId xmlns:r="http://schemas.openxmlformats.org/officeDocument/2006/relationships" id="258" r:id="R2e3acff76d2a4649"/>
    <p:sldId xmlns:r="http://schemas.openxmlformats.org/officeDocument/2006/relationships" id="259" r:id="R1953db77ebab4cc0"/>
    <p:sldId xmlns:r="http://schemas.openxmlformats.org/officeDocument/2006/relationships" id="260" r:id="R89915c8df1264054"/>
    <p:sldId xmlns:r="http://schemas.openxmlformats.org/officeDocument/2006/relationships" id="261" r:id="Rfdd1578d66fb43bd"/>
    <p:sldId xmlns:r="http://schemas.openxmlformats.org/officeDocument/2006/relationships" id="262" r:id="R5e8e6b76744049a6"/>
    <p:sldId xmlns:r="http://schemas.openxmlformats.org/officeDocument/2006/relationships" id="263" r:id="Rf594fc9cd60d45cd"/>
    <p:sldId xmlns:r="http://schemas.openxmlformats.org/officeDocument/2006/relationships" id="264" r:id="Rf9f3b73a294d4de7"/>
    <p:sldId xmlns:r="http://schemas.openxmlformats.org/officeDocument/2006/relationships" id="265" r:id="Ra3bb7fc128554ef3"/>
    <p:sldId xmlns:r="http://schemas.openxmlformats.org/officeDocument/2006/relationships" id="266" r:id="R7ebba8f029f74636"/>
    <p:sldId xmlns:r="http://schemas.openxmlformats.org/officeDocument/2006/relationships" id="267" r:id="R2fa390fbd7934b34"/>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2ad21f748bd418f" /><Relationship Type="http://schemas.openxmlformats.org/officeDocument/2006/relationships/slideMaster" Target="/ppt/slideMasters/slideMaster1.xml" Id="R82b33125bccc4153" /><Relationship Type="http://schemas.openxmlformats.org/officeDocument/2006/relationships/notesMaster" Target="/ppt/notesMasters/notesMaster1.xml" Id="Raaf45a8d1e8a4247" /><Relationship Type="http://schemas.openxmlformats.org/officeDocument/2006/relationships/presProps" Target="/ppt/presProps.xml" Id="Rb833ffc7fac74ce6" /><Relationship Type="http://schemas.openxmlformats.org/officeDocument/2006/relationships/viewProps" Target="/ppt/viewProps.xml" Id="R54540036610c4a77" /><Relationship Type="http://schemas.openxmlformats.org/officeDocument/2006/relationships/tableStyles" Target="/ppt/tableStyles.xml" Id="R9ebae5218f934814" /><Relationship Type="http://schemas.openxmlformats.org/officeDocument/2006/relationships/slide" Target="/ppt/slides/slide1.xml" Id="R1552a9d30d894601" /><Relationship Type="http://schemas.openxmlformats.org/officeDocument/2006/relationships/slide" Target="/ppt/slides/slide2.xml" Id="R88cf0ffc40644592" /><Relationship Type="http://schemas.openxmlformats.org/officeDocument/2006/relationships/slide" Target="/ppt/slides/slide3.xml" Id="R2e3acff76d2a4649" /><Relationship Type="http://schemas.openxmlformats.org/officeDocument/2006/relationships/slide" Target="/ppt/slides/slide4.xml" Id="R1953db77ebab4cc0" /><Relationship Type="http://schemas.openxmlformats.org/officeDocument/2006/relationships/slide" Target="/ppt/slides/slide5.xml" Id="R89915c8df1264054" /><Relationship Type="http://schemas.openxmlformats.org/officeDocument/2006/relationships/slide" Target="/ppt/slides/slide6.xml" Id="Rfdd1578d66fb43bd" /><Relationship Type="http://schemas.openxmlformats.org/officeDocument/2006/relationships/slide" Target="/ppt/slides/slide7.xml" Id="R5e8e6b76744049a6" /><Relationship Type="http://schemas.openxmlformats.org/officeDocument/2006/relationships/slide" Target="/ppt/slides/slide8.xml" Id="Rf594fc9cd60d45cd" /><Relationship Type="http://schemas.openxmlformats.org/officeDocument/2006/relationships/slide" Target="/ppt/slides/slide9.xml" Id="Rf9f3b73a294d4de7" /><Relationship Type="http://schemas.openxmlformats.org/officeDocument/2006/relationships/slide" Target="/ppt/slides/slide10.xml" Id="Ra3bb7fc128554ef3" /><Relationship Type="http://schemas.openxmlformats.org/officeDocument/2006/relationships/slide" Target="/ppt/slides/slide11.xml" Id="R7ebba8f029f74636" /><Relationship Type="http://schemas.openxmlformats.org/officeDocument/2006/relationships/slide" Target="/ppt/slides/slide12.xml" Id="R2fa390fbd7934b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6da5e3e9a747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045729170347db" /><Relationship Type="http://schemas.openxmlformats.org/officeDocument/2006/relationships/notesMaster" Target="/ppt/notesMasters/notesMaster1.xml" Id="Rf5342ab6a08e49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124968bc4d429d" /><Relationship Type="http://schemas.openxmlformats.org/officeDocument/2006/relationships/notesMaster" Target="/ppt/notesMasters/notesMaster1.xml" Id="R214b4b87051d44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6d4f50f5ca4ec4" /><Relationship Type="http://schemas.openxmlformats.org/officeDocument/2006/relationships/notesMaster" Target="/ppt/notesMasters/notesMaster1.xml" Id="Rae12bf30cb0149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2cc9cf1fc44373" /><Relationship Type="http://schemas.openxmlformats.org/officeDocument/2006/relationships/notesMaster" Target="/ppt/notesMasters/notesMaster1.xml" Id="R90e7600683b24984"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26baad5abb4d48" /><Relationship Type="http://schemas.openxmlformats.org/officeDocument/2006/relationships/notesMaster" Target="/ppt/notesMasters/notesMaster1.xml" Id="R21fb91237d834a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1b54f7262641ed" /><Relationship Type="http://schemas.openxmlformats.org/officeDocument/2006/relationships/notesMaster" Target="/ppt/notesMasters/notesMaster1.xml" Id="R06e1df2a06244c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08478e86db4e45" /><Relationship Type="http://schemas.openxmlformats.org/officeDocument/2006/relationships/notesMaster" Target="/ppt/notesMasters/notesMaster1.xml" Id="Rea2ec231ef8d4f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b5936f3d214deb" /><Relationship Type="http://schemas.openxmlformats.org/officeDocument/2006/relationships/notesMaster" Target="/ppt/notesMasters/notesMaster1.xml" Id="Rb8134e8cc94846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e613988f9d4761" /><Relationship Type="http://schemas.openxmlformats.org/officeDocument/2006/relationships/notesMaster" Target="/ppt/notesMasters/notesMaster1.xml" Id="Rec5cc190ad4b4a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1908011c664809" /><Relationship Type="http://schemas.openxmlformats.org/officeDocument/2006/relationships/notesMaster" Target="/ppt/notesMasters/notesMaster1.xml" Id="Rfbda778014124f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efb0e4b97f4c4b" /><Relationship Type="http://schemas.openxmlformats.org/officeDocument/2006/relationships/notesMaster" Target="/ppt/notesMasters/notesMaster1.xml" Id="Rc869a210e484457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d6b5ec28314ee5" /><Relationship Type="http://schemas.openxmlformats.org/officeDocument/2006/relationships/notesMaster" Target="/ppt/notesMasters/notesMaster1.xml" Id="Rc985cbf87d064c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12:05:00–12:05:45 · 0:45</a:t>
            </a:r>
          </a:p>
          <a:p xmlns:a="http://schemas.openxmlformats.org/drawingml/2006/main">
            <a:endParaRPr/>
          </a:p>
          <a:p xmlns:a="http://schemas.openxmlformats.org/drawingml/2006/main">
            <a:r>
              <a:t>TRANSCRIPT</a:t>
            </a:r>
          </a:p>
          <a:p xmlns:a="http://schemas.openxmlformats.org/drawingml/2006/main">
            <a:r>
              <a:t>Good afternoon. I am Konstantin Grigorov, and this is a story about what happens after the MCP demo works. Quick show of hands: who has seen a convincing agent demo become a much larger engineering programme once real users, real data and real accountability arrived?</a:t>
            </a:r>
          </a:p>
          <a:p xmlns:a="http://schemas.openxmlformats.org/drawingml/2006/main">
            <a:endParaRPr/>
          </a:p>
          <a:p xmlns:a="http://schemas.openxmlformats.org/drawingml/2006/main">
            <a:r>
              <a:t>We will follow one architecture through two worlds. First comes a nine-person startup where speed and a Friday demo are rational priorities. Then comes the enterprise version, where the question changes from “can the agent answer?” to “should this identity receive this answer from this data, and can we prove the controls worked?” The story is composite, but the implementation lessons come from a working FastMCP service.</a:t>
            </a:r>
          </a:p>
          <a:p xmlns:a="http://schemas.openxmlformats.org/drawingml/2006/main">
            <a:endParaRPr/>
          </a:p>
          <a:p xmlns:a="http://schemas.openxmlformats.org/drawingml/2006/main">
            <a:r>
              <a:t>TRANSITION</a:t>
            </a:r>
          </a:p>
          <a:p xmlns:a="http://schemas.openxmlformats.org/drawingml/2006/main">
            <a:r>
              <a:t>Let us begin with the legally safest slide in the presentation.</a:t>
            </a:r>
          </a:p>
          <a:p xmlns:a="http://schemas.openxmlformats.org/drawingml/2006/main">
            <a:endParaRPr/>
          </a:p>
          <a:p xmlns:a="http://schemas.openxmlformats.org/drawingml/2006/main">
            <a:r>
              <a:t>[Sources]</a:t>
            </a:r>
          </a:p>
          <a:p xmlns:a="http://schemas.openxmlformats.org/drawingml/2006/main">
            <a:r>
              <a:t>- https://www.ai-expo.net/europe/agenda/ai-developer/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12:05:45–12:07:15 · 1:30</a:t>
            </a:r>
          </a:p>
          <a:p xmlns:a="http://schemas.openxmlformats.org/drawingml/2006/main">
            <a:endParaRPr/>
          </a:p>
          <a:p xmlns:a="http://schemas.openxmlformats.org/drawingml/2006/main">
            <a:r>
              <a:t>TRANSCRIPT</a:t>
            </a:r>
          </a:p>
          <a:p xmlns:a="http://schemas.openxmlformats.org/drawingml/2006/main">
            <a:r>
              <a:t>This is a fictional story inspired by true events. You have just joined a startup with nine people, actual funding and an investor update on Friday. The pitch is direct: connect an AI assistant to useful data through MCP and let customers ask questions in natural language.</a:t>
            </a:r>
          </a:p>
          <a:p xmlns:a="http://schemas.openxmlformats.org/drawingml/2006/main">
            <a:endParaRPr/>
          </a:p>
          <a:p xmlns:a="http://schemas.openxmlformats.org/drawingml/2006/main">
            <a:r>
              <a:t>At this stage, the problem is not an enterprise operating model. The problem is whether the team can connect the model to real data and return something useful before money or patience runs out. That is a legitimate phase. Every serious platform begins as a smaller and more optimistic system.</a:t>
            </a:r>
          </a:p>
          <a:p xmlns:a="http://schemas.openxmlformats.org/drawingml/2006/main">
            <a:endParaRPr/>
          </a:p>
          <a:p xmlns:a="http://schemas.openxmlformats.org/drawingml/2006/main">
            <a:r>
              <a:t>The danger sits in the assumptions under the demo. The users are trusted. There is one identity path. One team understands every box. The tool catalogue is small enough to hold in one person’s head. Those assumptions make the first version safe enough. Assumption debt appears when the product grows and nobody notices that the conditions have changed.</a:t>
            </a:r>
          </a:p>
          <a:p xmlns:a="http://schemas.openxmlformats.org/drawingml/2006/main">
            <a:endParaRPr/>
          </a:p>
          <a:p xmlns:a="http://schemas.openxmlformats.org/drawingml/2006/main">
            <a:r>
              <a:t>TRANSITION</a:t>
            </a:r>
          </a:p>
          <a:p xmlns:a="http://schemas.openxmlformats.org/drawingml/2006/main">
            <a:r>
              <a:t>So what does the first credible implementation actually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12:07:15–12:10:30 · 3:15</a:t>
            </a:r>
          </a:p>
          <a:p xmlns:a="http://schemas.openxmlformats.org/drawingml/2006/main">
            <a:endParaRPr/>
          </a:p>
          <a:p xmlns:a="http://schemas.openxmlformats.org/drawingml/2006/main">
            <a:r>
              <a:t>TRANSCRIPT</a:t>
            </a:r>
          </a:p>
          <a:p xmlns:a="http://schemas.openxmlformats.org/drawingml/2006/main">
            <a:r>
              <a:t>This diagram now follows the implementation more closely. The client owns the conversation and the tool loop. The host model interprets the request and chooses a tool, but it never receives direct database access. The FastMCP service contains no second model. It exposes 25 narrow tools and returns structured guidance about the next required step.</a:t>
            </a:r>
          </a:p>
          <a:p xmlns:a="http://schemas.openxmlformats.org/drawingml/2006/main">
            <a:endParaRPr/>
          </a:p>
          <a:p xmlns:a="http://schemas.openxmlformats.org/drawingml/2006/main">
            <a:r>
              <a:t>That detail matters. Prompt routing is itself an MCP tool inside the service. It preserves the user’s original wording and returns a next step. It does not secretly invoke the next tool. The client remains the orchestrator. Routing guidance improves repeatability, but it is still model-facing instruction. The hard security boundary comes later.</a:t>
            </a:r>
          </a:p>
          <a:p xmlns:a="http://schemas.openxmlformats.org/drawingml/2006/main">
            <a:endParaRPr/>
          </a:p>
          <a:p xmlns:a="http://schemas.openxmlformats.org/drawingml/2006/main">
            <a:r>
              <a:t>Every remote call carries bearer identity through middleware. At startup, the service loads its table index, schema metadata, dataset catalogue and trusted-template index into memory. Discovery can stay fast without asking the business database to explain itself on every prompt. Output tools return tables, files, charts, grids or maps as in-memory resources.</a:t>
            </a:r>
          </a:p>
          <a:p xmlns:a="http://schemas.openxmlformats.org/drawingml/2006/main">
            <a:endParaRPr/>
          </a:p>
          <a:p xmlns:a="http://schemas.openxmlformats.org/drawingml/2006/main">
            <a:r>
              <a:t>Before a data query executes, procedural code takes over. The service parses one T-SQL statement into an abstract syntax tree. It permits read-only query shapes, rejects writes, external rowsets, cross-database sources and unsupported functions, then extracts every physical relation, including relations hidden in a CTE, subquery or union. A separate authorization check verifies that the caller may read every relation. The database connection also declares read-only intent.</a:t>
            </a:r>
          </a:p>
          <a:p xmlns:a="http://schemas.openxmlformats.org/drawingml/2006/main">
            <a:endParaRPr/>
          </a:p>
          <a:p xmlns:a="http://schemas.openxmlformats.org/drawingml/2006/main">
            <a:r>
              <a:t>This is the design principle: a deterministic spine around a probabilistic model. The model interprets language. Code constrains execution. When an answer is wrong, we can locate the failure in routing, retrieval, schema choice, SQL, authorization or presentation instead of treating the whole system as one mysterious prompt.</a:t>
            </a:r>
          </a:p>
          <a:p xmlns:a="http://schemas.openxmlformats.org/drawingml/2006/main">
            <a:endParaRPr/>
          </a:p>
          <a:p xmlns:a="http://schemas.openxmlformats.org/drawingml/2006/main">
            <a:r>
              <a:t>TRANSITION</a:t>
            </a:r>
          </a:p>
          <a:p xmlns:a="http://schemas.openxmlformats.org/drawingml/2006/main">
            <a:r>
              <a:t>The implementation works. Now somebody has to find it and decide whether to trust it.</a:t>
            </a:r>
          </a:p>
          <a:p xmlns:a="http://schemas.openxmlformats.org/drawingml/2006/main">
            <a:endParaRPr/>
          </a:p>
          <a:p xmlns:a="http://schemas.openxmlformats.org/drawingml/2006/main">
            <a:r>
              <a:t>[Implementation evidence]</a:t>
            </a:r>
          </a:p>
          <a:p xmlns:a="http://schemas.openxmlformats.org/drawingml/2006/main">
            <a:r>
              <a:t>- Reviewed codebase snapshot, 29 September 2026: src/server.py, src/tools/routing/prompt_routing.py, src/safety/prompt_safety.py, src/security/authorization.py and src/tools/outputs/. Identifiers and data details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12:10:30–12:12:45 · 2:15</a:t>
            </a:r>
          </a:p>
          <a:p xmlns:a="http://schemas.openxmlformats.org/drawingml/2006/main">
            <a:endParaRPr/>
          </a:p>
          <a:p xmlns:a="http://schemas.openxmlformats.org/drawingml/2006/main">
            <a:r>
              <a:t>TRANSCRIPT</a:t>
            </a:r>
          </a:p>
          <a:p xmlns:a="http://schemas.openxmlformats.org/drawingml/2006/main">
            <a:r>
              <a:t>Discovery scales faster than approval. The official MCP Registry provides canonical server metadata. Community directories add search and convenience. Those surfaces can help a developer find a server, but they cannot decide whether an organisation should trust that publisher, version, tool set or data path.</a:t>
            </a:r>
          </a:p>
          <a:p xmlns:a="http://schemas.openxmlformats.org/drawingml/2006/main">
            <a:endParaRPr/>
          </a:p>
          <a:p xmlns:a="http://schemas.openxmlformats.org/drawingml/2006/main">
            <a:r>
              <a:t>A practical review has several stages. Verify the publisher and source. Put approved versions on an allowlist. At runtime, authenticate the caller, narrow the scope and observe the call. Local and remote deployments have different credential paths, but the principle stays the same: discovery metadata does not replace runtime policy.</a:t>
            </a:r>
          </a:p>
          <a:p xmlns:a="http://schemas.openxmlformats.org/drawingml/2006/main">
            <a:endParaRPr/>
          </a:p>
          <a:p xmlns:a="http://schemas.openxmlformats.org/drawingml/2006/main">
            <a:r>
              <a:t>The reviewed service makes that distinction concrete. Streamable HTTP sits behind bearer-token middleware. Transport security restricts allowed hosts and origins. The token validator checks signature, issuer, audience, tenant, expiry and the delegated scope. That proves who is calling the service. It does not yet prove which business data the caller may use. Dataset authorization performs that second decision.</a:t>
            </a:r>
          </a:p>
          <a:p xmlns:a="http://schemas.openxmlformats.org/drawingml/2006/main">
            <a:endParaRPr/>
          </a:p>
          <a:p xmlns:a="http://schemas.openxmlformats.org/drawingml/2006/main">
            <a:r>
              <a:t>This is where small systems and enterprise systems begin to diverge. A registry answers “where is the server?” Enterprise controls must answer “is this server approved, is this caller entitled, and is this operation allowed now?”</a:t>
            </a:r>
          </a:p>
          <a:p xmlns:a="http://schemas.openxmlformats.org/drawingml/2006/main">
            <a:endParaRPr/>
          </a:p>
          <a:p xmlns:a="http://schemas.openxmlformats.org/drawingml/2006/main">
            <a:r>
              <a:t>TRANSITION</a:t>
            </a:r>
          </a:p>
          <a:p xmlns:a="http://schemas.openxmlformats.org/drawingml/2006/main">
            <a:r>
              <a:t>Customer acquisition now gives us exactly the user who tests every hidden assumption.</a:t>
            </a:r>
          </a:p>
          <a:p xmlns:a="http://schemas.openxmlformats.org/drawingml/2006/main">
            <a:endParaRPr/>
          </a:p>
          <a:p xmlns:a="http://schemas.openxmlformats.org/drawingml/2006/main">
            <a:r>
              <a:t>[Sources]</a:t>
            </a:r>
          </a:p>
          <a:p xmlns:a="http://schemas.openxmlformats.org/drawingml/2006/main">
            <a:r>
              <a:t>- https://registry.modelcontextprotocol.io/</a:t>
            </a:r>
          </a:p>
          <a:p xmlns:a="http://schemas.openxmlformats.org/drawingml/2006/main">
            <a:r>
              <a:t>- https://modelcontextprotocol.io/specification/2026-07-28/basic/authorization</a:t>
            </a:r>
          </a:p>
          <a:p xmlns:a="http://schemas.openxmlformats.org/drawingml/2006/main">
            <a:r>
              <a:t>- https://modelcontextprotocol.io/specification/2026-07-28/basic/authorization/security-considerations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12:12:45–12:15:15 · 2:30</a:t>
            </a:r>
          </a:p>
          <a:p xmlns:a="http://schemas.openxmlformats.org/drawingml/2006/main">
            <a:endParaRPr/>
          </a:p>
          <a:p xmlns:a="http://schemas.openxmlformats.org/drawingml/2006/main">
            <a:r>
              <a:t>TRANSCRIPT</a:t>
            </a:r>
          </a:p>
          <a:p xmlns:a="http://schemas.openxmlformats.org/drawingml/2006/main">
            <a:r>
              <a:t>In the first customer batch, one user is a very important venture capitalist with a portfolio that includes Bored Ape NFTs and a famously volatile meme token. The story is fictional, although the price milestones are real.</a:t>
            </a:r>
          </a:p>
          <a:p xmlns:a="http://schemas.openxmlformats.org/drawingml/2006/main">
            <a:endParaRPr/>
          </a:p>
          <a:p xmlns:a="http://schemas.openxmlformats.org/drawingml/2006/main">
            <a:r>
              <a:t>I am reliably informed that collectors of volatile assets are highly disciplined people. They think carefully about diversification, liquidity and, on rare occasions, the floor price of a cartoon ape at three in the morning. This is not investment advice. The point is that volatile assets make consequences visible very quickly.</a:t>
            </a:r>
          </a:p>
          <a:p xmlns:a="http://schemas.openxmlformats.org/drawingml/2006/main">
            <a:endParaRPr/>
          </a:p>
          <a:p xmlns:a="http://schemas.openxmlformats.org/drawingml/2006/main">
            <a:r>
              <a:t>The customer asks three reasonable questions. Can another user see my data? Can the agent invoke a write tool? Can I reproduce the answer that influenced a decision? Those questions turn a clever demo into a system with a blast radius.</a:t>
            </a:r>
          </a:p>
          <a:p xmlns:a="http://schemas.openxmlformats.org/drawingml/2006/main">
            <a:endParaRPr/>
          </a:p>
          <a:p xmlns:a="http://schemas.openxmlformats.org/drawingml/2006/main">
            <a:r>
              <a:t>The reviewed implementation gives us concrete responses. The data path accepts only read-only SQL shapes. Authorization evaluates the user against every referenced relation, including a restricted table hidden inside a nested query. File outputs stay in memory rather than accepting a path on the server. Those controls matter because a model can propose an operation, but deterministic code decides whether it may execute.</a:t>
            </a:r>
          </a:p>
          <a:p xmlns:a="http://schemas.openxmlformats.org/drawingml/2006/main">
            <a:endParaRPr/>
          </a:p>
          <a:p xmlns:a="http://schemas.openxmlformats.org/drawingml/2006/main">
            <a:r>
              <a:t>Customer acquisition has converted security, isolation and evidence from roadmap items into product requirements. Nothing fundamental changed in MCP. The value and sensitivity on the other side of the tool changed.</a:t>
            </a:r>
          </a:p>
          <a:p xmlns:a="http://schemas.openxmlformats.org/drawingml/2006/main">
            <a:endParaRPr/>
          </a:p>
          <a:p xmlns:a="http://schemas.openxmlformats.org/drawingml/2006/main">
            <a:r>
              <a:t>TRANSITION</a:t>
            </a:r>
          </a:p>
          <a:p xmlns:a="http://schemas.openxmlformats.org/drawingml/2006/main">
            <a:r>
              <a:t>The demo passes. Production expands the control surface.</a:t>
            </a:r>
          </a:p>
          <a:p xmlns:a="http://schemas.openxmlformats.org/drawingml/2006/main">
            <a:endParaRPr/>
          </a:p>
          <a:p xmlns:a="http://schemas.openxmlformats.org/drawingml/2006/main">
            <a:r>
              <a:t>[Sources]</a:t>
            </a:r>
          </a:p>
          <a:p xmlns:a="http://schemas.openxmlformats.org/drawingml/2006/main">
            <a:r>
              <a:t>- https://nftpricefloor.com/bored-ape-yacht-club</a:t>
            </a:r>
          </a:p>
          <a:p xmlns:a="http://schemas.openxmlformats.org/drawingml/2006/main">
            <a:r>
              <a:t>- https://www.coingecko.com/en/coins/official-trump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12:15:15–12:18:15 · 3:00</a:t>
            </a:r>
          </a:p>
          <a:p xmlns:a="http://schemas.openxmlformats.org/drawingml/2006/main">
            <a:endParaRPr/>
          </a:p>
          <a:p xmlns:a="http://schemas.openxmlformats.org/drawingml/2006/main">
            <a:r>
              <a:t>TRANSCRIPT</a:t>
            </a:r>
          </a:p>
          <a:p xmlns:a="http://schemas.openxmlformats.org/drawingml/2006/main">
            <a:r>
              <a:t>These controls are product code. Identity begins with a delegated bearer token. Authorization maps the caller to existing business entitlements and verifies every physical relation in the query. Least privilege appears as narrow tools, structural SQL validation and a read-only database connection.</a:t>
            </a:r>
          </a:p>
          <a:p xmlns:a="http://schemas.openxmlformats.org/drawingml/2006/main">
            <a:endParaRPr/>
          </a:p>
          <a:p xmlns:a="http://schemas.openxmlformats.org/drawingml/2006/main">
            <a:r>
              <a:t>The SQL gate does more than search for dangerous words. It parses exactly one statement, permits SELECT and set operations, rejects mutation, SELECT INTO, external rowsets, temporary sources, cross-database names and unsupported functions. Scope-aware relation extraction means a restricted table inside a CTE, subquery or union still causes the whole request to fail.</a:t>
            </a:r>
          </a:p>
          <a:p xmlns:a="http://schemas.openxmlformats.org/drawingml/2006/main">
            <a:endParaRPr/>
          </a:p>
          <a:p xmlns:a="http://schemas.openxmlformats.org/drawingml/2006/main">
            <a:r>
              <a:t>Evidence also needs care. Structured logs carry request and trace context, but audit data can itself contain identity and prompt content. Redaction, access and retention therefore belong in the trust model. Provenance should connect the dataset, query, source metadata and policy result. A final answer without that chain remains difficult to defend.</a:t>
            </a:r>
          </a:p>
          <a:p xmlns:a="http://schemas.openxmlformats.org/drawingml/2006/main">
            <a:endParaRPr/>
          </a:p>
          <a:p xmlns:a="http://schemas.openxmlformats.org/drawingml/2006/main">
            <a:r>
              <a:t>Reliability comes from testing the path, not only the prose. The latest reviewed CI run collected 470 tests. All passed with 89 percent coverage, alongside lint, secret, dependency and static-analysis checks. One adversarial matrix sends six unsafe SQL forms through eight output tools and asserts that the database cursor is never called.</a:t>
            </a:r>
          </a:p>
          <a:p xmlns:a="http://schemas.openxmlformats.org/drawingml/2006/main">
            <a:endParaRPr/>
          </a:p>
          <a:p xmlns:a="http://schemas.openxmlformats.org/drawingml/2006/main">
            <a:r>
              <a:t>Those numbers do not prove the system is finished. They show where production effort goes: around the tool call. A startup can implement these controls inside one product. An enterprise has to make them consistent across many clients, servers and data owners.</a:t>
            </a:r>
          </a:p>
          <a:p xmlns:a="http://schemas.openxmlformats.org/drawingml/2006/main">
            <a:endParaRPr/>
          </a:p>
          <a:p xmlns:a="http://schemas.openxmlformats.org/drawingml/2006/main">
            <a:r>
              <a:t>TRANSITION</a:t>
            </a:r>
          </a:p>
          <a:p xmlns:a="http://schemas.openxmlformats.org/drawingml/2006/main">
            <a:r>
              <a:t>Here is what those implementation receipts look like on one slide.</a:t>
            </a:r>
          </a:p>
          <a:p xmlns:a="http://schemas.openxmlformats.org/drawingml/2006/main">
            <a:endParaRPr/>
          </a:p>
          <a:p xmlns:a="http://schemas.openxmlformats.org/drawingml/2006/main">
            <a:r>
              <a:t>[Sources]</a:t>
            </a:r>
          </a:p>
          <a:p xmlns:a="http://schemas.openxmlformats.org/drawingml/2006/main">
            <a:r>
              <a:t>- https://owasp.org/projects/mcp-top-10</a:t>
            </a:r>
          </a:p>
          <a:p xmlns:a="http://schemas.openxmlformats.org/drawingml/2006/main">
            <a:endParaRPr/>
          </a:p>
          <a:p xmlns:a="http://schemas.openxmlformats.org/drawingml/2006/main">
            <a:r>
              <a:t>[Implementation evidence]</a:t>
            </a:r>
          </a:p>
          <a:p xmlns:a="http://schemas.openxmlformats.org/drawingml/2006/main">
            <a:r>
              <a:t>- Reviewed main-branch CI snapshot, 29 September 2026: 470 tests passed, 89% coverage.</a:t>
            </a:r>
          </a:p>
          <a:p xmlns:a="http://schemas.openxmlformats.org/drawingml/2006/main">
            <a:r>
              <a:t>- Relevant modules: src/safety/prompt_safety.py, src/security/authorization.py, src/authentication/jwt_validator.py and tests/test_output_tools.py.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12:18:15–12:20:25 · 2:10</a:t>
            </a:r>
          </a:p>
          <a:p xmlns:a="http://schemas.openxmlformats.org/drawingml/2006/main">
            <a:r>
              <a:t/>
            </a:r>
            <a:endParaRPr/>
          </a:p>
          <a:p xmlns:a="http://schemas.openxmlformats.org/drawingml/2006/main">
            <a:r>
              <a:t>TRANSCRIPT</a:t>
            </a:r>
          </a:p>
          <a:p xmlns:a="http://schemas.openxmlformats.org/drawingml/2006/main">
            <a:r>
              <a:t>A survey of MCP builders fielded in late 2025 found security and access control the top challenge, cited by half of respondents. Thirty-eight per cent said security was actively blocking adoption; twenty-four per cent ran servers with no authentication. Be careful with that survey: self-selected, one vendor's network, and it publishes no respondent count. Directional only.</a:t>
            </a:r>
          </a:p>
          <a:p xmlns:a="http://schemas.openxmlformats.org/drawingml/2006/main">
            <a:r>
              <a:t/>
            </a:r>
            <a:endParaRPr/>
          </a:p>
          <a:p xmlns:a="http://schemas.openxmlformats.org/drawingml/2006/main">
            <a:r>
              <a:t>If you want a measured number, there is one. A study last May identified seven thousand nine hundred and seventy-three live remote MCP servers and found forty per cent expose tools with no authentication. Of the OAuth servers the authors could test, every single one had at least one flaw, and ninety-seven per cent of those were in dynamic client registration. Nine CVEs came out of it. That is why the specification deprecated dynamic registration. Not fashion. Measured breakage.</a:t>
            </a:r>
          </a:p>
          <a:p xmlns:a="http://schemas.openxmlformats.org/drawingml/2006/main">
            <a:r>
              <a:t/>
            </a:r>
            <a:endParaRPr/>
          </a:p>
          <a:p xmlns:a="http://schemas.openxmlformats.org/drawingml/2006/main">
            <a:r>
              <a:t>Authentication has mature standards. But "it authenticates" and "it is authenticated" are not the same sentence, and I have the commit to prove it. Our first bearer-token check resolved the signing key and verified the RS256 signature — and then explicitly switched off audience, issuer and expiry verification. Scope was never checked at all. So any Microsoft-signed token would have passed: another tenant, another application, long expired. The signature was the only security-meaningful check left standing.</a:t>
            </a:r>
          </a:p>
          <a:p xmlns:a="http://schemas.openxmlformats.org/drawingml/2006/main">
            <a:r>
              <a:t/>
            </a:r>
            <a:endParaRPr/>
          </a:p>
          <a:p xmlns:a="http://schemas.openxmlformats.org/drawingml/2006/main">
            <a:r>
              <a:t>That is what I mean when I say authorization is contextual. The cryptography was never the hard part.</a:t>
            </a:r>
          </a:p>
          <a:p xmlns:a="http://schemas.openxmlformats.org/drawingml/2006/main">
            <a:r>
              <a:t/>
            </a:r>
            <a:endParaRPr/>
          </a:p>
          <a:p xmlns:a="http://schemas.openxmlformats.org/drawingml/2006/main">
            <a:r>
              <a:t>TRANSITION</a:t>
            </a:r>
          </a:p>
          <a:p xmlns:a="http://schemas.openxmlformats.org/drawingml/2006/main">
            <a:r>
              <a:t>That is the moment our engineer receives a very familiar chat message.</a:t>
            </a:r>
          </a:p>
          <a:p xmlns:a="http://schemas.openxmlformats.org/drawingml/2006/main">
            <a:r>
              <a:t/>
            </a:r>
            <a:endParaRPr/>
          </a:p>
          <a:p xmlns:a="http://schemas.openxmlformats.org/drawingml/2006/main">
            <a:r>
              <a:t>[Sources]</a:t>
            </a:r>
          </a:p>
          <a:p xmlns:a="http://schemas.openxmlformats.org/drawingml/2006/main">
            <a:r>
              <a:t>- https://zuplo.com/blog/mcp-survey</a:t>
            </a:r>
          </a:p>
          <a:p xmlns:a="http://schemas.openxmlformats.org/drawingml/2006/main">
            <a:r>
              <a:t>- https://arxiv.org/abs/2605.22333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12:20:30–12:24:00 · 3:30</a:t>
            </a:r>
          </a:p>
          <a:p xmlns:a="http://schemas.openxmlformats.org/drawingml/2006/main">
            <a:endParaRPr/>
          </a:p>
          <a:p xmlns:a="http://schemas.openxmlformats.org/drawingml/2006/main">
            <a:r>
              <a:t>TRANSCRIPT</a:t>
            </a:r>
          </a:p>
          <a:p xmlns:a="http://schemas.openxmlformats.org/drawingml/2006/main">
            <a:r>
              <a:t>The founder asks, “Can we add enterprise SSO?” The engineer says, “Of course.” Then security adds user and workload identity, delegated access, token exchange, fine-grained entitlements, isolation, offboarding and incident response. “This might take longer” becomes the most accurate estimate on the roadmap.</a:t>
            </a:r>
          </a:p>
          <a:p xmlns:a="http://schemas.openxmlformats.org/drawingml/2006/main">
            <a:endParaRPr/>
          </a:p>
          <a:p xmlns:a="http://schemas.openxmlformats.org/drawingml/2006/main">
            <a:r>
              <a:t>The gateway on the right is a target enterprise pattern, not a component implemented by the reviewed repository. Clients authenticate at a common control plane. The gateway can resolve downstream credentials, apply baseline policy, aggregate approved tool discovery and produce a unified audit trail. Domain MCP services still own their data semantics and local rules.</a:t>
            </a:r>
          </a:p>
          <a:p xmlns:a="http://schemas.openxmlformats.org/drawingml/2006/main">
            <a:endParaRPr/>
          </a:p>
          <a:p xmlns:a="http://schemas.openxmlformats.org/drawingml/2006/main">
            <a:r>
              <a:t>The current service already demonstrates one useful scaling choice: stateless HTTP. It does not require session affinity across replicas. When a session identifier exists, the service may still associate the original prompt with later tool calls, but requests do not depend on hidden server state to remain valid. That distinction makes the pattern more precise than simply saying “sessions disappeared.”</a:t>
            </a:r>
          </a:p>
          <a:p xmlns:a="http://schemas.openxmlformats.org/drawingml/2006/main">
            <a:endParaRPr/>
          </a:p>
          <a:p xmlns:a="http://schemas.openxmlformats.org/drawingml/2006/main">
            <a:r>
              <a:t>OWASP’s MCP Top 10 explains why a horizontal boundary matters. Token leakage, scope creep, tool poisoning, weak authorization and context over-sharing are system risks. A gateway can reduce the exposed tool set and attach user and agent context before the call reaches a domain server.</a:t>
            </a:r>
          </a:p>
          <a:p xmlns:a="http://schemas.openxmlformats.org/drawingml/2006/main">
            <a:endParaRPr/>
          </a:p>
          <a:p xmlns:a="http://schemas.openxmlformats.org/drawingml/2006/main">
            <a:r>
              <a:t>A gateway also becomes a high-value control point. It must protect tokens, separate tenants, remain observable and fail closed without becoming the place where every domain rule is copied. The goal is central governance with federated execution.</a:t>
            </a:r>
          </a:p>
          <a:p xmlns:a="http://schemas.openxmlformats.org/drawingml/2006/main">
            <a:endParaRPr/>
          </a:p>
          <a:p xmlns:a="http://schemas.openxmlformats.org/drawingml/2006/main">
            <a:r>
              <a:t>TRANSITION</a:t>
            </a:r>
          </a:p>
          <a:p xmlns:a="http://schemas.openxmlformats.org/drawingml/2006/main">
            <a:r>
              <a:t>Security gets the request through the right door. The system still has to choose the right route.</a:t>
            </a:r>
          </a:p>
          <a:p xmlns:a="http://schemas.openxmlformats.org/drawingml/2006/main">
            <a:endParaRPr/>
          </a:p>
          <a:p xmlns:a="http://schemas.openxmlformats.org/drawingml/2006/main">
            <a:r>
              <a:t>[Sources]</a:t>
            </a:r>
          </a:p>
          <a:p xmlns:a="http://schemas.openxmlformats.org/drawingml/2006/main">
            <a:r>
              <a:t>- https://arxiv.org/abs/2608.10760</a:t>
            </a:r>
          </a:p>
          <a:p xmlns:a="http://schemas.openxmlformats.org/drawingml/2006/main">
            <a:r>
              <a:t>- https://owasp.org/projects/mcp-top-10</a:t>
            </a:r>
          </a:p>
          <a:p xmlns:a="http://schemas.openxmlformats.org/drawingml/2006/main">
            <a:r>
              <a:t>- https://modelcontextprotocol.io/specification/2026-07-28/basic/transports/streamable-http</a:t>
            </a:r>
          </a:p>
          <a:p xmlns:a="http://schemas.openxmlformats.org/drawingml/2006/main">
            <a:endParaRPr/>
          </a:p>
          <a:p xmlns:a="http://schemas.openxmlformats.org/drawingml/2006/main">
            <a:r>
              <a:t>[Implementation evidence]</a:t>
            </a:r>
          </a:p>
          <a:p xmlns:a="http://schemas.openxmlformats.org/drawingml/2006/main">
            <a:r>
              <a:t>- Reviewed codebase snapshot: src/server.py uses stateless_http=True and optional request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12:24:00–12:27:15 · 3:15</a:t>
            </a:r>
          </a:p>
          <a:p xmlns:a="http://schemas.openxmlformats.org/drawingml/2006/main">
            <a:endParaRPr/>
          </a:p>
          <a:p xmlns:a="http://schemas.openxmlformats.org/drawingml/2006/main">
            <a:r>
              <a:t>TRANSCRIPT</a:t>
            </a:r>
          </a:p>
          <a:p xmlns:a="http://schemas.openxmlformats.org/drawingml/2006/main">
            <a:r>
              <a:t>Accuracy begins before generation. The service first preserves the original prompt. Its routing tool then returns one required next step. For common high-value questions, 21 fixed SQL templates receive priority. Embeddings may rank which trusted template fits a paraphrase, but they never synthesize a new template.</a:t>
            </a:r>
          </a:p>
          <a:p xmlns:a="http://schemas.openxmlformats.org/drawingml/2006/main">
            <a:endParaRPr/>
          </a:p>
          <a:p xmlns:a="http://schemas.openxmlformats.org/drawingml/2006/main">
            <a:r>
              <a:t>If no template matches, discovery uses an explainable hybrid. Exact phrases and term coverage carry 70 percent of the score. A local vector match carries 30 percent. The vector is a deterministic hashed bag of words stored in an exact FAISS index, so this path calls no external embedding API. Results include the matched field, terms, columns and excerpts. The agent can explain why a table appeared.</a:t>
            </a:r>
          </a:p>
          <a:p xmlns:a="http://schemas.openxmlformats.org/drawingml/2006/main">
            <a:endParaRPr/>
          </a:p>
          <a:p xmlns:a="http://schemas.openxmlformats.org/drawingml/2006/main">
            <a:r>
              <a:t>Next comes schema verification from startup-loaded metadata. The client may construct a bounded query, but execution remains behind the structural SQL parser and per-user authorization. Output tools return the approved result as text or an in-memory resource. The request ID keeps the route observable.</a:t>
            </a:r>
          </a:p>
          <a:p xmlns:a="http://schemas.openxmlformats.org/drawingml/2006/main">
            <a:endParaRPr/>
          </a:p>
          <a:p xmlns:a="http://schemas.openxmlformats.org/drawingml/2006/main">
            <a:r>
              <a:t>The server and client have different jobs. The server returns the next step. The client chooses the next tool call. That means routing guidance is not a hard guarantee. The system remains safe because SQL validation and authorization do not depend on the model choosing correctly.</a:t>
            </a:r>
          </a:p>
          <a:p xmlns:a="http://schemas.openxmlformats.org/drawingml/2006/main">
            <a:endParaRPr/>
          </a:p>
          <a:p xmlns:a="http://schemas.openxmlformats.org/drawingml/2006/main">
            <a:r>
              <a:t>This sequence also handles uncertainty honestly. An ambiguous template parameter produces candidates and asks for confirmation. No match can trigger a semantic fallback. A denial stops the route. Repeatability comes from preserving the route and the evidence, not from expecting identical prose every time.</a:t>
            </a:r>
          </a:p>
          <a:p xmlns:a="http://schemas.openxmlformats.org/drawingml/2006/main">
            <a:endParaRPr/>
          </a:p>
          <a:p xmlns:a="http://schemas.openxmlformats.org/drawingml/2006/main">
            <a:r>
              <a:t>TRANSITION</a:t>
            </a:r>
          </a:p>
          <a:p xmlns:a="http://schemas.openxmlformats.org/drawingml/2006/main">
            <a:r>
              <a:t>Then we meet a policy question that similarity scoring must never answer.</a:t>
            </a:r>
          </a:p>
          <a:p xmlns:a="http://schemas.openxmlformats.org/drawingml/2006/main">
            <a:endParaRPr/>
          </a:p>
          <a:p xmlns:a="http://schemas.openxmlformats.org/drawingml/2006/main">
            <a:r>
              <a:t>[Implementation evidence]</a:t>
            </a:r>
          </a:p>
          <a:p xmlns:a="http://schemas.openxmlformats.org/drawingml/2006/main">
            <a:r>
              <a:t>- Reviewed codebase snapshot: src/tools/routing/prompt_routing.py, src/tools/matching/table_match_by_template.py, src/database/db_context_embeddings.py, src/database/faiss_index.py and src/safety/prompt_safety.py.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12:27:15–12:29:45 · 2:30</a:t>
            </a:r>
          </a:p>
          <a:p xmlns:a="http://schemas.openxmlformats.org/drawingml/2006/main">
            <a:endParaRPr/>
          </a:p>
          <a:p xmlns:a="http://schemas.openxmlformats.org/drawingml/2006/main">
            <a:r>
              <a:t>TRANSCRIPT</a:t>
            </a:r>
          </a:p>
          <a:p xmlns:a="http://schemas.openxmlformats.org/drawingml/2006/main">
            <a:r>
              <a:t>Licensed data exposes a crucial distinction: relevance and permission answer different questions. Similarity asks whether an asset matches the user’s request. Policy asks whether this identity, through this application, for this purpose, may use it in this way.</a:t>
            </a:r>
          </a:p>
          <a:p xmlns:a="http://schemas.openxmlformats.org/drawingml/2006/main">
            <a:endParaRPr/>
          </a:p>
          <a:p xmlns:a="http://schemas.openxmlformats.org/drawingml/2006/main">
            <a:r>
              <a:t>The reviewed implementation already makes access entitlement executable. If authorization fails, the service returns access denied, marks the result terminal and tells the client to stop. The denial also blocks fallback through alternative discovery and output tools. That is stronger than a warning in a prompt.</a:t>
            </a:r>
          </a:p>
          <a:p xmlns:a="http://schemas.openxmlformats.org/drawingml/2006/main">
            <a:endParaRPr/>
          </a:p>
          <a:p xmlns:a="http://schemas.openxmlformats.org/drawingml/2006/main">
            <a:r>
              <a:t>The metadata contains richer licence terms too: AI or machine-learning use, derived data, copying, storage, location and subscriber restrictions. The embedding builder deliberately removes repeated licence-warning boilerplate before it builds relevance vectors. That is a subtle but important design choice. Repeated policy text should not dominate semantic similarity. Relevance metadata and policy metadata need separate channels.</a:t>
            </a:r>
          </a:p>
          <a:p xmlns:a="http://schemas.openxmlformats.org/drawingml/2006/main">
            <a:endParaRPr/>
          </a:p>
          <a:p xmlns:a="http://schemas.openxmlformats.org/drawingml/2006/main">
            <a:r>
              <a:t>We should also be candid about the boundary. User-to-dataset access is enforced in code today. Broader contractual AI-use rules are not all encoded as runtime policy. They still require legal and commercial ownership, structured metadata and explicit decisions about data movement.</a:t>
            </a:r>
          </a:p>
          <a:p xmlns:a="http://schemas.openxmlformats.org/drawingml/2006/main">
            <a:endParaRPr/>
          </a:p>
          <a:p xmlns:a="http://schemas.openxmlformats.org/drawingml/2006/main">
            <a:r>
              <a:t>The practical patterns remain: authorize before execution, use metadata-only discovery when raw content is unnecessary, compute beside controlled data, return approved aggregates and evaluate with synthetic or contract-safe samples. The contract becomes a policy input. Retrieval does not get to interpret it.</a:t>
            </a:r>
          </a:p>
          <a:p xmlns:a="http://schemas.openxmlformats.org/drawingml/2006/main">
            <a:endParaRPr/>
          </a:p>
          <a:p xmlns:a="http://schemas.openxmlformats.org/drawingml/2006/main">
            <a:r>
              <a:t>TRANSITION</a:t>
            </a:r>
          </a:p>
          <a:p xmlns:a="http://schemas.openxmlformats.org/drawingml/2006/main">
            <a:r>
              <a:t>Put those controls together and the reviewed server becomes one part of a larger platform.</a:t>
            </a:r>
          </a:p>
          <a:p xmlns:a="http://schemas.openxmlformats.org/drawingml/2006/main">
            <a:endParaRPr/>
          </a:p>
          <a:p xmlns:a="http://schemas.openxmlformats.org/drawingml/2006/main">
            <a:r>
              <a:t>[Sources and disclosures]</a:t>
            </a:r>
          </a:p>
          <a:p xmlns:a="http://schemas.openxmlformats.org/drawingml/2006/main">
            <a:r>
              <a:t>- Architectural discussion only, not legal advice. Contract interpretation remains with the relevant legal and commercial owners.</a:t>
            </a:r>
          </a:p>
          <a:p xmlns:a="http://schemas.openxmlformats.org/drawingml/2006/main">
            <a:endParaRPr/>
          </a:p>
          <a:p xmlns:a="http://schemas.openxmlformats.org/drawingml/2006/main">
            <a:r>
              <a:t>[Implementation evidence]</a:t>
            </a:r>
          </a:p>
          <a:p xmlns:a="http://schemas.openxmlformats.org/drawingml/2006/main">
            <a:r>
              <a:t>- Reviewed codebase snapshot: src/security/authorization.py, src/database/db_context_embeddings.py and licensed-data metadata. Dataset and contract identifiers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12:29:45–12:33:00 · 3:15</a:t>
            </a:r>
          </a:p>
          <a:p xmlns:a="http://schemas.openxmlformats.org/drawingml/2006/main">
            <a:endParaRPr/>
          </a:p>
          <a:p xmlns:a="http://schemas.openxmlformats.org/drawingml/2006/main">
            <a:r>
              <a:t>TRANSCRIPT</a:t>
            </a:r>
          </a:p>
          <a:p xmlns:a="http://schemas.openxmlformats.org/drawingml/2006/main">
            <a:r>
              <a:t>This is the target platform around the domain MCP server, not a claim that one repository implements every box.</a:t>
            </a:r>
          </a:p>
          <a:p xmlns:a="http://schemas.openxmlformats.org/drawingml/2006/main">
            <a:endParaRPr/>
          </a:p>
          <a:p xmlns:a="http://schemas.openxmlformats.org/drawingml/2006/main">
            <a:r>
              <a:t>At the top are chat, IDEs, applications and unattended automation. Every request needs both a user or workload identity and the client identity. The gateway owns horizontal controls: authentication and delegation, baseline policy, an approved server registry, guardrails and a consistent audit trail.</a:t>
            </a:r>
          </a:p>
          <a:p xmlns:a="http://schemas.openxmlformats.org/drawingml/2006/main">
            <a:endParaRPr/>
          </a:p>
          <a:p xmlns:a="http://schemas.openxmlformats.org/drawingml/2006/main">
            <a:r>
              <a:t>Below that sit domain MCP services. The reviewed codebase belongs in the first box. It owns the language of its data, trusted templates, metadata matching, schema inspection, output formats and the authorization rules that apply closest to execution. Other domain teams own their own semantics. The gateway should not become the author of every business rule.</a:t>
            </a:r>
          </a:p>
          <a:p xmlns:a="http://schemas.openxmlformats.org/drawingml/2006/main">
            <a:endParaRPr/>
          </a:p>
          <a:p xmlns:a="http://schemas.openxmlformats.org/drawingml/2006/main">
            <a:r>
              <a:t>The same division appears in operations. Central teams can provide identity, registry, policy tooling, telemetry and incident processes. Domain teams remain accountable for dataset meaning, approved transformations, provider precedence and contractual constraints. Responses should carry enough evidence to reconnect an answer to its source, query, policy decision and timestamp.</a:t>
            </a:r>
          </a:p>
          <a:p xmlns:a="http://schemas.openxmlformats.org/drawingml/2006/main">
            <a:endParaRPr/>
          </a:p>
          <a:p xmlns:a="http://schemas.openxmlformats.org/drawingml/2006/main">
            <a:r>
              <a:t>The code review also shows where target architecture and current implementation differ. Stateless transport, bearer validation, structural SQL safety, dataset authorization and structured logs exist today. Fleet-wide evaluation, contract-policy enforcement, complete metrics and hard resource limits remain platform work. Saying that clearly improves the architecture because it turns the diagram into a roadmap instead of a claim.</a:t>
            </a:r>
          </a:p>
          <a:p xmlns:a="http://schemas.openxmlformats.org/drawingml/2006/main">
            <a:endParaRPr/>
          </a:p>
          <a:p xmlns:a="http://schemas.openxmlformats.org/drawingml/2006/main">
            <a:r>
              <a:t>The governing principle is horizontal controls at the gateway and domain rules in servers. This scales governance without turning the platform team into the owner of every tool.</a:t>
            </a:r>
          </a:p>
          <a:p xmlns:a="http://schemas.openxmlformats.org/drawingml/2006/main">
            <a:endParaRPr/>
          </a:p>
          <a:p xmlns:a="http://schemas.openxmlformats.org/drawingml/2006/main">
            <a:r>
              <a:t>TRANSITION</a:t>
            </a:r>
          </a:p>
          <a:p xmlns:a="http://schemas.openxmlformats.org/drawingml/2006/main">
            <a:r>
              <a:t>That leaves one dividing line worth remembering.</a:t>
            </a:r>
          </a:p>
          <a:p xmlns:a="http://schemas.openxmlformats.org/drawingml/2006/main">
            <a:endParaRPr/>
          </a:p>
          <a:p xmlns:a="http://schemas.openxmlformats.org/drawingml/2006/main">
            <a:r>
              <a:t>[Sources]</a:t>
            </a:r>
          </a:p>
          <a:p xmlns:a="http://schemas.openxmlformats.org/drawingml/2006/main">
            <a:r>
              <a:t>- https://arxiv.org/abs/2608.10760</a:t>
            </a:r>
          </a:p>
          <a:p xmlns:a="http://schemas.openxmlformats.org/drawingml/2006/main">
            <a:r>
              <a:t>- https://modelcontextprotocol.io/specification/2026-07-28/architecture</a:t>
            </a:r>
          </a:p>
          <a:p xmlns:a="http://schemas.openxmlformats.org/drawingml/2006/main">
            <a:endParaRPr/>
          </a:p>
          <a:p xmlns:a="http://schemas.openxmlformats.org/drawingml/2006/main">
            <a:r>
              <a:t>[Implementation evidence]</a:t>
            </a:r>
          </a:p>
          <a:p xmlns:a="http://schemas.openxmlformats.org/drawingml/2006/main">
            <a:r>
              <a:t>- Reviewed codebase snapshot: src/server.py, src/authentication/, src/safety/, src/security/, src/tools/ and src/utils/.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12:33:00–12:35:00 · 2:00</a:t>
            </a:r>
          </a:p>
          <a:p xmlns:a="http://schemas.openxmlformats.org/drawingml/2006/main">
            <a:endParaRPr/>
          </a:p>
          <a:p xmlns:a="http://schemas.openxmlformats.org/drawingml/2006/main">
            <a:r>
              <a:t>TRANSCRIPT</a:t>
            </a:r>
          </a:p>
          <a:p xmlns:a="http://schemas.openxmlformats.org/drawingml/2006/main">
            <a:r>
              <a:t>For the startup, control means constraining the model’s route and output well enough to ship. In an enterprise, the control surface expands. You must control every identity, tool and dataset, apply the relevant policy, and retain evidence of the decision.</a:t>
            </a:r>
          </a:p>
          <a:p xmlns:a="http://schemas.openxmlformats.org/drawingml/2006/main">
            <a:endParaRPr/>
          </a:p>
          <a:p xmlns:a="http://schemas.openxmlformats.org/drawingml/2006/main">
            <a:r>
              <a:t>The journey is still simple enough to remember: make it work, make it repeatable, then make it governable. The implementation gives us three concrete habits. Preserve the original request and make routing explicit. Put deterministic authorization and safety checks in front of execution. Treat evidence as a product output, not an afterthought.</a:t>
            </a:r>
          </a:p>
          <a:p xmlns:a="http://schemas.openxmlformats.org/drawingml/2006/main">
            <a:endParaRPr/>
          </a:p>
          <a:p xmlns:a="http://schemas.openxmlformats.org/drawingml/2006/main">
            <a:r>
              <a:t>The code also gives us a useful line for the next design review: the model may propose, but only deterministic code may authorize and execute.</a:t>
            </a:r>
          </a:p>
          <a:p xmlns:a="http://schemas.openxmlformats.org/drawingml/2006/main">
            <a:endParaRPr/>
          </a:p>
          <a:p xmlns:a="http://schemas.openxmlformats.org/drawingml/2006/main">
            <a:r>
              <a:t>Build the smallest useful server first. Keep the tools narrow. Make uncertainty visible. Establish identity, policy and evidence boundaries before adoption makes them expensive to retrofit.</a:t>
            </a:r>
          </a:p>
          <a:p xmlns:a="http://schemas.openxmlformats.org/drawingml/2006/main">
            <a:endParaRPr/>
          </a:p>
          <a:p xmlns:a="http://schemas.openxmlformats.org/drawingml/2006/main">
            <a:r>
              <a:t>Thank you. The QR codes link to my portfolio and LinkedIn. I would be delighted to continue the conversation after the session.</a:t>
            </a:r>
          </a:p>
          <a:p xmlns:a="http://schemas.openxmlformats.org/drawingml/2006/main">
            <a:endParaRPr/>
          </a:p>
          <a:p xmlns:a="http://schemas.openxmlformats.org/drawingml/2006/main">
            <a:r>
              <a:t>[Sources]</a:t>
            </a:r>
          </a:p>
          <a:p xmlns:a="http://schemas.openxmlformats.org/drawingml/2006/main">
            <a:r>
              <a:t>- https://www.ai-expo.net/europe/agenda/ai-developer/</a:t>
            </a:r>
          </a:p>
          <a:p xmlns:a="http://schemas.openxmlformats.org/drawingml/2006/main">
            <a:r>
              <a:t>- https://kolygri.github.io</a:t>
            </a:r>
          </a:p>
          <a:p xmlns:a="http://schemas.openxmlformats.org/drawingml/2006/main">
            <a:r>
              <a:t>- https://www.linkedin.com/in/kolygri/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ad555d761a434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dc3f082ebf4e80"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_DARK">
    <p:bg>
      <p:bgPr>
        <a:solidFill xmlns:a="http://schemas.openxmlformats.org/drawingml/2006/main">
          <a:srgbClr val="08111F"/>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d34c1bfc06e4fa1" /><Relationship Type="http://schemas.openxmlformats.org/officeDocument/2006/relationships/slideLayout" Target="/ppt/slideLayouts/slideLayout1.xml" Id="Rb7b7915315284b76" /><Relationship Type="http://schemas.openxmlformats.org/officeDocument/2006/relationships/slideLayout" Target="/ppt/slideLayouts/slideLayout2.xml" Id="R4585d9c6920343a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b7915315284b76"/>
    <p:sldLayoutId xmlns:r="http://schemas.openxmlformats.org/officeDocument/2006/relationships" id="2147483650" r:id="R4585d9c6920343a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116a7450f0c04872" /><Relationship Type="http://schemas.openxmlformats.org/officeDocument/2006/relationships/image" Target="/ppt/media/image.png" Id="Ree20b9bada984c6f" /><Relationship Type="http://schemas.openxmlformats.org/officeDocument/2006/relationships/image" Target="/ppt/media/image.svg" Id="Rf86146d59eaf4e8d" /><Relationship Type="http://schemas.openxmlformats.org/officeDocument/2006/relationships/image" Target="/ppt/media/image2.png" Id="R05c3761e0e5049f2" /><Relationship Type="http://schemas.openxmlformats.org/officeDocument/2006/relationships/image" Target="/ppt/media/image2.svg" Id="Rb6df553a144947df" /><Relationship Type="http://schemas.openxmlformats.org/officeDocument/2006/relationships/image" Target="/ppt/media/image3.png" Id="R4d99d1fc2b8b4022" /><Relationship Type="http://schemas.openxmlformats.org/officeDocument/2006/relationships/image" Target="/ppt/media/image3.svg" Id="R3cd8b540fc9644cb" /><Relationship Type="http://schemas.openxmlformats.org/officeDocument/2006/relationships/image" Target="/ppt/media/image4.png" Id="R901d73e29f394a1b" /><Relationship Type="http://schemas.openxmlformats.org/officeDocument/2006/relationships/image" Target="/ppt/media/image4.svg" Id="R2690adc0c1694fad" /><Relationship Type="http://schemas.openxmlformats.org/officeDocument/2006/relationships/image" Target="/ppt/media/image5.png" Id="R9cb68a8fb76b4de6" /><Relationship Type="http://schemas.openxmlformats.org/officeDocument/2006/relationships/image" Target="/ppt/media/image5.svg" Id="R122d3effc4944ffa" /><Relationship Type="http://schemas.openxmlformats.org/officeDocument/2006/relationships/notesSlide" Target="/ppt/notesSlides/notesSlide1.xml" Id="R2b6479efc6ea41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9c734eb29a5948b2" /><Relationship Type="http://schemas.openxmlformats.org/officeDocument/2006/relationships/image" Target="/ppt/media/image6.png" Id="R897f532e4d2a45b4" /><Relationship Type="http://schemas.openxmlformats.org/officeDocument/2006/relationships/image" Target="/ppt/media/image6.svg" Id="R08547b905a4e4a6b" /><Relationship Type="http://schemas.openxmlformats.org/officeDocument/2006/relationships/image" Target="/ppt/media/image7.png" Id="Rdcd670c8cf634af0" /><Relationship Type="http://schemas.openxmlformats.org/officeDocument/2006/relationships/image" Target="/ppt/media/image7.svg" Id="Rc675b8909be54f80" /><Relationship Type="http://schemas.openxmlformats.org/officeDocument/2006/relationships/image" Target="/ppt/media/image8.png" Id="R32f80189f18c4470" /><Relationship Type="http://schemas.openxmlformats.org/officeDocument/2006/relationships/image" Target="/ppt/media/image8.svg" Id="R1e14338c0a5342f2" /><Relationship Type="http://schemas.openxmlformats.org/officeDocument/2006/relationships/image" Target="/ppt/media/image9.png" Id="Ra0a2d81ca3a348a6" /><Relationship Type="http://schemas.openxmlformats.org/officeDocument/2006/relationships/image" Target="/ppt/media/image9.svg" Id="Ra2641139957c4c99" /><Relationship Type="http://schemas.openxmlformats.org/officeDocument/2006/relationships/notesSlide" Target="/ppt/notesSlides/notesSlide2.xml" Id="R122ccfc0bf1a48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728a42c041454a45" /><Relationship Type="http://schemas.openxmlformats.org/officeDocument/2006/relationships/image" Target="/ppt/media/image10.png" Id="Rcc9d1d6d9ffe492f" /><Relationship Type="http://schemas.openxmlformats.org/officeDocument/2006/relationships/image" Target="/ppt/media/image10.svg" Id="R621514b1f7f24f3b" /><Relationship Type="http://schemas.openxmlformats.org/officeDocument/2006/relationships/image" Target="/ppt/media/image2.png" Id="Re03bf9f7015a40a2" /><Relationship Type="http://schemas.openxmlformats.org/officeDocument/2006/relationships/image" Target="/ppt/media/image2.svg" Id="R430df412e3d94a48" /><Relationship Type="http://schemas.openxmlformats.org/officeDocument/2006/relationships/image" Target="/ppt/media/image3.png" Id="Rbab2765d5b564cfd" /><Relationship Type="http://schemas.openxmlformats.org/officeDocument/2006/relationships/image" Target="/ppt/media/image3.svg" Id="R54e705ae1ae04526" /><Relationship Type="http://schemas.openxmlformats.org/officeDocument/2006/relationships/image" Target="/ppt/media/image11.png" Id="Rcbd7aeb3d2904398" /><Relationship Type="http://schemas.openxmlformats.org/officeDocument/2006/relationships/image" Target="/ppt/media/image11.svg" Id="Rcedcee849ce44c3e" /><Relationship Type="http://schemas.openxmlformats.org/officeDocument/2006/relationships/image" Target="/ppt/media/image12.png" Id="R278d0aa2ae094ba4" /><Relationship Type="http://schemas.openxmlformats.org/officeDocument/2006/relationships/image" Target="/ppt/media/image12.svg" Id="Rc233993cfed74a51" /><Relationship Type="http://schemas.openxmlformats.org/officeDocument/2006/relationships/image" Target="/ppt/media/image4.png" Id="Rbe7922d4c5404a50" /><Relationship Type="http://schemas.openxmlformats.org/officeDocument/2006/relationships/image" Target="/ppt/media/image4.svg" Id="R2925bc0dfcb048b9" /><Relationship Type="http://schemas.openxmlformats.org/officeDocument/2006/relationships/image" Target="/ppt/media/image13.png" Id="R5d3d9d3be97547e7" /><Relationship Type="http://schemas.openxmlformats.org/officeDocument/2006/relationships/image" Target="/ppt/media/image13.svg" Id="R06c7fe855d3d4e6c" /><Relationship Type="http://schemas.openxmlformats.org/officeDocument/2006/relationships/image" Target="/ppt/media/image14.png" Id="R97ed0f7a03f74a9f" /><Relationship Type="http://schemas.openxmlformats.org/officeDocument/2006/relationships/image" Target="/ppt/media/image14.svg" Id="Re9925d8957e64643" /><Relationship Type="http://schemas.openxmlformats.org/officeDocument/2006/relationships/image" Target="/ppt/media/image15.png" Id="R1021c50a69114798" /><Relationship Type="http://schemas.openxmlformats.org/officeDocument/2006/relationships/image" Target="/ppt/media/image15.svg" Id="R631b744c27274051" /><Relationship Type="http://schemas.openxmlformats.org/officeDocument/2006/relationships/image" Target="/ppt/media/image16.png" Id="R4f7d9f60efef4ba4" /><Relationship Type="http://schemas.openxmlformats.org/officeDocument/2006/relationships/image" Target="/ppt/media/image16.svg" Id="R8ad2e7d218f04afb" /><Relationship Type="http://schemas.openxmlformats.org/officeDocument/2006/relationships/image" Target="/ppt/media/image17.png" Id="Rae68b42661f643df" /><Relationship Type="http://schemas.openxmlformats.org/officeDocument/2006/relationships/image" Target="/ppt/media/image17.svg" Id="Rded267d9fc4b4ff8" /><Relationship Type="http://schemas.openxmlformats.org/officeDocument/2006/relationships/image" Target="/ppt/media/image18.png" Id="R0c5078bfef9145d5" /><Relationship Type="http://schemas.openxmlformats.org/officeDocument/2006/relationships/image" Target="/ppt/media/image18.svg" Id="R4c590be13bcc429f" /><Relationship Type="http://schemas.openxmlformats.org/officeDocument/2006/relationships/image" Target="/ppt/media/image19.png" Id="Rb10ca487c6554e7f" /><Relationship Type="http://schemas.openxmlformats.org/officeDocument/2006/relationships/image" Target="/ppt/media/image19.svg" Id="Rdb1c5b458b544662" /><Relationship Type="http://schemas.openxmlformats.org/officeDocument/2006/relationships/image" Target="/ppt/media/image20.png" Id="R5afd7bf7d5e94854" /><Relationship Type="http://schemas.openxmlformats.org/officeDocument/2006/relationships/image" Target="/ppt/media/image20.svg" Id="R44ecc9a6b9334eeb" /><Relationship Type="http://schemas.openxmlformats.org/officeDocument/2006/relationships/notesSlide" Target="/ppt/notesSlides/notesSlide3.xml" Id="R3a682771cf3d4a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c367954304c04e0a" /><Relationship Type="http://schemas.openxmlformats.org/officeDocument/2006/relationships/image" Target="/ppt/media/image21.png" Id="Ra4d42e24fae3434b" /><Relationship Type="http://schemas.openxmlformats.org/officeDocument/2006/relationships/image" Target="/ppt/media/image21.svg" Id="Rf28b2071931e48c1" /><Relationship Type="http://schemas.openxmlformats.org/officeDocument/2006/relationships/image" Target="/ppt/media/image22.png" Id="Re01d003e257c4ec0" /><Relationship Type="http://schemas.openxmlformats.org/officeDocument/2006/relationships/image" Target="/ppt/media/image22.svg" Id="R4a070eded5eb4739" /><Relationship Type="http://schemas.openxmlformats.org/officeDocument/2006/relationships/image" Target="/ppt/media/image23.png" Id="R210d226dfe0b4857" /><Relationship Type="http://schemas.openxmlformats.org/officeDocument/2006/relationships/image" Target="/ppt/media/image23.svg" Id="Rfd0c47e5fdfe49f6" /><Relationship Type="http://schemas.openxmlformats.org/officeDocument/2006/relationships/image" Target="/ppt/media/image15.png" Id="R3ce747788c284c24" /><Relationship Type="http://schemas.openxmlformats.org/officeDocument/2006/relationships/image" Target="/ppt/media/image15.svg" Id="R641656ebd3724606" /><Relationship Type="http://schemas.openxmlformats.org/officeDocument/2006/relationships/image" Target="/ppt/media/image24.png" Id="Rb7d2af13d56b4800" /><Relationship Type="http://schemas.openxmlformats.org/officeDocument/2006/relationships/image" Target="/ppt/media/image24.svg" Id="R6bdbfe610a2c416b" /><Relationship Type="http://schemas.openxmlformats.org/officeDocument/2006/relationships/image" Target="/ppt/media/image25.png" Id="Ra97d5870ce494bed" /><Relationship Type="http://schemas.openxmlformats.org/officeDocument/2006/relationships/image" Target="/ppt/media/image25.svg" Id="R8b7f608896d94171" /><Relationship Type="http://schemas.openxmlformats.org/officeDocument/2006/relationships/image" Target="/ppt/media/image26.png" Id="R697847da3dd34521" /><Relationship Type="http://schemas.openxmlformats.org/officeDocument/2006/relationships/image" Target="/ppt/media/image26.svg" Id="Rebee09e680f745b3" /><Relationship Type="http://schemas.openxmlformats.org/officeDocument/2006/relationships/image" Target="/ppt/media/image27.png" Id="R5c996ac9a03845bc" /><Relationship Type="http://schemas.openxmlformats.org/officeDocument/2006/relationships/image" Target="/ppt/media/image27.svg" Id="Ra0030dbd915a48a5" /><Relationship Type="http://schemas.openxmlformats.org/officeDocument/2006/relationships/image" Target="/ppt/media/image28.png" Id="R2b82426e2c634dad" /><Relationship Type="http://schemas.openxmlformats.org/officeDocument/2006/relationships/image" Target="/ppt/media/image28.svg" Id="R0b8d984cbcb9403c" /><Relationship Type="http://schemas.openxmlformats.org/officeDocument/2006/relationships/image" Target="/ppt/media/image29.png" Id="R50edb2e4433a478f" /><Relationship Type="http://schemas.openxmlformats.org/officeDocument/2006/relationships/image" Target="/ppt/media/image29.svg" Id="R55bf1d42733648fe" /><Relationship Type="http://schemas.openxmlformats.org/officeDocument/2006/relationships/image" Target="/ppt/media/image30.png" Id="Rf77ab9f27981404a" /><Relationship Type="http://schemas.openxmlformats.org/officeDocument/2006/relationships/image" Target="/ppt/media/image30.svg" Id="R722540535054416e" /><Relationship Type="http://schemas.openxmlformats.org/officeDocument/2006/relationships/image" Target="/ppt/media/image31.png" Id="R5661fae225f3483e" /><Relationship Type="http://schemas.openxmlformats.org/officeDocument/2006/relationships/image" Target="/ppt/media/image31.svg" Id="R67b7b137aa7a4050" /><Relationship Type="http://schemas.openxmlformats.org/officeDocument/2006/relationships/image" Target="/ppt/media/image32.png" Id="R114239ebdc1e4497" /><Relationship Type="http://schemas.openxmlformats.org/officeDocument/2006/relationships/image" Target="/ppt/media/image32.svg" Id="R82307b1d9a084cf3" /><Relationship Type="http://schemas.openxmlformats.org/officeDocument/2006/relationships/image" Target="/ppt/media/image33.png" Id="R29778e6100c84f4e" /><Relationship Type="http://schemas.openxmlformats.org/officeDocument/2006/relationships/image" Target="/ppt/media/image33.svg" Id="Rce16b5a8595444b1" /><Relationship Type="http://schemas.openxmlformats.org/officeDocument/2006/relationships/notesSlide" Target="/ppt/notesSlides/notesSlide4.xml" Id="Rcd6ff64e4f524d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c8942bb3cc2545c6" /><Relationship Type="http://schemas.openxmlformats.org/officeDocument/2006/relationships/image" Target="/ppt/media/image34.png" Id="R597e126bba3d4e5a" /><Relationship Type="http://schemas.openxmlformats.org/officeDocument/2006/relationships/image" Target="/ppt/media/image34.svg" Id="R12de90f7592e45f4" /><Relationship Type="http://schemas.openxmlformats.org/officeDocument/2006/relationships/image" Target="/ppt/media/image35.png" Id="R21b34ff0614d4136" /><Relationship Type="http://schemas.openxmlformats.org/officeDocument/2006/relationships/image" Target="/ppt/media/image35.svg" Id="R37f76918a52c4cb5" /><Relationship Type="http://schemas.openxmlformats.org/officeDocument/2006/relationships/image" Target="/ppt/media/image36.png" Id="R573a72ac9f7046f4" /><Relationship Type="http://schemas.openxmlformats.org/officeDocument/2006/relationships/image" Target="/ppt/media/image36.svg" Id="R586cae27e11f463a" /><Relationship Type="http://schemas.openxmlformats.org/officeDocument/2006/relationships/image" Target="/ppt/media/image37.png" Id="R4f511f96355c48bf" /><Relationship Type="http://schemas.openxmlformats.org/officeDocument/2006/relationships/image" Target="/ppt/media/image37.svg" Id="Rad95eeadd5674a3b" /><Relationship Type="http://schemas.openxmlformats.org/officeDocument/2006/relationships/notesSlide" Target="/ppt/notesSlides/notesSlide5.xml" Id="Rabb926b9763246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a85251dbb6a4480f" /><Relationship Type="http://schemas.openxmlformats.org/officeDocument/2006/relationships/image" Target="/ppt/media/image38.png" Id="R2abe3e39a5274e03" /><Relationship Type="http://schemas.openxmlformats.org/officeDocument/2006/relationships/image" Target="/ppt/media/image38.svg" Id="R287461fd68c842c3" /><Relationship Type="http://schemas.openxmlformats.org/officeDocument/2006/relationships/image" Target="/ppt/media/image28.png" Id="Rd1af80388ddb4b47" /><Relationship Type="http://schemas.openxmlformats.org/officeDocument/2006/relationships/image" Target="/ppt/media/image28.svg" Id="Rc44bb7b902ed4f69" /><Relationship Type="http://schemas.openxmlformats.org/officeDocument/2006/relationships/image" Target="/ppt/media/image39.png" Id="Ra55625daf9a541b0" /><Relationship Type="http://schemas.openxmlformats.org/officeDocument/2006/relationships/image" Target="/ppt/media/image39.svg" Id="Raedc894377544dc3" /><Relationship Type="http://schemas.openxmlformats.org/officeDocument/2006/relationships/image" Target="/ppt/media/image4.png" Id="R6c815470e2224a24" /><Relationship Type="http://schemas.openxmlformats.org/officeDocument/2006/relationships/image" Target="/ppt/media/image4.svg" Id="Rbf7a89c1efdd45d5" /><Relationship Type="http://schemas.openxmlformats.org/officeDocument/2006/relationships/image" Target="/ppt/media/image40.png" Id="R82381ddc33c9485a" /><Relationship Type="http://schemas.openxmlformats.org/officeDocument/2006/relationships/image" Target="/ppt/media/image40.svg" Id="Rc95f79b60e7c4743" /><Relationship Type="http://schemas.openxmlformats.org/officeDocument/2006/relationships/image" Target="/ppt/media/image41.png" Id="Rabf0073787524105" /><Relationship Type="http://schemas.openxmlformats.org/officeDocument/2006/relationships/image" Target="/ppt/media/image41.svg" Id="R4af855fcd15d48e1" /><Relationship Type="http://schemas.openxmlformats.org/officeDocument/2006/relationships/image" Target="/ppt/media/image42.png" Id="Rfa85596a37734a45" /><Relationship Type="http://schemas.openxmlformats.org/officeDocument/2006/relationships/image" Target="/ppt/media/image42.svg" Id="Re4cac93881bf4319" /><Relationship Type="http://schemas.openxmlformats.org/officeDocument/2006/relationships/notesSlide" Target="/ppt/notesSlides/notesSlide6.xml" Id="R3764d70cb8c847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5a56983c6acb4f3e" /><Relationship Type="http://schemas.openxmlformats.org/officeDocument/2006/relationships/image" Target="/ppt/media/image43.png" Id="R0fb46be785ef46ad" /><Relationship Type="http://schemas.openxmlformats.org/officeDocument/2006/relationships/image" Target="/ppt/media/image43.svg" Id="Rb8500fc1ae8b4eee" /><Relationship Type="http://schemas.openxmlformats.org/officeDocument/2006/relationships/image" Target="/ppt/media/image44.png" Id="R666e11a4721c458e" /><Relationship Type="http://schemas.openxmlformats.org/officeDocument/2006/relationships/image" Target="/ppt/media/image44.svg" Id="Rb72117e0ce494a6a" /><Relationship Type="http://schemas.openxmlformats.org/officeDocument/2006/relationships/image" Target="/ppt/media/image14.png" Id="Raa05bc8ed7e54543" /><Relationship Type="http://schemas.openxmlformats.org/officeDocument/2006/relationships/image" Target="/ppt/media/image14.svg" Id="R125be38f5ff84194" /><Relationship Type="http://schemas.openxmlformats.org/officeDocument/2006/relationships/notesSlide" Target="/ppt/notesSlides/notesSlide7.xml" Id="Re19ec530c0a24b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9de88ff09be64b00" /><Relationship Type="http://schemas.openxmlformats.org/officeDocument/2006/relationships/image" Target="/ppt/media/image45.png" Id="R32fc357b3e5249be" /><Relationship Type="http://schemas.openxmlformats.org/officeDocument/2006/relationships/image" Target="/ppt/media/image45.svg" Id="R46d95ae2004b4dca" /><Relationship Type="http://schemas.openxmlformats.org/officeDocument/2006/relationships/image" Target="/ppt/media/image46.png" Id="R0debd9b0f8654a32" /><Relationship Type="http://schemas.openxmlformats.org/officeDocument/2006/relationships/image" Target="/ppt/media/image46.svg" Id="R5f276cfb5bce431f" /><Relationship Type="http://schemas.openxmlformats.org/officeDocument/2006/relationships/image" Target="/ppt/media/image47.png" Id="R041d92c958124bc7" /><Relationship Type="http://schemas.openxmlformats.org/officeDocument/2006/relationships/image" Target="/ppt/media/image47.svg" Id="R6c162c1300bc4bdf" /><Relationship Type="http://schemas.openxmlformats.org/officeDocument/2006/relationships/image" Target="/ppt/media/image12.png" Id="R3dd8185f79104836" /><Relationship Type="http://schemas.openxmlformats.org/officeDocument/2006/relationships/image" Target="/ppt/media/image12.svg" Id="R256159e23bb54ae1" /><Relationship Type="http://schemas.openxmlformats.org/officeDocument/2006/relationships/image" Target="/ppt/media/image28.png" Id="R33e24315c2fa4798" /><Relationship Type="http://schemas.openxmlformats.org/officeDocument/2006/relationships/image" Target="/ppt/media/image28.svg" Id="R2ad9f23da30041d0" /><Relationship Type="http://schemas.openxmlformats.org/officeDocument/2006/relationships/image" Target="/ppt/media/image48.png" Id="R3f600d875a834cb8" /><Relationship Type="http://schemas.openxmlformats.org/officeDocument/2006/relationships/image" Target="/ppt/media/image48.svg" Id="R78688f5896f84c63" /><Relationship Type="http://schemas.openxmlformats.org/officeDocument/2006/relationships/image" Target="/ppt/media/image49.png" Id="Re4cca076e70f4fd5" /><Relationship Type="http://schemas.openxmlformats.org/officeDocument/2006/relationships/image" Target="/ppt/media/image49.svg" Id="Re4e2555e80e24227" /><Relationship Type="http://schemas.openxmlformats.org/officeDocument/2006/relationships/image" Target="/ppt/media/image30.png" Id="R9296b0610b81436a" /><Relationship Type="http://schemas.openxmlformats.org/officeDocument/2006/relationships/image" Target="/ppt/media/image30.svg" Id="R243baac00ac54a8f" /><Relationship Type="http://schemas.openxmlformats.org/officeDocument/2006/relationships/image" Target="/ppt/media/image50.png" Id="R99b83153ffb64cff" /><Relationship Type="http://schemas.openxmlformats.org/officeDocument/2006/relationships/notesSlide" Target="/ppt/notesSlides/notesSlide8.xml" Id="R3965b1ecb8234f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1cf6058c4fc455d" /><Relationship Type="http://schemas.openxmlformats.org/officeDocument/2006/relationships/image" Target="/ppt/media/image51.png" Id="R6e2208bdee7c499a" /><Relationship Type="http://schemas.openxmlformats.org/officeDocument/2006/relationships/image" Target="/ppt/media/image50.svg" Id="Rdebac9cbdb68435e" /><Relationship Type="http://schemas.openxmlformats.org/officeDocument/2006/relationships/image" Target="/ppt/media/image52.png" Id="Re271e882f59c47cb" /><Relationship Type="http://schemas.openxmlformats.org/officeDocument/2006/relationships/image" Target="/ppt/media/image51.svg" Id="R4b1868dc2c0c45eb" /><Relationship Type="http://schemas.openxmlformats.org/officeDocument/2006/relationships/image" Target="/ppt/media/image53.png" Id="Rb7341384215f4ddf" /><Relationship Type="http://schemas.openxmlformats.org/officeDocument/2006/relationships/image" Target="/ppt/media/image52.svg" Id="R7cf2e3849aaf4120" /><Relationship Type="http://schemas.openxmlformats.org/officeDocument/2006/relationships/image" Target="/ppt/media/image26.png" Id="Rc69decdf2ad547f5" /><Relationship Type="http://schemas.openxmlformats.org/officeDocument/2006/relationships/image" Target="/ppt/media/image26.svg" Id="R53236960037744aa" /><Relationship Type="http://schemas.openxmlformats.org/officeDocument/2006/relationships/image" Target="/ppt/media/image54.png" Id="Ra1dbf575bdde472f" /><Relationship Type="http://schemas.openxmlformats.org/officeDocument/2006/relationships/image" Target="/ppt/media/image53.svg" Id="Ra5368a767c6f4cd1" /><Relationship Type="http://schemas.openxmlformats.org/officeDocument/2006/relationships/image" Target="/ppt/media/image55.png" Id="Rd1c6e21899174fb8" /><Relationship Type="http://schemas.openxmlformats.org/officeDocument/2006/relationships/image" Target="/ppt/media/image54.svg" Id="R68039241eef74848" /><Relationship Type="http://schemas.openxmlformats.org/officeDocument/2006/relationships/image" Target="/ppt/media/image56.png" Id="R5bfcf219abdd4ab2" /><Relationship Type="http://schemas.openxmlformats.org/officeDocument/2006/relationships/image" Target="/ppt/media/image55.svg" Id="R42e3eb2d611949b3" /><Relationship Type="http://schemas.openxmlformats.org/officeDocument/2006/relationships/image" Target="/ppt/media/image57.png" Id="Rfc09b0718bb8471e" /><Relationship Type="http://schemas.openxmlformats.org/officeDocument/2006/relationships/image" Target="/ppt/media/image56.svg" Id="R044ac2e8ba8340c2" /><Relationship Type="http://schemas.openxmlformats.org/officeDocument/2006/relationships/notesSlide" Target="/ppt/notesSlides/notesSlide9.xml" Id="R59a2c6f62cbd4b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45e61048645a43a6" /><Relationship Type="http://schemas.openxmlformats.org/officeDocument/2006/relationships/image" Target="/ppt/media/image58.png" Id="R6f4c8357c31548eb" /><Relationship Type="http://schemas.openxmlformats.org/officeDocument/2006/relationships/image" Target="/ppt/media/image57.svg" Id="R712e517d75cb47b2" /><Relationship Type="http://schemas.openxmlformats.org/officeDocument/2006/relationships/image" Target="/ppt/media/image59.png" Id="R914ea072706a4935" /><Relationship Type="http://schemas.openxmlformats.org/officeDocument/2006/relationships/image" Target="/ppt/media/image58.svg" Id="R2ae82a99806c4145" /><Relationship Type="http://schemas.openxmlformats.org/officeDocument/2006/relationships/image" Target="/ppt/media/image60.png" Id="R5bb0e7bc85dc4dab" /><Relationship Type="http://schemas.openxmlformats.org/officeDocument/2006/relationships/image" Target="/ppt/media/image59.svg" Id="R83eac6229e5f4393" /><Relationship Type="http://schemas.openxmlformats.org/officeDocument/2006/relationships/image" Target="/ppt/media/image61.png" Id="Rfdc6fc8c6bd84eab" /><Relationship Type="http://schemas.openxmlformats.org/officeDocument/2006/relationships/image" Target="/ppt/media/image60.svg" Id="Rf8c587a82cf64a56" /><Relationship Type="http://schemas.openxmlformats.org/officeDocument/2006/relationships/image" Target="/ppt/media/image22.png" Id="Rb6d6613a64934f16" /><Relationship Type="http://schemas.openxmlformats.org/officeDocument/2006/relationships/image" Target="/ppt/media/image22.svg" Id="R4e13566568a0444e" /><Relationship Type="http://schemas.openxmlformats.org/officeDocument/2006/relationships/image" Target="/ppt/media/image62.png" Id="R2a1157fdc955462e" /><Relationship Type="http://schemas.openxmlformats.org/officeDocument/2006/relationships/image" Target="/ppt/media/image61.svg" Id="R10b543de922e4e64" /><Relationship Type="http://schemas.openxmlformats.org/officeDocument/2006/relationships/image" Target="/ppt/media/image63.png" Id="R1b03a5176595402b" /><Relationship Type="http://schemas.openxmlformats.org/officeDocument/2006/relationships/image" Target="/ppt/media/image62.svg" Id="R0244f73dd7094894" /><Relationship Type="http://schemas.openxmlformats.org/officeDocument/2006/relationships/image" Target="/ppt/media/image64.png" Id="Rc3c7cb809e26469d" /><Relationship Type="http://schemas.openxmlformats.org/officeDocument/2006/relationships/image" Target="/ppt/media/image63.svg" Id="R212ac1b2e5554eab" /><Relationship Type="http://schemas.openxmlformats.org/officeDocument/2006/relationships/image" Target="/ppt/media/image56.png" Id="R76282dd0d494465c" /><Relationship Type="http://schemas.openxmlformats.org/officeDocument/2006/relationships/image" Target="/ppt/media/image55.svg" Id="R68551ad5cd3244bb" /><Relationship Type="http://schemas.openxmlformats.org/officeDocument/2006/relationships/notesSlide" Target="/ppt/notesSlides/notesSlide10.xml" Id="R85e892c93fa740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7127da5b3a5346bb" /><Relationship Type="http://schemas.openxmlformats.org/officeDocument/2006/relationships/image" Target="/ppt/media/image65.png" Id="Re57092adf7b14a89" /><Relationship Type="http://schemas.openxmlformats.org/officeDocument/2006/relationships/image" Target="/ppt/media/image64.svg" Id="R10e869caa39645a5" /><Relationship Type="http://schemas.openxmlformats.org/officeDocument/2006/relationships/image" Target="/ppt/media/image2.png" Id="Rdb36c29065314669" /><Relationship Type="http://schemas.openxmlformats.org/officeDocument/2006/relationships/image" Target="/ppt/media/image2.svg" Id="Rdd6247fa7797483e" /><Relationship Type="http://schemas.openxmlformats.org/officeDocument/2006/relationships/image" Target="/ppt/media/image66.png" Id="R80ae3bfdadf74887" /><Relationship Type="http://schemas.openxmlformats.org/officeDocument/2006/relationships/image" Target="/ppt/media/image65.svg" Id="R87a39713b5174388" /><Relationship Type="http://schemas.openxmlformats.org/officeDocument/2006/relationships/image" Target="/ppt/media/image67.png" Id="Rcf4e9212d658466c" /><Relationship Type="http://schemas.openxmlformats.org/officeDocument/2006/relationships/image" Target="/ppt/media/image66.svg" Id="R6ffec70392cc496d" /><Relationship Type="http://schemas.openxmlformats.org/officeDocument/2006/relationships/image" Target="/ppt/media/image68.png" Id="R7f8719faf2474fc5" /><Relationship Type="http://schemas.openxmlformats.org/officeDocument/2006/relationships/image" Target="/ppt/media/image67.svg" Id="R01a82c0e1d6941a9" /><Relationship Type="http://schemas.openxmlformats.org/officeDocument/2006/relationships/image" Target="/ppt/media/image69.png" Id="Rbc14f78120954f57" /><Relationship Type="http://schemas.openxmlformats.org/officeDocument/2006/relationships/image" Target="/ppt/media/image68.svg" Id="R7f80e27fb6a24c99" /><Relationship Type="http://schemas.openxmlformats.org/officeDocument/2006/relationships/image" Target="/ppt/media/image28.png" Id="R3e485ef7b4eb41e7" /><Relationship Type="http://schemas.openxmlformats.org/officeDocument/2006/relationships/image" Target="/ppt/media/image28.svg" Id="Ra04681dd8bb04bb0" /><Relationship Type="http://schemas.openxmlformats.org/officeDocument/2006/relationships/image" Target="/ppt/media/image49.png" Id="R3a7b67423ed04a9f" /><Relationship Type="http://schemas.openxmlformats.org/officeDocument/2006/relationships/image" Target="/ppt/media/image49.svg" Id="Rb5ff90b2baf743a5" /><Relationship Type="http://schemas.openxmlformats.org/officeDocument/2006/relationships/image" Target="/ppt/media/image22.png" Id="Red719644e2654268" /><Relationship Type="http://schemas.openxmlformats.org/officeDocument/2006/relationships/image" Target="/ppt/media/image22.svg" Id="Rc33a7d69b4044908" /><Relationship Type="http://schemas.openxmlformats.org/officeDocument/2006/relationships/image" Target="/ppt/media/image47.png" Id="R6fe91198d2154651" /><Relationship Type="http://schemas.openxmlformats.org/officeDocument/2006/relationships/image" Target="/ppt/media/image47.svg" Id="Rb01461020586460c" /><Relationship Type="http://schemas.openxmlformats.org/officeDocument/2006/relationships/image" Target="/ppt/media/image70.png" Id="R6b3658a99d3b4241" /><Relationship Type="http://schemas.openxmlformats.org/officeDocument/2006/relationships/image" Target="/ppt/media/image69.svg" Id="R19768f76c2e44d59" /><Relationship Type="http://schemas.openxmlformats.org/officeDocument/2006/relationships/image" Target="/ppt/media/image71.png" Id="Rc0a066b160ff46a9" /><Relationship Type="http://schemas.openxmlformats.org/officeDocument/2006/relationships/image" Target="/ppt/media/image70.svg" Id="R72cdead9b2344ee0" /><Relationship Type="http://schemas.openxmlformats.org/officeDocument/2006/relationships/image" Target="/ppt/media/image72.png" Id="Rf0fe83bb3f134479" /><Relationship Type="http://schemas.openxmlformats.org/officeDocument/2006/relationships/image" Target="/ppt/media/image71.svg" Id="R338e6ee5f75646ad" /><Relationship Type="http://schemas.openxmlformats.org/officeDocument/2006/relationships/image" Target="/ppt/media/image73.png" Id="Rb430e892eb0a4c54" /><Relationship Type="http://schemas.openxmlformats.org/officeDocument/2006/relationships/image" Target="/ppt/media/image72.svg" Id="R2f079cbffd564547" /><Relationship Type="http://schemas.openxmlformats.org/officeDocument/2006/relationships/image" Target="/ppt/media/image74.png" Id="R0a438766c468415d" /><Relationship Type="http://schemas.openxmlformats.org/officeDocument/2006/relationships/image" Target="/ppt/media/image73.svg" Id="R1c076f2160c6462b" /><Relationship Type="http://schemas.openxmlformats.org/officeDocument/2006/relationships/image" Target="/ppt/media/image41.png" Id="Rd290fd7f11d84e45" /><Relationship Type="http://schemas.openxmlformats.org/officeDocument/2006/relationships/image" Target="/ppt/media/image41.svg" Id="R5c099e288beb4daa" /><Relationship Type="http://schemas.openxmlformats.org/officeDocument/2006/relationships/image" Target="/ppt/media/image56.png" Id="Rce67ad20b1454a9e" /><Relationship Type="http://schemas.openxmlformats.org/officeDocument/2006/relationships/image" Target="/ppt/media/image55.svg" Id="Rfd75d139c9ec4131" /><Relationship Type="http://schemas.openxmlformats.org/officeDocument/2006/relationships/image" Target="/ppt/media/image75.png" Id="Rcfc46897c8174630" /><Relationship Type="http://schemas.openxmlformats.org/officeDocument/2006/relationships/image" Target="/ppt/media/image74.svg" Id="Rcdaca4f936294752" /><Relationship Type="http://schemas.openxmlformats.org/officeDocument/2006/relationships/notesSlide" Target="/ppt/notesSlides/notesSlide11.xml" Id="R7089fe3c034546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dbe345731f414053" /><Relationship Type="http://schemas.openxmlformats.org/officeDocument/2006/relationships/image" Target="/ppt/media/image76.png" Id="Rfd2ba09dd134445a" /><Relationship Type="http://schemas.openxmlformats.org/officeDocument/2006/relationships/image" Target="/ppt/media/image75.svg" Id="Rddbdda686f864e7f" /><Relationship Type="http://schemas.openxmlformats.org/officeDocument/2006/relationships/image" Target="/ppt/media/image77.png" Id="Rb40cc111a00647de" /><Relationship Type="http://schemas.openxmlformats.org/officeDocument/2006/relationships/image" Target="/ppt/media/image78.png" Id="Ra2003dec8c9b4ebc" /><Relationship Type="http://schemas.openxmlformats.org/officeDocument/2006/relationships/image" Target="/ppt/media/image79.png" Id="R4f1b40157c07414b" /><Relationship Type="http://schemas.openxmlformats.org/officeDocument/2006/relationships/image" Target="/ppt/media/image76.svg" Id="R0ff1344f3e7548d6" /><Relationship Type="http://schemas.openxmlformats.org/officeDocument/2006/relationships/notesSlide" Target="/ppt/notesSlides/notesSlide12.xml" Id="R89e53ad73f8b422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ee20b9bada984c6f">
            <a:extLst>
              <a:ext uri="{96DAC541-7B7A-43D3-8B79-37D633B846F1}">
                <asvg:svgBlip xmlns:asvg="http://schemas.microsoft.com/office/drawing/2016/SVG/main" r:embed="Rf86146d59eaf4e8d"/>
              </a:ext>
            </a:extLst>
          </a:blip>
          <a:stretch xmlns:a="http://schemas.openxmlformats.org/drawingml/2006/main">
            <a:fillRect l="0" t="0" r="0" b="0"/>
          </a:stretch>
        </p:blipFill>
        <p:spPr>
          <a:xfrm xmlns:a="http://schemas.openxmlformats.org/drawingml/2006/main">
            <a:off x="12032"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B4C530CF-C3A3-43C9-A565-5E0D3F5B508B}"/>
              </a:ext>
            </a:extLst>
          </p:cNvPr>
          <p:cNvSpPr>
            <a:spLocks xmlns:a="http://schemas.openxmlformats.org/drawingml/2006/main" noGrp="1"/>
          </p:cNvSpPr>
          <p:nvPr/>
        </p:nvSpPr>
        <p:spPr>
          <a:xfrm xmlns:a="http://schemas.openxmlformats.org/drawingml/2006/main">
            <a:off x="7040880" y="502920"/>
            <a:ext cx="4572000" cy="4572000"/>
          </a:xfrm>
          <a:prstGeom xmlns:a="http://schemas.openxmlformats.org/drawingml/2006/main" prst="ellipse">
            <a:avLst/>
          </a:prstGeom>
          <a:solidFill xmlns:a="http://schemas.openxmlformats.org/drawingml/2006/main">
            <a:srgbClr val="5B7CFF">
              <a:alpha val="10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Shape 1">
            <a:extLst xmlns:a="http://schemas.openxmlformats.org/drawingml/2006/main">
              <a:ext uri="{FF2B5EF4-FFF2-40B4-BE49-F238E27FC236}">
                <a16:creationId xmlns:a16="http://schemas.microsoft.com/office/drawing/2014/main" id="{E4D33EC1-1D51-41AC-BDE6-7A26C846CB0D}"/>
              </a:ext>
            </a:extLst>
          </p:cNvPr>
          <p:cNvSpPr>
            <a:spLocks xmlns:a="http://schemas.openxmlformats.org/drawingml/2006/main" noGrp="1"/>
          </p:cNvSpPr>
          <p:nvPr/>
        </p:nvSpPr>
        <p:spPr>
          <a:xfrm xmlns:a="http://schemas.openxmlformats.org/drawingml/2006/main">
            <a:off x="8641080" y="1097280"/>
            <a:ext cx="2651760" cy="2651760"/>
          </a:xfrm>
          <a:prstGeom xmlns:a="http://schemas.openxmlformats.org/drawingml/2006/main" prst="ellipse">
            <a:avLst/>
          </a:prstGeom>
          <a:solidFill xmlns:a="http://schemas.openxmlformats.org/drawingml/2006/main">
            <a:srgbClr val="35D4E7">
              <a:alpha val="12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2">
            <a:extLst xmlns:a="http://schemas.openxmlformats.org/drawingml/2006/main">
              <a:ext uri="{FF2B5EF4-FFF2-40B4-BE49-F238E27FC236}">
                <a16:creationId xmlns:a16="http://schemas.microsoft.com/office/drawing/2014/main" id="{645E2AE3-0086-4C14-AE46-D67F377353C9}"/>
              </a:ext>
            </a:extLst>
          </p:cNvPr>
          <p:cNvSpPr>
            <a:spLocks xmlns:a="http://schemas.openxmlformats.org/drawingml/2006/main" noGrp="1"/>
          </p:cNvSpPr>
          <p:nvPr/>
        </p:nvSpPr>
        <p:spPr>
          <a:xfrm xmlns:a="http://schemas.openxmlformats.org/drawingml/2006/main">
            <a:off x="7196328" y="4700016"/>
            <a:ext cx="92354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98700162-571E-4914-BD5F-2F6A27C9F1BB}"/>
              </a:ext>
            </a:extLst>
          </p:cNvPr>
          <p:cNvSpPr>
            <a:spLocks xmlns:a="http://schemas.openxmlformats.org/drawingml/2006/main" noGrp="1"/>
          </p:cNvSpPr>
          <p:nvPr/>
        </p:nvSpPr>
        <p:spPr>
          <a:xfrm xmlns:a="http://schemas.openxmlformats.org/drawingml/2006/main">
            <a:off x="6812280" y="4315968"/>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a:effectLst xmlns:a="http://schemas.openxmlformats.org/drawingml/2006/main">
            <a:outerShdw blurRad="25400" dist="15240" dir="2700000" algn="bl" rotWithShape="0">
              <a:srgbClr val="000000">
                <a:alpha val="26000"/>
              </a:srgbClr>
            </a:outerShdw>
          </a:effectLst>
        </p:spPr>
        <p:txBody>
          <a:bodyPr xmlns:a="http://schemas.openxmlformats.org/drawingml/2006/main"/>
          <a:lstStyle xmlns:a="http://schemas.openxmlformats.org/drawingml/2006/main"/>
          <a:p xmlns:a="http://schemas.openxmlformats.org/drawingml/2006/main">
            <a:endParaRPr/>
          </a:p>
        </p:txBody>
      </p:sp>
      <p:pic>
        <p:nvPicPr>
          <p:cNvPr id="39" name="Image 1"/>
          <p:cNvPicPr>
            <a:picLocks xmlns:a="http://schemas.openxmlformats.org/drawingml/2006/main" noChangeAspect="1"/>
          </p:cNvPicPr>
          <p:nvPr/>
        </p:nvPicPr>
        <p:blipFill>
          <a:blip xmlns:r="http://schemas.openxmlformats.org/officeDocument/2006/relationships" xmlns:a="http://schemas.openxmlformats.org/drawingml/2006/main" r:embed="R05c3761e0e5049f2">
            <a:extLst>
              <a:ext uri="{96DAC541-7B7A-43D3-8B79-37D633B846F1}">
                <asvg:svgBlip xmlns:asvg="http://schemas.microsoft.com/office/drawing/2016/SVG/main" r:embed="Rb6df553a144947df"/>
              </a:ext>
            </a:extLst>
          </a:blip>
          <a:stretch xmlns:a="http://schemas.openxmlformats.org/drawingml/2006/main">
            <a:fillRect l="0" t="0" r="0" b="0"/>
          </a:stretch>
        </p:blipFill>
        <p:spPr>
          <a:xfrm xmlns:a="http://schemas.openxmlformats.org/drawingml/2006/main">
            <a:off x="7004304" y="4544568"/>
            <a:ext cx="365760" cy="292608"/>
          </a:xfrm>
          <a:prstGeom xmlns:a="http://schemas.openxmlformats.org/drawingml/2006/main" prst="rect">
            <a:avLst/>
          </a:prstGeom>
        </p:spPr>
      </p:pic>
      <p:sp>
        <p:nvSpPr>
          <p:cNvPr id="8" name="Shape 4">
            <a:extLst xmlns:a="http://schemas.openxmlformats.org/drawingml/2006/main">
              <a:ext uri="{FF2B5EF4-FFF2-40B4-BE49-F238E27FC236}">
                <a16:creationId xmlns:a16="http://schemas.microsoft.com/office/drawing/2014/main" id="{9F343B93-51E0-4F2B-9774-EA0E521B2E66}"/>
              </a:ext>
            </a:extLst>
          </p:cNvPr>
          <p:cNvSpPr>
            <a:spLocks xmlns:a="http://schemas.openxmlformats.org/drawingml/2006/main" noGrp="1"/>
          </p:cNvSpPr>
          <p:nvPr/>
        </p:nvSpPr>
        <p:spPr>
          <a:xfrm xmlns:a="http://schemas.openxmlformats.org/drawingml/2006/main">
            <a:off x="8412480" y="3840480"/>
            <a:ext cx="96926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9" name="Shape 5">
            <a:extLst xmlns:a="http://schemas.openxmlformats.org/drawingml/2006/main">
              <a:ext uri="{FF2B5EF4-FFF2-40B4-BE49-F238E27FC236}">
                <a16:creationId xmlns:a16="http://schemas.microsoft.com/office/drawing/2014/main" id="{3A20EEA0-FD81-49B9-8E1A-B6BD8D660855}"/>
              </a:ext>
            </a:extLst>
          </p:cNvPr>
          <p:cNvSpPr>
            <a:spLocks xmlns:a="http://schemas.openxmlformats.org/drawingml/2006/main" noGrp="1"/>
          </p:cNvSpPr>
          <p:nvPr/>
        </p:nvSpPr>
        <p:spPr>
          <a:xfrm xmlns:a="http://schemas.openxmlformats.org/drawingml/2006/main">
            <a:off x="8028432" y="3456432"/>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5B7CFF"/>
            </a:solidFill>
            <a:prstDash val="solid"/>
          </a:ln>
          <a:effectLst xmlns:a="http://schemas.openxmlformats.org/drawingml/2006/main">
            <a:outerShdw blurRad="322580000" dist="193548000"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4d99d1fc2b8b4022">
            <a:extLst>
              <a:ext uri="{96DAC541-7B7A-43D3-8B79-37D633B846F1}">
                <asvg:svgBlip xmlns:asvg="http://schemas.microsoft.com/office/drawing/2016/SVG/main" r:embed="R3cd8b540fc9644cb"/>
              </a:ext>
            </a:extLst>
          </a:blip>
          <a:stretch xmlns:a="http://schemas.openxmlformats.org/drawingml/2006/main">
            <a:fillRect l="0" t="0" r="0" b="0"/>
          </a:stretch>
        </p:blipFill>
        <p:spPr>
          <a:xfrm xmlns:a="http://schemas.openxmlformats.org/drawingml/2006/main">
            <a:off x="8220456" y="3685032"/>
            <a:ext cx="365760" cy="292608"/>
          </a:xfrm>
          <a:prstGeom xmlns:a="http://schemas.openxmlformats.org/drawingml/2006/main" prst="rect">
            <a:avLst/>
          </a:prstGeom>
        </p:spPr>
      </p:pic>
      <p:sp>
        <p:nvSpPr>
          <p:cNvPr id="11" name="Shape 6">
            <a:extLst xmlns:a="http://schemas.openxmlformats.org/drawingml/2006/main">
              <a:ext uri="{FF2B5EF4-FFF2-40B4-BE49-F238E27FC236}">
                <a16:creationId xmlns:a16="http://schemas.microsoft.com/office/drawing/2014/main" id="{B992B329-CE1C-4365-8686-2F822E1DF006}"/>
              </a:ext>
            </a:extLst>
          </p:cNvPr>
          <p:cNvSpPr>
            <a:spLocks xmlns:a="http://schemas.openxmlformats.org/drawingml/2006/main" noGrp="1"/>
          </p:cNvSpPr>
          <p:nvPr/>
        </p:nvSpPr>
        <p:spPr>
          <a:xfrm xmlns:a="http://schemas.openxmlformats.org/drawingml/2006/main">
            <a:off x="9674352" y="2962656"/>
            <a:ext cx="88696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12" name="Shape 7">
            <a:extLst xmlns:a="http://schemas.openxmlformats.org/drawingml/2006/main">
              <a:ext uri="{FF2B5EF4-FFF2-40B4-BE49-F238E27FC236}">
                <a16:creationId xmlns:a16="http://schemas.microsoft.com/office/drawing/2014/main" id="{8D3E70B2-D6F5-41AF-87EC-5E7DCED3BA40}"/>
              </a:ext>
            </a:extLst>
          </p:cNvPr>
          <p:cNvSpPr>
            <a:spLocks xmlns:a="http://schemas.openxmlformats.org/drawingml/2006/main" noGrp="1"/>
          </p:cNvSpPr>
          <p:nvPr/>
        </p:nvSpPr>
        <p:spPr>
          <a:xfrm xmlns:a="http://schemas.openxmlformats.org/drawingml/2006/main">
            <a:off x="9290304" y="2578608"/>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F7B95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5" name="Image 3"/>
          <p:cNvPicPr>
            <a:picLocks xmlns:a="http://schemas.openxmlformats.org/drawingml/2006/main" noChangeAspect="1"/>
          </p:cNvPicPr>
          <p:nvPr/>
        </p:nvPicPr>
        <p:blipFill>
          <a:blip xmlns:r="http://schemas.openxmlformats.org/officeDocument/2006/relationships" xmlns:a="http://schemas.openxmlformats.org/drawingml/2006/main" r:embed="R901d73e29f394a1b">
            <a:extLst>
              <a:ext uri="{96DAC541-7B7A-43D3-8B79-37D633B846F1}">
                <asvg:svgBlip xmlns:asvg="http://schemas.microsoft.com/office/drawing/2016/SVG/main" r:embed="R2690adc0c1694fad"/>
              </a:ext>
            </a:extLst>
          </a:blip>
          <a:stretch xmlns:a="http://schemas.openxmlformats.org/drawingml/2006/main">
            <a:fillRect l="0" t="0" r="0" b="0"/>
          </a:stretch>
        </p:blipFill>
        <p:spPr>
          <a:xfrm xmlns:a="http://schemas.openxmlformats.org/drawingml/2006/main">
            <a:off x="9482328" y="2770632"/>
            <a:ext cx="365760" cy="365760"/>
          </a:xfrm>
          <a:prstGeom xmlns:a="http://schemas.openxmlformats.org/drawingml/2006/main" prst="rect">
            <a:avLst/>
          </a:prstGeom>
        </p:spPr>
      </p:pic>
      <p:sp>
        <p:nvSpPr>
          <p:cNvPr id="14" name="Shape 8">
            <a:extLst xmlns:a="http://schemas.openxmlformats.org/drawingml/2006/main">
              <a:ext uri="{FF2B5EF4-FFF2-40B4-BE49-F238E27FC236}">
                <a16:creationId xmlns:a16="http://schemas.microsoft.com/office/drawing/2014/main" id="{433447C7-7BA1-40E9-A849-AFDD7F44CDB5}"/>
              </a:ext>
            </a:extLst>
          </p:cNvPr>
          <p:cNvSpPr>
            <a:spLocks xmlns:a="http://schemas.openxmlformats.org/drawingml/2006/main" noGrp="1"/>
          </p:cNvSpPr>
          <p:nvPr/>
        </p:nvSpPr>
        <p:spPr>
          <a:xfrm xmlns:a="http://schemas.openxmlformats.org/drawingml/2006/main">
            <a:off x="10469880" y="1719072"/>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3BE0B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7" name="Image 4"/>
          <p:cNvPicPr>
            <a:picLocks xmlns:a="http://schemas.openxmlformats.org/drawingml/2006/main" noChangeAspect="1"/>
          </p:cNvPicPr>
          <p:nvPr/>
        </p:nvPicPr>
        <p:blipFill>
          <a:blip xmlns:r="http://schemas.openxmlformats.org/officeDocument/2006/relationships" xmlns:a="http://schemas.openxmlformats.org/drawingml/2006/main" r:embed="R9cb68a8fb76b4de6">
            <a:extLst>
              <a:ext uri="{96DAC541-7B7A-43D3-8B79-37D633B846F1}">
                <asvg:svgBlip xmlns:asvg="http://schemas.microsoft.com/office/drawing/2016/SVG/main" r:embed="R122d3effc4944ffa"/>
              </a:ext>
            </a:extLst>
          </a:blip>
          <a:stretch xmlns:a="http://schemas.openxmlformats.org/drawingml/2006/main">
            <a:fillRect l="0" t="0" r="0" b="0"/>
          </a:stretch>
        </p:blipFill>
        <p:spPr>
          <a:xfrm xmlns:a="http://schemas.openxmlformats.org/drawingml/2006/main">
            <a:off x="10684764" y="1911096"/>
            <a:ext cx="320040" cy="365760"/>
          </a:xfrm>
          <a:prstGeom xmlns:a="http://schemas.openxmlformats.org/drawingml/2006/main" prst="rect">
            <a:avLst/>
          </a:prstGeom>
        </p:spPr>
      </p:pic>
      <p:sp>
        <p:nvSpPr>
          <p:cNvPr id="16" name="Text 9">
            <a:extLst xmlns:a="http://schemas.openxmlformats.org/drawingml/2006/main">
              <a:ext uri="{FF2B5EF4-FFF2-40B4-BE49-F238E27FC236}">
                <a16:creationId xmlns:a16="http://schemas.microsoft.com/office/drawing/2014/main" id="{E6B3A90C-3C79-4599-94EF-B776FBDA0471}"/>
              </a:ext>
            </a:extLst>
          </p:cNvPr>
          <p:cNvSpPr>
            <a:spLocks xmlns:a="http://schemas.openxmlformats.org/drawingml/2006/main" noGrp="1"/>
          </p:cNvSpPr>
          <p:nvPr/>
        </p:nvSpPr>
        <p:spPr>
          <a:xfrm xmlns:a="http://schemas.openxmlformats.org/drawingml/2006/main">
            <a:off x="6556248" y="5285232"/>
            <a:ext cx="14630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35D4E7"/>
                </a:solidFill>
                <a:latin typeface="Inter"/>
                <a:ea typeface="Inter"/>
                <a:cs typeface="Inter"/>
              </a:rPr>
              <a:t>STARTUP</a:t>
            </a:r>
            <a:endParaRPr sz="900"/>
          </a:p>
        </p:txBody>
      </p:sp>
      <p:sp>
        <p:nvSpPr>
          <p:cNvPr id="17" name="Text 10">
            <a:extLst xmlns:a="http://schemas.openxmlformats.org/drawingml/2006/main">
              <a:ext uri="{FF2B5EF4-FFF2-40B4-BE49-F238E27FC236}">
                <a16:creationId xmlns:a16="http://schemas.microsoft.com/office/drawing/2014/main" id="{D9D170CE-8F6C-47F3-9AD3-911CBF3D6904}"/>
              </a:ext>
            </a:extLst>
          </p:cNvPr>
          <p:cNvSpPr>
            <a:spLocks xmlns:a="http://schemas.openxmlformats.org/drawingml/2006/main" noGrp="1"/>
          </p:cNvSpPr>
          <p:nvPr/>
        </p:nvSpPr>
        <p:spPr>
          <a:xfrm xmlns:a="http://schemas.openxmlformats.org/drawingml/2006/main">
            <a:off x="9902952" y="896112"/>
            <a:ext cx="1554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F7B955"/>
                </a:solidFill>
                <a:latin typeface="Inter"/>
                <a:ea typeface="Inter"/>
                <a:cs typeface="Inter"/>
              </a:rPr>
              <a:t>ENTERPRISE</a:t>
            </a:r>
            <a:endParaRPr sz="900"/>
          </a:p>
        </p:txBody>
      </p:sp>
      <p:sp>
        <p:nvSpPr>
          <p:cNvPr id="18" name="Text 11">
            <a:extLst xmlns:a="http://schemas.openxmlformats.org/drawingml/2006/main">
              <a:ext uri="{FF2B5EF4-FFF2-40B4-BE49-F238E27FC236}">
                <a16:creationId xmlns:a16="http://schemas.microsoft.com/office/drawing/2014/main" id="{83F0386C-45CC-40A0-B3B7-F1E7BF840FDD}"/>
              </a:ext>
            </a:extLst>
          </p:cNvPr>
          <p:cNvSpPr>
            <a:spLocks xmlns:a="http://schemas.openxmlformats.org/drawingml/2006/main" noGrp="1"/>
          </p:cNvSpPr>
          <p:nvPr/>
        </p:nvSpPr>
        <p:spPr>
          <a:xfrm xmlns:a="http://schemas.openxmlformats.org/drawingml/2006/main">
            <a:off x="640080" y="566928"/>
            <a:ext cx="5852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50">
                <a:solidFill>
                  <a:srgbClr val="35D4E7"/>
                </a:solidFill>
                <a:latin typeface="Inter"/>
                <a:ea typeface="Inter"/>
                <a:cs typeface="Inter"/>
              </a:rPr>
              <a:t>AI &amp; BIG DATA EXPO EUROPE · AI DEVELOPER</a:t>
            </a:r>
            <a:endParaRPr sz="1000"/>
          </a:p>
        </p:txBody>
      </p:sp>
      <p:sp>
        <p:nvSpPr>
          <p:cNvPr id="19" name="Text 12">
            <a:extLst xmlns:a="http://schemas.openxmlformats.org/drawingml/2006/main">
              <a:ext uri="{FF2B5EF4-FFF2-40B4-BE49-F238E27FC236}">
                <a16:creationId xmlns:a16="http://schemas.microsoft.com/office/drawing/2014/main" id="{760C866E-A790-4042-893D-A7A7EDCAA95C}"/>
              </a:ext>
            </a:extLst>
          </p:cNvPr>
          <p:cNvSpPr>
            <a:spLocks xmlns:a="http://schemas.openxmlformats.org/drawingml/2006/main" noGrp="1"/>
          </p:cNvSpPr>
          <p:nvPr/>
        </p:nvSpPr>
        <p:spPr>
          <a:xfrm xmlns:a="http://schemas.openxmlformats.org/drawingml/2006/main">
            <a:off x="621792" y="1115568"/>
            <a:ext cx="594360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7FAFF"/>
                </a:solidFill>
                <a:latin typeface="Inter"/>
                <a:ea typeface="Inter"/>
                <a:cs typeface="Inter"/>
              </a:rPr>
              <a:t>Beyond the Demo:</a:t>
            </a:r>
            <a:endParaRPr sz="3400"/>
          </a:p>
        </p:txBody>
      </p:sp>
      <p:sp>
        <p:nvSpPr>
          <p:cNvPr id="20" name="Text 13">
            <a:extLst xmlns:a="http://schemas.openxmlformats.org/drawingml/2006/main">
              <a:ext uri="{FF2B5EF4-FFF2-40B4-BE49-F238E27FC236}">
                <a16:creationId xmlns:a16="http://schemas.microsoft.com/office/drawing/2014/main" id="{0DFCB79F-79CD-476A-8BD7-1AF6450A5FF7}"/>
              </a:ext>
            </a:extLst>
          </p:cNvPr>
          <p:cNvSpPr>
            <a:spLocks xmlns:a="http://schemas.openxmlformats.org/drawingml/2006/main" noGrp="1"/>
          </p:cNvSpPr>
          <p:nvPr/>
        </p:nvSpPr>
        <p:spPr>
          <a:xfrm xmlns:a="http://schemas.openxmlformats.org/drawingml/2006/main">
            <a:off x="621792" y="1764792"/>
            <a:ext cx="6126480"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Building Trusted AI Agents</a:t>
            </a:r>
            <a:endParaRPr sz="3100"/>
          </a:p>
          <a:p xmlns:a="http://schemas.openxmlformats.org/drawingml/2006/main">
            <a:pPr marL="0" indent="0">
              <a:buNone/>
            </a:pPr>
            <a:r>
              <a:rPr sz="3100" b="1">
                <a:solidFill>
                  <a:srgbClr val="F7FAFF"/>
                </a:solidFill>
                <a:latin typeface="Inter"/>
                <a:ea typeface="Inter"/>
                <a:cs typeface="Inter"/>
              </a:rPr>
              <a:t>with MCP</a:t>
            </a:r>
            <a:endParaRPr sz="3100"/>
          </a:p>
        </p:txBody>
      </p:sp>
      <p:sp>
        <p:nvSpPr>
          <p:cNvPr id="21" name="Shape 14">
            <a:extLst xmlns:a="http://schemas.openxmlformats.org/drawingml/2006/main">
              <a:ext uri="{FF2B5EF4-FFF2-40B4-BE49-F238E27FC236}">
                <a16:creationId xmlns:a16="http://schemas.microsoft.com/office/drawing/2014/main" id="{86CE963E-C285-46C1-9FE0-431E3E0BACA6}"/>
              </a:ext>
            </a:extLst>
          </p:cNvPr>
          <p:cNvSpPr>
            <a:spLocks xmlns:a="http://schemas.openxmlformats.org/drawingml/2006/main" noGrp="1"/>
          </p:cNvSpPr>
          <p:nvPr/>
        </p:nvSpPr>
        <p:spPr>
          <a:xfrm xmlns:a="http://schemas.openxmlformats.org/drawingml/2006/main">
            <a:off x="640080" y="3364992"/>
            <a:ext cx="1051560" cy="0"/>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5">
            <a:extLst xmlns:a="http://schemas.openxmlformats.org/drawingml/2006/main">
              <a:ext uri="{FF2B5EF4-FFF2-40B4-BE49-F238E27FC236}">
                <a16:creationId xmlns:a16="http://schemas.microsoft.com/office/drawing/2014/main" id="{5D41686D-BB75-45F2-B471-A6EBEF2D65FB}"/>
              </a:ext>
            </a:extLst>
          </p:cNvPr>
          <p:cNvSpPr>
            <a:spLocks xmlns:a="http://schemas.openxmlformats.org/drawingml/2006/main" noGrp="1"/>
          </p:cNvSpPr>
          <p:nvPr/>
        </p:nvSpPr>
        <p:spPr>
          <a:xfrm xmlns:a="http://schemas.openxmlformats.org/drawingml/2006/main">
            <a:off x="640080" y="3584448"/>
            <a:ext cx="53035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A7B5C8"/>
                </a:solidFill>
                <a:latin typeface="Inter"/>
                <a:ea typeface="Inter"/>
                <a:cs typeface="Inter"/>
              </a:rPr>
              <a:t>A startup story, an enterprise reality,</a:t>
            </a:r>
            <a:endParaRPr sz="1700"/>
          </a:p>
          <a:p xmlns:a="http://schemas.openxmlformats.org/drawingml/2006/main">
            <a:pPr marL="0" indent="0">
              <a:buNone/>
            </a:pPr>
            <a:r>
              <a:rPr sz="1700">
                <a:solidFill>
                  <a:srgbClr val="A7B5C8"/>
                </a:solidFill>
                <a:latin typeface="Inter"/>
                <a:ea typeface="Inter"/>
                <a:cs typeface="Inter"/>
              </a:rPr>
              <a:t>and lessons from a production MCP codebase.</a:t>
            </a:r>
          </a:p>
        </p:txBody>
      </p:sp>
      <p:sp>
        <p:nvSpPr>
          <p:cNvPr id="23" name="Text 16">
            <a:extLst xmlns:a="http://schemas.openxmlformats.org/drawingml/2006/main">
              <a:ext uri="{FF2B5EF4-FFF2-40B4-BE49-F238E27FC236}">
                <a16:creationId xmlns:a16="http://schemas.microsoft.com/office/drawing/2014/main" id="{2EAEA79A-2344-494F-85E2-D55CF06283D8}"/>
              </a:ext>
            </a:extLst>
          </p:cNvPr>
          <p:cNvSpPr>
            <a:spLocks xmlns:a="http://schemas.openxmlformats.org/drawingml/2006/main" noGrp="1"/>
          </p:cNvSpPr>
          <p:nvPr/>
        </p:nvSpPr>
        <p:spPr>
          <a:xfrm xmlns:a="http://schemas.openxmlformats.org/drawingml/2006/main">
            <a:off x="640080" y="4864608"/>
            <a:ext cx="38404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7FAFF"/>
                </a:solidFill>
                <a:latin typeface="Inter"/>
                <a:ea typeface="Inter"/>
                <a:cs typeface="Inter"/>
              </a:rPr>
              <a:t>C</a:t>
            </a:r>
            <a:r>
              <a:rPr sz="1700" b="1">
                <a:solidFill>
                  <a:srgbClr val="F7FAFF"/>
                </a:solidFill>
                <a:latin typeface="Inter"/>
                <a:ea typeface="Inter"/>
                <a:cs typeface="Inter"/>
              </a:rPr>
              <a:t>onstantin</a:t>
            </a:r>
            <a:r>
              <a:rPr sz="1700" b="1">
                <a:solidFill>
                  <a:srgbClr val="F7FAFF"/>
                </a:solidFill>
                <a:latin typeface="Inter"/>
                <a:ea typeface="Inter"/>
                <a:cs typeface="Inter"/>
              </a:rPr>
              <a:t>e</a:t>
            </a:r>
            <a:r>
              <a:rPr sz="1700" b="1">
                <a:solidFill>
                  <a:srgbClr val="F7FAFF"/>
                </a:solidFill>
                <a:latin typeface="Inter"/>
                <a:ea typeface="Inter"/>
                <a:cs typeface="Inter"/>
              </a:rPr>
              <a:t> </a:t>
            </a:r>
            <a:r>
              <a:rPr sz="1700" b="1">
                <a:solidFill>
                  <a:srgbClr val="F7FAFF"/>
                </a:solidFill>
                <a:latin typeface="Inter"/>
                <a:ea typeface="Inter"/>
                <a:cs typeface="Inter"/>
              </a:rPr>
              <a:t>Grigoro</a:t>
            </a:r>
            <a:r>
              <a:rPr sz="1700" b="1">
                <a:solidFill>
                  <a:srgbClr val="F7FAFF"/>
                </a:solidFill>
                <a:latin typeface="Inter"/>
                <a:ea typeface="Inter"/>
                <a:cs typeface="Inter"/>
              </a:rPr>
              <a:t>ff</a:t>
            </a:r>
            <a:endParaRPr sz="1700"/>
          </a:p>
        </p:txBody>
      </p:sp>
      <p:sp>
        <p:nvSpPr>
          <p:cNvPr id="24" name="Text 17">
            <a:extLst xmlns:a="http://schemas.openxmlformats.org/drawingml/2006/main">
              <a:ext uri="{FF2B5EF4-FFF2-40B4-BE49-F238E27FC236}">
                <a16:creationId xmlns:a16="http://schemas.microsoft.com/office/drawing/2014/main" id="{BC4F65F4-D9FC-429D-8FBE-60D95642659E}"/>
              </a:ext>
            </a:extLst>
          </p:cNvPr>
          <p:cNvSpPr>
            <a:spLocks xmlns:a="http://schemas.openxmlformats.org/drawingml/2006/main" noGrp="1"/>
          </p:cNvSpPr>
          <p:nvPr/>
        </p:nvSpPr>
        <p:spPr>
          <a:xfrm xmlns:a="http://schemas.openxmlformats.org/drawingml/2006/main">
            <a:off x="640080" y="5230368"/>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A7B5C8"/>
                </a:solidFill>
                <a:latin typeface="Inter"/>
                <a:ea typeface="Inter"/>
                <a:cs typeface="Inter"/>
              </a:rPr>
              <a:t>Principal Data &amp; AI Engineer · Shell Trading &amp; Supply</a:t>
            </a:r>
            <a:endParaRPr sz="1150"/>
          </a:p>
        </p:txBody>
      </p:sp>
      <p:sp>
        <p:nvSpPr>
          <p:cNvPr id="25" name="Shape 18">
            <a:extLst xmlns:a="http://schemas.openxmlformats.org/drawingml/2006/main">
              <a:ext uri="{FF2B5EF4-FFF2-40B4-BE49-F238E27FC236}">
                <a16:creationId xmlns:a16="http://schemas.microsoft.com/office/drawing/2014/main" id="{BD89A3D3-CD56-4AB9-82BF-EB94F51CBFBD}"/>
              </a:ext>
            </a:extLst>
          </p:cNvPr>
          <p:cNvSpPr>
            <a:spLocks xmlns:a="http://schemas.openxmlformats.org/drawingml/2006/main" noGrp="1"/>
          </p:cNvSpPr>
          <p:nvPr/>
        </p:nvSpPr>
        <p:spPr>
          <a:xfrm xmlns:a="http://schemas.openxmlformats.org/drawingml/2006/main">
            <a:off x="640080" y="5779008"/>
            <a:ext cx="2542032" cy="310896"/>
          </a:xfrm>
          <a:prstGeom xmlns:a="http://schemas.openxmlformats.org/drawingml/2006/main" prst="roundRect">
            <a:avLst>
              <a:gd name="adj" fmla="val 23529"/>
            </a:avLst>
          </a:prstGeom>
          <a:solidFill xmlns:a="http://schemas.openxmlformats.org/drawingml/2006/main">
            <a:srgbClr val="35D4E7">
              <a:alpha val="13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19">
            <a:extLst xmlns:a="http://schemas.openxmlformats.org/drawingml/2006/main">
              <a:ext uri="{FF2B5EF4-FFF2-40B4-BE49-F238E27FC236}">
                <a16:creationId xmlns:a16="http://schemas.microsoft.com/office/drawing/2014/main" id="{78EA1772-FDA4-447B-85EC-EE30AD81A2DA}"/>
              </a:ext>
            </a:extLst>
          </p:cNvPr>
          <p:cNvSpPr>
            <a:spLocks xmlns:a="http://schemas.openxmlformats.org/drawingml/2006/main" noGrp="1"/>
          </p:cNvSpPr>
          <p:nvPr/>
        </p:nvSpPr>
        <p:spPr>
          <a:xfrm xmlns:a="http://schemas.openxmlformats.org/drawingml/2006/main">
            <a:off x="713232" y="5788152"/>
            <a:ext cx="239572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20" b="1">
                <a:solidFill>
                  <a:srgbClr val="35D4E7"/>
                </a:solidFill>
                <a:latin typeface="Inter"/>
                <a:ea typeface="Inter"/>
                <a:cs typeface="Inter"/>
              </a:rPr>
              <a:t>20 OCT 2026 · RAI AMSTERDAM</a:t>
            </a:r>
            <a:endParaRPr sz="920"/>
          </a:p>
        </p:txBody>
      </p:sp>
      <p:sp>
        <p:nvSpPr>
          <p:cNvPr id="27" name="Shape 20">
            <a:extLst xmlns:a="http://schemas.openxmlformats.org/drawingml/2006/main">
              <a:ext uri="{FF2B5EF4-FFF2-40B4-BE49-F238E27FC236}">
                <a16:creationId xmlns:a16="http://schemas.microsoft.com/office/drawing/2014/main" id="{CBAB54F3-F4F1-4C42-9A2C-3A6D7A95C4E6}"/>
              </a:ext>
            </a:extLst>
          </p:cNvPr>
          <p:cNvSpPr>
            <a:spLocks xmlns:a="http://schemas.openxmlformats.org/drawingml/2006/main" noGrp="1"/>
          </p:cNvSpPr>
          <p:nvPr/>
        </p:nvSpPr>
        <p:spPr>
          <a:xfrm xmlns:a="http://schemas.openxmlformats.org/drawingml/2006/main">
            <a:off x="3310128" y="5779008"/>
            <a:ext cx="2523744" cy="310896"/>
          </a:xfrm>
          <a:prstGeom xmlns:a="http://schemas.openxmlformats.org/drawingml/2006/main" prst="roundRect">
            <a:avLst>
              <a:gd name="adj" fmla="val 23529"/>
            </a:avLst>
          </a:prstGeom>
          <a:solidFill xmlns:a="http://schemas.openxmlformats.org/drawingml/2006/main">
            <a:srgbClr val="5B7CFF">
              <a:alpha val="13000"/>
            </a:srgbClr>
          </a:solidFill>
          <a:ln xmlns:a="http://schemas.openxmlformats.org/drawingml/2006/main" w="12700">
            <a:solidFill>
              <a:srgbClr val="5B7CFF">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1">
            <a:extLst xmlns:a="http://schemas.openxmlformats.org/drawingml/2006/main">
              <a:ext uri="{FF2B5EF4-FFF2-40B4-BE49-F238E27FC236}">
                <a16:creationId xmlns:a16="http://schemas.microsoft.com/office/drawing/2014/main" id="{AE9680C4-782A-4E77-8E0F-9EA7FA59B300}"/>
              </a:ext>
            </a:extLst>
          </p:cNvPr>
          <p:cNvSpPr>
            <a:spLocks xmlns:a="http://schemas.openxmlformats.org/drawingml/2006/main" noGrp="1"/>
          </p:cNvSpPr>
          <p:nvPr/>
        </p:nvSpPr>
        <p:spPr>
          <a:xfrm xmlns:a="http://schemas.openxmlformats.org/drawingml/2006/main">
            <a:off x="3383280" y="5788152"/>
            <a:ext cx="2377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20" b="1">
                <a:solidFill>
                  <a:srgbClr val="BFCBFF"/>
                </a:solidFill>
                <a:latin typeface="Inter"/>
                <a:ea typeface="Inter"/>
                <a:cs typeface="Inter"/>
              </a:rPr>
              <a:t>AI DEVELOPER · 12:05–12:35</a:t>
            </a:r>
            <a:endParaRPr sz="920"/>
          </a:p>
        </p:txBody>
      </p:sp>
    </p:spTree>
    <p:extLst>
      <p:ext uri="{BB962C8B-B14F-4D97-AF65-F5344CB8AC3E}">
        <p14:creationId xmlns:p14="http://schemas.microsoft.com/office/powerpoint/2010/main" val="17795347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897f532e4d2a45b4">
            <a:extLst>
              <a:ext uri="{96DAC541-7B7A-43D3-8B79-37D633B846F1}">
                <asvg:svgBlip xmlns:asvg="http://schemas.microsoft.com/office/drawing/2016/SVG/main" r:embed="R08547b905a4e4a6b"/>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AD8C7B86-B14C-4F16-9919-B23C9D1598EB}"/>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THE SET-UP</a:t>
            </a:r>
            <a:endParaRPr sz="950"/>
          </a:p>
        </p:txBody>
      </p:sp>
      <p:sp>
        <p:nvSpPr>
          <p:cNvPr id="4" name="Text 1">
            <a:extLst xmlns:a="http://schemas.openxmlformats.org/drawingml/2006/main">
              <a:ext uri="{FF2B5EF4-FFF2-40B4-BE49-F238E27FC236}">
                <a16:creationId xmlns:a16="http://schemas.microsoft.com/office/drawing/2014/main" id="{FD553D91-2FEE-42C1-A088-65094632DAC1}"/>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7FAFF"/>
                </a:solidFill>
                <a:latin typeface="Inter"/>
                <a:ea typeface="Inter"/>
                <a:cs typeface="Inter"/>
              </a:rPr>
              <a:t>Fictional story. Real failure modes.</a:t>
            </a:r>
            <a:endParaRPr sz="2800"/>
          </a:p>
        </p:txBody>
      </p:sp>
      <p:sp>
        <p:nvSpPr>
          <p:cNvPr id="5" name="Text 2">
            <a:extLst xmlns:a="http://schemas.openxmlformats.org/drawingml/2006/main">
              <a:ext uri="{FF2B5EF4-FFF2-40B4-BE49-F238E27FC236}">
                <a16:creationId xmlns:a16="http://schemas.microsoft.com/office/drawing/2014/main" id="{3C8F2BCB-08EC-4BC5-B102-98720B542215}"/>
              </a:ext>
            </a:extLst>
          </p:cNvPr>
          <p:cNvSpPr>
            <a:spLocks xmlns:a="http://schemas.openxmlformats.org/drawingml/2006/main" noGrp="1"/>
          </p:cNvSpPr>
          <p:nvPr/>
        </p:nvSpPr>
        <p:spPr>
          <a:xfrm xmlns:a="http://schemas.openxmlformats.org/drawingml/2006/main">
            <a:off x="658368" y="1417320"/>
            <a:ext cx="5669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You are the founding engineer.</a:t>
            </a:r>
            <a:endParaRPr sz="2700"/>
          </a:p>
        </p:txBody>
      </p:sp>
      <p:sp>
        <p:nvSpPr>
          <p:cNvPr id="6" name="Text 3">
            <a:extLst xmlns:a="http://schemas.openxmlformats.org/drawingml/2006/main">
              <a:ext uri="{FF2B5EF4-FFF2-40B4-BE49-F238E27FC236}">
                <a16:creationId xmlns:a16="http://schemas.microsoft.com/office/drawing/2014/main" id="{A9CBFCAB-ABE0-435D-8C3A-2BBF485FFAB0}"/>
              </a:ext>
            </a:extLst>
          </p:cNvPr>
          <p:cNvSpPr>
            <a:spLocks xmlns:a="http://schemas.openxmlformats.org/drawingml/2006/main" noGrp="1"/>
          </p:cNvSpPr>
          <p:nvPr/>
        </p:nvSpPr>
        <p:spPr>
          <a:xfrm xmlns:a="http://schemas.openxmlformats.org/drawingml/2006/main">
            <a:off x="658368" y="2029968"/>
            <a:ext cx="5852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A7B5C8"/>
                </a:solidFill>
                <a:latin typeface="Inter"/>
                <a:ea typeface="Inter"/>
                <a:cs typeface="Inter"/>
              </a:rPr>
              <a:t>Team of 9. Funding secured. Friday demo.</a:t>
            </a:r>
            <a:endParaRPr sz="1700"/>
          </a:p>
        </p:txBody>
      </p:sp>
      <p:sp>
        <p:nvSpPr>
          <p:cNvPr id="7" name="Shape 4">
            <a:extLst xmlns:a="http://schemas.openxmlformats.org/drawingml/2006/main">
              <a:ext uri="{FF2B5EF4-FFF2-40B4-BE49-F238E27FC236}">
                <a16:creationId xmlns:a16="http://schemas.microsoft.com/office/drawing/2014/main" id="{1E993861-2AD0-4FAB-B203-A639F9A55241}"/>
              </a:ext>
            </a:extLst>
          </p:cNvPr>
          <p:cNvSpPr>
            <a:spLocks xmlns:a="http://schemas.openxmlformats.org/drawingml/2006/main" noGrp="1"/>
          </p:cNvSpPr>
          <p:nvPr/>
        </p:nvSpPr>
        <p:spPr>
          <a:xfrm xmlns:a="http://schemas.openxmlformats.org/drawingml/2006/main">
            <a:off x="658368" y="2633472"/>
            <a:ext cx="4343400" cy="384048"/>
          </a:xfrm>
          <a:prstGeom xmlns:a="http://schemas.openxmlformats.org/drawingml/2006/main" prst="roundRect">
            <a:avLst>
              <a:gd name="adj" fmla="val 19048"/>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5">
            <a:extLst xmlns:a="http://schemas.openxmlformats.org/drawingml/2006/main">
              <a:ext uri="{FF2B5EF4-FFF2-40B4-BE49-F238E27FC236}">
                <a16:creationId xmlns:a16="http://schemas.microsoft.com/office/drawing/2014/main" id="{8CE517C2-F547-4ECA-A4F7-8F832CAF787E}"/>
              </a:ext>
            </a:extLst>
          </p:cNvPr>
          <p:cNvSpPr>
            <a:spLocks xmlns:a="http://schemas.openxmlformats.org/drawingml/2006/main" noGrp="1"/>
          </p:cNvSpPr>
          <p:nvPr/>
        </p:nvSpPr>
        <p:spPr>
          <a:xfrm xmlns:a="http://schemas.openxmlformats.org/drawingml/2006/main">
            <a:off x="731520" y="2642616"/>
            <a:ext cx="4197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5D4E7"/>
                </a:solidFill>
                <a:latin typeface="Inter"/>
                <a:ea typeface="Inter"/>
                <a:cs typeface="Inter"/>
              </a:rPr>
              <a:t>GOAL: CONNECT AN LLM TO REAL DATA THROUGH MCP</a:t>
            </a:r>
            <a:endParaRPr sz="1000"/>
          </a:p>
        </p:txBody>
      </p:sp>
      <p:sp>
        <p:nvSpPr>
          <p:cNvPr id="9" name="Shape 6">
            <a:extLst xmlns:a="http://schemas.openxmlformats.org/drawingml/2006/main">
              <a:ext uri="{FF2B5EF4-FFF2-40B4-BE49-F238E27FC236}">
                <a16:creationId xmlns:a16="http://schemas.microsoft.com/office/drawing/2014/main" id="{55DAF6F9-E986-437E-8DCF-6BDC733D7194}"/>
              </a:ext>
            </a:extLst>
          </p:cNvPr>
          <p:cNvSpPr>
            <a:spLocks xmlns:a="http://schemas.openxmlformats.org/drawingml/2006/main" noGrp="1"/>
          </p:cNvSpPr>
          <p:nvPr/>
        </p:nvSpPr>
        <p:spPr>
          <a:xfrm xmlns:a="http://schemas.openxmlformats.org/drawingml/2006/main">
            <a:off x="7406640" y="144475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dcd670c8cf634af0">
            <a:extLst>
              <a:ext uri="{96DAC541-7B7A-43D3-8B79-37D633B846F1}">
                <asvg:svgBlip xmlns:asvg="http://schemas.microsoft.com/office/drawing/2016/SVG/main" r:embed="Rc675b8909be54f80"/>
              </a:ext>
            </a:extLst>
          </a:blip>
          <a:stretch xmlns:a="http://schemas.openxmlformats.org/drawingml/2006/main">
            <a:fillRect l="0" t="0" r="0" b="0"/>
          </a:stretch>
        </p:blipFill>
        <p:spPr>
          <a:xfrm xmlns:a="http://schemas.openxmlformats.org/drawingml/2006/main">
            <a:off x="7589520" y="1647749"/>
            <a:ext cx="292608" cy="234086"/>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27164CDC-66A9-4DBB-A86D-BD32052F8809}"/>
              </a:ext>
            </a:extLst>
          </p:cNvPr>
          <p:cNvSpPr>
            <a:spLocks xmlns:a="http://schemas.openxmlformats.org/drawingml/2006/main" noGrp="1"/>
          </p:cNvSpPr>
          <p:nvPr/>
        </p:nvSpPr>
        <p:spPr>
          <a:xfrm xmlns:a="http://schemas.openxmlformats.org/drawingml/2006/main">
            <a:off x="8485632" y="117043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8686800" y="1344168"/>
            <a:ext cx="256032" cy="292608"/>
          </a:xfrm>
          <a:prstGeom xmlns:a="http://schemas.openxmlformats.org/drawingml/2006/main" prst="rect">
            <a:avLst/>
          </a:prstGeom>
        </p:spPr>
      </p:pic>
      <p:sp>
        <p:nvSpPr>
          <p:cNvPr id="13" name="Shape 8">
            <a:extLst xmlns:a="http://schemas.openxmlformats.org/drawingml/2006/main">
              <a:ext uri="{FF2B5EF4-FFF2-40B4-BE49-F238E27FC236}">
                <a16:creationId xmlns:a16="http://schemas.microsoft.com/office/drawing/2014/main" id="{15720886-8C7C-47B8-89AF-37AEF61FADBD}"/>
              </a:ext>
            </a:extLst>
          </p:cNvPr>
          <p:cNvSpPr>
            <a:spLocks xmlns:a="http://schemas.openxmlformats.org/drawingml/2006/main" noGrp="1"/>
          </p:cNvSpPr>
          <p:nvPr/>
        </p:nvSpPr>
        <p:spPr>
          <a:xfrm xmlns:a="http://schemas.openxmlformats.org/drawingml/2006/main">
            <a:off x="9582912" y="1481328"/>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0" name="Image 3"/>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9784080" y="1655064"/>
            <a:ext cx="256032" cy="292608"/>
          </a:xfrm>
          <a:prstGeom xmlns:a="http://schemas.openxmlformats.org/drawingml/2006/main" prst="rect">
            <a:avLst/>
          </a:prstGeom>
        </p:spPr>
      </p:pic>
      <p:sp>
        <p:nvSpPr>
          <p:cNvPr id="15" name="Shape 9">
            <a:extLst xmlns:a="http://schemas.openxmlformats.org/drawingml/2006/main">
              <a:ext uri="{FF2B5EF4-FFF2-40B4-BE49-F238E27FC236}">
                <a16:creationId xmlns:a16="http://schemas.microsoft.com/office/drawing/2014/main" id="{42369259-17CD-4D4F-9AFC-28A24BADA310}"/>
              </a:ext>
            </a:extLst>
          </p:cNvPr>
          <p:cNvSpPr>
            <a:spLocks xmlns:a="http://schemas.openxmlformats.org/drawingml/2006/main" noGrp="1"/>
          </p:cNvSpPr>
          <p:nvPr/>
        </p:nvSpPr>
        <p:spPr>
          <a:xfrm xmlns:a="http://schemas.openxmlformats.org/drawingml/2006/main">
            <a:off x="10561320" y="1133856"/>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62" name="Image 4"/>
          <p:cNvPicPr>
            <a:picLocks xmlns:a="http://schemas.openxmlformats.org/drawingml/2006/main" noChangeAspect="1"/>
          </p:cNvPicPr>
          <p:nvPr/>
        </p:nvPicPr>
        <p:blipFill>
          <a:blip xmlns:r="http://schemas.openxmlformats.org/officeDocument/2006/relationships" xmlns:a="http://schemas.openxmlformats.org/drawingml/2006/main" r:embed="Ra0a2d81ca3a348a6">
            <a:extLst>
              <a:ext uri="{96DAC541-7B7A-43D3-8B79-37D633B846F1}">
                <asvg:svgBlip xmlns:asvg="http://schemas.microsoft.com/office/drawing/2016/SVG/main" r:embed="Ra2641139957c4c99"/>
              </a:ext>
            </a:extLst>
          </a:blip>
          <a:stretch xmlns:a="http://schemas.openxmlformats.org/drawingml/2006/main">
            <a:fillRect l="0" t="0" r="0" b="0"/>
          </a:stretch>
        </p:blipFill>
        <p:spPr>
          <a:xfrm xmlns:a="http://schemas.openxmlformats.org/drawingml/2006/main">
            <a:off x="10762488" y="1307592"/>
            <a:ext cx="256032" cy="292608"/>
          </a:xfrm>
          <a:prstGeom xmlns:a="http://schemas.openxmlformats.org/drawingml/2006/main" prst="rect">
            <a:avLst/>
          </a:prstGeom>
        </p:spPr>
      </p:pic>
      <p:sp>
        <p:nvSpPr>
          <p:cNvPr id="17" name="Shape 10">
            <a:extLst xmlns:a="http://schemas.openxmlformats.org/drawingml/2006/main">
              <a:ext uri="{FF2B5EF4-FFF2-40B4-BE49-F238E27FC236}">
                <a16:creationId xmlns:a16="http://schemas.microsoft.com/office/drawing/2014/main" id="{4F7E4242-EBD8-485A-AC74-C755C8617101}"/>
              </a:ext>
            </a:extLst>
          </p:cNvPr>
          <p:cNvSpPr>
            <a:spLocks xmlns:a="http://schemas.openxmlformats.org/drawingml/2006/main" noGrp="1"/>
          </p:cNvSpPr>
          <p:nvPr/>
        </p:nvSpPr>
        <p:spPr>
          <a:xfrm xmlns:a="http://schemas.openxmlformats.org/drawingml/2006/main">
            <a:off x="7845552" y="2514600"/>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4" name="Image 5"/>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8046720" y="2688336"/>
            <a:ext cx="256032" cy="292608"/>
          </a:xfrm>
          <a:prstGeom xmlns:a="http://schemas.openxmlformats.org/drawingml/2006/main" prst="rect">
            <a:avLst/>
          </a:prstGeom>
        </p:spPr>
      </p:pic>
      <p:sp>
        <p:nvSpPr>
          <p:cNvPr id="19" name="Shape 11">
            <a:extLst xmlns:a="http://schemas.openxmlformats.org/drawingml/2006/main">
              <a:ext uri="{FF2B5EF4-FFF2-40B4-BE49-F238E27FC236}">
                <a16:creationId xmlns:a16="http://schemas.microsoft.com/office/drawing/2014/main" id="{783BF81D-5BB1-4E91-893B-B2993D3A479C}"/>
              </a:ext>
            </a:extLst>
          </p:cNvPr>
          <p:cNvSpPr>
            <a:spLocks xmlns:a="http://schemas.openxmlformats.org/drawingml/2006/main" noGrp="1"/>
          </p:cNvSpPr>
          <p:nvPr/>
        </p:nvSpPr>
        <p:spPr>
          <a:xfrm xmlns:a="http://schemas.openxmlformats.org/drawingml/2006/main">
            <a:off x="8942832" y="235915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6" name="Image 6"/>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9144000" y="2532888"/>
            <a:ext cx="256032" cy="292608"/>
          </a:xfrm>
          <a:prstGeom xmlns:a="http://schemas.openxmlformats.org/drawingml/2006/main" prst="rect">
            <a:avLst/>
          </a:prstGeom>
        </p:spPr>
      </p:pic>
      <p:sp>
        <p:nvSpPr>
          <p:cNvPr id="21" name="Shape 12">
            <a:extLst xmlns:a="http://schemas.openxmlformats.org/drawingml/2006/main">
              <a:ext uri="{FF2B5EF4-FFF2-40B4-BE49-F238E27FC236}">
                <a16:creationId xmlns:a16="http://schemas.microsoft.com/office/drawing/2014/main" id="{F71F9EA3-0F3C-45F0-A88C-26712E61D7BC}"/>
              </a:ext>
            </a:extLst>
          </p:cNvPr>
          <p:cNvSpPr>
            <a:spLocks xmlns:a="http://schemas.openxmlformats.org/drawingml/2006/main" noGrp="1"/>
          </p:cNvSpPr>
          <p:nvPr/>
        </p:nvSpPr>
        <p:spPr>
          <a:xfrm xmlns:a="http://schemas.openxmlformats.org/drawingml/2006/main">
            <a:off x="10104120" y="2523744"/>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68" name="Image 7"/>
          <p:cNvPicPr>
            <a:picLocks xmlns:a="http://schemas.openxmlformats.org/drawingml/2006/main" noChangeAspect="1"/>
          </p:cNvPicPr>
          <p:nvPr/>
        </p:nvPicPr>
        <p:blipFill>
          <a:blip xmlns:r="http://schemas.openxmlformats.org/officeDocument/2006/relationships" xmlns:a="http://schemas.openxmlformats.org/drawingml/2006/main" r:embed="Ra0a2d81ca3a348a6">
            <a:extLst>
              <a:ext uri="{96DAC541-7B7A-43D3-8B79-37D633B846F1}">
                <asvg:svgBlip xmlns:asvg="http://schemas.microsoft.com/office/drawing/2016/SVG/main" r:embed="Ra2641139957c4c99"/>
              </a:ext>
            </a:extLst>
          </a:blip>
          <a:stretch xmlns:a="http://schemas.openxmlformats.org/drawingml/2006/main">
            <a:fillRect l="0" t="0" r="0" b="0"/>
          </a:stretch>
        </p:blipFill>
        <p:spPr>
          <a:xfrm xmlns:a="http://schemas.openxmlformats.org/drawingml/2006/main">
            <a:off x="10305288" y="2697480"/>
            <a:ext cx="256032" cy="292608"/>
          </a:xfrm>
          <a:prstGeom xmlns:a="http://schemas.openxmlformats.org/drawingml/2006/main" prst="rect">
            <a:avLst/>
          </a:prstGeom>
        </p:spPr>
      </p:pic>
      <p:sp>
        <p:nvSpPr>
          <p:cNvPr id="23" name="Shape 13">
            <a:extLst xmlns:a="http://schemas.openxmlformats.org/drawingml/2006/main">
              <a:ext uri="{FF2B5EF4-FFF2-40B4-BE49-F238E27FC236}">
                <a16:creationId xmlns:a16="http://schemas.microsoft.com/office/drawing/2014/main" id="{203D3DB0-7326-4D09-B563-5ACB59985821}"/>
              </a:ext>
            </a:extLst>
          </p:cNvPr>
          <p:cNvSpPr>
            <a:spLocks xmlns:a="http://schemas.openxmlformats.org/drawingml/2006/main" noGrp="1"/>
          </p:cNvSpPr>
          <p:nvPr/>
        </p:nvSpPr>
        <p:spPr>
          <a:xfrm xmlns:a="http://schemas.openxmlformats.org/drawingml/2006/main">
            <a:off x="8302752" y="3584448"/>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70" name="Image 8"/>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8503920" y="3758184"/>
            <a:ext cx="256032" cy="292608"/>
          </a:xfrm>
          <a:prstGeom xmlns:a="http://schemas.openxmlformats.org/drawingml/2006/main" prst="rect">
            <a:avLst/>
          </a:prstGeom>
        </p:spPr>
      </p:pic>
      <p:sp>
        <p:nvSpPr>
          <p:cNvPr id="25" name="Shape 14">
            <a:extLst xmlns:a="http://schemas.openxmlformats.org/drawingml/2006/main">
              <a:ext uri="{FF2B5EF4-FFF2-40B4-BE49-F238E27FC236}">
                <a16:creationId xmlns:a16="http://schemas.microsoft.com/office/drawing/2014/main" id="{E776A0BD-BAC8-4B2A-9DBB-226997107A34}"/>
              </a:ext>
            </a:extLst>
          </p:cNvPr>
          <p:cNvSpPr>
            <a:spLocks xmlns:a="http://schemas.openxmlformats.org/drawingml/2006/main" noGrp="1"/>
          </p:cNvSpPr>
          <p:nvPr/>
        </p:nvSpPr>
        <p:spPr>
          <a:xfrm xmlns:a="http://schemas.openxmlformats.org/drawingml/2006/main">
            <a:off x="9619488" y="3694176"/>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72" name="Image 9"/>
          <p:cNvPicPr>
            <a:picLocks xmlns:a="http://schemas.openxmlformats.org/drawingml/2006/main" noChangeAspect="1"/>
          </p:cNvPicPr>
          <p:nvPr/>
        </p:nvPicPr>
        <p:blipFill>
          <a:blip xmlns:r="http://schemas.openxmlformats.org/officeDocument/2006/relationships" xmlns:a="http://schemas.openxmlformats.org/drawingml/2006/main" r:embed="R32f80189f18c4470">
            <a:extLst>
              <a:ext uri="{96DAC541-7B7A-43D3-8B79-37D633B846F1}">
                <asvg:svgBlip xmlns:asvg="http://schemas.microsoft.com/office/drawing/2016/SVG/main" r:embed="R1e14338c0a5342f2"/>
              </a:ext>
            </a:extLst>
          </a:blip>
          <a:stretch xmlns:a="http://schemas.openxmlformats.org/drawingml/2006/main">
            <a:fillRect l="0" t="0" r="0" b="0"/>
          </a:stretch>
        </p:blipFill>
        <p:spPr>
          <a:xfrm xmlns:a="http://schemas.openxmlformats.org/drawingml/2006/main">
            <a:off x="9820656" y="3867912"/>
            <a:ext cx="256032" cy="292608"/>
          </a:xfrm>
          <a:prstGeom xmlns:a="http://schemas.openxmlformats.org/drawingml/2006/main" prst="rect">
            <a:avLst/>
          </a:prstGeom>
        </p:spPr>
      </p:pic>
      <p:sp>
        <p:nvSpPr>
          <p:cNvPr id="27" name="Text 15">
            <a:extLst xmlns:a="http://schemas.openxmlformats.org/drawingml/2006/main">
              <a:ext uri="{FF2B5EF4-FFF2-40B4-BE49-F238E27FC236}">
                <a16:creationId xmlns:a16="http://schemas.microsoft.com/office/drawing/2014/main" id="{2A3F6597-8CAF-4124-A879-64E36063D1F7}"/>
              </a:ext>
            </a:extLst>
          </p:cNvPr>
          <p:cNvSpPr>
            <a:spLocks xmlns:a="http://schemas.openxmlformats.org/drawingml/2006/main" noGrp="1"/>
          </p:cNvSpPr>
          <p:nvPr/>
        </p:nvSpPr>
        <p:spPr>
          <a:xfrm xmlns:a="http://schemas.openxmlformats.org/drawingml/2006/main">
            <a:off x="10469880" y="3950208"/>
            <a:ext cx="7772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F7FAFF"/>
                </a:solidFill>
                <a:latin typeface="Inter"/>
                <a:ea typeface="Inter"/>
                <a:cs typeface="Inter"/>
              </a:rPr>
              <a:t>9</a:t>
            </a:r>
            <a:endParaRPr sz="3200"/>
          </a:p>
        </p:txBody>
      </p:sp>
      <p:sp>
        <p:nvSpPr>
          <p:cNvPr id="28" name="Text 16">
            <a:extLst xmlns:a="http://schemas.openxmlformats.org/drawingml/2006/main">
              <a:ext uri="{FF2B5EF4-FFF2-40B4-BE49-F238E27FC236}">
                <a16:creationId xmlns:a16="http://schemas.microsoft.com/office/drawing/2014/main" id="{2ADE88DB-40E7-4D84-B5E8-196EF95C64E5}"/>
              </a:ext>
            </a:extLst>
          </p:cNvPr>
          <p:cNvSpPr>
            <a:spLocks xmlns:a="http://schemas.openxmlformats.org/drawingml/2006/main" noGrp="1"/>
          </p:cNvSpPr>
          <p:nvPr/>
        </p:nvSpPr>
        <p:spPr>
          <a:xfrm xmlns:a="http://schemas.openxmlformats.org/drawingml/2006/main">
            <a:off x="10259568" y="4517136"/>
            <a:ext cx="11887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A7B5C8"/>
                </a:solidFill>
                <a:latin typeface="Inter"/>
                <a:ea typeface="Inter"/>
                <a:cs typeface="Inter"/>
              </a:rPr>
              <a:t>PEOPLE</a:t>
            </a:r>
            <a:endParaRPr sz="900"/>
          </a:p>
        </p:txBody>
      </p:sp>
      <p:sp>
        <p:nvSpPr>
          <p:cNvPr id="29" name="Shape 17">
            <a:extLst xmlns:a="http://schemas.openxmlformats.org/drawingml/2006/main">
              <a:ext uri="{FF2B5EF4-FFF2-40B4-BE49-F238E27FC236}">
                <a16:creationId xmlns:a16="http://schemas.microsoft.com/office/drawing/2014/main" id="{4CB364E7-C24B-4FDE-B33F-22532D164EAB}"/>
              </a:ext>
            </a:extLst>
          </p:cNvPr>
          <p:cNvSpPr>
            <a:spLocks xmlns:a="http://schemas.openxmlformats.org/drawingml/2006/main" noGrp="1"/>
          </p:cNvSpPr>
          <p:nvPr/>
        </p:nvSpPr>
        <p:spPr>
          <a:xfrm xmlns:a="http://schemas.openxmlformats.org/drawingml/2006/main">
            <a:off x="658368" y="3913632"/>
            <a:ext cx="5623560" cy="1298448"/>
          </a:xfrm>
          <a:prstGeom xmlns:a="http://schemas.openxmlformats.org/drawingml/2006/main" prst="roundRect">
            <a:avLst>
              <a:gd name="adj" fmla="val 5634"/>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18">
            <a:extLst xmlns:a="http://schemas.openxmlformats.org/drawingml/2006/main">
              <a:ext uri="{FF2B5EF4-FFF2-40B4-BE49-F238E27FC236}">
                <a16:creationId xmlns:a16="http://schemas.microsoft.com/office/drawing/2014/main" id="{6CEEDA73-1B4C-4E60-A5D5-D5E7BD2DEF99}"/>
              </a:ext>
            </a:extLst>
          </p:cNvPr>
          <p:cNvSpPr>
            <a:spLocks xmlns:a="http://schemas.openxmlformats.org/drawingml/2006/main" noGrp="1"/>
          </p:cNvSpPr>
          <p:nvPr/>
        </p:nvSpPr>
        <p:spPr>
          <a:xfrm xmlns:a="http://schemas.openxmlformats.org/drawingml/2006/main">
            <a:off x="941832" y="4224528"/>
            <a:ext cx="50474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550" i="1">
                <a:solidFill>
                  <a:srgbClr val="EAF0F8"/>
                </a:solidFill>
                <a:latin typeface="Inter"/>
                <a:ea typeface="Inter"/>
                <a:cs typeface="Inter"/>
              </a:rPr>
              <a:t>Trusted users. One identity path. One team.</a:t>
            </a:r>
            <a:endParaRPr sz="1550"/>
          </a:p>
          <a:p xmlns:a="http://schemas.openxmlformats.org/drawingml/2006/main">
            <a:pPr marL="0" indent="0" algn="l">
              <a:buNone/>
            </a:pPr>
            <a:r>
              <a:rPr sz="1550" i="1">
                <a:solidFill>
                  <a:srgbClr val="EAF0F8"/>
                </a:solidFill>
                <a:latin typeface="Inter"/>
                <a:ea typeface="Inter"/>
                <a:cs typeface="Inter"/>
              </a:rPr>
              <a:t>A tool catalogue small enough to understand.</a:t>
            </a:r>
          </a:p>
        </p:txBody>
      </p:sp>
      <p:sp>
        <p:nvSpPr>
          <p:cNvPr id="31" name="Shape 19">
            <a:extLst xmlns:a="http://schemas.openxmlformats.org/drawingml/2006/main">
              <a:ext uri="{FF2B5EF4-FFF2-40B4-BE49-F238E27FC236}">
                <a16:creationId xmlns:a16="http://schemas.microsoft.com/office/drawing/2014/main" id="{B81EF492-DFD2-40A0-9D13-66B73613E73E}"/>
              </a:ext>
            </a:extLst>
          </p:cNvPr>
          <p:cNvSpPr>
            <a:spLocks xmlns:a="http://schemas.openxmlformats.org/drawingml/2006/main" noGrp="1"/>
          </p:cNvSpPr>
          <p:nvPr/>
        </p:nvSpPr>
        <p:spPr>
          <a:xfrm xmlns:a="http://schemas.openxmlformats.org/drawingml/2006/main">
            <a:off x="7461504" y="4919472"/>
            <a:ext cx="1901952" cy="310896"/>
          </a:xfrm>
          <a:prstGeom xmlns:a="http://schemas.openxmlformats.org/drawingml/2006/main" prst="roundRect">
            <a:avLst>
              <a:gd name="adj" fmla="val 23529"/>
            </a:avLst>
          </a:prstGeom>
          <a:solidFill xmlns:a="http://schemas.openxmlformats.org/drawingml/2006/main">
            <a:srgbClr val="FF647C">
              <a:alpha val="15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Text 20">
            <a:extLst xmlns:a="http://schemas.openxmlformats.org/drawingml/2006/main">
              <a:ext uri="{FF2B5EF4-FFF2-40B4-BE49-F238E27FC236}">
                <a16:creationId xmlns:a16="http://schemas.microsoft.com/office/drawing/2014/main" id="{6F8FD627-F484-4111-BBDC-695CCE8ED93E}"/>
              </a:ext>
            </a:extLst>
          </p:cNvPr>
          <p:cNvSpPr>
            <a:spLocks xmlns:a="http://schemas.openxmlformats.org/drawingml/2006/main" noGrp="1"/>
          </p:cNvSpPr>
          <p:nvPr/>
        </p:nvSpPr>
        <p:spPr>
          <a:xfrm xmlns:a="http://schemas.openxmlformats.org/drawingml/2006/main">
            <a:off x="7534656" y="4928616"/>
            <a:ext cx="17556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647C"/>
                </a:solidFill>
                <a:latin typeface="Inter"/>
                <a:ea typeface="Inter"/>
                <a:cs typeface="Inter"/>
              </a:rPr>
              <a:t>ASSUMPTION DEBT</a:t>
            </a:r>
            <a:endParaRPr sz="950"/>
          </a:p>
        </p:txBody>
      </p:sp>
      <p:sp>
        <p:nvSpPr>
          <p:cNvPr id="33" name="Text 21">
            <a:extLst xmlns:a="http://schemas.openxmlformats.org/drawingml/2006/main">
              <a:ext uri="{FF2B5EF4-FFF2-40B4-BE49-F238E27FC236}">
                <a16:creationId xmlns:a16="http://schemas.microsoft.com/office/drawing/2014/main" id="{1A6DA6A9-7020-4E4C-8318-BB199E6172CF}"/>
              </a:ext>
            </a:extLst>
          </p:cNvPr>
          <p:cNvSpPr>
            <a:spLocks xmlns:a="http://schemas.openxmlformats.org/drawingml/2006/main" noGrp="1"/>
          </p:cNvSpPr>
          <p:nvPr/>
        </p:nvSpPr>
        <p:spPr>
          <a:xfrm xmlns:a="http://schemas.openxmlformats.org/drawingml/2006/main">
            <a:off x="7461504" y="5340096"/>
            <a:ext cx="37033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A7B5C8"/>
                </a:solidFill>
                <a:latin typeface="Inter"/>
                <a:ea typeface="Inter"/>
                <a:cs typeface="Inter"/>
              </a:rPr>
              <a:t>Small solutions are safe only while</a:t>
            </a:r>
            <a:endParaRPr sz="1350"/>
          </a:p>
          <a:p xmlns:a="http://schemas.openxmlformats.org/drawingml/2006/main">
            <a:pPr marL="0" indent="0">
              <a:buNone/>
            </a:pPr>
            <a:r>
              <a:rPr sz="1350">
                <a:solidFill>
                  <a:srgbClr val="A7B5C8"/>
                </a:solidFill>
                <a:latin typeface="Inter"/>
                <a:ea typeface="Inter"/>
                <a:cs typeface="Inter"/>
              </a:rPr>
              <a:t>their hidden assumptions remain true.</a:t>
            </a:r>
            <a:endParaRPr sz="1350"/>
          </a:p>
        </p:txBody>
      </p:sp>
      <p:sp>
        <p:nvSpPr>
          <p:cNvPr id="34" name="Shape 22">
            <a:extLst xmlns:a="http://schemas.openxmlformats.org/drawingml/2006/main">
              <a:ext uri="{FF2B5EF4-FFF2-40B4-BE49-F238E27FC236}">
                <a16:creationId xmlns:a16="http://schemas.microsoft.com/office/drawing/2014/main" id="{F5D9B00E-CD0D-49F2-8C97-FB277C2B772B}"/>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23">
            <a:extLst xmlns:a="http://schemas.openxmlformats.org/drawingml/2006/main">
              <a:ext uri="{FF2B5EF4-FFF2-40B4-BE49-F238E27FC236}">
                <a16:creationId xmlns:a16="http://schemas.microsoft.com/office/drawing/2014/main" id="{04F3568E-AA48-4ED3-8812-8CE1F1B8EFA3}"/>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36" name="Text 24">
            <a:extLst xmlns:a="http://schemas.openxmlformats.org/drawingml/2006/main">
              <a:ext uri="{FF2B5EF4-FFF2-40B4-BE49-F238E27FC236}">
                <a16:creationId xmlns:a16="http://schemas.microsoft.com/office/drawing/2014/main" id="{DD91F67B-3090-415B-A14A-347739A7B6A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37" name="Text 25">
            <a:extLst xmlns:a="http://schemas.openxmlformats.org/drawingml/2006/main">
              <a:ext uri="{FF2B5EF4-FFF2-40B4-BE49-F238E27FC236}">
                <a16:creationId xmlns:a16="http://schemas.microsoft.com/office/drawing/2014/main" id="{ABD40AEA-2FB8-45CD-8B21-6D7584C81E89}"/>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02</a:t>
            </a:r>
            <a:endParaRPr sz="850"/>
          </a:p>
        </p:txBody>
      </p:sp>
    </p:spTree>
    <p:extLst>
      <p:ext uri="{BB962C8B-B14F-4D97-AF65-F5344CB8AC3E}">
        <p14:creationId xmlns:p14="http://schemas.microsoft.com/office/powerpoint/2010/main" val="11558960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90" name="Image 0"/>
          <p:cNvPicPr>
            <a:picLocks xmlns:a="http://schemas.openxmlformats.org/drawingml/2006/main" noChangeAspect="1"/>
          </p:cNvPicPr>
          <p:nvPr/>
        </p:nvPicPr>
        <p:blipFill>
          <a:blip xmlns:r="http://schemas.openxmlformats.org/officeDocument/2006/relationships" xmlns:a="http://schemas.openxmlformats.org/drawingml/2006/main" r:embed="Rcc9d1d6d9ffe492f">
            <a:extLst>
              <a:ext uri="{96DAC541-7B7A-43D3-8B79-37D633B846F1}">
                <asvg:svgBlip xmlns:asvg="http://schemas.microsoft.com/office/drawing/2016/SVG/main" r:embed="R621514b1f7f24f3b"/>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F46E8B83-87C8-41BD-B903-5C579FE199E8}"/>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MAKE IT WORK</a:t>
            </a:r>
            <a:endParaRPr sz="950"/>
          </a:p>
        </p:txBody>
      </p:sp>
      <p:sp>
        <p:nvSpPr>
          <p:cNvPr id="4" name="Text 1">
            <a:extLst xmlns:a="http://schemas.openxmlformats.org/drawingml/2006/main">
              <a:ext uri="{FF2B5EF4-FFF2-40B4-BE49-F238E27FC236}">
                <a16:creationId xmlns:a16="http://schemas.microsoft.com/office/drawing/2014/main" id="{2D419FD5-7F07-4DB9-B48A-7AA1FCFA1356}"/>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A practical MCP implementation</a:t>
            </a:r>
            <a:endParaRPr sz="2650"/>
          </a:p>
        </p:txBody>
      </p:sp>
      <p:sp>
        <p:nvSpPr>
          <p:cNvPr id="5" name="Text 2">
            <a:extLst xmlns:a="http://schemas.openxmlformats.org/drawingml/2006/main">
              <a:ext uri="{FF2B5EF4-FFF2-40B4-BE49-F238E27FC236}">
                <a16:creationId xmlns:a16="http://schemas.microsoft.com/office/drawing/2014/main" id="{3CAD0602-A5A6-403B-BA5D-02A3086FEC00}"/>
              </a:ext>
            </a:extLst>
          </p:cNvPr>
          <p:cNvSpPr>
            <a:spLocks xmlns:a="http://schemas.openxmlformats.org/drawingml/2006/main" noGrp="1"/>
          </p:cNvSpPr>
          <p:nvPr/>
        </p:nvSpPr>
        <p:spPr>
          <a:xfrm xmlns:a="http://schemas.openxmlformats.org/drawingml/2006/main">
            <a:off x="8229600" y="475488"/>
            <a:ext cx="33832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2839A"/>
                </a:solidFill>
                <a:latin typeface="Inter"/>
                <a:ea typeface="Inter"/>
                <a:cs typeface="Inter"/>
              </a:rPr>
              <a:t>Grounded in a working FastMCP service</a:t>
            </a:r>
            <a:endParaRPr sz="850"/>
          </a:p>
        </p:txBody>
      </p:sp>
      <p:sp>
        <p:nvSpPr>
          <p:cNvPr id="6" name="Shape 3">
            <a:extLst xmlns:a="http://schemas.openxmlformats.org/drawingml/2006/main">
              <a:ext uri="{FF2B5EF4-FFF2-40B4-BE49-F238E27FC236}">
                <a16:creationId xmlns:a16="http://schemas.microsoft.com/office/drawing/2014/main" id="{086CA592-D6D3-40F6-99AC-C87E9E38EBB7}"/>
              </a:ext>
            </a:extLst>
          </p:cNvPr>
          <p:cNvSpPr>
            <a:spLocks xmlns:a="http://schemas.openxmlformats.org/drawingml/2006/main" noGrp="1"/>
          </p:cNvSpPr>
          <p:nvPr/>
        </p:nvSpPr>
        <p:spPr>
          <a:xfrm xmlns:a="http://schemas.openxmlformats.org/drawingml/2006/main">
            <a:off x="502920" y="1389888"/>
            <a:ext cx="160020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4">
            <a:extLst xmlns:a="http://schemas.openxmlformats.org/drawingml/2006/main">
              <a:ext uri="{FF2B5EF4-FFF2-40B4-BE49-F238E27FC236}">
                <a16:creationId xmlns:a16="http://schemas.microsoft.com/office/drawing/2014/main" id="{638AA015-8F3D-451A-A4EB-2909FDCF3492}"/>
              </a:ext>
            </a:extLst>
          </p:cNvPr>
          <p:cNvSpPr>
            <a:spLocks xmlns:a="http://schemas.openxmlformats.org/drawingml/2006/main" noGrp="1"/>
          </p:cNvSpPr>
          <p:nvPr/>
        </p:nvSpPr>
        <p:spPr>
          <a:xfrm xmlns:a="http://schemas.openxmlformats.org/drawingml/2006/main">
            <a:off x="640080" y="1536192"/>
            <a:ext cx="384048" cy="384048"/>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96" name="Image 1"/>
          <p:cNvPicPr>
            <a:picLocks xmlns:a="http://schemas.openxmlformats.org/drawingml/2006/main" noChangeAspect="1"/>
          </p:cNvPicPr>
          <p:nvPr/>
        </p:nvPicPr>
        <p:blipFill>
          <a:blip xmlns:r="http://schemas.openxmlformats.org/officeDocument/2006/relationships" xmlns:a="http://schemas.openxmlformats.org/drawingml/2006/main" r:embed="Re03bf9f7015a40a2">
            <a:extLst>
              <a:ext uri="{96DAC541-7B7A-43D3-8B79-37D633B846F1}">
                <asvg:svgBlip xmlns:asvg="http://schemas.microsoft.com/office/drawing/2016/SVG/main" r:embed="R430df412e3d94a48"/>
              </a:ext>
            </a:extLst>
          </a:blip>
          <a:stretch xmlns:a="http://schemas.openxmlformats.org/drawingml/2006/main">
            <a:fillRect l="0" t="0" r="0" b="0"/>
          </a:stretch>
        </p:blipFill>
        <p:spPr>
          <a:xfrm xmlns:a="http://schemas.openxmlformats.org/drawingml/2006/main">
            <a:off x="731520" y="1647749"/>
            <a:ext cx="201168" cy="160934"/>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5FC1406B-B08E-4613-9DC8-2F5E8680E957}"/>
              </a:ext>
            </a:extLst>
          </p:cNvPr>
          <p:cNvSpPr>
            <a:spLocks xmlns:a="http://schemas.openxmlformats.org/drawingml/2006/main" noGrp="1"/>
          </p:cNvSpPr>
          <p:nvPr/>
        </p:nvSpPr>
        <p:spPr>
          <a:xfrm xmlns:a="http://schemas.openxmlformats.org/drawingml/2006/main">
            <a:off x="1124712" y="1554480"/>
            <a:ext cx="84124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a:t>
            </a:r>
            <a:endParaRPr sz="1200"/>
          </a:p>
        </p:txBody>
      </p:sp>
      <p:sp>
        <p:nvSpPr>
          <p:cNvPr id="10" name="Text 6">
            <a:extLst xmlns:a="http://schemas.openxmlformats.org/drawingml/2006/main">
              <a:ext uri="{FF2B5EF4-FFF2-40B4-BE49-F238E27FC236}">
                <a16:creationId xmlns:a16="http://schemas.microsoft.com/office/drawing/2014/main" id="{8FDCFF02-F004-4B1B-83A2-68D64C894A00}"/>
              </a:ext>
            </a:extLst>
          </p:cNvPr>
          <p:cNvSpPr>
            <a:spLocks xmlns:a="http://schemas.openxmlformats.org/drawingml/2006/main" noGrp="1"/>
          </p:cNvSpPr>
          <p:nvPr/>
        </p:nvSpPr>
        <p:spPr>
          <a:xfrm xmlns:a="http://schemas.openxmlformats.org/drawingml/2006/main">
            <a:off x="1124712" y="1837944"/>
            <a:ext cx="8412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Chat / Copilot</a:t>
            </a:r>
            <a:endParaRPr sz="880"/>
          </a:p>
        </p:txBody>
      </p:sp>
      <p:sp>
        <p:nvSpPr>
          <p:cNvPr id="11" name="Shape 7">
            <a:extLst xmlns:a="http://schemas.openxmlformats.org/drawingml/2006/main">
              <a:ext uri="{FF2B5EF4-FFF2-40B4-BE49-F238E27FC236}">
                <a16:creationId xmlns:a16="http://schemas.microsoft.com/office/drawing/2014/main" id="{4C5493C3-BE12-45A7-9DD2-F8BF77BDEBD8}"/>
              </a:ext>
            </a:extLst>
          </p:cNvPr>
          <p:cNvSpPr>
            <a:spLocks xmlns:a="http://schemas.openxmlformats.org/drawingml/2006/main" noGrp="1"/>
          </p:cNvSpPr>
          <p:nvPr/>
        </p:nvSpPr>
        <p:spPr>
          <a:xfrm xmlns:a="http://schemas.openxmlformats.org/drawingml/2006/main">
            <a:off x="2395728" y="1389888"/>
            <a:ext cx="169164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8">
            <a:extLst xmlns:a="http://schemas.openxmlformats.org/drawingml/2006/main">
              <a:ext uri="{FF2B5EF4-FFF2-40B4-BE49-F238E27FC236}">
                <a16:creationId xmlns:a16="http://schemas.microsoft.com/office/drawing/2014/main" id="{F1E90ADE-7986-441B-A109-3A34F7DF8E2F}"/>
              </a:ext>
            </a:extLst>
          </p:cNvPr>
          <p:cNvSpPr>
            <a:spLocks xmlns:a="http://schemas.openxmlformats.org/drawingml/2006/main" noGrp="1"/>
          </p:cNvSpPr>
          <p:nvPr/>
        </p:nvSpPr>
        <p:spPr>
          <a:xfrm xmlns:a="http://schemas.openxmlformats.org/drawingml/2006/main">
            <a:off x="2532888" y="1536192"/>
            <a:ext cx="384048" cy="384048"/>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01" name="Image 2"/>
          <p:cNvPicPr>
            <a:picLocks xmlns:a="http://schemas.openxmlformats.org/drawingml/2006/main" noChangeAspect="1"/>
          </p:cNvPicPr>
          <p:nvPr/>
        </p:nvPicPr>
        <p:blipFill>
          <a:blip xmlns:r="http://schemas.openxmlformats.org/officeDocument/2006/relationships" xmlns:a="http://schemas.openxmlformats.org/drawingml/2006/main" r:embed="Rbab2765d5b564cfd">
            <a:extLst>
              <a:ext uri="{96DAC541-7B7A-43D3-8B79-37D633B846F1}">
                <asvg:svgBlip xmlns:asvg="http://schemas.microsoft.com/office/drawing/2016/SVG/main" r:embed="R54e705ae1ae04526"/>
              </a:ext>
            </a:extLst>
          </a:blip>
          <a:stretch xmlns:a="http://schemas.openxmlformats.org/drawingml/2006/main">
            <a:fillRect l="0" t="0" r="0" b="0"/>
          </a:stretch>
        </p:blipFill>
        <p:spPr>
          <a:xfrm xmlns:a="http://schemas.openxmlformats.org/drawingml/2006/main">
            <a:off x="2624328" y="1647749"/>
            <a:ext cx="201168" cy="160934"/>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D45EC831-D186-4972-B34A-C5049C590A47}"/>
              </a:ext>
            </a:extLst>
          </p:cNvPr>
          <p:cNvSpPr>
            <a:spLocks xmlns:a="http://schemas.openxmlformats.org/drawingml/2006/main" noGrp="1"/>
          </p:cNvSpPr>
          <p:nvPr/>
        </p:nvSpPr>
        <p:spPr>
          <a:xfrm xmlns:a="http://schemas.openxmlformats.org/drawingml/2006/main">
            <a:off x="3017520" y="1554480"/>
            <a:ext cx="93268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LLM host</a:t>
            </a:r>
            <a:endParaRPr sz="1200"/>
          </a:p>
        </p:txBody>
      </p:sp>
      <p:sp>
        <p:nvSpPr>
          <p:cNvPr id="15" name="Text 10">
            <a:extLst xmlns:a="http://schemas.openxmlformats.org/drawingml/2006/main">
              <a:ext uri="{FF2B5EF4-FFF2-40B4-BE49-F238E27FC236}">
                <a16:creationId xmlns:a16="http://schemas.microsoft.com/office/drawing/2014/main" id="{7239F81E-7BE0-4878-BEF1-AC93EE9B9092}"/>
              </a:ext>
            </a:extLst>
          </p:cNvPr>
          <p:cNvSpPr>
            <a:spLocks xmlns:a="http://schemas.openxmlformats.org/drawingml/2006/main" noGrp="1"/>
          </p:cNvSpPr>
          <p:nvPr/>
        </p:nvSpPr>
        <p:spPr>
          <a:xfrm xmlns:a="http://schemas.openxmlformats.org/drawingml/2006/main">
            <a:off x="3017520" y="1837944"/>
            <a:ext cx="93268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Intent + tool choice</a:t>
            </a:r>
            <a:endParaRPr sz="880"/>
          </a:p>
        </p:txBody>
      </p:sp>
      <p:sp>
        <p:nvSpPr>
          <p:cNvPr id="16" name="Shape 11">
            <a:extLst xmlns:a="http://schemas.openxmlformats.org/drawingml/2006/main">
              <a:ext uri="{FF2B5EF4-FFF2-40B4-BE49-F238E27FC236}">
                <a16:creationId xmlns:a16="http://schemas.microsoft.com/office/drawing/2014/main" id="{0B90F2A5-C7F5-4C08-88B6-964ADD897AB8}"/>
              </a:ext>
            </a:extLst>
          </p:cNvPr>
          <p:cNvSpPr>
            <a:spLocks xmlns:a="http://schemas.openxmlformats.org/drawingml/2006/main" noGrp="1"/>
          </p:cNvSpPr>
          <p:nvPr/>
        </p:nvSpPr>
        <p:spPr>
          <a:xfrm xmlns:a="http://schemas.openxmlformats.org/drawingml/2006/main">
            <a:off x="4379976" y="1389888"/>
            <a:ext cx="187452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hape 12">
            <a:extLst xmlns:a="http://schemas.openxmlformats.org/drawingml/2006/main">
              <a:ext uri="{FF2B5EF4-FFF2-40B4-BE49-F238E27FC236}">
                <a16:creationId xmlns:a16="http://schemas.microsoft.com/office/drawing/2014/main" id="{523643D7-FBB6-420E-9FB9-E9AFF9465272}"/>
              </a:ext>
            </a:extLst>
          </p:cNvPr>
          <p:cNvSpPr>
            <a:spLocks xmlns:a="http://schemas.openxmlformats.org/drawingml/2006/main" noGrp="1"/>
          </p:cNvSpPr>
          <p:nvPr/>
        </p:nvSpPr>
        <p:spPr>
          <a:xfrm xmlns:a="http://schemas.openxmlformats.org/drawingml/2006/main">
            <a:off x="4517136" y="1536192"/>
            <a:ext cx="384048" cy="384048"/>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06" name="Image 3"/>
          <p:cNvPicPr>
            <a:picLocks xmlns:a="http://schemas.openxmlformats.org/drawingml/2006/main" noChangeAspect="1"/>
          </p:cNvPicPr>
          <p:nvPr/>
        </p:nvPicPr>
        <p:blipFill>
          <a:blip xmlns:r="http://schemas.openxmlformats.org/officeDocument/2006/relationships" xmlns:a="http://schemas.openxmlformats.org/drawingml/2006/main" r:embed="Rcbd7aeb3d2904398">
            <a:extLst>
              <a:ext uri="{96DAC541-7B7A-43D3-8B79-37D633B846F1}">
                <asvg:svgBlip xmlns:asvg="http://schemas.microsoft.com/office/drawing/2016/SVG/main" r:embed="Rcedcee849ce44c3e"/>
              </a:ext>
            </a:extLst>
          </a:blip>
          <a:stretch xmlns:a="http://schemas.openxmlformats.org/drawingml/2006/main">
            <a:fillRect l="0" t="0" r="0" b="0"/>
          </a:stretch>
        </p:blipFill>
        <p:spPr>
          <a:xfrm xmlns:a="http://schemas.openxmlformats.org/drawingml/2006/main">
            <a:off x="4608576" y="1627632"/>
            <a:ext cx="201168" cy="201168"/>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A24658AD-20F7-4901-B34E-EAA094ED936D}"/>
              </a:ext>
            </a:extLst>
          </p:cNvPr>
          <p:cNvSpPr>
            <a:spLocks xmlns:a="http://schemas.openxmlformats.org/drawingml/2006/main" noGrp="1"/>
          </p:cNvSpPr>
          <p:nvPr/>
        </p:nvSpPr>
        <p:spPr>
          <a:xfrm xmlns:a="http://schemas.openxmlformats.org/drawingml/2006/main">
            <a:off x="5001768" y="1554480"/>
            <a:ext cx="11155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 tool loop</a:t>
            </a:r>
            <a:endParaRPr sz="1200"/>
          </a:p>
        </p:txBody>
      </p:sp>
      <p:sp>
        <p:nvSpPr>
          <p:cNvPr id="20" name="Text 14">
            <a:extLst xmlns:a="http://schemas.openxmlformats.org/drawingml/2006/main">
              <a:ext uri="{FF2B5EF4-FFF2-40B4-BE49-F238E27FC236}">
                <a16:creationId xmlns:a16="http://schemas.microsoft.com/office/drawing/2014/main" id="{00B80172-DF58-46DB-B4BA-5627494E4EB6}"/>
              </a:ext>
            </a:extLst>
          </p:cNvPr>
          <p:cNvSpPr>
            <a:spLocks xmlns:a="http://schemas.openxmlformats.org/drawingml/2006/main" noGrp="1"/>
          </p:cNvSpPr>
          <p:nvPr/>
        </p:nvSpPr>
        <p:spPr>
          <a:xfrm xmlns:a="http://schemas.openxmlformats.org/drawingml/2006/main">
            <a:off x="5001768" y="1837944"/>
            <a:ext cx="111556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Follows the returned next step</a:t>
            </a:r>
            <a:endParaRPr sz="880"/>
          </a:p>
        </p:txBody>
      </p:sp>
      <p:sp>
        <p:nvSpPr>
          <p:cNvPr id="21" name="Shape 15">
            <a:extLst xmlns:a="http://schemas.openxmlformats.org/drawingml/2006/main">
              <a:ext uri="{FF2B5EF4-FFF2-40B4-BE49-F238E27FC236}">
                <a16:creationId xmlns:a16="http://schemas.microsoft.com/office/drawing/2014/main" id="{7B1515D3-DEC0-4B02-9F8E-9FE59743AFC4}"/>
              </a:ext>
            </a:extLst>
          </p:cNvPr>
          <p:cNvSpPr>
            <a:spLocks xmlns:a="http://schemas.openxmlformats.org/drawingml/2006/main" noGrp="1"/>
          </p:cNvSpPr>
          <p:nvPr/>
        </p:nvSpPr>
        <p:spPr>
          <a:xfrm xmlns:a="http://schemas.openxmlformats.org/drawingml/2006/main">
            <a:off x="6556248" y="1389888"/>
            <a:ext cx="178308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6">
            <a:extLst xmlns:a="http://schemas.openxmlformats.org/drawingml/2006/main">
              <a:ext uri="{FF2B5EF4-FFF2-40B4-BE49-F238E27FC236}">
                <a16:creationId xmlns:a16="http://schemas.microsoft.com/office/drawing/2014/main" id="{F91B2D6F-5427-4B48-85E8-DC899F3ABEB2}"/>
              </a:ext>
            </a:extLst>
          </p:cNvPr>
          <p:cNvSpPr>
            <a:spLocks xmlns:a="http://schemas.openxmlformats.org/drawingml/2006/main" noGrp="1"/>
          </p:cNvSpPr>
          <p:nvPr/>
        </p:nvSpPr>
        <p:spPr>
          <a:xfrm xmlns:a="http://schemas.openxmlformats.org/drawingml/2006/main">
            <a:off x="6693408" y="1536192"/>
            <a:ext cx="384048" cy="384048"/>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4"/>
          <p:cNvPicPr>
            <a:picLocks xmlns:a="http://schemas.openxmlformats.org/drawingml/2006/main" noChangeAspect="1"/>
          </p:cNvPicPr>
          <p:nvPr/>
        </p:nvPicPr>
        <p:blipFill>
          <a:blip xmlns:r="http://schemas.openxmlformats.org/officeDocument/2006/relationships" xmlns:a="http://schemas.openxmlformats.org/drawingml/2006/main" r:embed="R278d0aa2ae094ba4">
            <a:extLst>
              <a:ext uri="{96DAC541-7B7A-43D3-8B79-37D633B846F1}">
                <asvg:svgBlip xmlns:asvg="http://schemas.microsoft.com/office/drawing/2016/SVG/main" r:embed="Rc233993cfed74a51"/>
              </a:ext>
            </a:extLst>
          </a:blip>
          <a:stretch xmlns:a="http://schemas.openxmlformats.org/drawingml/2006/main">
            <a:fillRect l="0" t="0" r="0" b="0"/>
          </a:stretch>
        </p:blipFill>
        <p:spPr>
          <a:xfrm xmlns:a="http://schemas.openxmlformats.org/drawingml/2006/main">
            <a:off x="6784848" y="1627632"/>
            <a:ext cx="201168" cy="201168"/>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F48DE19-E965-437A-9738-9D7D62FC7760}"/>
              </a:ext>
            </a:extLst>
          </p:cNvPr>
          <p:cNvSpPr>
            <a:spLocks xmlns:a="http://schemas.openxmlformats.org/drawingml/2006/main" noGrp="1"/>
          </p:cNvSpPr>
          <p:nvPr/>
        </p:nvSpPr>
        <p:spPr>
          <a:xfrm xmlns:a="http://schemas.openxmlformats.org/drawingml/2006/main">
            <a:off x="7178040" y="1554480"/>
            <a:ext cx="102412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8303"/>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FastMCP service</a:t>
            </a:r>
            <a:endParaRPr sz="1200"/>
          </a:p>
        </p:txBody>
      </p:sp>
      <p:sp>
        <p:nvSpPr>
          <p:cNvPr id="25" name="Text 18">
            <a:extLst xmlns:a="http://schemas.openxmlformats.org/drawingml/2006/main">
              <a:ext uri="{FF2B5EF4-FFF2-40B4-BE49-F238E27FC236}">
                <a16:creationId xmlns:a16="http://schemas.microsoft.com/office/drawing/2014/main" id="{301393DF-F43B-46D0-9791-673CE4EA2E00}"/>
              </a:ext>
            </a:extLst>
          </p:cNvPr>
          <p:cNvSpPr>
            <a:spLocks xmlns:a="http://schemas.openxmlformats.org/drawingml/2006/main" noGrp="1"/>
          </p:cNvSpPr>
          <p:nvPr/>
        </p:nvSpPr>
        <p:spPr>
          <a:xfrm xmlns:a="http://schemas.openxmlformats.org/drawingml/2006/main">
            <a:off x="7178040" y="1837944"/>
            <a:ext cx="102412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25 narrow tools</a:t>
            </a:r>
            <a:endParaRPr sz="880"/>
          </a:p>
        </p:txBody>
      </p:sp>
      <p:sp>
        <p:nvSpPr>
          <p:cNvPr id="26" name="Shape 19">
            <a:extLst xmlns:a="http://schemas.openxmlformats.org/drawingml/2006/main">
              <a:ext uri="{FF2B5EF4-FFF2-40B4-BE49-F238E27FC236}">
                <a16:creationId xmlns:a16="http://schemas.microsoft.com/office/drawing/2014/main" id="{73E9A047-D24C-47AF-B68C-FB30683B762D}"/>
              </a:ext>
            </a:extLst>
          </p:cNvPr>
          <p:cNvSpPr>
            <a:spLocks xmlns:a="http://schemas.openxmlformats.org/drawingml/2006/main" noGrp="1"/>
          </p:cNvSpPr>
          <p:nvPr/>
        </p:nvSpPr>
        <p:spPr>
          <a:xfrm xmlns:a="http://schemas.openxmlformats.org/drawingml/2006/main">
            <a:off x="8631936" y="1389888"/>
            <a:ext cx="1773936"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Shape 20">
            <a:extLst xmlns:a="http://schemas.openxmlformats.org/drawingml/2006/main">
              <a:ext uri="{FF2B5EF4-FFF2-40B4-BE49-F238E27FC236}">
                <a16:creationId xmlns:a16="http://schemas.microsoft.com/office/drawing/2014/main" id="{2683301F-3B45-4779-A6C3-8950994C410F}"/>
              </a:ext>
            </a:extLst>
          </p:cNvPr>
          <p:cNvSpPr>
            <a:spLocks xmlns:a="http://schemas.openxmlformats.org/drawingml/2006/main" noGrp="1"/>
          </p:cNvSpPr>
          <p:nvPr/>
        </p:nvSpPr>
        <p:spPr>
          <a:xfrm xmlns:a="http://schemas.openxmlformats.org/drawingml/2006/main">
            <a:off x="8769096" y="1536192"/>
            <a:ext cx="384048" cy="384048"/>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6" name="Image 5"/>
          <p:cNvPicPr>
            <a:picLocks xmlns:a="http://schemas.openxmlformats.org/drawingml/2006/main" noChangeAspect="1"/>
          </p:cNvPicPr>
          <p:nvPr/>
        </p:nvPicPr>
        <p:blipFill>
          <a:blip xmlns:r="http://schemas.openxmlformats.org/officeDocument/2006/relationships" xmlns:a="http://schemas.openxmlformats.org/drawingml/2006/main" r:embed="Rbe7922d4c5404a50">
            <a:extLst>
              <a:ext uri="{96DAC541-7B7A-43D3-8B79-37D633B846F1}">
                <asvg:svgBlip xmlns:asvg="http://schemas.microsoft.com/office/drawing/2016/SVG/main" r:embed="R2925bc0dfcb048b9"/>
              </a:ext>
            </a:extLst>
          </a:blip>
          <a:stretch xmlns:a="http://schemas.openxmlformats.org/drawingml/2006/main">
            <a:fillRect l="0" t="0" r="0" b="0"/>
          </a:stretch>
        </p:blipFill>
        <p:spPr>
          <a:xfrm xmlns:a="http://schemas.openxmlformats.org/drawingml/2006/main">
            <a:off x="8860536" y="1627632"/>
            <a:ext cx="201168" cy="201168"/>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FAFFFBD2-06B3-434C-B367-4F85912A425A}"/>
              </a:ext>
            </a:extLst>
          </p:cNvPr>
          <p:cNvSpPr>
            <a:spLocks xmlns:a="http://schemas.openxmlformats.org/drawingml/2006/main" noGrp="1"/>
          </p:cNvSpPr>
          <p:nvPr/>
        </p:nvSpPr>
        <p:spPr>
          <a:xfrm xmlns:a="http://schemas.openxmlformats.org/drawingml/2006/main">
            <a:off x="9253728" y="1554480"/>
            <a:ext cx="10149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SQL policy</a:t>
            </a:r>
            <a:endParaRPr sz="1200"/>
          </a:p>
        </p:txBody>
      </p:sp>
      <p:sp>
        <p:nvSpPr>
          <p:cNvPr id="30" name="Text 22">
            <a:extLst xmlns:a="http://schemas.openxmlformats.org/drawingml/2006/main">
              <a:ext uri="{FF2B5EF4-FFF2-40B4-BE49-F238E27FC236}">
                <a16:creationId xmlns:a16="http://schemas.microsoft.com/office/drawing/2014/main" id="{5F559E3C-26FB-4AE0-9DAF-05E1673CFB17}"/>
              </a:ext>
            </a:extLst>
          </p:cNvPr>
          <p:cNvSpPr>
            <a:spLocks xmlns:a="http://schemas.openxmlformats.org/drawingml/2006/main" noGrp="1"/>
          </p:cNvSpPr>
          <p:nvPr/>
        </p:nvSpPr>
        <p:spPr>
          <a:xfrm xmlns:a="http://schemas.openxmlformats.org/drawingml/2006/main">
            <a:off x="9253728" y="1837944"/>
            <a:ext cx="1014984"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Parse + authorize</a:t>
            </a:r>
            <a:endParaRPr sz="880"/>
          </a:p>
        </p:txBody>
      </p:sp>
      <p:sp>
        <p:nvSpPr>
          <p:cNvPr id="31" name="Shape 23">
            <a:extLst xmlns:a="http://schemas.openxmlformats.org/drawingml/2006/main">
              <a:ext uri="{FF2B5EF4-FFF2-40B4-BE49-F238E27FC236}">
                <a16:creationId xmlns:a16="http://schemas.microsoft.com/office/drawing/2014/main" id="{74B2AAF3-6B3C-4839-ACB7-B6869884E0B8}"/>
              </a:ext>
            </a:extLst>
          </p:cNvPr>
          <p:cNvSpPr>
            <a:spLocks xmlns:a="http://schemas.openxmlformats.org/drawingml/2006/main" noGrp="1"/>
          </p:cNvSpPr>
          <p:nvPr/>
        </p:nvSpPr>
        <p:spPr>
          <a:xfrm xmlns:a="http://schemas.openxmlformats.org/drawingml/2006/main">
            <a:off x="10698480" y="1389888"/>
            <a:ext cx="987552"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Shape 24">
            <a:extLst xmlns:a="http://schemas.openxmlformats.org/drawingml/2006/main">
              <a:ext uri="{FF2B5EF4-FFF2-40B4-BE49-F238E27FC236}">
                <a16:creationId xmlns:a16="http://schemas.microsoft.com/office/drawing/2014/main" id="{F178C43E-DEA9-4083-A960-164834F52760}"/>
              </a:ext>
            </a:extLst>
          </p:cNvPr>
          <p:cNvSpPr>
            <a:spLocks xmlns:a="http://schemas.openxmlformats.org/drawingml/2006/main" noGrp="1"/>
          </p:cNvSpPr>
          <p:nvPr/>
        </p:nvSpPr>
        <p:spPr>
          <a:xfrm xmlns:a="http://schemas.openxmlformats.org/drawingml/2006/main">
            <a:off x="10771632" y="1536192"/>
            <a:ext cx="347472" cy="347472"/>
          </a:xfrm>
          <a:prstGeom xmlns:a="http://schemas.openxmlformats.org/drawingml/2006/main" prst="ellipse">
            <a:avLst/>
          </a:prstGeom>
          <a:solidFill xmlns:a="http://schemas.openxmlformats.org/drawingml/2006/main">
            <a:srgbClr val="63E69C">
              <a:alpha val="18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1" name="Image 6"/>
          <p:cNvPicPr>
            <a:picLocks xmlns:a="http://schemas.openxmlformats.org/drawingml/2006/main" noChangeAspect="1"/>
          </p:cNvPicPr>
          <p:nvPr/>
        </p:nvPicPr>
        <p:blipFill>
          <a:blip xmlns:r="http://schemas.openxmlformats.org/officeDocument/2006/relationships" xmlns:a="http://schemas.openxmlformats.org/drawingml/2006/main" r:embed="R5d3d9d3be97547e7">
            <a:extLst>
              <a:ext uri="{96DAC541-7B7A-43D3-8B79-37D633B846F1}">
                <asvg:svgBlip xmlns:asvg="http://schemas.microsoft.com/office/drawing/2016/SVG/main" r:embed="R06c7fe855d3d4e6c"/>
              </a:ext>
            </a:extLst>
          </a:blip>
          <a:stretch xmlns:a="http://schemas.openxmlformats.org/drawingml/2006/main">
            <a:fillRect l="0" t="0" r="0" b="0"/>
          </a:stretch>
        </p:blipFill>
        <p:spPr>
          <a:xfrm xmlns:a="http://schemas.openxmlformats.org/drawingml/2006/main">
            <a:off x="10865358" y="1618488"/>
            <a:ext cx="160020" cy="182880"/>
          </a:xfrm>
          <a:prstGeom xmlns:a="http://schemas.openxmlformats.org/drawingml/2006/main" prst="rect">
            <a:avLst/>
          </a:prstGeom>
        </p:spPr>
      </p:pic>
      <p:sp>
        <p:nvSpPr>
          <p:cNvPr id="34" name="Text 25">
            <a:extLst xmlns:a="http://schemas.openxmlformats.org/drawingml/2006/main">
              <a:ext uri="{FF2B5EF4-FFF2-40B4-BE49-F238E27FC236}">
                <a16:creationId xmlns:a16="http://schemas.microsoft.com/office/drawing/2014/main" id="{8913FA0D-A246-46E2-BEE4-7C9B9C2BFCEA}"/>
              </a:ext>
            </a:extLst>
          </p:cNvPr>
          <p:cNvSpPr>
            <a:spLocks xmlns:a="http://schemas.openxmlformats.org/drawingml/2006/main" noGrp="1"/>
          </p:cNvSpPr>
          <p:nvPr/>
        </p:nvSpPr>
        <p:spPr>
          <a:xfrm xmlns:a="http://schemas.openxmlformats.org/drawingml/2006/main">
            <a:off x="11155680" y="1554480"/>
            <a:ext cx="4572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F7FAFF"/>
                </a:solidFill>
                <a:latin typeface="Inter"/>
                <a:ea typeface="Inter"/>
                <a:cs typeface="Inter"/>
              </a:rPr>
              <a:t>Data</a:t>
            </a:r>
            <a:endParaRPr sz="1020"/>
          </a:p>
        </p:txBody>
      </p:sp>
      <p:sp>
        <p:nvSpPr>
          <p:cNvPr id="35" name="Shape 26">
            <a:extLst xmlns:a="http://schemas.openxmlformats.org/drawingml/2006/main">
              <a:ext uri="{FF2B5EF4-FFF2-40B4-BE49-F238E27FC236}">
                <a16:creationId xmlns:a16="http://schemas.microsoft.com/office/drawing/2014/main" id="{650D0BDF-FB74-44CE-91DC-4EE9A607AA66}"/>
              </a:ext>
            </a:extLst>
          </p:cNvPr>
          <p:cNvSpPr>
            <a:spLocks xmlns:a="http://schemas.openxmlformats.org/drawingml/2006/main" noGrp="1"/>
          </p:cNvSpPr>
          <p:nvPr/>
        </p:nvSpPr>
        <p:spPr>
          <a:xfrm xmlns:a="http://schemas.openxmlformats.org/drawingml/2006/main">
            <a:off x="2103120"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6" name="Shape 27">
            <a:extLst xmlns:a="http://schemas.openxmlformats.org/drawingml/2006/main">
              <a:ext uri="{FF2B5EF4-FFF2-40B4-BE49-F238E27FC236}">
                <a16:creationId xmlns:a16="http://schemas.microsoft.com/office/drawing/2014/main" id="{D499D7F2-5D96-40B8-9607-A9BD98FA66F0}"/>
              </a:ext>
            </a:extLst>
          </p:cNvPr>
          <p:cNvSpPr>
            <a:spLocks xmlns:a="http://schemas.openxmlformats.org/drawingml/2006/main" noGrp="1"/>
          </p:cNvSpPr>
          <p:nvPr/>
        </p:nvSpPr>
        <p:spPr>
          <a:xfrm xmlns:a="http://schemas.openxmlformats.org/drawingml/2006/main">
            <a:off x="4087368"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7" name="Shape 28">
            <a:extLst xmlns:a="http://schemas.openxmlformats.org/drawingml/2006/main">
              <a:ext uri="{FF2B5EF4-FFF2-40B4-BE49-F238E27FC236}">
                <a16:creationId xmlns:a16="http://schemas.microsoft.com/office/drawing/2014/main" id="{54B0E59C-E095-4318-93B5-2CCEA894435B}"/>
              </a:ext>
            </a:extLst>
          </p:cNvPr>
          <p:cNvSpPr>
            <a:spLocks xmlns:a="http://schemas.openxmlformats.org/drawingml/2006/main" noGrp="1"/>
          </p:cNvSpPr>
          <p:nvPr/>
        </p:nvSpPr>
        <p:spPr>
          <a:xfrm xmlns:a="http://schemas.openxmlformats.org/drawingml/2006/main">
            <a:off x="6254496" y="1874520"/>
            <a:ext cx="301752"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8" name="Shape 29">
            <a:extLst xmlns:a="http://schemas.openxmlformats.org/drawingml/2006/main">
              <a:ext uri="{FF2B5EF4-FFF2-40B4-BE49-F238E27FC236}">
                <a16:creationId xmlns:a16="http://schemas.microsoft.com/office/drawing/2014/main" id="{AC4D682A-3C64-406F-991C-D7733DFC343D}"/>
              </a:ext>
            </a:extLst>
          </p:cNvPr>
          <p:cNvSpPr>
            <a:spLocks xmlns:a="http://schemas.openxmlformats.org/drawingml/2006/main" noGrp="1"/>
          </p:cNvSpPr>
          <p:nvPr/>
        </p:nvSpPr>
        <p:spPr>
          <a:xfrm xmlns:a="http://schemas.openxmlformats.org/drawingml/2006/main">
            <a:off x="8339328"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9" name="Shape 30">
            <a:extLst xmlns:a="http://schemas.openxmlformats.org/drawingml/2006/main">
              <a:ext uri="{FF2B5EF4-FFF2-40B4-BE49-F238E27FC236}">
                <a16:creationId xmlns:a16="http://schemas.microsoft.com/office/drawing/2014/main" id="{FB1AE81D-0CA3-4F5C-90D0-AA4411B7A54E}"/>
              </a:ext>
            </a:extLst>
          </p:cNvPr>
          <p:cNvSpPr>
            <a:spLocks xmlns:a="http://schemas.openxmlformats.org/drawingml/2006/main" noGrp="1"/>
          </p:cNvSpPr>
          <p:nvPr/>
        </p:nvSpPr>
        <p:spPr>
          <a:xfrm xmlns:a="http://schemas.openxmlformats.org/drawingml/2006/main">
            <a:off x="10405872"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0" name="Shape 31">
            <a:extLst xmlns:a="http://schemas.openxmlformats.org/drawingml/2006/main">
              <a:ext uri="{FF2B5EF4-FFF2-40B4-BE49-F238E27FC236}">
                <a16:creationId xmlns:a16="http://schemas.microsoft.com/office/drawing/2014/main" id="{B411408D-0949-434F-8862-0900E6955070}"/>
              </a:ext>
            </a:extLst>
          </p:cNvPr>
          <p:cNvSpPr>
            <a:spLocks xmlns:a="http://schemas.openxmlformats.org/drawingml/2006/main" noGrp="1"/>
          </p:cNvSpPr>
          <p:nvPr/>
        </p:nvSpPr>
        <p:spPr>
          <a:xfrm xmlns:a="http://schemas.openxmlformats.org/drawingml/2006/main">
            <a:off x="502920" y="2743200"/>
            <a:ext cx="3584448" cy="676656"/>
          </a:xfrm>
          <a:prstGeom xmlns:a="http://schemas.openxmlformats.org/drawingml/2006/main" prst="roundRect">
            <a:avLst>
              <a:gd name="adj" fmla="val 10811"/>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29" name="Image 7"/>
          <p:cNvPicPr>
            <a:picLocks xmlns:a="http://schemas.openxmlformats.org/drawingml/2006/main" noChangeAspect="1"/>
          </p:cNvPicPr>
          <p:nvPr/>
        </p:nvPicPr>
        <p:blipFill>
          <a:blip xmlns:r="http://schemas.openxmlformats.org/officeDocument/2006/relationships" xmlns:a="http://schemas.openxmlformats.org/drawingml/2006/main" r:embed="R97ed0f7a03f74a9f">
            <a:extLst>
              <a:ext uri="{96DAC541-7B7A-43D3-8B79-37D633B846F1}">
                <asvg:svgBlip xmlns:asvg="http://schemas.microsoft.com/office/drawing/2016/SVG/main" r:embed="Re9925d8957e64643"/>
              </a:ext>
            </a:extLst>
          </a:blip>
          <a:stretch xmlns:a="http://schemas.openxmlformats.org/drawingml/2006/main">
            <a:fillRect l="0" t="0" r="0" b="0"/>
          </a:stretch>
        </p:blipFill>
        <p:spPr>
          <a:xfrm xmlns:a="http://schemas.openxmlformats.org/drawingml/2006/main">
            <a:off x="713232" y="2916936"/>
            <a:ext cx="237744" cy="237744"/>
          </a:xfrm>
          <a:prstGeom xmlns:a="http://schemas.openxmlformats.org/drawingml/2006/main" prst="rect">
            <a:avLst/>
          </a:prstGeom>
        </p:spPr>
      </p:pic>
      <p:sp>
        <p:nvSpPr>
          <p:cNvPr id="42" name="Text 32">
            <a:extLst xmlns:a="http://schemas.openxmlformats.org/drawingml/2006/main">
              <a:ext uri="{FF2B5EF4-FFF2-40B4-BE49-F238E27FC236}">
                <a16:creationId xmlns:a16="http://schemas.microsoft.com/office/drawing/2014/main" id="{BC36EB6C-886A-45CC-8F68-DC084557DFB1}"/>
              </a:ext>
            </a:extLst>
          </p:cNvPr>
          <p:cNvSpPr>
            <a:spLocks xmlns:a="http://schemas.openxmlformats.org/drawingml/2006/main" noGrp="1"/>
          </p:cNvSpPr>
          <p:nvPr/>
        </p:nvSpPr>
        <p:spPr>
          <a:xfrm xmlns:a="http://schemas.openxmlformats.org/drawingml/2006/main">
            <a:off x="1033272" y="2871216"/>
            <a:ext cx="104241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Bearer context</a:t>
            </a:r>
            <a:endParaRPr sz="1250"/>
          </a:p>
        </p:txBody>
      </p:sp>
      <p:sp>
        <p:nvSpPr>
          <p:cNvPr id="43" name="Text 33">
            <a:extLst xmlns:a="http://schemas.openxmlformats.org/drawingml/2006/main">
              <a:ext uri="{FF2B5EF4-FFF2-40B4-BE49-F238E27FC236}">
                <a16:creationId xmlns:a16="http://schemas.microsoft.com/office/drawing/2014/main" id="{BA09146D-D89B-4573-A40E-6995C5AD3D77}"/>
              </a:ext>
            </a:extLst>
          </p:cNvPr>
          <p:cNvSpPr>
            <a:spLocks xmlns:a="http://schemas.openxmlformats.org/drawingml/2006/main" noGrp="1"/>
          </p:cNvSpPr>
          <p:nvPr/>
        </p:nvSpPr>
        <p:spPr>
          <a:xfrm xmlns:a="http://schemas.openxmlformats.org/drawingml/2006/main">
            <a:off x="2057400" y="2871216"/>
            <a:ext cx="177393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40">
                <a:solidFill>
                  <a:srgbClr val="A7B5C8"/>
                </a:solidFill>
                <a:latin typeface="Inter"/>
                <a:ea typeface="Inter"/>
                <a:cs typeface="Inter"/>
              </a:rPr>
              <a:t>User identity on every call</a:t>
            </a:r>
            <a:endParaRPr sz="940"/>
          </a:p>
        </p:txBody>
      </p:sp>
      <p:sp>
        <p:nvSpPr>
          <p:cNvPr id="44" name="Shape 34">
            <a:extLst xmlns:a="http://schemas.openxmlformats.org/drawingml/2006/main">
              <a:ext uri="{FF2B5EF4-FFF2-40B4-BE49-F238E27FC236}">
                <a16:creationId xmlns:a16="http://schemas.microsoft.com/office/drawing/2014/main" id="{43EF1EDF-E103-41A1-97B2-A9AE7D8A5D51}"/>
              </a:ext>
            </a:extLst>
          </p:cNvPr>
          <p:cNvSpPr>
            <a:spLocks xmlns:a="http://schemas.openxmlformats.org/drawingml/2006/main" noGrp="1"/>
          </p:cNvSpPr>
          <p:nvPr/>
        </p:nvSpPr>
        <p:spPr>
          <a:xfrm xmlns:a="http://schemas.openxmlformats.org/drawingml/2006/main">
            <a:off x="2322576" y="2743200"/>
            <a:ext cx="0" cy="0"/>
          </a:xfrm>
          <a:prstGeom xmlns:a="http://schemas.openxmlformats.org/drawingml/2006/main" prst="line">
            <a:avLst/>
          </a:prstGeom>
          <a:noFill xmlns:a="http://schemas.openxmlformats.org/drawingml/2006/main"/>
          <a:ln xmlns:a="http://schemas.openxmlformats.org/drawingml/2006/main" w="12700">
            <a:solidFill>
              <a:srgbClr val="5B7CFF"/>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5" name="Shape 35">
            <a:extLst xmlns:a="http://schemas.openxmlformats.org/drawingml/2006/main">
              <a:ext uri="{FF2B5EF4-FFF2-40B4-BE49-F238E27FC236}">
                <a16:creationId xmlns:a16="http://schemas.microsoft.com/office/drawing/2014/main" id="{E4E2BF34-7045-441C-A215-AC935668D1C5}"/>
              </a:ext>
            </a:extLst>
          </p:cNvPr>
          <p:cNvSpPr>
            <a:spLocks xmlns:a="http://schemas.openxmlformats.org/drawingml/2006/main" noGrp="1"/>
          </p:cNvSpPr>
          <p:nvPr/>
        </p:nvSpPr>
        <p:spPr>
          <a:xfrm xmlns:a="http://schemas.openxmlformats.org/drawingml/2006/main">
            <a:off x="4379976" y="2743200"/>
            <a:ext cx="3959352" cy="676656"/>
          </a:xfrm>
          <a:prstGeom xmlns:a="http://schemas.openxmlformats.org/drawingml/2006/main" prst="roundRect">
            <a:avLst>
              <a:gd name="adj" fmla="val 10811"/>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4" name="Image 8"/>
          <p:cNvPicPr>
            <a:picLocks xmlns:a="http://schemas.openxmlformats.org/drawingml/2006/main" noChangeAspect="1"/>
          </p:cNvPicPr>
          <p:nvPr/>
        </p:nvPicPr>
        <p:blipFill>
          <a:blip xmlns:r="http://schemas.openxmlformats.org/officeDocument/2006/relationships" xmlns:a="http://schemas.openxmlformats.org/drawingml/2006/main" r:embed="R1021c50a69114798">
            <a:extLst>
              <a:ext uri="{96DAC541-7B7A-43D3-8B79-37D633B846F1}">
                <asvg:svgBlip xmlns:asvg="http://schemas.microsoft.com/office/drawing/2016/SVG/main" r:embed="R631b744c27274051"/>
              </a:ext>
            </a:extLst>
          </a:blip>
          <a:stretch xmlns:a="http://schemas.openxmlformats.org/drawingml/2006/main">
            <a:fillRect l="0" t="0" r="0" b="0"/>
          </a:stretch>
        </p:blipFill>
        <p:spPr>
          <a:xfrm xmlns:a="http://schemas.openxmlformats.org/drawingml/2006/main">
            <a:off x="4590288" y="2916936"/>
            <a:ext cx="237744" cy="237744"/>
          </a:xfrm>
          <a:prstGeom xmlns:a="http://schemas.openxmlformats.org/drawingml/2006/main" prst="rect">
            <a:avLst/>
          </a:prstGeom>
        </p:spPr>
      </p:pic>
      <p:sp>
        <p:nvSpPr>
          <p:cNvPr id="47" name="Text 36">
            <a:extLst xmlns:a="http://schemas.openxmlformats.org/drawingml/2006/main">
              <a:ext uri="{FF2B5EF4-FFF2-40B4-BE49-F238E27FC236}">
                <a16:creationId xmlns:a16="http://schemas.microsoft.com/office/drawing/2014/main" id="{7AE346DD-D721-4189-AEB9-90CF373AAD6F}"/>
              </a:ext>
            </a:extLst>
          </p:cNvPr>
          <p:cNvSpPr>
            <a:spLocks xmlns:a="http://schemas.openxmlformats.org/drawingml/2006/main" noGrp="1"/>
          </p:cNvSpPr>
          <p:nvPr/>
        </p:nvSpPr>
        <p:spPr>
          <a:xfrm xmlns:a="http://schemas.openxmlformats.org/drawingml/2006/main">
            <a:off x="4919472" y="2871216"/>
            <a:ext cx="168249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Cached metadata</a:t>
            </a:r>
            <a:endParaRPr sz="1250"/>
          </a:p>
        </p:txBody>
      </p:sp>
      <p:sp>
        <p:nvSpPr>
          <p:cNvPr id="48" name="Text 37">
            <a:extLst xmlns:a="http://schemas.openxmlformats.org/drawingml/2006/main">
              <a:ext uri="{FF2B5EF4-FFF2-40B4-BE49-F238E27FC236}">
                <a16:creationId xmlns:a16="http://schemas.microsoft.com/office/drawing/2014/main" id="{E5FFD709-9BF5-4F32-B72D-52F03B768F94}"/>
              </a:ext>
            </a:extLst>
          </p:cNvPr>
          <p:cNvSpPr>
            <a:spLocks xmlns:a="http://schemas.openxmlformats.org/drawingml/2006/main" noGrp="1"/>
          </p:cNvSpPr>
          <p:nvPr/>
        </p:nvSpPr>
        <p:spPr>
          <a:xfrm xmlns:a="http://schemas.openxmlformats.org/drawingml/2006/main">
            <a:off x="6537960" y="2871216"/>
            <a:ext cx="15361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40">
                <a:solidFill>
                  <a:srgbClr val="A7B5C8"/>
                </a:solidFill>
                <a:latin typeface="Inter"/>
                <a:ea typeface="Inter"/>
                <a:cs typeface="Inter"/>
              </a:rPr>
              <a:t>FAISS index + schema cache</a:t>
            </a:r>
            <a:endParaRPr sz="940"/>
          </a:p>
        </p:txBody>
      </p:sp>
      <p:sp>
        <p:nvSpPr>
          <p:cNvPr id="49" name="Shape 38">
            <a:extLst xmlns:a="http://schemas.openxmlformats.org/drawingml/2006/main">
              <a:ext uri="{FF2B5EF4-FFF2-40B4-BE49-F238E27FC236}">
                <a16:creationId xmlns:a16="http://schemas.microsoft.com/office/drawing/2014/main" id="{1FC2137C-3F4E-445C-80B2-A24537C027DD}"/>
              </a:ext>
            </a:extLst>
          </p:cNvPr>
          <p:cNvSpPr>
            <a:spLocks xmlns:a="http://schemas.openxmlformats.org/drawingml/2006/main" noGrp="1"/>
          </p:cNvSpPr>
          <p:nvPr/>
        </p:nvSpPr>
        <p:spPr>
          <a:xfrm xmlns:a="http://schemas.openxmlformats.org/drawingml/2006/main">
            <a:off x="6254496" y="2743200"/>
            <a:ext cx="0" cy="0"/>
          </a:xfrm>
          <a:prstGeom xmlns:a="http://schemas.openxmlformats.org/drawingml/2006/main" prst="line">
            <a:avLst/>
          </a:prstGeom>
          <a:noFill xmlns:a="http://schemas.openxmlformats.org/drawingml/2006/main"/>
          <a:ln xmlns:a="http://schemas.openxmlformats.org/drawingml/2006/main" w="12700">
            <a:solidFill>
              <a:srgbClr val="A879FF"/>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0" name="Text 39">
            <a:extLst xmlns:a="http://schemas.openxmlformats.org/drawingml/2006/main">
              <a:ext uri="{FF2B5EF4-FFF2-40B4-BE49-F238E27FC236}">
                <a16:creationId xmlns:a16="http://schemas.microsoft.com/office/drawing/2014/main" id="{F35B18B4-A7C4-497D-B532-7642E257FC3E}"/>
              </a:ext>
            </a:extLst>
          </p:cNvPr>
          <p:cNvSpPr>
            <a:spLocks xmlns:a="http://schemas.openxmlformats.org/drawingml/2006/main" noGrp="1"/>
          </p:cNvSpPr>
          <p:nvPr/>
        </p:nvSpPr>
        <p:spPr>
          <a:xfrm xmlns:a="http://schemas.openxmlformats.org/drawingml/2006/main">
            <a:off x="6565392" y="3803904"/>
            <a:ext cx="1828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20">
                <a:solidFill>
                  <a:srgbClr val="72839A"/>
                </a:solidFill>
                <a:latin typeface="Inter"/>
                <a:ea typeface="Inter"/>
                <a:cs typeface="Inter"/>
              </a:rPr>
              <a:t>OUTPUT ADAPTERS</a:t>
            </a:r>
            <a:endParaRPr sz="900"/>
          </a:p>
        </p:txBody>
      </p:sp>
      <p:sp>
        <p:nvSpPr>
          <p:cNvPr id="51" name="Shape 40">
            <a:extLst xmlns:a="http://schemas.openxmlformats.org/drawingml/2006/main">
              <a:ext uri="{FF2B5EF4-FFF2-40B4-BE49-F238E27FC236}">
                <a16:creationId xmlns:a16="http://schemas.microsoft.com/office/drawing/2014/main" id="{B9673729-E0EB-4C89-B14E-722420451CEC}"/>
              </a:ext>
            </a:extLst>
          </p:cNvPr>
          <p:cNvSpPr>
            <a:spLocks xmlns:a="http://schemas.openxmlformats.org/drawingml/2006/main" noGrp="1"/>
          </p:cNvSpPr>
          <p:nvPr/>
        </p:nvSpPr>
        <p:spPr>
          <a:xfrm xmlns:a="http://schemas.openxmlformats.org/drawingml/2006/main">
            <a:off x="6565392"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0" name="Image 9"/>
          <p:cNvPicPr>
            <a:picLocks xmlns:a="http://schemas.openxmlformats.org/drawingml/2006/main" noChangeAspect="1"/>
          </p:cNvPicPr>
          <p:nvPr/>
        </p:nvPicPr>
        <p:blipFill>
          <a:blip xmlns:r="http://schemas.openxmlformats.org/officeDocument/2006/relationships" xmlns:a="http://schemas.openxmlformats.org/drawingml/2006/main" r:embed="R4f7d9f60efef4ba4">
            <a:extLst>
              <a:ext uri="{96DAC541-7B7A-43D3-8B79-37D633B846F1}">
                <asvg:svgBlip xmlns:asvg="http://schemas.microsoft.com/office/drawing/2016/SVG/main" r:embed="R8ad2e7d218f04afb"/>
              </a:ext>
            </a:extLst>
          </a:blip>
          <a:stretch xmlns:a="http://schemas.openxmlformats.org/drawingml/2006/main">
            <a:fillRect l="0" t="0" r="0" b="0"/>
          </a:stretch>
        </p:blipFill>
        <p:spPr>
          <a:xfrm xmlns:a="http://schemas.openxmlformats.org/drawingml/2006/main">
            <a:off x="6830568" y="4251960"/>
            <a:ext cx="310896" cy="310896"/>
          </a:xfrm>
          <a:prstGeom xmlns:a="http://schemas.openxmlformats.org/drawingml/2006/main" prst="rect">
            <a:avLst/>
          </a:prstGeom>
        </p:spPr>
      </p:pic>
      <p:sp>
        <p:nvSpPr>
          <p:cNvPr id="53" name="Text 41">
            <a:extLst xmlns:a="http://schemas.openxmlformats.org/drawingml/2006/main">
              <a:ext uri="{FF2B5EF4-FFF2-40B4-BE49-F238E27FC236}">
                <a16:creationId xmlns:a16="http://schemas.microsoft.com/office/drawing/2014/main" id="{3B9EE602-A3E4-4668-83F9-A467D1B805A0}"/>
              </a:ext>
            </a:extLst>
          </p:cNvPr>
          <p:cNvSpPr>
            <a:spLocks xmlns:a="http://schemas.openxmlformats.org/drawingml/2006/main" noGrp="1"/>
          </p:cNvSpPr>
          <p:nvPr/>
        </p:nvSpPr>
        <p:spPr>
          <a:xfrm xmlns:a="http://schemas.openxmlformats.org/drawingml/2006/main">
            <a:off x="6638544"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Table</a:t>
            </a:r>
            <a:endParaRPr sz="850"/>
          </a:p>
        </p:txBody>
      </p:sp>
      <p:sp>
        <p:nvSpPr>
          <p:cNvPr id="54" name="Shape 42">
            <a:extLst xmlns:a="http://schemas.openxmlformats.org/drawingml/2006/main">
              <a:ext uri="{FF2B5EF4-FFF2-40B4-BE49-F238E27FC236}">
                <a16:creationId xmlns:a16="http://schemas.microsoft.com/office/drawing/2014/main" id="{B3D37E52-9861-44B0-8377-BFB799269D11}"/>
              </a:ext>
            </a:extLst>
          </p:cNvPr>
          <p:cNvSpPr>
            <a:spLocks xmlns:a="http://schemas.openxmlformats.org/drawingml/2006/main" noGrp="1"/>
          </p:cNvSpPr>
          <p:nvPr/>
        </p:nvSpPr>
        <p:spPr>
          <a:xfrm xmlns:a="http://schemas.openxmlformats.org/drawingml/2006/main">
            <a:off x="7626096"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3" name="Image 10"/>
          <p:cNvPicPr>
            <a:picLocks xmlns:a="http://schemas.openxmlformats.org/drawingml/2006/main" noChangeAspect="1"/>
          </p:cNvPicPr>
          <p:nvPr/>
        </p:nvPicPr>
        <p:blipFill>
          <a:blip xmlns:r="http://schemas.openxmlformats.org/officeDocument/2006/relationships" xmlns:a="http://schemas.openxmlformats.org/drawingml/2006/main" r:embed="Rae68b42661f643df">
            <a:extLst>
              <a:ext uri="{96DAC541-7B7A-43D3-8B79-37D633B846F1}">
                <asvg:svgBlip xmlns:asvg="http://schemas.microsoft.com/office/drawing/2016/SVG/main" r:embed="Rded267d9fc4b4ff8"/>
              </a:ext>
            </a:extLst>
          </a:blip>
          <a:stretch xmlns:a="http://schemas.openxmlformats.org/drawingml/2006/main">
            <a:fillRect l="0" t="0" r="0" b="0"/>
          </a:stretch>
        </p:blipFill>
        <p:spPr>
          <a:xfrm xmlns:a="http://schemas.openxmlformats.org/drawingml/2006/main">
            <a:off x="7891272" y="4251960"/>
            <a:ext cx="310896" cy="310896"/>
          </a:xfrm>
          <a:prstGeom xmlns:a="http://schemas.openxmlformats.org/drawingml/2006/main" prst="rect">
            <a:avLst/>
          </a:prstGeom>
        </p:spPr>
      </p:pic>
      <p:sp>
        <p:nvSpPr>
          <p:cNvPr id="56" name="Text 43">
            <a:extLst xmlns:a="http://schemas.openxmlformats.org/drawingml/2006/main">
              <a:ext uri="{FF2B5EF4-FFF2-40B4-BE49-F238E27FC236}">
                <a16:creationId xmlns:a16="http://schemas.microsoft.com/office/drawing/2014/main" id="{5D644452-5F20-4396-8706-7621B80F09AE}"/>
              </a:ext>
            </a:extLst>
          </p:cNvPr>
          <p:cNvSpPr>
            <a:spLocks xmlns:a="http://schemas.openxmlformats.org/drawingml/2006/main" noGrp="1"/>
          </p:cNvSpPr>
          <p:nvPr/>
        </p:nvSpPr>
        <p:spPr>
          <a:xfrm xmlns:a="http://schemas.openxmlformats.org/drawingml/2006/main">
            <a:off x="7699248"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CSV</a:t>
            </a:r>
            <a:endParaRPr sz="850"/>
          </a:p>
        </p:txBody>
      </p:sp>
      <p:sp>
        <p:nvSpPr>
          <p:cNvPr id="57" name="Shape 44">
            <a:extLst xmlns:a="http://schemas.openxmlformats.org/drawingml/2006/main">
              <a:ext uri="{FF2B5EF4-FFF2-40B4-BE49-F238E27FC236}">
                <a16:creationId xmlns:a16="http://schemas.microsoft.com/office/drawing/2014/main" id="{0F3307D7-7CC2-47E8-9270-848EDDA2636E}"/>
              </a:ext>
            </a:extLst>
          </p:cNvPr>
          <p:cNvSpPr>
            <a:spLocks xmlns:a="http://schemas.openxmlformats.org/drawingml/2006/main" noGrp="1"/>
          </p:cNvSpPr>
          <p:nvPr/>
        </p:nvSpPr>
        <p:spPr>
          <a:xfrm xmlns:a="http://schemas.openxmlformats.org/drawingml/2006/main">
            <a:off x="8686800"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6" name="Image 11"/>
          <p:cNvPicPr>
            <a:picLocks xmlns:a="http://schemas.openxmlformats.org/drawingml/2006/main" noChangeAspect="1"/>
          </p:cNvPicPr>
          <p:nvPr/>
        </p:nvPicPr>
        <p:blipFill>
          <a:blip xmlns:r="http://schemas.openxmlformats.org/officeDocument/2006/relationships" xmlns:a="http://schemas.openxmlformats.org/drawingml/2006/main" r:embed="R0c5078bfef9145d5">
            <a:extLst>
              <a:ext uri="{96DAC541-7B7A-43D3-8B79-37D633B846F1}">
                <asvg:svgBlip xmlns:asvg="http://schemas.microsoft.com/office/drawing/2016/SVG/main" r:embed="R4c590be13bcc429f"/>
              </a:ext>
            </a:extLst>
          </a:blip>
          <a:stretch xmlns:a="http://schemas.openxmlformats.org/drawingml/2006/main">
            <a:fillRect l="0" t="0" r="0" b="0"/>
          </a:stretch>
        </p:blipFill>
        <p:spPr>
          <a:xfrm xmlns:a="http://schemas.openxmlformats.org/drawingml/2006/main">
            <a:off x="8990838" y="4251960"/>
            <a:ext cx="233172" cy="310896"/>
          </a:xfrm>
          <a:prstGeom xmlns:a="http://schemas.openxmlformats.org/drawingml/2006/main" prst="rect">
            <a:avLst/>
          </a:prstGeom>
        </p:spPr>
      </p:pic>
      <p:sp>
        <p:nvSpPr>
          <p:cNvPr id="59" name="Text 45">
            <a:extLst xmlns:a="http://schemas.openxmlformats.org/drawingml/2006/main">
              <a:ext uri="{FF2B5EF4-FFF2-40B4-BE49-F238E27FC236}">
                <a16:creationId xmlns:a16="http://schemas.microsoft.com/office/drawing/2014/main" id="{ACD471E6-ED84-4A22-8051-8FE9EE967949}"/>
              </a:ext>
            </a:extLst>
          </p:cNvPr>
          <p:cNvSpPr>
            <a:spLocks xmlns:a="http://schemas.openxmlformats.org/drawingml/2006/main" noGrp="1"/>
          </p:cNvSpPr>
          <p:nvPr/>
        </p:nvSpPr>
        <p:spPr>
          <a:xfrm xmlns:a="http://schemas.openxmlformats.org/drawingml/2006/main">
            <a:off x="8759952"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Excel</a:t>
            </a:r>
            <a:endParaRPr sz="850"/>
          </a:p>
        </p:txBody>
      </p:sp>
      <p:sp>
        <p:nvSpPr>
          <p:cNvPr id="60" name="Shape 46">
            <a:extLst xmlns:a="http://schemas.openxmlformats.org/drawingml/2006/main">
              <a:ext uri="{FF2B5EF4-FFF2-40B4-BE49-F238E27FC236}">
                <a16:creationId xmlns:a16="http://schemas.microsoft.com/office/drawing/2014/main" id="{D796693E-3674-4F56-B407-9C03696DBA07}"/>
              </a:ext>
            </a:extLst>
          </p:cNvPr>
          <p:cNvSpPr>
            <a:spLocks xmlns:a="http://schemas.openxmlformats.org/drawingml/2006/main" noGrp="1"/>
          </p:cNvSpPr>
          <p:nvPr/>
        </p:nvSpPr>
        <p:spPr>
          <a:xfrm xmlns:a="http://schemas.openxmlformats.org/drawingml/2006/main">
            <a:off x="9747504"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9" name="Image 12"/>
          <p:cNvPicPr>
            <a:picLocks xmlns:a="http://schemas.openxmlformats.org/drawingml/2006/main" noChangeAspect="1"/>
          </p:cNvPicPr>
          <p:nvPr/>
        </p:nvPicPr>
        <p:blipFill>
          <a:blip xmlns:r="http://schemas.openxmlformats.org/officeDocument/2006/relationships" xmlns:a="http://schemas.openxmlformats.org/drawingml/2006/main" r:embed="Rb10ca487c6554e7f">
            <a:extLst>
              <a:ext uri="{96DAC541-7B7A-43D3-8B79-37D633B846F1}">
                <asvg:svgBlip xmlns:asvg="http://schemas.microsoft.com/office/drawing/2016/SVG/main" r:embed="Rdb1c5b458b544662"/>
              </a:ext>
            </a:extLst>
          </a:blip>
          <a:stretch xmlns:a="http://schemas.openxmlformats.org/drawingml/2006/main">
            <a:fillRect l="0" t="0" r="0" b="0"/>
          </a:stretch>
        </p:blipFill>
        <p:spPr>
          <a:xfrm xmlns:a="http://schemas.openxmlformats.org/drawingml/2006/main">
            <a:off x="10012680" y="4251960"/>
            <a:ext cx="310896" cy="310896"/>
          </a:xfrm>
          <a:prstGeom xmlns:a="http://schemas.openxmlformats.org/drawingml/2006/main" prst="rect">
            <a:avLst/>
          </a:prstGeom>
        </p:spPr>
      </p:pic>
      <p:sp>
        <p:nvSpPr>
          <p:cNvPr id="62" name="Text 47">
            <a:extLst xmlns:a="http://schemas.openxmlformats.org/drawingml/2006/main">
              <a:ext uri="{FF2B5EF4-FFF2-40B4-BE49-F238E27FC236}">
                <a16:creationId xmlns:a16="http://schemas.microsoft.com/office/drawing/2014/main" id="{38423C1D-FE7C-4728-938F-E8B5B67B60D7}"/>
              </a:ext>
            </a:extLst>
          </p:cNvPr>
          <p:cNvSpPr>
            <a:spLocks xmlns:a="http://schemas.openxmlformats.org/drawingml/2006/main" noGrp="1"/>
          </p:cNvSpPr>
          <p:nvPr/>
        </p:nvSpPr>
        <p:spPr>
          <a:xfrm xmlns:a="http://schemas.openxmlformats.org/drawingml/2006/main">
            <a:off x="9820656"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Chart</a:t>
            </a:r>
            <a:endParaRPr sz="850"/>
          </a:p>
        </p:txBody>
      </p:sp>
      <p:sp>
        <p:nvSpPr>
          <p:cNvPr id="63" name="Shape 48">
            <a:extLst xmlns:a="http://schemas.openxmlformats.org/drawingml/2006/main">
              <a:ext uri="{FF2B5EF4-FFF2-40B4-BE49-F238E27FC236}">
                <a16:creationId xmlns:a16="http://schemas.microsoft.com/office/drawing/2014/main" id="{49F76173-46F3-4527-9C59-42B9B057EF9B}"/>
              </a:ext>
            </a:extLst>
          </p:cNvPr>
          <p:cNvSpPr>
            <a:spLocks xmlns:a="http://schemas.openxmlformats.org/drawingml/2006/main" noGrp="1"/>
          </p:cNvSpPr>
          <p:nvPr/>
        </p:nvSpPr>
        <p:spPr>
          <a:xfrm xmlns:a="http://schemas.openxmlformats.org/drawingml/2006/main">
            <a:off x="10808208"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52" name="Image 13"/>
          <p:cNvPicPr>
            <a:picLocks xmlns:a="http://schemas.openxmlformats.org/drawingml/2006/main" noChangeAspect="1"/>
          </p:cNvPicPr>
          <p:nvPr/>
        </p:nvPicPr>
        <p:blipFill>
          <a:blip xmlns:r="http://schemas.openxmlformats.org/officeDocument/2006/relationships" xmlns:a="http://schemas.openxmlformats.org/drawingml/2006/main" r:embed="R5afd7bf7d5e94854">
            <a:extLst>
              <a:ext uri="{96DAC541-7B7A-43D3-8B79-37D633B846F1}">
                <asvg:svgBlip xmlns:asvg="http://schemas.microsoft.com/office/drawing/2016/SVG/main" r:embed="R44ecc9a6b9334eeb"/>
              </a:ext>
            </a:extLst>
          </a:blip>
          <a:stretch xmlns:a="http://schemas.openxmlformats.org/drawingml/2006/main">
            <a:fillRect l="0" t="0" r="0" b="0"/>
          </a:stretch>
        </p:blipFill>
        <p:spPr>
          <a:xfrm xmlns:a="http://schemas.openxmlformats.org/drawingml/2006/main">
            <a:off x="11073384" y="4251960"/>
            <a:ext cx="310896" cy="310896"/>
          </a:xfrm>
          <a:prstGeom xmlns:a="http://schemas.openxmlformats.org/drawingml/2006/main" prst="rect">
            <a:avLst/>
          </a:prstGeom>
        </p:spPr>
      </p:pic>
      <p:sp>
        <p:nvSpPr>
          <p:cNvPr id="65" name="Text 49">
            <a:extLst xmlns:a="http://schemas.openxmlformats.org/drawingml/2006/main">
              <a:ext uri="{FF2B5EF4-FFF2-40B4-BE49-F238E27FC236}">
                <a16:creationId xmlns:a16="http://schemas.microsoft.com/office/drawing/2014/main" id="{49B1FBF8-8B71-4035-85A5-26F799F39741}"/>
              </a:ext>
            </a:extLst>
          </p:cNvPr>
          <p:cNvSpPr>
            <a:spLocks xmlns:a="http://schemas.openxmlformats.org/drawingml/2006/main" noGrp="1"/>
          </p:cNvSpPr>
          <p:nvPr/>
        </p:nvSpPr>
        <p:spPr>
          <a:xfrm xmlns:a="http://schemas.openxmlformats.org/drawingml/2006/main">
            <a:off x="10881360"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Map</a:t>
            </a:r>
            <a:endParaRPr sz="850"/>
          </a:p>
        </p:txBody>
      </p:sp>
      <p:sp>
        <p:nvSpPr>
          <p:cNvPr id="66" name="Shape 50">
            <a:extLst xmlns:a="http://schemas.openxmlformats.org/drawingml/2006/main">
              <a:ext uri="{FF2B5EF4-FFF2-40B4-BE49-F238E27FC236}">
                <a16:creationId xmlns:a16="http://schemas.microsoft.com/office/drawing/2014/main" id="{ECDB4237-98BB-4077-9B62-F9D5C7C7D682}"/>
              </a:ext>
            </a:extLst>
          </p:cNvPr>
          <p:cNvSpPr>
            <a:spLocks xmlns:a="http://schemas.openxmlformats.org/drawingml/2006/main" noGrp="1"/>
          </p:cNvSpPr>
          <p:nvPr/>
        </p:nvSpPr>
        <p:spPr>
          <a:xfrm xmlns:a="http://schemas.openxmlformats.org/drawingml/2006/main">
            <a:off x="502920" y="3785616"/>
            <a:ext cx="5440680" cy="1508760"/>
          </a:xfrm>
          <a:prstGeom xmlns:a="http://schemas.openxmlformats.org/drawingml/2006/main" prst="roundRect">
            <a:avLst>
              <a:gd name="adj" fmla="val 4848"/>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7" name="Text 51">
            <a:extLst xmlns:a="http://schemas.openxmlformats.org/drawingml/2006/main">
              <a:ext uri="{FF2B5EF4-FFF2-40B4-BE49-F238E27FC236}">
                <a16:creationId xmlns:a16="http://schemas.microsoft.com/office/drawing/2014/main" id="{BC0B7780-E07F-4CBA-91CF-E91DB767A05E}"/>
              </a:ext>
            </a:extLst>
          </p:cNvPr>
          <p:cNvSpPr>
            <a:spLocks xmlns:a="http://schemas.openxmlformats.org/drawingml/2006/main" noGrp="1"/>
          </p:cNvSpPr>
          <p:nvPr/>
        </p:nvSpPr>
        <p:spPr>
          <a:xfrm xmlns:a="http://schemas.openxmlformats.org/drawingml/2006/main">
            <a:off x="768096" y="4078224"/>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20">
                <a:solidFill>
                  <a:srgbClr val="35D4E7"/>
                </a:solidFill>
                <a:latin typeface="Inter"/>
                <a:ea typeface="Inter"/>
                <a:cs typeface="Inter"/>
              </a:rPr>
              <a:t>THE DESIGN PRINCIPLE</a:t>
            </a:r>
            <a:endParaRPr sz="900"/>
          </a:p>
        </p:txBody>
      </p:sp>
      <p:sp>
        <p:nvSpPr>
          <p:cNvPr id="68" name="Text 52">
            <a:extLst xmlns:a="http://schemas.openxmlformats.org/drawingml/2006/main">
              <a:ext uri="{FF2B5EF4-FFF2-40B4-BE49-F238E27FC236}">
                <a16:creationId xmlns:a16="http://schemas.microsoft.com/office/drawing/2014/main" id="{779F9341-E2B6-4866-9206-B4AE1C625C30}"/>
              </a:ext>
            </a:extLst>
          </p:cNvPr>
          <p:cNvSpPr>
            <a:spLocks xmlns:a="http://schemas.openxmlformats.org/drawingml/2006/main" noGrp="1"/>
          </p:cNvSpPr>
          <p:nvPr/>
        </p:nvSpPr>
        <p:spPr>
          <a:xfrm xmlns:a="http://schemas.openxmlformats.org/drawingml/2006/main">
            <a:off x="768096" y="4407408"/>
            <a:ext cx="4791456" cy="3931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50" b="1">
                <a:solidFill>
                  <a:srgbClr val="F7FAFF"/>
                </a:solidFill>
                <a:latin typeface="Inter"/>
                <a:ea typeface="Inter"/>
                <a:cs typeface="Inter"/>
              </a:rPr>
              <a:t>A deterministic spine around a probabilistic model.</a:t>
            </a:r>
            <a:endParaRPr sz="2050"/>
          </a:p>
        </p:txBody>
      </p:sp>
      <p:sp>
        <p:nvSpPr>
          <p:cNvPr id="69" name="Text 53">
            <a:extLst xmlns:a="http://schemas.openxmlformats.org/drawingml/2006/main">
              <a:ext uri="{FF2B5EF4-FFF2-40B4-BE49-F238E27FC236}">
                <a16:creationId xmlns:a16="http://schemas.microsoft.com/office/drawing/2014/main" id="{9D4B8379-932F-4A3C-B35E-FBE4EC12A4AF}"/>
              </a:ext>
            </a:extLst>
          </p:cNvPr>
          <p:cNvSpPr>
            <a:spLocks xmlns:a="http://schemas.openxmlformats.org/drawingml/2006/main" noGrp="1"/>
          </p:cNvSpPr>
          <p:nvPr/>
        </p:nvSpPr>
        <p:spPr>
          <a:xfrm xmlns:a="http://schemas.openxmlformats.org/drawingml/2006/main">
            <a:off x="768096" y="4901184"/>
            <a:ext cx="4663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A7B5C8"/>
                </a:solidFill>
                <a:latin typeface="Inter"/>
                <a:ea typeface="Inter"/>
                <a:cs typeface="Inter"/>
              </a:rPr>
              <a:t>The model interprets language. Code constrains execution.</a:t>
            </a:r>
            <a:endParaRPr sz="1150"/>
          </a:p>
        </p:txBody>
      </p:sp>
      <p:sp>
        <p:nvSpPr>
          <p:cNvPr id="70" name="Shape 54">
            <a:extLst xmlns:a="http://schemas.openxmlformats.org/drawingml/2006/main">
              <a:ext uri="{FF2B5EF4-FFF2-40B4-BE49-F238E27FC236}">
                <a16:creationId xmlns:a16="http://schemas.microsoft.com/office/drawing/2014/main" id="{A48B9D63-EF54-4144-8E30-C46C7F017621}"/>
              </a:ext>
            </a:extLst>
          </p:cNvPr>
          <p:cNvSpPr>
            <a:spLocks xmlns:a="http://schemas.openxmlformats.org/drawingml/2006/main" noGrp="1"/>
          </p:cNvSpPr>
          <p:nvPr/>
        </p:nvSpPr>
        <p:spPr>
          <a:xfrm xmlns:a="http://schemas.openxmlformats.org/drawingml/2006/main">
            <a:off x="6565392" y="5303520"/>
            <a:ext cx="5084064" cy="402336"/>
          </a:xfrm>
          <a:prstGeom xmlns:a="http://schemas.openxmlformats.org/drawingml/2006/main" prst="roundRect">
            <a:avLst>
              <a:gd name="adj" fmla="val 18182"/>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1" name="Text 55">
            <a:extLst xmlns:a="http://schemas.openxmlformats.org/drawingml/2006/main">
              <a:ext uri="{FF2B5EF4-FFF2-40B4-BE49-F238E27FC236}">
                <a16:creationId xmlns:a16="http://schemas.microsoft.com/office/drawing/2014/main" id="{48B2C870-180A-492D-9819-D4AF50F8B9D6}"/>
              </a:ext>
            </a:extLst>
          </p:cNvPr>
          <p:cNvSpPr>
            <a:spLocks xmlns:a="http://schemas.openxmlformats.org/drawingml/2006/main" noGrp="1"/>
          </p:cNvSpPr>
          <p:nvPr/>
        </p:nvSpPr>
        <p:spPr>
          <a:xfrm xmlns:a="http://schemas.openxmlformats.org/drawingml/2006/main">
            <a:off x="6638544" y="5312664"/>
            <a:ext cx="4937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5D4E7"/>
                </a:solidFill>
                <a:latin typeface="Inter"/>
                <a:ea typeface="Inter"/>
                <a:cs typeface="Inter"/>
              </a:rPr>
              <a:t>STARTUP QUESTION: HOW DO WE CONTROL WHAT THE MODEL DOES?</a:t>
            </a:r>
            <a:endParaRPr sz="1020"/>
          </a:p>
        </p:txBody>
      </p:sp>
      <p:sp>
        <p:nvSpPr>
          <p:cNvPr id="72" name="Shape 56">
            <a:extLst xmlns:a="http://schemas.openxmlformats.org/drawingml/2006/main">
              <a:ext uri="{FF2B5EF4-FFF2-40B4-BE49-F238E27FC236}">
                <a16:creationId xmlns:a16="http://schemas.microsoft.com/office/drawing/2014/main" id="{1FBF2530-AC69-48EB-98CE-3770EAD13936}"/>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73" name="Text 57">
            <a:extLst xmlns:a="http://schemas.openxmlformats.org/drawingml/2006/main">
              <a:ext uri="{FF2B5EF4-FFF2-40B4-BE49-F238E27FC236}">
                <a16:creationId xmlns:a16="http://schemas.microsoft.com/office/drawing/2014/main" id="{18BE19C1-D2CF-4508-91B9-A008FD66ACF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74" name="Text 58">
            <a:extLst xmlns:a="http://schemas.openxmlformats.org/drawingml/2006/main">
              <a:ext uri="{FF2B5EF4-FFF2-40B4-BE49-F238E27FC236}">
                <a16:creationId xmlns:a16="http://schemas.microsoft.com/office/drawing/2014/main" id="{C2D87EB2-268F-406A-AA72-F967586B5973}"/>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5" name="Text 59">
            <a:extLst xmlns:a="http://schemas.openxmlformats.org/drawingml/2006/main">
              <a:ext uri="{FF2B5EF4-FFF2-40B4-BE49-F238E27FC236}">
                <a16:creationId xmlns:a16="http://schemas.microsoft.com/office/drawing/2014/main" id="{4DD33FF8-21B1-43C1-942E-E58C9543A901}"/>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03</a:t>
            </a:r>
            <a:endParaRPr sz="850"/>
          </a:p>
        </p:txBody>
      </p:sp>
    </p:spTree>
    <p:extLst>
      <p:ext uri="{BB962C8B-B14F-4D97-AF65-F5344CB8AC3E}">
        <p14:creationId xmlns:p14="http://schemas.microsoft.com/office/powerpoint/2010/main" val="76542695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a4d42e24fae3434b">
            <a:extLst>
              <a:ext uri="{96DAC541-7B7A-43D3-8B79-37D633B846F1}">
                <asvg:svgBlip xmlns:asvg="http://schemas.microsoft.com/office/drawing/2016/SVG/main" r:embed="Rf28b2071931e48c1"/>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083DA379-14B0-4CD1-AB98-CCE30C0C5A20}"/>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FIND · CONNECT · VERIFY</a:t>
            </a:r>
            <a:endParaRPr sz="950"/>
          </a:p>
        </p:txBody>
      </p:sp>
      <p:sp>
        <p:nvSpPr>
          <p:cNvPr id="4" name="Text 1">
            <a:extLst xmlns:a="http://schemas.openxmlformats.org/drawingml/2006/main">
              <a:ext uri="{FF2B5EF4-FFF2-40B4-BE49-F238E27FC236}">
                <a16:creationId xmlns:a16="http://schemas.microsoft.com/office/drawing/2014/main" id="{C652F017-3C04-4FF1-A5A5-F75D22861046}"/>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Discovery outpaces approval</a:t>
            </a:r>
            <a:endParaRPr sz="2650"/>
          </a:p>
        </p:txBody>
      </p:sp>
      <p:sp>
        <p:nvSpPr>
          <p:cNvPr id="5" name="Shape 2">
            <a:extLst xmlns:a="http://schemas.openxmlformats.org/drawingml/2006/main">
              <a:ext uri="{FF2B5EF4-FFF2-40B4-BE49-F238E27FC236}">
                <a16:creationId xmlns:a16="http://schemas.microsoft.com/office/drawing/2014/main" id="{4B895753-B32E-4CDF-A576-41C8B7D607C1}"/>
              </a:ext>
            </a:extLst>
          </p:cNvPr>
          <p:cNvSpPr>
            <a:spLocks xmlns:a="http://schemas.openxmlformats.org/drawingml/2006/main" noGrp="1"/>
          </p:cNvSpPr>
          <p:nvPr/>
        </p:nvSpPr>
        <p:spPr>
          <a:xfrm xmlns:a="http://schemas.openxmlformats.org/drawingml/2006/main">
            <a:off x="566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1"/>
          <p:cNvPicPr>
            <a:picLocks xmlns:a="http://schemas.openxmlformats.org/drawingml/2006/main" noChangeAspect="1"/>
          </p:cNvPicPr>
          <p:nvPr/>
        </p:nvPicPr>
        <p:blipFill>
          <a:blip xmlns:r="http://schemas.openxmlformats.org/officeDocument/2006/relationships" xmlns:a="http://schemas.openxmlformats.org/drawingml/2006/main" r:embed="Re01d003e257c4ec0">
            <a:extLst>
              <a:ext uri="{96DAC541-7B7A-43D3-8B79-37D633B846F1}">
                <asvg:svgBlip xmlns:asvg="http://schemas.microsoft.com/office/drawing/2016/SVG/main" r:embed="R4a070eded5eb4739"/>
              </a:ext>
            </a:extLst>
          </a:blip>
          <a:stretch xmlns:a="http://schemas.openxmlformats.org/drawingml/2006/main">
            <a:fillRect l="0" t="0" r="0" b="0"/>
          </a:stretch>
        </p:blipFill>
        <p:spPr>
          <a:xfrm xmlns:a="http://schemas.openxmlformats.org/drawingml/2006/main">
            <a:off x="731520" y="1635760"/>
            <a:ext cx="310896" cy="276352"/>
          </a:xfrm>
          <a:prstGeom xmlns:a="http://schemas.openxmlformats.org/drawingml/2006/main" prst="rect">
            <a:avLst/>
          </a:prstGeom>
        </p:spPr>
      </p:pic>
      <p:sp>
        <p:nvSpPr>
          <p:cNvPr id="7" name="Text 3">
            <a:extLst xmlns:a="http://schemas.openxmlformats.org/drawingml/2006/main">
              <a:ext uri="{FF2B5EF4-FFF2-40B4-BE49-F238E27FC236}">
                <a16:creationId xmlns:a16="http://schemas.microsoft.com/office/drawing/2014/main" id="{CD44C6E1-8CC8-4CCA-B8B9-74EDA8BC5064}"/>
              </a:ext>
            </a:extLst>
          </p:cNvPr>
          <p:cNvSpPr>
            <a:spLocks xmlns:a="http://schemas.openxmlformats.org/drawingml/2006/main" noGrp="1"/>
          </p:cNvSpPr>
          <p:nvPr/>
        </p:nvSpPr>
        <p:spPr>
          <a:xfrm xmlns:a="http://schemas.openxmlformats.org/drawingml/2006/main">
            <a:off x="1133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Official Registry</a:t>
            </a:r>
            <a:endParaRPr sz="1220"/>
          </a:p>
        </p:txBody>
      </p:sp>
      <p:sp>
        <p:nvSpPr>
          <p:cNvPr id="8" name="Text 4">
            <a:extLst xmlns:a="http://schemas.openxmlformats.org/drawingml/2006/main">
              <a:ext uri="{FF2B5EF4-FFF2-40B4-BE49-F238E27FC236}">
                <a16:creationId xmlns:a16="http://schemas.microsoft.com/office/drawing/2014/main" id="{958FD7A9-F88C-4478-96C3-EE8D63A1BA81}"/>
              </a:ext>
            </a:extLst>
          </p:cNvPr>
          <p:cNvSpPr>
            <a:spLocks xmlns:a="http://schemas.openxmlformats.org/drawingml/2006/main" noGrp="1"/>
          </p:cNvSpPr>
          <p:nvPr/>
        </p:nvSpPr>
        <p:spPr>
          <a:xfrm xmlns:a="http://schemas.openxmlformats.org/drawingml/2006/main">
            <a:off x="1133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Canonical metadata</a:t>
            </a:r>
            <a:endParaRPr sz="880"/>
          </a:p>
        </p:txBody>
      </p:sp>
      <p:sp>
        <p:nvSpPr>
          <p:cNvPr id="9" name="Shape 5">
            <a:extLst xmlns:a="http://schemas.openxmlformats.org/drawingml/2006/main">
              <a:ext uri="{FF2B5EF4-FFF2-40B4-BE49-F238E27FC236}">
                <a16:creationId xmlns:a16="http://schemas.microsoft.com/office/drawing/2014/main" id="{0604A9C0-0EFD-4986-A082-4F80DF55F6AF}"/>
              </a:ext>
            </a:extLst>
          </p:cNvPr>
          <p:cNvSpPr>
            <a:spLocks xmlns:a="http://schemas.openxmlformats.org/drawingml/2006/main" noGrp="1"/>
          </p:cNvSpPr>
          <p:nvPr/>
        </p:nvSpPr>
        <p:spPr>
          <a:xfrm xmlns:a="http://schemas.openxmlformats.org/drawingml/2006/main">
            <a:off x="2852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Image 2"/>
          <p:cNvPicPr>
            <a:picLocks xmlns:a="http://schemas.openxmlformats.org/drawingml/2006/main" noChangeAspect="1"/>
          </p:cNvPicPr>
          <p:nvPr/>
        </p:nvPicPr>
        <p:blipFill>
          <a:blip xmlns:r="http://schemas.openxmlformats.org/officeDocument/2006/relationships" xmlns:a="http://schemas.openxmlformats.org/drawingml/2006/main" r:embed="R210d226dfe0b4857">
            <a:extLst>
              <a:ext uri="{96DAC541-7B7A-43D3-8B79-37D633B846F1}">
                <asvg:svgBlip xmlns:asvg="http://schemas.microsoft.com/office/drawing/2016/SVG/main" r:embed="Rfd0c47e5fdfe49f6"/>
              </a:ext>
            </a:extLst>
          </a:blip>
          <a:stretch xmlns:a="http://schemas.openxmlformats.org/drawingml/2006/main">
            <a:fillRect l="0" t="0" r="0" b="0"/>
          </a:stretch>
        </p:blipFill>
        <p:spPr>
          <a:xfrm xmlns:a="http://schemas.openxmlformats.org/drawingml/2006/main">
            <a:off x="3017520" y="1618488"/>
            <a:ext cx="310896" cy="310896"/>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955A954D-37C2-4662-89A4-1F97B5B46898}"/>
              </a:ext>
            </a:extLst>
          </p:cNvPr>
          <p:cNvSpPr>
            <a:spLocks xmlns:a="http://schemas.openxmlformats.org/drawingml/2006/main" noGrp="1"/>
          </p:cNvSpPr>
          <p:nvPr/>
        </p:nvSpPr>
        <p:spPr>
          <a:xfrm xmlns:a="http://schemas.openxmlformats.org/drawingml/2006/main">
            <a:off x="3419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Community</a:t>
            </a:r>
            <a:endParaRPr sz="1220"/>
          </a:p>
        </p:txBody>
      </p:sp>
      <p:sp>
        <p:nvSpPr>
          <p:cNvPr id="12" name="Text 7">
            <a:extLst xmlns:a="http://schemas.openxmlformats.org/drawingml/2006/main">
              <a:ext uri="{FF2B5EF4-FFF2-40B4-BE49-F238E27FC236}">
                <a16:creationId xmlns:a16="http://schemas.microsoft.com/office/drawing/2014/main" id="{825EE183-72BE-4290-B109-DCC69863503C}"/>
              </a:ext>
            </a:extLst>
          </p:cNvPr>
          <p:cNvSpPr>
            <a:spLocks xmlns:a="http://schemas.openxmlformats.org/drawingml/2006/main" noGrp="1"/>
          </p:cNvSpPr>
          <p:nvPr/>
        </p:nvSpPr>
        <p:spPr>
          <a:xfrm xmlns:a="http://schemas.openxmlformats.org/drawingml/2006/main">
            <a:off x="3419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Directories + search</a:t>
            </a:r>
            <a:endParaRPr sz="880"/>
          </a:p>
        </p:txBody>
      </p:sp>
      <p:sp>
        <p:nvSpPr>
          <p:cNvPr id="13" name="Shape 8">
            <a:extLst xmlns:a="http://schemas.openxmlformats.org/drawingml/2006/main">
              <a:ext uri="{FF2B5EF4-FFF2-40B4-BE49-F238E27FC236}">
                <a16:creationId xmlns:a16="http://schemas.microsoft.com/office/drawing/2014/main" id="{1851AFE2-C053-4716-9A06-0D0428B7D742}"/>
              </a:ext>
            </a:extLst>
          </p:cNvPr>
          <p:cNvSpPr>
            <a:spLocks xmlns:a="http://schemas.openxmlformats.org/drawingml/2006/main" noGrp="1"/>
          </p:cNvSpPr>
          <p:nvPr/>
        </p:nvSpPr>
        <p:spPr>
          <a:xfrm xmlns:a="http://schemas.openxmlformats.org/drawingml/2006/main">
            <a:off x="5138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98" name="Image 3"/>
          <p:cNvPicPr>
            <a:picLocks xmlns:a="http://schemas.openxmlformats.org/drawingml/2006/main" noChangeAspect="1"/>
          </p:cNvPicPr>
          <p:nvPr/>
        </p:nvPicPr>
        <p:blipFill>
          <a:blip xmlns:r="http://schemas.openxmlformats.org/officeDocument/2006/relationships" xmlns:a="http://schemas.openxmlformats.org/drawingml/2006/main" r:embed="R3ce747788c284c24">
            <a:extLst>
              <a:ext uri="{96DAC541-7B7A-43D3-8B79-37D633B846F1}">
                <asvg:svgBlip xmlns:asvg="http://schemas.microsoft.com/office/drawing/2016/SVG/main" r:embed="R641656ebd3724606"/>
              </a:ext>
            </a:extLst>
          </a:blip>
          <a:stretch xmlns:a="http://schemas.openxmlformats.org/drawingml/2006/main">
            <a:fillRect l="0" t="0" r="0" b="0"/>
          </a:stretch>
        </p:blipFill>
        <p:spPr>
          <a:xfrm xmlns:a="http://schemas.openxmlformats.org/drawingml/2006/main">
            <a:off x="5303520" y="1618488"/>
            <a:ext cx="310896" cy="310896"/>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6C61ED67-FD4D-45A8-8F43-D977462794EB}"/>
              </a:ext>
            </a:extLst>
          </p:cNvPr>
          <p:cNvSpPr>
            <a:spLocks xmlns:a="http://schemas.openxmlformats.org/drawingml/2006/main" noGrp="1"/>
          </p:cNvSpPr>
          <p:nvPr/>
        </p:nvSpPr>
        <p:spPr>
          <a:xfrm xmlns:a="http://schemas.openxmlformats.org/drawingml/2006/main">
            <a:off x="5705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Publisher</a:t>
            </a:r>
            <a:endParaRPr sz="1220"/>
          </a:p>
        </p:txBody>
      </p:sp>
      <p:sp>
        <p:nvSpPr>
          <p:cNvPr id="16" name="Text 10">
            <a:extLst xmlns:a="http://schemas.openxmlformats.org/drawingml/2006/main">
              <a:ext uri="{FF2B5EF4-FFF2-40B4-BE49-F238E27FC236}">
                <a16:creationId xmlns:a16="http://schemas.microsoft.com/office/drawing/2014/main" id="{B68A5EA5-C4E9-46C2-93CF-C30FF636D605}"/>
              </a:ext>
            </a:extLst>
          </p:cNvPr>
          <p:cNvSpPr>
            <a:spLocks xmlns:a="http://schemas.openxmlformats.org/drawingml/2006/main" noGrp="1"/>
          </p:cNvSpPr>
          <p:nvPr/>
        </p:nvSpPr>
        <p:spPr>
          <a:xfrm xmlns:a="http://schemas.openxmlformats.org/drawingml/2006/main">
            <a:off x="5705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Namespace + source</a:t>
            </a:r>
            <a:endParaRPr sz="880"/>
          </a:p>
        </p:txBody>
      </p:sp>
      <p:sp>
        <p:nvSpPr>
          <p:cNvPr id="17" name="Shape 11">
            <a:extLst xmlns:a="http://schemas.openxmlformats.org/drawingml/2006/main">
              <a:ext uri="{FF2B5EF4-FFF2-40B4-BE49-F238E27FC236}">
                <a16:creationId xmlns:a16="http://schemas.microsoft.com/office/drawing/2014/main" id="{D0E51B76-F072-4269-BE22-A3E38AC6C400}"/>
              </a:ext>
            </a:extLst>
          </p:cNvPr>
          <p:cNvSpPr>
            <a:spLocks xmlns:a="http://schemas.openxmlformats.org/drawingml/2006/main" noGrp="1"/>
          </p:cNvSpPr>
          <p:nvPr/>
        </p:nvSpPr>
        <p:spPr>
          <a:xfrm xmlns:a="http://schemas.openxmlformats.org/drawingml/2006/main">
            <a:off x="7424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4"/>
          <p:cNvPicPr>
            <a:picLocks xmlns:a="http://schemas.openxmlformats.org/drawingml/2006/main" noChangeAspect="1"/>
          </p:cNvPicPr>
          <p:nvPr/>
        </p:nvPicPr>
        <p:blipFill>
          <a:blip xmlns:r="http://schemas.openxmlformats.org/officeDocument/2006/relationships" xmlns:a="http://schemas.openxmlformats.org/drawingml/2006/main" r:embed="Rb7d2af13d56b4800">
            <a:extLst>
              <a:ext uri="{96DAC541-7B7A-43D3-8B79-37D633B846F1}">
                <asvg:svgBlip xmlns:asvg="http://schemas.microsoft.com/office/drawing/2016/SVG/main" r:embed="R6bdbfe610a2c416b"/>
              </a:ext>
            </a:extLst>
          </a:blip>
          <a:stretch xmlns:a="http://schemas.openxmlformats.org/drawingml/2006/main">
            <a:fillRect l="0" t="0" r="0" b="0"/>
          </a:stretch>
        </p:blipFill>
        <p:spPr>
          <a:xfrm xmlns:a="http://schemas.openxmlformats.org/drawingml/2006/main">
            <a:off x="7589520" y="1649578"/>
            <a:ext cx="310896" cy="248717"/>
          </a:xfrm>
          <a:prstGeom xmlns:a="http://schemas.openxmlformats.org/drawingml/2006/main" prst="rect">
            <a:avLst/>
          </a:prstGeom>
        </p:spPr>
      </p:pic>
      <p:sp>
        <p:nvSpPr>
          <p:cNvPr id="19" name="Text 12">
            <a:extLst xmlns:a="http://schemas.openxmlformats.org/drawingml/2006/main">
              <a:ext uri="{FF2B5EF4-FFF2-40B4-BE49-F238E27FC236}">
                <a16:creationId xmlns:a16="http://schemas.microsoft.com/office/drawing/2014/main" id="{551849FB-78B0-461D-B34B-F59777AE4AC3}"/>
              </a:ext>
            </a:extLst>
          </p:cNvPr>
          <p:cNvSpPr>
            <a:spLocks xmlns:a="http://schemas.openxmlformats.org/drawingml/2006/main" noGrp="1"/>
          </p:cNvSpPr>
          <p:nvPr/>
        </p:nvSpPr>
        <p:spPr>
          <a:xfrm xmlns:a="http://schemas.openxmlformats.org/drawingml/2006/main">
            <a:off x="7991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Allowlist</a:t>
            </a:r>
            <a:endParaRPr sz="1220"/>
          </a:p>
        </p:txBody>
      </p:sp>
      <p:sp>
        <p:nvSpPr>
          <p:cNvPr id="20" name="Text 13">
            <a:extLst xmlns:a="http://schemas.openxmlformats.org/drawingml/2006/main">
              <a:ext uri="{FF2B5EF4-FFF2-40B4-BE49-F238E27FC236}">
                <a16:creationId xmlns:a16="http://schemas.microsoft.com/office/drawing/2014/main" id="{70411AD8-4166-4C0F-911B-FFDB9FACAD73}"/>
              </a:ext>
            </a:extLst>
          </p:cNvPr>
          <p:cNvSpPr>
            <a:spLocks xmlns:a="http://schemas.openxmlformats.org/drawingml/2006/main" noGrp="1"/>
          </p:cNvSpPr>
          <p:nvPr/>
        </p:nvSpPr>
        <p:spPr>
          <a:xfrm xmlns:a="http://schemas.openxmlformats.org/drawingml/2006/main">
            <a:off x="7991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Approved versions</a:t>
            </a:r>
            <a:endParaRPr sz="880"/>
          </a:p>
        </p:txBody>
      </p:sp>
      <p:sp>
        <p:nvSpPr>
          <p:cNvPr id="21" name="Shape 14">
            <a:extLst xmlns:a="http://schemas.openxmlformats.org/drawingml/2006/main">
              <a:ext uri="{FF2B5EF4-FFF2-40B4-BE49-F238E27FC236}">
                <a16:creationId xmlns:a16="http://schemas.microsoft.com/office/drawing/2014/main" id="{6083DBFE-4CCC-4D9C-AADA-5B3C4C4D87F6}"/>
              </a:ext>
            </a:extLst>
          </p:cNvPr>
          <p:cNvSpPr>
            <a:spLocks xmlns:a="http://schemas.openxmlformats.org/drawingml/2006/main" noGrp="1"/>
          </p:cNvSpPr>
          <p:nvPr/>
        </p:nvSpPr>
        <p:spPr>
          <a:xfrm xmlns:a="http://schemas.openxmlformats.org/drawingml/2006/main">
            <a:off x="9710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FF6FA8"/>
            </a:solidFill>
            <a:prstDash val="solid"/>
          </a:ln>
        </p:spPr>
        <p:txBody>
          <a:bodyPr xmlns:a="http://schemas.openxmlformats.org/drawingml/2006/main"/>
          <a:lstStyle xmlns:a="http://schemas.openxmlformats.org/drawingml/2006/main"/>
          <a:p xmlns:a="http://schemas.openxmlformats.org/drawingml/2006/main">
            <a:endParaRPr/>
          </a:p>
        </p:txBody>
      </p:sp>
      <p:pic>
        <p:nvPicPr>
          <p:cNvPr id="106" name="Image 5"/>
          <p:cNvPicPr>
            <a:picLocks xmlns:a="http://schemas.openxmlformats.org/drawingml/2006/main" noChangeAspect="1"/>
          </p:cNvPicPr>
          <p:nvPr/>
        </p:nvPicPr>
        <p:blipFill>
          <a:blip xmlns:r="http://schemas.openxmlformats.org/officeDocument/2006/relationships" xmlns:a="http://schemas.openxmlformats.org/drawingml/2006/main" r:embed="Ra97d5870ce494bed">
            <a:extLst>
              <a:ext uri="{96DAC541-7B7A-43D3-8B79-37D633B846F1}">
                <asvg:svgBlip xmlns:asvg="http://schemas.microsoft.com/office/drawing/2016/SVG/main" r:embed="R8b7f608896d94171"/>
              </a:ext>
            </a:extLst>
          </a:blip>
          <a:stretch xmlns:a="http://schemas.openxmlformats.org/drawingml/2006/main">
            <a:fillRect l="0" t="0" r="0" b="0"/>
          </a:stretch>
        </p:blipFill>
        <p:spPr>
          <a:xfrm xmlns:a="http://schemas.openxmlformats.org/drawingml/2006/main">
            <a:off x="9875520" y="1618488"/>
            <a:ext cx="310896" cy="310896"/>
          </a:xfrm>
          <a:prstGeom xmlns:a="http://schemas.openxmlformats.org/drawingml/2006/main" prst="rect">
            <a:avLst/>
          </a:prstGeom>
        </p:spPr>
      </p:pic>
      <p:sp>
        <p:nvSpPr>
          <p:cNvPr id="23" name="Text 15">
            <a:extLst xmlns:a="http://schemas.openxmlformats.org/drawingml/2006/main">
              <a:ext uri="{FF2B5EF4-FFF2-40B4-BE49-F238E27FC236}">
                <a16:creationId xmlns:a16="http://schemas.microsoft.com/office/drawing/2014/main" id="{1E1FB0B9-A8D0-4EFF-9AE1-7BEF6A3615B6}"/>
              </a:ext>
            </a:extLst>
          </p:cNvPr>
          <p:cNvSpPr>
            <a:spLocks xmlns:a="http://schemas.openxmlformats.org/drawingml/2006/main" noGrp="1"/>
          </p:cNvSpPr>
          <p:nvPr/>
        </p:nvSpPr>
        <p:spPr>
          <a:xfrm xmlns:a="http://schemas.openxmlformats.org/drawingml/2006/main">
            <a:off x="10277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Runtime</a:t>
            </a:r>
            <a:endParaRPr sz="1220"/>
          </a:p>
        </p:txBody>
      </p:sp>
      <p:sp>
        <p:nvSpPr>
          <p:cNvPr id="24" name="Text 16">
            <a:extLst xmlns:a="http://schemas.openxmlformats.org/drawingml/2006/main">
              <a:ext uri="{FF2B5EF4-FFF2-40B4-BE49-F238E27FC236}">
                <a16:creationId xmlns:a16="http://schemas.microsoft.com/office/drawing/2014/main" id="{C3C1BDC9-A1CA-4ACA-8597-BEEBD33E2A4D}"/>
              </a:ext>
            </a:extLst>
          </p:cNvPr>
          <p:cNvSpPr>
            <a:spLocks xmlns:a="http://schemas.openxmlformats.org/drawingml/2006/main" noGrp="1"/>
          </p:cNvSpPr>
          <p:nvPr/>
        </p:nvSpPr>
        <p:spPr>
          <a:xfrm xmlns:a="http://schemas.openxmlformats.org/drawingml/2006/main">
            <a:off x="10277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Scope + telemetry</a:t>
            </a:r>
            <a:endParaRPr sz="880"/>
          </a:p>
        </p:txBody>
      </p:sp>
      <p:sp>
        <p:nvSpPr>
          <p:cNvPr id="25" name="Shape 17">
            <a:extLst xmlns:a="http://schemas.openxmlformats.org/drawingml/2006/main">
              <a:ext uri="{FF2B5EF4-FFF2-40B4-BE49-F238E27FC236}">
                <a16:creationId xmlns:a16="http://schemas.microsoft.com/office/drawing/2014/main" id="{55892504-7B31-4DC1-910A-80F6C83C5165}"/>
              </a:ext>
            </a:extLst>
          </p:cNvPr>
          <p:cNvSpPr>
            <a:spLocks xmlns:a="http://schemas.openxmlformats.org/drawingml/2006/main" noGrp="1"/>
          </p:cNvSpPr>
          <p:nvPr/>
        </p:nvSpPr>
        <p:spPr>
          <a:xfrm xmlns:a="http://schemas.openxmlformats.org/drawingml/2006/main">
            <a:off x="566928" y="2880360"/>
            <a:ext cx="11045952" cy="987552"/>
          </a:xfrm>
          <a:prstGeom xmlns:a="http://schemas.openxmlformats.org/drawingml/2006/main" prst="roundRect">
            <a:avLst>
              <a:gd name="adj" fmla="val 7407"/>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Shape 18">
            <a:extLst xmlns:a="http://schemas.openxmlformats.org/drawingml/2006/main">
              <a:ext uri="{FF2B5EF4-FFF2-40B4-BE49-F238E27FC236}">
                <a16:creationId xmlns:a16="http://schemas.microsoft.com/office/drawing/2014/main" id="{D2837279-9E22-4A5F-A8B5-883064CCE503}"/>
              </a:ext>
            </a:extLst>
          </p:cNvPr>
          <p:cNvSpPr>
            <a:spLocks xmlns:a="http://schemas.openxmlformats.org/drawingml/2006/main" noGrp="1"/>
          </p:cNvSpPr>
          <p:nvPr/>
        </p:nvSpPr>
        <p:spPr>
          <a:xfrm xmlns:a="http://schemas.openxmlformats.org/drawingml/2006/main">
            <a:off x="896112" y="3118104"/>
            <a:ext cx="420624" cy="420624"/>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6"/>
          <p:cNvPicPr>
            <a:picLocks xmlns:a="http://schemas.openxmlformats.org/drawingml/2006/main" noChangeAspect="1"/>
          </p:cNvPicPr>
          <p:nvPr/>
        </p:nvPicPr>
        <p:blipFill>
          <a:blip xmlns:r="http://schemas.openxmlformats.org/officeDocument/2006/relationships" xmlns:a="http://schemas.openxmlformats.org/drawingml/2006/main" r:embed="R697847da3dd34521">
            <a:extLst>
              <a:ext uri="{96DAC541-7B7A-43D3-8B79-37D633B846F1}">
                <asvg:svgBlip xmlns:asvg="http://schemas.microsoft.com/office/drawing/2016/SVG/main" r:embed="Rebee09e680f745b3"/>
              </a:ext>
            </a:extLst>
          </a:blip>
          <a:stretch xmlns:a="http://schemas.openxmlformats.org/drawingml/2006/main">
            <a:fillRect l="0" t="0" r="0" b="0"/>
          </a:stretch>
        </p:blipFill>
        <p:spPr>
          <a:xfrm xmlns:a="http://schemas.openxmlformats.org/drawingml/2006/main">
            <a:off x="1005840" y="3227832"/>
            <a:ext cx="201168" cy="201168"/>
          </a:xfrm>
          <a:prstGeom xmlns:a="http://schemas.openxmlformats.org/drawingml/2006/main" prst="rect">
            <a:avLst/>
          </a:prstGeom>
        </p:spPr>
      </p:pic>
      <p:sp>
        <p:nvSpPr>
          <p:cNvPr id="28" name="Text 19">
            <a:extLst xmlns:a="http://schemas.openxmlformats.org/drawingml/2006/main">
              <a:ext uri="{FF2B5EF4-FFF2-40B4-BE49-F238E27FC236}">
                <a16:creationId xmlns:a16="http://schemas.microsoft.com/office/drawing/2014/main" id="{30357C09-945A-4C8C-A973-4E06C15E3E41}"/>
              </a:ext>
            </a:extLst>
          </p:cNvPr>
          <p:cNvSpPr>
            <a:spLocks xmlns:a="http://schemas.openxmlformats.org/drawingml/2006/main" noGrp="1"/>
          </p:cNvSpPr>
          <p:nvPr/>
        </p:nvSpPr>
        <p:spPr>
          <a:xfrm xmlns:a="http://schemas.openxmlformats.org/drawingml/2006/main">
            <a:off x="1426464"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DISCOVER</a:t>
            </a:r>
            <a:endParaRPr sz="1050"/>
          </a:p>
        </p:txBody>
      </p:sp>
      <p:sp>
        <p:nvSpPr>
          <p:cNvPr id="29" name="Shape 20">
            <a:extLst xmlns:a="http://schemas.openxmlformats.org/drawingml/2006/main">
              <a:ext uri="{FF2B5EF4-FFF2-40B4-BE49-F238E27FC236}">
                <a16:creationId xmlns:a16="http://schemas.microsoft.com/office/drawing/2014/main" id="{8FE972FD-F2D5-4772-A1EB-ED032EB20F64}"/>
              </a:ext>
            </a:extLst>
          </p:cNvPr>
          <p:cNvSpPr>
            <a:spLocks xmlns:a="http://schemas.openxmlformats.org/drawingml/2006/main" noGrp="1"/>
          </p:cNvSpPr>
          <p:nvPr/>
        </p:nvSpPr>
        <p:spPr>
          <a:xfrm xmlns:a="http://schemas.openxmlformats.org/drawingml/2006/main">
            <a:off x="2578608"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0" name="Shape 21">
            <a:extLst xmlns:a="http://schemas.openxmlformats.org/drawingml/2006/main">
              <a:ext uri="{FF2B5EF4-FFF2-40B4-BE49-F238E27FC236}">
                <a16:creationId xmlns:a16="http://schemas.microsoft.com/office/drawing/2014/main" id="{7DB5F3F2-0810-4FBB-B4DC-0ABDA1F45FB0}"/>
              </a:ext>
            </a:extLst>
          </p:cNvPr>
          <p:cNvSpPr>
            <a:spLocks xmlns:a="http://schemas.openxmlformats.org/drawingml/2006/main" noGrp="1"/>
          </p:cNvSpPr>
          <p:nvPr/>
        </p:nvSpPr>
        <p:spPr>
          <a:xfrm xmlns:a="http://schemas.openxmlformats.org/drawingml/2006/main">
            <a:off x="3054096" y="3118104"/>
            <a:ext cx="420624" cy="420624"/>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5" name="Image 7"/>
          <p:cNvPicPr>
            <a:picLocks xmlns:a="http://schemas.openxmlformats.org/drawingml/2006/main" noChangeAspect="1"/>
          </p:cNvPicPr>
          <p:nvPr/>
        </p:nvPicPr>
        <p:blipFill>
          <a:blip xmlns:r="http://schemas.openxmlformats.org/officeDocument/2006/relationships" xmlns:a="http://schemas.openxmlformats.org/drawingml/2006/main" r:embed="R5c996ac9a03845bc">
            <a:extLst>
              <a:ext uri="{96DAC541-7B7A-43D3-8B79-37D633B846F1}">
                <asvg:svgBlip xmlns:asvg="http://schemas.microsoft.com/office/drawing/2016/SVG/main" r:embed="Ra0030dbd915a48a5"/>
              </a:ext>
            </a:extLst>
          </a:blip>
          <a:stretch xmlns:a="http://schemas.openxmlformats.org/drawingml/2006/main">
            <a:fillRect l="0" t="0" r="0" b="0"/>
          </a:stretch>
        </p:blipFill>
        <p:spPr>
          <a:xfrm xmlns:a="http://schemas.openxmlformats.org/drawingml/2006/main">
            <a:off x="3163824" y="3227832"/>
            <a:ext cx="201168" cy="201168"/>
          </a:xfrm>
          <a:prstGeom xmlns:a="http://schemas.openxmlformats.org/drawingml/2006/main" prst="rect">
            <a:avLst/>
          </a:prstGeom>
        </p:spPr>
      </p:pic>
      <p:sp>
        <p:nvSpPr>
          <p:cNvPr id="32" name="Text 22">
            <a:extLst xmlns:a="http://schemas.openxmlformats.org/drawingml/2006/main">
              <a:ext uri="{FF2B5EF4-FFF2-40B4-BE49-F238E27FC236}">
                <a16:creationId xmlns:a16="http://schemas.microsoft.com/office/drawing/2014/main" id="{8519D016-318D-48A4-AE99-E6BE2013B364}"/>
              </a:ext>
            </a:extLst>
          </p:cNvPr>
          <p:cNvSpPr>
            <a:spLocks xmlns:a="http://schemas.openxmlformats.org/drawingml/2006/main" noGrp="1"/>
          </p:cNvSpPr>
          <p:nvPr/>
        </p:nvSpPr>
        <p:spPr>
          <a:xfrm xmlns:a="http://schemas.openxmlformats.org/drawingml/2006/main">
            <a:off x="3584448"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VERIFY</a:t>
            </a:r>
            <a:endParaRPr sz="1050"/>
          </a:p>
        </p:txBody>
      </p:sp>
      <p:sp>
        <p:nvSpPr>
          <p:cNvPr id="33" name="Shape 23">
            <a:extLst xmlns:a="http://schemas.openxmlformats.org/drawingml/2006/main">
              <a:ext uri="{FF2B5EF4-FFF2-40B4-BE49-F238E27FC236}">
                <a16:creationId xmlns:a16="http://schemas.microsoft.com/office/drawing/2014/main" id="{164B499C-37A6-4C75-9C0F-CF7946712AB9}"/>
              </a:ext>
            </a:extLst>
          </p:cNvPr>
          <p:cNvSpPr>
            <a:spLocks xmlns:a="http://schemas.openxmlformats.org/drawingml/2006/main" noGrp="1"/>
          </p:cNvSpPr>
          <p:nvPr/>
        </p:nvSpPr>
        <p:spPr>
          <a:xfrm xmlns:a="http://schemas.openxmlformats.org/drawingml/2006/main">
            <a:off x="4736592"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4" name="Shape 24">
            <a:extLst xmlns:a="http://schemas.openxmlformats.org/drawingml/2006/main">
              <a:ext uri="{FF2B5EF4-FFF2-40B4-BE49-F238E27FC236}">
                <a16:creationId xmlns:a16="http://schemas.microsoft.com/office/drawing/2014/main" id="{70A1645D-45D1-4F62-889F-C11E9CA0856A}"/>
              </a:ext>
            </a:extLst>
          </p:cNvPr>
          <p:cNvSpPr>
            <a:spLocks xmlns:a="http://schemas.openxmlformats.org/drawingml/2006/main" noGrp="1"/>
          </p:cNvSpPr>
          <p:nvPr/>
        </p:nvSpPr>
        <p:spPr>
          <a:xfrm xmlns:a="http://schemas.openxmlformats.org/drawingml/2006/main">
            <a:off x="5212080" y="3118104"/>
            <a:ext cx="420624" cy="420624"/>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Image 8"/>
          <p:cNvPicPr>
            <a:picLocks xmlns:a="http://schemas.openxmlformats.org/drawingml/2006/main" noChangeAspect="1"/>
          </p:cNvPicPr>
          <p:nvPr/>
        </p:nvPicPr>
        <p:blipFill>
          <a:blip xmlns:r="http://schemas.openxmlformats.org/officeDocument/2006/relationships" xmlns:a="http://schemas.openxmlformats.org/drawingml/2006/main" r:embed="R2b82426e2c634dad">
            <a:extLst>
              <a:ext uri="{96DAC541-7B7A-43D3-8B79-37D633B846F1}">
                <asvg:svgBlip xmlns:asvg="http://schemas.microsoft.com/office/drawing/2016/SVG/main" r:embed="R0b8d984cbcb9403c"/>
              </a:ext>
            </a:extLst>
          </a:blip>
          <a:stretch xmlns:a="http://schemas.openxmlformats.org/drawingml/2006/main">
            <a:fillRect l="0" t="0" r="0" b="0"/>
          </a:stretch>
        </p:blipFill>
        <p:spPr>
          <a:xfrm xmlns:a="http://schemas.openxmlformats.org/drawingml/2006/main">
            <a:off x="5321808" y="3227832"/>
            <a:ext cx="201168" cy="201168"/>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094F94A0-816D-420E-BE69-6E1FFE6DC41B}"/>
              </a:ext>
            </a:extLst>
          </p:cNvPr>
          <p:cNvSpPr>
            <a:spLocks xmlns:a="http://schemas.openxmlformats.org/drawingml/2006/main" noGrp="1"/>
          </p:cNvSpPr>
          <p:nvPr/>
        </p:nvSpPr>
        <p:spPr>
          <a:xfrm xmlns:a="http://schemas.openxmlformats.org/drawingml/2006/main">
            <a:off x="5742432"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AUTHENTICATE</a:t>
            </a:r>
            <a:endParaRPr sz="1050"/>
          </a:p>
        </p:txBody>
      </p:sp>
      <p:sp>
        <p:nvSpPr>
          <p:cNvPr id="37" name="Shape 26">
            <a:extLst xmlns:a="http://schemas.openxmlformats.org/drawingml/2006/main">
              <a:ext uri="{FF2B5EF4-FFF2-40B4-BE49-F238E27FC236}">
                <a16:creationId xmlns:a16="http://schemas.microsoft.com/office/drawing/2014/main" id="{51143362-E8C7-4231-BCC8-D8EC611433E1}"/>
              </a:ext>
            </a:extLst>
          </p:cNvPr>
          <p:cNvSpPr>
            <a:spLocks xmlns:a="http://schemas.openxmlformats.org/drawingml/2006/main" noGrp="1"/>
          </p:cNvSpPr>
          <p:nvPr/>
        </p:nvSpPr>
        <p:spPr>
          <a:xfrm xmlns:a="http://schemas.openxmlformats.org/drawingml/2006/main">
            <a:off x="6894576"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8" name="Shape 27">
            <a:extLst xmlns:a="http://schemas.openxmlformats.org/drawingml/2006/main">
              <a:ext uri="{FF2B5EF4-FFF2-40B4-BE49-F238E27FC236}">
                <a16:creationId xmlns:a16="http://schemas.microsoft.com/office/drawing/2014/main" id="{BAA83DB7-1081-424C-B9C3-93BD281067AC}"/>
              </a:ext>
            </a:extLst>
          </p:cNvPr>
          <p:cNvSpPr>
            <a:spLocks xmlns:a="http://schemas.openxmlformats.org/drawingml/2006/main" noGrp="1"/>
          </p:cNvSpPr>
          <p:nvPr/>
        </p:nvSpPr>
        <p:spPr>
          <a:xfrm xmlns:a="http://schemas.openxmlformats.org/drawingml/2006/main">
            <a:off x="7370064" y="3118104"/>
            <a:ext cx="420624" cy="420624"/>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3" name="Image 9"/>
          <p:cNvPicPr>
            <a:picLocks xmlns:a="http://schemas.openxmlformats.org/drawingml/2006/main" noChangeAspect="1"/>
          </p:cNvPicPr>
          <p:nvPr/>
        </p:nvPicPr>
        <p:blipFill>
          <a:blip xmlns:r="http://schemas.openxmlformats.org/officeDocument/2006/relationships" xmlns:a="http://schemas.openxmlformats.org/drawingml/2006/main" r:embed="R50edb2e4433a478f">
            <a:extLst>
              <a:ext uri="{96DAC541-7B7A-43D3-8B79-37D633B846F1}">
                <asvg:svgBlip xmlns:asvg="http://schemas.microsoft.com/office/drawing/2016/SVG/main" r:embed="R55bf1d42733648fe"/>
              </a:ext>
            </a:extLst>
          </a:blip>
          <a:stretch xmlns:a="http://schemas.openxmlformats.org/drawingml/2006/main">
            <a:fillRect l="0" t="0" r="0" b="0"/>
          </a:stretch>
        </p:blipFill>
        <p:spPr>
          <a:xfrm xmlns:a="http://schemas.openxmlformats.org/drawingml/2006/main">
            <a:off x="7479792" y="3227832"/>
            <a:ext cx="201168" cy="201168"/>
          </a:xfrm>
          <a:prstGeom xmlns:a="http://schemas.openxmlformats.org/drawingml/2006/main" prst="rect">
            <a:avLst/>
          </a:prstGeom>
        </p:spPr>
      </p:pic>
      <p:sp>
        <p:nvSpPr>
          <p:cNvPr id="40" name="Text 28">
            <a:extLst xmlns:a="http://schemas.openxmlformats.org/drawingml/2006/main">
              <a:ext uri="{FF2B5EF4-FFF2-40B4-BE49-F238E27FC236}">
                <a16:creationId xmlns:a16="http://schemas.microsoft.com/office/drawing/2014/main" id="{E68EEACE-2477-4EBA-A7BC-EE610E61FB2D}"/>
              </a:ext>
            </a:extLst>
          </p:cNvPr>
          <p:cNvSpPr>
            <a:spLocks xmlns:a="http://schemas.openxmlformats.org/drawingml/2006/main" noGrp="1"/>
          </p:cNvSpPr>
          <p:nvPr/>
        </p:nvSpPr>
        <p:spPr>
          <a:xfrm xmlns:a="http://schemas.openxmlformats.org/drawingml/2006/main">
            <a:off x="7900416"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SCOPE</a:t>
            </a:r>
            <a:endParaRPr sz="1050"/>
          </a:p>
        </p:txBody>
      </p:sp>
      <p:sp>
        <p:nvSpPr>
          <p:cNvPr id="41" name="Shape 29">
            <a:extLst xmlns:a="http://schemas.openxmlformats.org/drawingml/2006/main">
              <a:ext uri="{FF2B5EF4-FFF2-40B4-BE49-F238E27FC236}">
                <a16:creationId xmlns:a16="http://schemas.microsoft.com/office/drawing/2014/main" id="{599C9F6B-61E2-45E2-8144-4AF552C7DE17}"/>
              </a:ext>
            </a:extLst>
          </p:cNvPr>
          <p:cNvSpPr>
            <a:spLocks xmlns:a="http://schemas.openxmlformats.org/drawingml/2006/main" noGrp="1"/>
          </p:cNvSpPr>
          <p:nvPr/>
        </p:nvSpPr>
        <p:spPr>
          <a:xfrm xmlns:a="http://schemas.openxmlformats.org/drawingml/2006/main">
            <a:off x="9052560"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2" name="Shape 30">
            <a:extLst xmlns:a="http://schemas.openxmlformats.org/drawingml/2006/main">
              <a:ext uri="{FF2B5EF4-FFF2-40B4-BE49-F238E27FC236}">
                <a16:creationId xmlns:a16="http://schemas.microsoft.com/office/drawing/2014/main" id="{44CC654E-DE38-4B2C-868C-81DE9CE165E8}"/>
              </a:ext>
            </a:extLst>
          </p:cNvPr>
          <p:cNvSpPr>
            <a:spLocks xmlns:a="http://schemas.openxmlformats.org/drawingml/2006/main" noGrp="1"/>
          </p:cNvSpPr>
          <p:nvPr/>
        </p:nvSpPr>
        <p:spPr>
          <a:xfrm xmlns:a="http://schemas.openxmlformats.org/drawingml/2006/main">
            <a:off x="9528048" y="3118104"/>
            <a:ext cx="420624" cy="420624"/>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7" name="Image 10"/>
          <p:cNvPicPr>
            <a:picLocks xmlns:a="http://schemas.openxmlformats.org/drawingml/2006/main" noChangeAspect="1"/>
          </p:cNvPicPr>
          <p:nvPr/>
        </p:nvPicPr>
        <p:blipFill>
          <a:blip xmlns:r="http://schemas.openxmlformats.org/officeDocument/2006/relationships" xmlns:a="http://schemas.openxmlformats.org/drawingml/2006/main" r:embed="Rf77ab9f27981404a">
            <a:extLst>
              <a:ext uri="{96DAC541-7B7A-43D3-8B79-37D633B846F1}">
                <asvg:svgBlip xmlns:asvg="http://schemas.microsoft.com/office/drawing/2016/SVG/main" r:embed="R722540535054416e"/>
              </a:ext>
            </a:extLst>
          </a:blip>
          <a:stretch xmlns:a="http://schemas.openxmlformats.org/drawingml/2006/main">
            <a:fillRect l="0" t="0" r="0" b="0"/>
          </a:stretch>
        </p:blipFill>
        <p:spPr>
          <a:xfrm xmlns:a="http://schemas.openxmlformats.org/drawingml/2006/main">
            <a:off x="9637776" y="3239008"/>
            <a:ext cx="201168" cy="178816"/>
          </a:xfrm>
          <a:prstGeom xmlns:a="http://schemas.openxmlformats.org/drawingml/2006/main" prst="rect">
            <a:avLst/>
          </a:prstGeom>
        </p:spPr>
      </p:pic>
      <p:sp>
        <p:nvSpPr>
          <p:cNvPr id="44" name="Text 31">
            <a:extLst xmlns:a="http://schemas.openxmlformats.org/drawingml/2006/main">
              <a:ext uri="{FF2B5EF4-FFF2-40B4-BE49-F238E27FC236}">
                <a16:creationId xmlns:a16="http://schemas.microsoft.com/office/drawing/2014/main" id="{3E38E3E1-837D-4260-A8E7-0886003C2CF5}"/>
              </a:ext>
            </a:extLst>
          </p:cNvPr>
          <p:cNvSpPr>
            <a:spLocks xmlns:a="http://schemas.openxmlformats.org/drawingml/2006/main" noGrp="1"/>
          </p:cNvSpPr>
          <p:nvPr/>
        </p:nvSpPr>
        <p:spPr>
          <a:xfrm xmlns:a="http://schemas.openxmlformats.org/drawingml/2006/main">
            <a:off x="10058400"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OBSERVE</a:t>
            </a:r>
            <a:endParaRPr sz="1050"/>
          </a:p>
        </p:txBody>
      </p:sp>
      <p:sp>
        <p:nvSpPr>
          <p:cNvPr id="45" name="Shape 32">
            <a:extLst xmlns:a="http://schemas.openxmlformats.org/drawingml/2006/main">
              <a:ext uri="{FF2B5EF4-FFF2-40B4-BE49-F238E27FC236}">
                <a16:creationId xmlns:a16="http://schemas.microsoft.com/office/drawing/2014/main" id="{7E1C19B3-570A-46A0-8231-B33DF0408C7A}"/>
              </a:ext>
            </a:extLst>
          </p:cNvPr>
          <p:cNvSpPr>
            <a:spLocks xmlns:a="http://schemas.openxmlformats.org/drawingml/2006/main" noGrp="1"/>
          </p:cNvSpPr>
          <p:nvPr/>
        </p:nvSpPr>
        <p:spPr>
          <a:xfrm xmlns:a="http://schemas.openxmlformats.org/drawingml/2006/main">
            <a:off x="56692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46" name="Shape 33">
            <a:extLst xmlns:a="http://schemas.openxmlformats.org/drawingml/2006/main">
              <a:ext uri="{FF2B5EF4-FFF2-40B4-BE49-F238E27FC236}">
                <a16:creationId xmlns:a16="http://schemas.microsoft.com/office/drawing/2014/main" id="{88423E90-CD4C-495E-B8FB-BAF1C62FEB69}"/>
              </a:ext>
            </a:extLst>
          </p:cNvPr>
          <p:cNvSpPr>
            <a:spLocks xmlns:a="http://schemas.openxmlformats.org/drawingml/2006/main" noGrp="1"/>
          </p:cNvSpPr>
          <p:nvPr/>
        </p:nvSpPr>
        <p:spPr>
          <a:xfrm xmlns:a="http://schemas.openxmlformats.org/drawingml/2006/main">
            <a:off x="731520" y="4434840"/>
            <a:ext cx="438912" cy="438912"/>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31" name="Image 11"/>
          <p:cNvPicPr>
            <a:picLocks xmlns:a="http://schemas.openxmlformats.org/drawingml/2006/main" noChangeAspect="1"/>
          </p:cNvPicPr>
          <p:nvPr/>
        </p:nvPicPr>
        <p:blipFill>
          <a:blip xmlns:r="http://schemas.openxmlformats.org/officeDocument/2006/relationships" xmlns:a="http://schemas.openxmlformats.org/drawingml/2006/main" r:embed="R5661fae225f3483e">
            <a:extLst>
              <a:ext uri="{96DAC541-7B7A-43D3-8B79-37D633B846F1}">
                <asvg:svgBlip xmlns:asvg="http://schemas.microsoft.com/office/drawing/2016/SVG/main" r:embed="R67b7b137aa7a4050"/>
              </a:ext>
            </a:extLst>
          </a:blip>
          <a:stretch xmlns:a="http://schemas.openxmlformats.org/drawingml/2006/main">
            <a:fillRect l="0" t="0" r="0" b="0"/>
          </a:stretch>
        </p:blipFill>
        <p:spPr>
          <a:xfrm xmlns:a="http://schemas.openxmlformats.org/drawingml/2006/main">
            <a:off x="832104" y="4548632"/>
            <a:ext cx="237744" cy="211328"/>
          </a:xfrm>
          <a:prstGeom xmlns:a="http://schemas.openxmlformats.org/drawingml/2006/main" prst="rect">
            <a:avLst/>
          </a:prstGeom>
        </p:spPr>
      </p:pic>
      <p:sp>
        <p:nvSpPr>
          <p:cNvPr id="48" name="Text 34">
            <a:extLst xmlns:a="http://schemas.openxmlformats.org/drawingml/2006/main">
              <a:ext uri="{FF2B5EF4-FFF2-40B4-BE49-F238E27FC236}">
                <a16:creationId xmlns:a16="http://schemas.microsoft.com/office/drawing/2014/main" id="{B82F8EA1-9BE0-43DD-85B6-A568EEC74847}"/>
              </a:ext>
            </a:extLst>
          </p:cNvPr>
          <p:cNvSpPr>
            <a:spLocks xmlns:a="http://schemas.openxmlformats.org/drawingml/2006/main" noGrp="1"/>
          </p:cNvSpPr>
          <p:nvPr/>
        </p:nvSpPr>
        <p:spPr>
          <a:xfrm xmlns:a="http://schemas.openxmlformats.org/drawingml/2006/main">
            <a:off x="128016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Local</a:t>
            </a:r>
            <a:endParaRPr sz="1450"/>
          </a:p>
        </p:txBody>
      </p:sp>
      <p:sp>
        <p:nvSpPr>
          <p:cNvPr id="49" name="Text 35">
            <a:extLst xmlns:a="http://schemas.openxmlformats.org/drawingml/2006/main">
              <a:ext uri="{FF2B5EF4-FFF2-40B4-BE49-F238E27FC236}">
                <a16:creationId xmlns:a16="http://schemas.microsoft.com/office/drawing/2014/main" id="{21A89D64-8996-4E99-8327-6C551E33D124}"/>
              </a:ext>
            </a:extLst>
          </p:cNvPr>
          <p:cNvSpPr>
            <a:spLocks xmlns:a="http://schemas.openxmlformats.org/drawingml/2006/main" noGrp="1"/>
          </p:cNvSpPr>
          <p:nvPr/>
        </p:nvSpPr>
        <p:spPr>
          <a:xfrm xmlns:a="http://schemas.openxmlformats.org/drawingml/2006/main">
            <a:off x="128016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stdio · credentials from the local environment</a:t>
            </a:r>
            <a:endParaRPr sz="1050"/>
          </a:p>
        </p:txBody>
      </p:sp>
      <p:sp>
        <p:nvSpPr>
          <p:cNvPr id="50" name="Shape 36">
            <a:extLst xmlns:a="http://schemas.openxmlformats.org/drawingml/2006/main">
              <a:ext uri="{FF2B5EF4-FFF2-40B4-BE49-F238E27FC236}">
                <a16:creationId xmlns:a16="http://schemas.microsoft.com/office/drawing/2014/main" id="{3702C404-27E0-4C25-A875-694A52C0E77B}"/>
              </a:ext>
            </a:extLst>
          </p:cNvPr>
          <p:cNvSpPr>
            <a:spLocks xmlns:a="http://schemas.openxmlformats.org/drawingml/2006/main" noGrp="1"/>
          </p:cNvSpPr>
          <p:nvPr/>
        </p:nvSpPr>
        <p:spPr>
          <a:xfrm xmlns:a="http://schemas.openxmlformats.org/drawingml/2006/main">
            <a:off x="3264408" y="4443984"/>
            <a:ext cx="566928" cy="228600"/>
          </a:xfrm>
          <a:prstGeom xmlns:a="http://schemas.openxmlformats.org/drawingml/2006/main" prst="roundRect">
            <a:avLst>
              <a:gd name="adj" fmla="val 32000"/>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Text 37">
            <a:extLst xmlns:a="http://schemas.openxmlformats.org/drawingml/2006/main">
              <a:ext uri="{FF2B5EF4-FFF2-40B4-BE49-F238E27FC236}">
                <a16:creationId xmlns:a16="http://schemas.microsoft.com/office/drawing/2014/main" id="{624F2B6B-B0AA-4A89-911C-6CB1C7565F18}"/>
              </a:ext>
            </a:extLst>
          </p:cNvPr>
          <p:cNvSpPr>
            <a:spLocks xmlns:a="http://schemas.openxmlformats.org/drawingml/2006/main" noGrp="1"/>
          </p:cNvSpPr>
          <p:nvPr/>
        </p:nvSpPr>
        <p:spPr>
          <a:xfrm xmlns:a="http://schemas.openxmlformats.org/drawingml/2006/main">
            <a:off x="333756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5D4E7"/>
                </a:solidFill>
                <a:latin typeface="Inter"/>
                <a:ea typeface="Inter"/>
                <a:cs typeface="Inter"/>
              </a:rPr>
              <a:t>DEV</a:t>
            </a:r>
            <a:endParaRPr sz="850"/>
          </a:p>
        </p:txBody>
      </p:sp>
      <p:sp>
        <p:nvSpPr>
          <p:cNvPr id="52" name="Shape 38">
            <a:extLst xmlns:a="http://schemas.openxmlformats.org/drawingml/2006/main">
              <a:ext uri="{FF2B5EF4-FFF2-40B4-BE49-F238E27FC236}">
                <a16:creationId xmlns:a16="http://schemas.microsoft.com/office/drawing/2014/main" id="{EE480530-3A22-4944-AD87-AECCDF830334}"/>
              </a:ext>
            </a:extLst>
          </p:cNvPr>
          <p:cNvSpPr>
            <a:spLocks xmlns:a="http://schemas.openxmlformats.org/drawingml/2006/main" noGrp="1"/>
          </p:cNvSpPr>
          <p:nvPr/>
        </p:nvSpPr>
        <p:spPr>
          <a:xfrm xmlns:a="http://schemas.openxmlformats.org/drawingml/2006/main">
            <a:off x="436168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53" name="Shape 39">
            <a:extLst xmlns:a="http://schemas.openxmlformats.org/drawingml/2006/main">
              <a:ext uri="{FF2B5EF4-FFF2-40B4-BE49-F238E27FC236}">
                <a16:creationId xmlns:a16="http://schemas.microsoft.com/office/drawing/2014/main" id="{65C9135C-ED9D-4886-B147-15D0BC4438F2}"/>
              </a:ext>
            </a:extLst>
          </p:cNvPr>
          <p:cNvSpPr>
            <a:spLocks xmlns:a="http://schemas.openxmlformats.org/drawingml/2006/main" noGrp="1"/>
          </p:cNvSpPr>
          <p:nvPr/>
        </p:nvSpPr>
        <p:spPr>
          <a:xfrm xmlns:a="http://schemas.openxmlformats.org/drawingml/2006/main">
            <a:off x="4526280" y="4434840"/>
            <a:ext cx="438912" cy="438912"/>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38" name="Image 12"/>
          <p:cNvPicPr>
            <a:picLocks xmlns:a="http://schemas.openxmlformats.org/drawingml/2006/main" noChangeAspect="1"/>
          </p:cNvPicPr>
          <p:nvPr/>
        </p:nvPicPr>
        <p:blipFill>
          <a:blip xmlns:r="http://schemas.openxmlformats.org/officeDocument/2006/relationships" xmlns:a="http://schemas.openxmlformats.org/drawingml/2006/main" r:embed="R114239ebdc1e4497">
            <a:extLst>
              <a:ext uri="{96DAC541-7B7A-43D3-8B79-37D633B846F1}">
                <asvg:svgBlip xmlns:asvg="http://schemas.microsoft.com/office/drawing/2016/SVG/main" r:embed="R82307b1d9a084cf3"/>
              </a:ext>
            </a:extLst>
          </a:blip>
          <a:stretch xmlns:a="http://schemas.openxmlformats.org/drawingml/2006/main">
            <a:fillRect l="0" t="0" r="0" b="0"/>
          </a:stretch>
        </p:blipFill>
        <p:spPr>
          <a:xfrm xmlns:a="http://schemas.openxmlformats.org/drawingml/2006/main">
            <a:off x="4626864" y="4535424"/>
            <a:ext cx="237744" cy="237744"/>
          </a:xfrm>
          <a:prstGeom xmlns:a="http://schemas.openxmlformats.org/drawingml/2006/main" prst="rect">
            <a:avLst/>
          </a:prstGeom>
        </p:spPr>
      </p:pic>
      <p:sp>
        <p:nvSpPr>
          <p:cNvPr id="55" name="Text 40">
            <a:extLst xmlns:a="http://schemas.openxmlformats.org/drawingml/2006/main">
              <a:ext uri="{FF2B5EF4-FFF2-40B4-BE49-F238E27FC236}">
                <a16:creationId xmlns:a16="http://schemas.microsoft.com/office/drawing/2014/main" id="{B69EFD9E-D48D-4330-9DCA-AD53643B7124}"/>
              </a:ext>
            </a:extLst>
          </p:cNvPr>
          <p:cNvSpPr>
            <a:spLocks xmlns:a="http://schemas.openxmlformats.org/drawingml/2006/main" noGrp="1"/>
          </p:cNvSpPr>
          <p:nvPr/>
        </p:nvSpPr>
        <p:spPr>
          <a:xfrm xmlns:a="http://schemas.openxmlformats.org/drawingml/2006/main">
            <a:off x="507492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Remote</a:t>
            </a:r>
            <a:endParaRPr sz="1450"/>
          </a:p>
        </p:txBody>
      </p:sp>
      <p:sp>
        <p:nvSpPr>
          <p:cNvPr id="56" name="Text 41">
            <a:extLst xmlns:a="http://schemas.openxmlformats.org/drawingml/2006/main">
              <a:ext uri="{FF2B5EF4-FFF2-40B4-BE49-F238E27FC236}">
                <a16:creationId xmlns:a16="http://schemas.microsoft.com/office/drawing/2014/main" id="{03486D4F-07DE-4F1C-928F-DB18337B7DC8}"/>
              </a:ext>
            </a:extLst>
          </p:cNvPr>
          <p:cNvSpPr>
            <a:spLocks xmlns:a="http://schemas.openxmlformats.org/drawingml/2006/main" noGrp="1"/>
          </p:cNvSpPr>
          <p:nvPr/>
        </p:nvSpPr>
        <p:spPr>
          <a:xfrm xmlns:a="http://schemas.openxmlformats.org/drawingml/2006/main">
            <a:off x="507492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OAuth 2.1 · scoped bearer tokens · PKCE</a:t>
            </a:r>
            <a:endParaRPr sz="1050"/>
          </a:p>
        </p:txBody>
      </p:sp>
      <p:sp>
        <p:nvSpPr>
          <p:cNvPr id="57" name="Shape 42">
            <a:extLst xmlns:a="http://schemas.openxmlformats.org/drawingml/2006/main">
              <a:ext uri="{FF2B5EF4-FFF2-40B4-BE49-F238E27FC236}">
                <a16:creationId xmlns:a16="http://schemas.microsoft.com/office/drawing/2014/main" id="{1E7E78EF-5C1E-4F97-932A-ABD0C3C726AD}"/>
              </a:ext>
            </a:extLst>
          </p:cNvPr>
          <p:cNvSpPr>
            <a:spLocks xmlns:a="http://schemas.openxmlformats.org/drawingml/2006/main" noGrp="1"/>
          </p:cNvSpPr>
          <p:nvPr/>
        </p:nvSpPr>
        <p:spPr>
          <a:xfrm xmlns:a="http://schemas.openxmlformats.org/drawingml/2006/main">
            <a:off x="7059168" y="4443984"/>
            <a:ext cx="566928" cy="228600"/>
          </a:xfrm>
          <a:prstGeom xmlns:a="http://schemas.openxmlformats.org/drawingml/2006/main" prst="roundRect">
            <a:avLst>
              <a:gd name="adj" fmla="val 32000"/>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8" name="Text 43">
            <a:extLst xmlns:a="http://schemas.openxmlformats.org/drawingml/2006/main">
              <a:ext uri="{FF2B5EF4-FFF2-40B4-BE49-F238E27FC236}">
                <a16:creationId xmlns:a16="http://schemas.microsoft.com/office/drawing/2014/main" id="{AF031C38-6574-4AF0-BA7A-6E56CBBEB0B1}"/>
              </a:ext>
            </a:extLst>
          </p:cNvPr>
          <p:cNvSpPr>
            <a:spLocks xmlns:a="http://schemas.openxmlformats.org/drawingml/2006/main" noGrp="1"/>
          </p:cNvSpPr>
          <p:nvPr/>
        </p:nvSpPr>
        <p:spPr>
          <a:xfrm xmlns:a="http://schemas.openxmlformats.org/drawingml/2006/main">
            <a:off x="713232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5B7CFF"/>
                </a:solidFill>
                <a:latin typeface="Inter"/>
                <a:ea typeface="Inter"/>
                <a:cs typeface="Inter"/>
              </a:rPr>
              <a:t>HTTP</a:t>
            </a:r>
            <a:endParaRPr sz="850"/>
          </a:p>
        </p:txBody>
      </p:sp>
      <p:sp>
        <p:nvSpPr>
          <p:cNvPr id="59" name="Shape 44">
            <a:extLst xmlns:a="http://schemas.openxmlformats.org/drawingml/2006/main">
              <a:ext uri="{FF2B5EF4-FFF2-40B4-BE49-F238E27FC236}">
                <a16:creationId xmlns:a16="http://schemas.microsoft.com/office/drawing/2014/main" id="{C0E8EE53-9062-4D4F-B629-A6B4F0D614DF}"/>
              </a:ext>
            </a:extLst>
          </p:cNvPr>
          <p:cNvSpPr>
            <a:spLocks xmlns:a="http://schemas.openxmlformats.org/drawingml/2006/main" noGrp="1"/>
          </p:cNvSpPr>
          <p:nvPr/>
        </p:nvSpPr>
        <p:spPr>
          <a:xfrm xmlns:a="http://schemas.openxmlformats.org/drawingml/2006/main">
            <a:off x="815644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0" name="Shape 45">
            <a:extLst xmlns:a="http://schemas.openxmlformats.org/drawingml/2006/main">
              <a:ext uri="{FF2B5EF4-FFF2-40B4-BE49-F238E27FC236}">
                <a16:creationId xmlns:a16="http://schemas.microsoft.com/office/drawing/2014/main" id="{F84A2B57-7674-465B-AA1D-D0DD800182C9}"/>
              </a:ext>
            </a:extLst>
          </p:cNvPr>
          <p:cNvSpPr>
            <a:spLocks xmlns:a="http://schemas.openxmlformats.org/drawingml/2006/main" noGrp="1"/>
          </p:cNvSpPr>
          <p:nvPr/>
        </p:nvSpPr>
        <p:spPr>
          <a:xfrm xmlns:a="http://schemas.openxmlformats.org/drawingml/2006/main">
            <a:off x="8321040" y="4434840"/>
            <a:ext cx="438912" cy="438912"/>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45" name="Image 13"/>
          <p:cNvPicPr>
            <a:picLocks xmlns:a="http://schemas.openxmlformats.org/drawingml/2006/main" noChangeAspect="1"/>
          </p:cNvPicPr>
          <p:nvPr/>
        </p:nvPicPr>
        <p:blipFill>
          <a:blip xmlns:r="http://schemas.openxmlformats.org/officeDocument/2006/relationships" xmlns:a="http://schemas.openxmlformats.org/drawingml/2006/main" r:embed="R29778e6100c84f4e">
            <a:extLst>
              <a:ext uri="{96DAC541-7B7A-43D3-8B79-37D633B846F1}">
                <asvg:svgBlip xmlns:asvg="http://schemas.microsoft.com/office/drawing/2016/SVG/main" r:embed="Rce16b5a8595444b1"/>
              </a:ext>
            </a:extLst>
          </a:blip>
          <a:stretch xmlns:a="http://schemas.openxmlformats.org/drawingml/2006/main">
            <a:fillRect l="0" t="0" r="0" b="0"/>
          </a:stretch>
        </p:blipFill>
        <p:spPr>
          <a:xfrm xmlns:a="http://schemas.openxmlformats.org/drawingml/2006/main">
            <a:off x="8451342" y="4535424"/>
            <a:ext cx="178308" cy="237744"/>
          </a:xfrm>
          <a:prstGeom xmlns:a="http://schemas.openxmlformats.org/drawingml/2006/main" prst="rect">
            <a:avLst/>
          </a:prstGeom>
        </p:spPr>
      </p:pic>
      <p:sp>
        <p:nvSpPr>
          <p:cNvPr id="62" name="Text 46">
            <a:extLst xmlns:a="http://schemas.openxmlformats.org/drawingml/2006/main">
              <a:ext uri="{FF2B5EF4-FFF2-40B4-BE49-F238E27FC236}">
                <a16:creationId xmlns:a16="http://schemas.microsoft.com/office/drawing/2014/main" id="{9D7D1A89-B9FA-4E9E-9F2B-2CF565039F5F}"/>
              </a:ext>
            </a:extLst>
          </p:cNvPr>
          <p:cNvSpPr>
            <a:spLocks xmlns:a="http://schemas.openxmlformats.org/drawingml/2006/main" noGrp="1"/>
          </p:cNvSpPr>
          <p:nvPr/>
        </p:nvSpPr>
        <p:spPr>
          <a:xfrm xmlns:a="http://schemas.openxmlformats.org/drawingml/2006/main">
            <a:off x="886968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Users</a:t>
            </a:r>
            <a:endParaRPr sz="1450"/>
          </a:p>
        </p:txBody>
      </p:sp>
      <p:sp>
        <p:nvSpPr>
          <p:cNvPr id="63" name="Text 47">
            <a:extLst xmlns:a="http://schemas.openxmlformats.org/drawingml/2006/main">
              <a:ext uri="{FF2B5EF4-FFF2-40B4-BE49-F238E27FC236}">
                <a16:creationId xmlns:a16="http://schemas.microsoft.com/office/drawing/2014/main" id="{37EF4812-0ACE-4229-834D-DCC987744EC1}"/>
              </a:ext>
            </a:extLst>
          </p:cNvPr>
          <p:cNvSpPr>
            <a:spLocks xmlns:a="http://schemas.openxmlformats.org/drawingml/2006/main" noGrp="1"/>
          </p:cNvSpPr>
          <p:nvPr/>
        </p:nvSpPr>
        <p:spPr>
          <a:xfrm xmlns:a="http://schemas.openxmlformats.org/drawingml/2006/main">
            <a:off x="886968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Identity provider manages sign-in, roles and offboarding</a:t>
            </a:r>
            <a:endParaRPr sz="1050"/>
          </a:p>
        </p:txBody>
      </p:sp>
      <p:sp>
        <p:nvSpPr>
          <p:cNvPr id="64" name="Shape 48">
            <a:extLst xmlns:a="http://schemas.openxmlformats.org/drawingml/2006/main">
              <a:ext uri="{FF2B5EF4-FFF2-40B4-BE49-F238E27FC236}">
                <a16:creationId xmlns:a16="http://schemas.microsoft.com/office/drawing/2014/main" id="{D1B8FE81-9885-4F8C-A039-A1A766CE8D0D}"/>
              </a:ext>
            </a:extLst>
          </p:cNvPr>
          <p:cNvSpPr>
            <a:spLocks xmlns:a="http://schemas.openxmlformats.org/drawingml/2006/main" noGrp="1"/>
          </p:cNvSpPr>
          <p:nvPr/>
        </p:nvSpPr>
        <p:spPr>
          <a:xfrm xmlns:a="http://schemas.openxmlformats.org/drawingml/2006/main">
            <a:off x="10853928" y="4443984"/>
            <a:ext cx="566928" cy="228600"/>
          </a:xfrm>
          <a:prstGeom xmlns:a="http://schemas.openxmlformats.org/drawingml/2006/main" prst="roundRect">
            <a:avLst>
              <a:gd name="adj" fmla="val 32000"/>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5" name="Text 49">
            <a:extLst xmlns:a="http://schemas.openxmlformats.org/drawingml/2006/main">
              <a:ext uri="{FF2B5EF4-FFF2-40B4-BE49-F238E27FC236}">
                <a16:creationId xmlns:a16="http://schemas.microsoft.com/office/drawing/2014/main" id="{72796DEC-7DAA-4E91-B1C3-51D397C7FA15}"/>
              </a:ext>
            </a:extLst>
          </p:cNvPr>
          <p:cNvSpPr>
            <a:spLocks xmlns:a="http://schemas.openxmlformats.org/drawingml/2006/main" noGrp="1"/>
          </p:cNvSpPr>
          <p:nvPr/>
        </p:nvSpPr>
        <p:spPr>
          <a:xfrm xmlns:a="http://schemas.openxmlformats.org/drawingml/2006/main">
            <a:off x="1092708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7B955"/>
                </a:solidFill>
                <a:latin typeface="Inter"/>
                <a:ea typeface="Inter"/>
                <a:cs typeface="Inter"/>
              </a:rPr>
              <a:t>IDP</a:t>
            </a:r>
            <a:endParaRPr sz="850"/>
          </a:p>
        </p:txBody>
      </p:sp>
      <p:sp>
        <p:nvSpPr>
          <p:cNvPr id="66" name="Shape 50">
            <a:extLst xmlns:a="http://schemas.openxmlformats.org/drawingml/2006/main">
              <a:ext uri="{FF2B5EF4-FFF2-40B4-BE49-F238E27FC236}">
                <a16:creationId xmlns:a16="http://schemas.microsoft.com/office/drawing/2014/main" id="{58608659-BDD4-400E-A58C-9C6619CBB79D}"/>
              </a:ext>
            </a:extLst>
          </p:cNvPr>
          <p:cNvSpPr>
            <a:spLocks xmlns:a="http://schemas.openxmlformats.org/drawingml/2006/main" noGrp="1"/>
          </p:cNvSpPr>
          <p:nvPr/>
        </p:nvSpPr>
        <p:spPr>
          <a:xfrm xmlns:a="http://schemas.openxmlformats.org/drawingml/2006/main">
            <a:off x="4224528" y="5870448"/>
            <a:ext cx="3749040" cy="365760"/>
          </a:xfrm>
          <a:prstGeom xmlns:a="http://schemas.openxmlformats.org/drawingml/2006/main" prst="roundRect">
            <a:avLst>
              <a:gd name="adj" fmla="val 20000"/>
            </a:avLst>
          </a:prstGeom>
          <a:solidFill xmlns:a="http://schemas.openxmlformats.org/drawingml/2006/main">
            <a:srgbClr val="FF647C">
              <a:alpha val="14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7" name="Text 51">
            <a:extLst xmlns:a="http://schemas.openxmlformats.org/drawingml/2006/main">
              <a:ext uri="{FF2B5EF4-FFF2-40B4-BE49-F238E27FC236}">
                <a16:creationId xmlns:a16="http://schemas.microsoft.com/office/drawing/2014/main" id="{7DDA179F-9D1E-4925-8AD1-ADCFF1D9AE4C}"/>
              </a:ext>
            </a:extLst>
          </p:cNvPr>
          <p:cNvSpPr>
            <a:spLocks xmlns:a="http://schemas.openxmlformats.org/drawingml/2006/main" noGrp="1"/>
          </p:cNvSpPr>
          <p:nvPr/>
        </p:nvSpPr>
        <p:spPr>
          <a:xfrm xmlns:a="http://schemas.openxmlformats.org/drawingml/2006/main">
            <a:off x="4297680" y="5879592"/>
            <a:ext cx="3602736"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20" b="1">
                <a:solidFill>
                  <a:srgbClr val="FF647C"/>
                </a:solidFill>
                <a:latin typeface="Inter"/>
                <a:ea typeface="Inter"/>
                <a:cs typeface="Inter"/>
              </a:rPr>
              <a:t>REGISTRY ≠ ENDORSEMENT</a:t>
            </a:r>
            <a:endParaRPr sz="1120"/>
          </a:p>
        </p:txBody>
      </p:sp>
      <p:sp>
        <p:nvSpPr>
          <p:cNvPr id="68" name="Shape 52">
            <a:extLst xmlns:a="http://schemas.openxmlformats.org/drawingml/2006/main">
              <a:ext uri="{FF2B5EF4-FFF2-40B4-BE49-F238E27FC236}">
                <a16:creationId xmlns:a16="http://schemas.microsoft.com/office/drawing/2014/main" id="{E78F2D87-A69B-45A3-A510-2A8A7E5ACA5A}"/>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9" name="Text 53">
            <a:extLst xmlns:a="http://schemas.openxmlformats.org/drawingml/2006/main">
              <a:ext uri="{FF2B5EF4-FFF2-40B4-BE49-F238E27FC236}">
                <a16:creationId xmlns:a16="http://schemas.microsoft.com/office/drawing/2014/main" id="{1BF5AC95-5E4E-4CC4-9897-1060F8116283}"/>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70" name="Text 54">
            <a:extLst xmlns:a="http://schemas.openxmlformats.org/drawingml/2006/main">
              <a:ext uri="{FF2B5EF4-FFF2-40B4-BE49-F238E27FC236}">
                <a16:creationId xmlns:a16="http://schemas.microsoft.com/office/drawing/2014/main" id="{7F48E98E-9224-496D-810F-DBCB28F18C51}"/>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1" name="Text 55">
            <a:extLst xmlns:a="http://schemas.openxmlformats.org/drawingml/2006/main">
              <a:ext uri="{FF2B5EF4-FFF2-40B4-BE49-F238E27FC236}">
                <a16:creationId xmlns:a16="http://schemas.microsoft.com/office/drawing/2014/main" id="{2C19A38B-79E4-460F-AC3B-983BF513281A}"/>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04</a:t>
            </a:r>
            <a:endParaRPr sz="850"/>
          </a:p>
        </p:txBody>
      </p:sp>
    </p:spTree>
    <p:extLst>
      <p:ext uri="{BB962C8B-B14F-4D97-AF65-F5344CB8AC3E}">
        <p14:creationId xmlns:p14="http://schemas.microsoft.com/office/powerpoint/2010/main" val="212163793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68" name="Image 0"/>
          <p:cNvPicPr>
            <a:picLocks xmlns:a="http://schemas.openxmlformats.org/drawingml/2006/main" noChangeAspect="1"/>
          </p:cNvPicPr>
          <p:nvPr/>
        </p:nvPicPr>
        <p:blipFill>
          <a:blip xmlns:r="http://schemas.openxmlformats.org/officeDocument/2006/relationships" xmlns:a="http://schemas.openxmlformats.org/drawingml/2006/main" r:embed="R597e126bba3d4e5a">
            <a:extLst>
              <a:ext uri="{96DAC541-7B7A-43D3-8B79-37D633B846F1}">
                <asvg:svgBlip xmlns:asvg="http://schemas.microsoft.com/office/drawing/2016/SVG/main" r:embed="R12de90f7592e45f4"/>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FDCF8140-3E40-45CB-AA58-3F964CFA6973}"/>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BORED APES · MEME COINS · VERY CALM MARKETS</a:t>
            </a:r>
            <a:endParaRPr sz="950"/>
          </a:p>
        </p:txBody>
      </p:sp>
      <p:sp>
        <p:nvSpPr>
          <p:cNvPr id="4" name="Text 1">
            <a:extLst xmlns:a="http://schemas.openxmlformats.org/drawingml/2006/main">
              <a:ext uri="{FF2B5EF4-FFF2-40B4-BE49-F238E27FC236}">
                <a16:creationId xmlns:a16="http://schemas.microsoft.com/office/drawing/2014/main" id="{ACDB3A7E-3FE5-4E4B-9A49-A5BC194EE0A7}"/>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Customer acquisition: the VC arrives</a:t>
            </a:r>
            <a:endParaRPr sz="2700"/>
          </a:p>
        </p:txBody>
      </p:sp>
      <p:sp>
        <p:nvSpPr>
          <p:cNvPr id="5" name="Shape 2">
            <a:extLst xmlns:a="http://schemas.openxmlformats.org/drawingml/2006/main">
              <a:ext uri="{FF2B5EF4-FFF2-40B4-BE49-F238E27FC236}">
                <a16:creationId xmlns:a16="http://schemas.microsoft.com/office/drawing/2014/main" id="{C7A88CFA-F9AC-4289-BB0B-6E9D577EA6F5}"/>
              </a:ext>
            </a:extLst>
          </p:cNvPr>
          <p:cNvSpPr>
            <a:spLocks xmlns:a="http://schemas.openxmlformats.org/drawingml/2006/main" noGrp="1"/>
          </p:cNvSpPr>
          <p:nvPr/>
        </p:nvSpPr>
        <p:spPr>
          <a:xfrm xmlns:a="http://schemas.openxmlformats.org/drawingml/2006/main">
            <a:off x="566928" y="1417320"/>
            <a:ext cx="3794760" cy="4480560"/>
          </a:xfrm>
          <a:prstGeom xmlns:a="http://schemas.openxmlformats.org/drawingml/2006/main" prst="roundRect">
            <a:avLst>
              <a:gd name="adj" fmla="val 1928"/>
            </a:avLst>
          </a:prstGeom>
          <a:solidFill xmlns:a="http://schemas.openxmlformats.org/drawingml/2006/main">
            <a:srgbClr val="11182A"/>
          </a:solidFill>
          <a:ln xmlns:a="http://schemas.openxmlformats.org/drawingml/2006/main" w="12700">
            <a:solidFill>
              <a:srgbClr val="A879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7AD2CFA4-D58B-4F92-90A6-138813C2ED8F}"/>
              </a:ext>
            </a:extLst>
          </p:cNvPr>
          <p:cNvSpPr>
            <a:spLocks xmlns:a="http://schemas.openxmlformats.org/drawingml/2006/main" noGrp="1"/>
          </p:cNvSpPr>
          <p:nvPr/>
        </p:nvSpPr>
        <p:spPr>
          <a:xfrm xmlns:a="http://schemas.openxmlformats.org/drawingml/2006/main">
            <a:off x="868680" y="1719072"/>
            <a:ext cx="1481328" cy="310896"/>
          </a:xfrm>
          <a:prstGeom xmlns:a="http://schemas.openxmlformats.org/drawingml/2006/main" prst="roundRect">
            <a:avLst>
              <a:gd name="adj" fmla="val 23529"/>
            </a:avLst>
          </a:prstGeom>
          <a:solidFill xmlns:a="http://schemas.openxmlformats.org/drawingml/2006/main">
            <a:srgbClr val="A879FF">
              <a:alpha val="17000"/>
            </a:srgbClr>
          </a:solidFill>
          <a:ln xmlns:a="http://schemas.openxmlformats.org/drawingml/2006/main" w="12700">
            <a:solidFill>
              <a:srgbClr val="A879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3573F9D7-8A18-48BC-AA6C-A3171C85B334}"/>
              </a:ext>
            </a:extLst>
          </p:cNvPr>
          <p:cNvSpPr>
            <a:spLocks xmlns:a="http://schemas.openxmlformats.org/drawingml/2006/main" noGrp="1"/>
          </p:cNvSpPr>
          <p:nvPr/>
        </p:nvSpPr>
        <p:spPr>
          <a:xfrm xmlns:a="http://schemas.openxmlformats.org/drawingml/2006/main">
            <a:off x="941832" y="1728216"/>
            <a:ext cx="133502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D8C5FF"/>
                </a:solidFill>
                <a:latin typeface="Inter"/>
                <a:ea typeface="Inter"/>
                <a:cs typeface="Inter"/>
              </a:rPr>
              <a:t>PRIORITY CUSTOMER</a:t>
            </a:r>
            <a:endParaRPr sz="860"/>
          </a:p>
        </p:txBody>
      </p:sp>
      <p:sp>
        <p:nvSpPr>
          <p:cNvPr id="8" name="Shape 5">
            <a:extLst xmlns:a="http://schemas.openxmlformats.org/drawingml/2006/main">
              <a:ext uri="{FF2B5EF4-FFF2-40B4-BE49-F238E27FC236}">
                <a16:creationId xmlns:a16="http://schemas.microsoft.com/office/drawing/2014/main" id="{61DFD081-B848-439B-8971-4AB129D9CCC1}"/>
              </a:ext>
            </a:extLst>
          </p:cNvPr>
          <p:cNvSpPr>
            <a:spLocks xmlns:a="http://schemas.openxmlformats.org/drawingml/2006/main" noGrp="1"/>
          </p:cNvSpPr>
          <p:nvPr/>
        </p:nvSpPr>
        <p:spPr>
          <a:xfrm xmlns:a="http://schemas.openxmlformats.org/drawingml/2006/main">
            <a:off x="1389888" y="2176272"/>
            <a:ext cx="2075688" cy="2075688"/>
          </a:xfrm>
          <a:prstGeom xmlns:a="http://schemas.openxmlformats.org/drawingml/2006/main" prst="ellipse">
            <a:avLst/>
          </a:prstGeom>
          <a:solidFill xmlns:a="http://schemas.openxmlformats.org/drawingml/2006/main">
            <a:srgbClr val="7D5B50"/>
          </a:solidFill>
          <a:ln xmlns:a="http://schemas.openxmlformats.org/drawingml/2006/main" w="12700">
            <a:solidFill>
              <a:srgbClr val="FF6FA8"/>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9" name="Shape 6">
            <a:extLst xmlns:a="http://schemas.openxmlformats.org/drawingml/2006/main">
              <a:ext uri="{FF2B5EF4-FFF2-40B4-BE49-F238E27FC236}">
                <a16:creationId xmlns:a16="http://schemas.microsoft.com/office/drawing/2014/main" id="{89F1FCC8-065D-49F4-BCC4-F0785DAE9715}"/>
              </a:ext>
            </a:extLst>
          </p:cNvPr>
          <p:cNvSpPr>
            <a:spLocks xmlns:a="http://schemas.openxmlformats.org/drawingml/2006/main" noGrp="1"/>
          </p:cNvSpPr>
          <p:nvPr/>
        </p:nvSpPr>
        <p:spPr>
          <a:xfrm xmlns:a="http://schemas.openxmlformats.org/drawingml/2006/main">
            <a:off x="1188720" y="2578608"/>
            <a:ext cx="512064" cy="658368"/>
          </a:xfrm>
          <a:prstGeom xmlns:a="http://schemas.openxmlformats.org/drawingml/2006/main" prst="ellipse">
            <a:avLst/>
          </a:prstGeom>
          <a:solidFill xmlns:a="http://schemas.openxmlformats.org/drawingml/2006/main">
            <a:srgbClr val="6E4E46"/>
          </a:solidFill>
          <a:ln xmlns:a="http://schemas.openxmlformats.org/drawingml/2006/main" w="12700">
            <a:solidFill>
              <a:srgbClr val="6E4E46"/>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hape 7">
            <a:extLst xmlns:a="http://schemas.openxmlformats.org/drawingml/2006/main">
              <a:ext uri="{FF2B5EF4-FFF2-40B4-BE49-F238E27FC236}">
                <a16:creationId xmlns:a16="http://schemas.microsoft.com/office/drawing/2014/main" id="{A1E4E83E-DFE2-4DC2-888C-104B5756E564}"/>
              </a:ext>
            </a:extLst>
          </p:cNvPr>
          <p:cNvSpPr>
            <a:spLocks xmlns:a="http://schemas.openxmlformats.org/drawingml/2006/main" noGrp="1"/>
          </p:cNvSpPr>
          <p:nvPr/>
        </p:nvSpPr>
        <p:spPr>
          <a:xfrm xmlns:a="http://schemas.openxmlformats.org/drawingml/2006/main">
            <a:off x="3163824" y="2578608"/>
            <a:ext cx="512064" cy="658368"/>
          </a:xfrm>
          <a:prstGeom xmlns:a="http://schemas.openxmlformats.org/drawingml/2006/main" prst="ellipse">
            <a:avLst/>
          </a:prstGeom>
          <a:solidFill xmlns:a="http://schemas.openxmlformats.org/drawingml/2006/main">
            <a:srgbClr val="6E4E46"/>
          </a:solidFill>
          <a:ln xmlns:a="http://schemas.openxmlformats.org/drawingml/2006/main" w="12700">
            <a:solidFill>
              <a:srgbClr val="6E4E46"/>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8">
            <a:extLst xmlns:a="http://schemas.openxmlformats.org/drawingml/2006/main">
              <a:ext uri="{FF2B5EF4-FFF2-40B4-BE49-F238E27FC236}">
                <a16:creationId xmlns:a16="http://schemas.microsoft.com/office/drawing/2014/main" id="{64844E6C-2F42-4FC5-945B-842164729FB1}"/>
              </a:ext>
            </a:extLst>
          </p:cNvPr>
          <p:cNvSpPr>
            <a:spLocks xmlns:a="http://schemas.openxmlformats.org/drawingml/2006/main" noGrp="1"/>
          </p:cNvSpPr>
          <p:nvPr/>
        </p:nvSpPr>
        <p:spPr>
          <a:xfrm xmlns:a="http://schemas.openxmlformats.org/drawingml/2006/main">
            <a:off x="1755648" y="3081528"/>
            <a:ext cx="1344168" cy="832104"/>
          </a:xfrm>
          <a:prstGeom xmlns:a="http://schemas.openxmlformats.org/drawingml/2006/main" prst="ellipse">
            <a:avLst/>
          </a:prstGeom>
          <a:solidFill xmlns:a="http://schemas.openxmlformats.org/drawingml/2006/main">
            <a:srgbClr val="A37A68"/>
          </a:solidFill>
          <a:ln xmlns:a="http://schemas.openxmlformats.org/drawingml/2006/main" w="12700">
            <a:solidFill>
              <a:srgbClr val="A37A68"/>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9">
            <a:extLst xmlns:a="http://schemas.openxmlformats.org/drawingml/2006/main">
              <a:ext uri="{FF2B5EF4-FFF2-40B4-BE49-F238E27FC236}">
                <a16:creationId xmlns:a16="http://schemas.microsoft.com/office/drawing/2014/main" id="{29803527-F38F-4821-BCBA-B77B8A399FE6}"/>
              </a:ext>
            </a:extLst>
          </p:cNvPr>
          <p:cNvSpPr>
            <a:spLocks xmlns:a="http://schemas.openxmlformats.org/drawingml/2006/main" noGrp="1"/>
          </p:cNvSpPr>
          <p:nvPr/>
        </p:nvSpPr>
        <p:spPr>
          <a:xfrm xmlns:a="http://schemas.openxmlformats.org/drawingml/2006/main">
            <a:off x="1673352" y="2615184"/>
            <a:ext cx="713232" cy="310896"/>
          </a:xfrm>
          <a:prstGeom xmlns:a="http://schemas.openxmlformats.org/drawingml/2006/main" prst="roundRect">
            <a:avLst/>
          </a:prstGeom>
          <a:solidFill xmlns:a="http://schemas.openxmlformats.org/drawingml/2006/main">
            <a:srgbClr val="050A13"/>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hape 10">
            <a:extLst xmlns:a="http://schemas.openxmlformats.org/drawingml/2006/main">
              <a:ext uri="{FF2B5EF4-FFF2-40B4-BE49-F238E27FC236}">
                <a16:creationId xmlns:a16="http://schemas.microsoft.com/office/drawing/2014/main" id="{8EC5F4F3-C747-427A-85AB-A57DE54C3927}"/>
              </a:ext>
            </a:extLst>
          </p:cNvPr>
          <p:cNvSpPr>
            <a:spLocks xmlns:a="http://schemas.openxmlformats.org/drawingml/2006/main" noGrp="1"/>
          </p:cNvSpPr>
          <p:nvPr/>
        </p:nvSpPr>
        <p:spPr>
          <a:xfrm xmlns:a="http://schemas.openxmlformats.org/drawingml/2006/main">
            <a:off x="2487168" y="2615184"/>
            <a:ext cx="713232" cy="310896"/>
          </a:xfrm>
          <a:prstGeom xmlns:a="http://schemas.openxmlformats.org/drawingml/2006/main" prst="roundRect">
            <a:avLst/>
          </a:prstGeom>
          <a:solidFill xmlns:a="http://schemas.openxmlformats.org/drawingml/2006/main">
            <a:srgbClr val="050A13"/>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hape 11">
            <a:extLst xmlns:a="http://schemas.openxmlformats.org/drawingml/2006/main">
              <a:ext uri="{FF2B5EF4-FFF2-40B4-BE49-F238E27FC236}">
                <a16:creationId xmlns:a16="http://schemas.microsoft.com/office/drawing/2014/main" id="{7713FF56-0EDA-43B6-9B66-FE1075AAAA09}"/>
              </a:ext>
            </a:extLst>
          </p:cNvPr>
          <p:cNvSpPr>
            <a:spLocks xmlns:a="http://schemas.openxmlformats.org/drawingml/2006/main" noGrp="1"/>
          </p:cNvSpPr>
          <p:nvPr/>
        </p:nvSpPr>
        <p:spPr>
          <a:xfrm xmlns:a="http://schemas.openxmlformats.org/drawingml/2006/main">
            <a:off x="2386584" y="2770632"/>
            <a:ext cx="109728" cy="0"/>
          </a:xfrm>
          <a:prstGeom xmlns:a="http://schemas.openxmlformats.org/drawingml/2006/main" prst="line">
            <a:avLst/>
          </a:prstGeom>
          <a:noFill xmlns:a="http://schemas.openxmlformats.org/drawingml/2006/main"/>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Shape 12">
            <a:extLst xmlns:a="http://schemas.openxmlformats.org/drawingml/2006/main">
              <a:ext uri="{FF2B5EF4-FFF2-40B4-BE49-F238E27FC236}">
                <a16:creationId xmlns:a16="http://schemas.microsoft.com/office/drawing/2014/main" id="{175B8529-D0E1-4835-BCA4-1B3794FD3ABD}"/>
              </a:ext>
            </a:extLst>
          </p:cNvPr>
          <p:cNvSpPr>
            <a:spLocks xmlns:a="http://schemas.openxmlformats.org/drawingml/2006/main" noGrp="1"/>
          </p:cNvSpPr>
          <p:nvPr/>
        </p:nvSpPr>
        <p:spPr>
          <a:xfrm xmlns:a="http://schemas.openxmlformats.org/drawingml/2006/main">
            <a:off x="2130552" y="3346704"/>
            <a:ext cx="594360" cy="320040"/>
          </a:xfrm>
          <a:prstGeom xmlns:a="http://schemas.openxmlformats.org/drawingml/2006/main" prst="arc">
            <a:avLst/>
          </a:prstGeom>
          <a:solidFill xmlns:a="http://schemas.openxmlformats.org/drawingml/2006/main">
            <a:srgbClr val="A37A68">
              <a:alpha val="0"/>
            </a:srgbClr>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201A2786-B29C-4F86-B492-F1BAD7235AC1}"/>
              </a:ext>
            </a:extLst>
          </p:cNvPr>
          <p:cNvSpPr>
            <a:spLocks xmlns:a="http://schemas.openxmlformats.org/drawingml/2006/main" noGrp="1"/>
          </p:cNvSpPr>
          <p:nvPr/>
        </p:nvSpPr>
        <p:spPr>
          <a:xfrm xmlns:a="http://schemas.openxmlformats.org/drawingml/2006/main" rot="-480000">
            <a:off x="2852928" y="3867912"/>
            <a:ext cx="53035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7B955"/>
                </a:solidFill>
                <a:latin typeface="Inter"/>
                <a:ea typeface="Inter"/>
                <a:cs typeface="Inter"/>
              </a:rPr>
              <a:t>VC</a:t>
            </a:r>
            <a:endParaRPr sz="2000"/>
          </a:p>
        </p:txBody>
      </p:sp>
      <p:sp>
        <p:nvSpPr>
          <p:cNvPr id="17" name="Text 14">
            <a:extLst xmlns:a="http://schemas.openxmlformats.org/drawingml/2006/main">
              <a:ext uri="{FF2B5EF4-FFF2-40B4-BE49-F238E27FC236}">
                <a16:creationId xmlns:a16="http://schemas.microsoft.com/office/drawing/2014/main" id="{1806F94E-7376-4771-A985-5487253149EC}"/>
              </a:ext>
            </a:extLst>
          </p:cNvPr>
          <p:cNvSpPr>
            <a:spLocks xmlns:a="http://schemas.openxmlformats.org/drawingml/2006/main" noGrp="1"/>
          </p:cNvSpPr>
          <p:nvPr/>
        </p:nvSpPr>
        <p:spPr>
          <a:xfrm xmlns:a="http://schemas.openxmlformats.org/drawingml/2006/main">
            <a:off x="868680" y="4599432"/>
            <a:ext cx="321868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7FAFF"/>
                </a:solidFill>
                <a:latin typeface="Inter"/>
                <a:ea typeface="Inter"/>
                <a:cs typeface="Inter"/>
              </a:rPr>
              <a:t>“Can your agent analyse</a:t>
            </a:r>
            <a:endParaRPr sz="1700"/>
          </a:p>
          <a:p xmlns:a="http://schemas.openxmlformats.org/drawingml/2006/main">
            <a:pPr marL="0" indent="0" algn="ctr">
              <a:buNone/>
            </a:pPr>
            <a:r>
              <a:rPr sz="1700" b="1">
                <a:solidFill>
                  <a:srgbClr val="F7FAFF"/>
                </a:solidFill>
                <a:latin typeface="Inter"/>
                <a:ea typeface="Inter"/>
                <a:cs typeface="Inter"/>
              </a:rPr>
              <a:t>my portfolio?”</a:t>
            </a:r>
            <a:endParaRPr sz="1700"/>
          </a:p>
        </p:txBody>
      </p:sp>
      <p:sp>
        <p:nvSpPr>
          <p:cNvPr id="18" name="Text 15">
            <a:extLst xmlns:a="http://schemas.openxmlformats.org/drawingml/2006/main">
              <a:ext uri="{FF2B5EF4-FFF2-40B4-BE49-F238E27FC236}">
                <a16:creationId xmlns:a16="http://schemas.microsoft.com/office/drawing/2014/main" id="{8E9F1FB4-D0FC-4529-BA06-3850B0742B62}"/>
              </a:ext>
            </a:extLst>
          </p:cNvPr>
          <p:cNvSpPr>
            <a:spLocks xmlns:a="http://schemas.openxmlformats.org/drawingml/2006/main" noGrp="1"/>
          </p:cNvSpPr>
          <p:nvPr/>
        </p:nvSpPr>
        <p:spPr>
          <a:xfrm xmlns:a="http://schemas.openxmlformats.org/drawingml/2006/main">
            <a:off x="868680" y="5340096"/>
            <a:ext cx="321868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20">
                <a:solidFill>
                  <a:srgbClr val="A7B5C8"/>
                </a:solidFill>
                <a:latin typeface="Inter"/>
                <a:ea typeface="Inter"/>
                <a:cs typeface="Inter"/>
              </a:rPr>
              <a:t>Nothing clarifies product priorities</a:t>
            </a:r>
            <a:endParaRPr sz="1120"/>
          </a:p>
          <a:p xmlns:a="http://schemas.openxmlformats.org/drawingml/2006/main">
            <a:pPr marL="0" indent="0" algn="ctr">
              <a:buNone/>
            </a:pPr>
            <a:r>
              <a:rPr sz="1120">
                <a:solidFill>
                  <a:srgbClr val="A7B5C8"/>
                </a:solidFill>
                <a:latin typeface="Inter"/>
                <a:ea typeface="Inter"/>
                <a:cs typeface="Inter"/>
              </a:rPr>
              <a:t>like consequences.</a:t>
            </a:r>
            <a:endParaRPr sz="1120"/>
          </a:p>
        </p:txBody>
      </p:sp>
      <p:sp>
        <p:nvSpPr>
          <p:cNvPr id="19" name="Shape 16">
            <a:extLst xmlns:a="http://schemas.openxmlformats.org/drawingml/2006/main">
              <a:ext uri="{FF2B5EF4-FFF2-40B4-BE49-F238E27FC236}">
                <a16:creationId xmlns:a16="http://schemas.microsoft.com/office/drawing/2014/main" id="{727CF2CE-4996-40A2-88FF-6C328E52F1C1}"/>
              </a:ext>
            </a:extLst>
          </p:cNvPr>
          <p:cNvSpPr>
            <a:spLocks xmlns:a="http://schemas.openxmlformats.org/drawingml/2006/main" noGrp="1"/>
          </p:cNvSpPr>
          <p:nvPr/>
        </p:nvSpPr>
        <p:spPr>
          <a:xfrm xmlns:a="http://schemas.openxmlformats.org/drawingml/2006/main">
            <a:off x="4690872" y="1417320"/>
            <a:ext cx="3246120" cy="2039112"/>
          </a:xfrm>
          <a:prstGeom xmlns:a="http://schemas.openxmlformats.org/drawingml/2006/main" prst="roundRect">
            <a:avLst>
              <a:gd name="adj" fmla="val 3587"/>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7">
            <a:extLst xmlns:a="http://schemas.openxmlformats.org/drawingml/2006/main">
              <a:ext uri="{FF2B5EF4-FFF2-40B4-BE49-F238E27FC236}">
                <a16:creationId xmlns:a16="http://schemas.microsoft.com/office/drawing/2014/main" id="{37E1AF01-7C98-4D83-8D0D-FAFB3EC9FE5F}"/>
              </a:ext>
            </a:extLst>
          </p:cNvPr>
          <p:cNvSpPr>
            <a:spLocks xmlns:a="http://schemas.openxmlformats.org/drawingml/2006/main" noGrp="1"/>
          </p:cNvSpPr>
          <p:nvPr/>
        </p:nvSpPr>
        <p:spPr>
          <a:xfrm xmlns:a="http://schemas.openxmlformats.org/drawingml/2006/main">
            <a:off x="4965192" y="1673352"/>
            <a:ext cx="20116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00">
                <a:solidFill>
                  <a:srgbClr val="35D4E7"/>
                </a:solidFill>
                <a:latin typeface="Inter"/>
                <a:ea typeface="Inter"/>
                <a:cs typeface="Inter"/>
              </a:rPr>
              <a:t>BAYC FLOOR · ETH</a:t>
            </a:r>
            <a:endParaRPr sz="1000"/>
          </a:p>
        </p:txBody>
      </p:sp>
      <p:sp>
        <p:nvSpPr>
          <p:cNvPr id="21" name="Shape 18">
            <a:extLst xmlns:a="http://schemas.openxmlformats.org/drawingml/2006/main">
              <a:ext uri="{FF2B5EF4-FFF2-40B4-BE49-F238E27FC236}">
                <a16:creationId xmlns:a16="http://schemas.microsoft.com/office/drawing/2014/main" id="{389645C9-D6B6-4CD4-A583-A3E6708B791C}"/>
              </a:ext>
            </a:extLst>
          </p:cNvPr>
          <p:cNvSpPr>
            <a:spLocks xmlns:a="http://schemas.openxmlformats.org/drawingml/2006/main" noGrp="1"/>
          </p:cNvSpPr>
          <p:nvPr/>
        </p:nvSpPr>
        <p:spPr>
          <a:xfrm xmlns:a="http://schemas.openxmlformats.org/drawingml/2006/main">
            <a:off x="5010912" y="2990088"/>
            <a:ext cx="245059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9">
            <a:extLst xmlns:a="http://schemas.openxmlformats.org/drawingml/2006/main">
              <a:ext uri="{FF2B5EF4-FFF2-40B4-BE49-F238E27FC236}">
                <a16:creationId xmlns:a16="http://schemas.microsoft.com/office/drawing/2014/main" id="{9272E3B1-4C69-4EB3-A622-71E78639A22F}"/>
              </a:ext>
            </a:extLst>
          </p:cNvPr>
          <p:cNvSpPr>
            <a:spLocks xmlns:a="http://schemas.openxmlformats.org/drawingml/2006/main" noGrp="1"/>
          </p:cNvSpPr>
          <p:nvPr/>
        </p:nvSpPr>
        <p:spPr>
          <a:xfrm xmlns:a="http://schemas.openxmlformats.org/drawingml/2006/main">
            <a:off x="5010912" y="2011680"/>
            <a:ext cx="0" cy="978408"/>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Shape 20">
            <a:extLst xmlns:a="http://schemas.openxmlformats.org/drawingml/2006/main">
              <a:ext uri="{FF2B5EF4-FFF2-40B4-BE49-F238E27FC236}">
                <a16:creationId xmlns:a16="http://schemas.microsoft.com/office/drawing/2014/main" id="{C8AC9AA6-8284-47EB-BFA3-5CA9526A28DD}"/>
              </a:ext>
            </a:extLst>
          </p:cNvPr>
          <p:cNvSpPr>
            <a:spLocks xmlns:a="http://schemas.openxmlformats.org/drawingml/2006/main" noGrp="1"/>
          </p:cNvSpPr>
          <p:nvPr/>
        </p:nvSpPr>
        <p:spPr>
          <a:xfrm xmlns:a="http://schemas.openxmlformats.org/drawingml/2006/main">
            <a:off x="5074920" y="2889504"/>
            <a:ext cx="1033272" cy="0"/>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Shape 21">
            <a:extLst xmlns:a="http://schemas.openxmlformats.org/drawingml/2006/main">
              <a:ext uri="{FF2B5EF4-FFF2-40B4-BE49-F238E27FC236}">
                <a16:creationId xmlns:a16="http://schemas.microsoft.com/office/drawing/2014/main" id="{2B8A05B9-CDFF-4A1C-8FF6-32354C25C947}"/>
              </a:ext>
            </a:extLst>
          </p:cNvPr>
          <p:cNvSpPr>
            <a:spLocks xmlns:a="http://schemas.openxmlformats.org/drawingml/2006/main" noGrp="1"/>
          </p:cNvSpPr>
          <p:nvPr/>
        </p:nvSpPr>
        <p:spPr>
          <a:xfrm xmlns:a="http://schemas.openxmlformats.org/drawingml/2006/main">
            <a:off x="6108192" y="2130552"/>
            <a:ext cx="1133856" cy="694944"/>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Shape 22">
            <a:extLst xmlns:a="http://schemas.openxmlformats.org/drawingml/2006/main">
              <a:ext uri="{FF2B5EF4-FFF2-40B4-BE49-F238E27FC236}">
                <a16:creationId xmlns:a16="http://schemas.microsoft.com/office/drawing/2014/main" id="{4B7994B7-05A6-4041-8DE7-8A729648A80D}"/>
              </a:ext>
            </a:extLst>
          </p:cNvPr>
          <p:cNvSpPr>
            <a:spLocks xmlns:a="http://schemas.openxmlformats.org/drawingml/2006/main" noGrp="1"/>
          </p:cNvSpPr>
          <p:nvPr/>
        </p:nvSpPr>
        <p:spPr>
          <a:xfrm xmlns:a="http://schemas.openxmlformats.org/drawingml/2006/main">
            <a:off x="5010912" y="2825496"/>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Shape 23">
            <a:extLst xmlns:a="http://schemas.openxmlformats.org/drawingml/2006/main">
              <a:ext uri="{FF2B5EF4-FFF2-40B4-BE49-F238E27FC236}">
                <a16:creationId xmlns:a16="http://schemas.microsoft.com/office/drawing/2014/main" id="{926C8B1C-2923-4A95-80AD-D26700C452AE}"/>
              </a:ext>
            </a:extLst>
          </p:cNvPr>
          <p:cNvSpPr>
            <a:spLocks xmlns:a="http://schemas.openxmlformats.org/drawingml/2006/main" noGrp="1"/>
          </p:cNvSpPr>
          <p:nvPr/>
        </p:nvSpPr>
        <p:spPr>
          <a:xfrm xmlns:a="http://schemas.openxmlformats.org/drawingml/2006/main">
            <a:off x="6044184" y="2066544"/>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Shape 24">
            <a:extLst xmlns:a="http://schemas.openxmlformats.org/drawingml/2006/main">
              <a:ext uri="{FF2B5EF4-FFF2-40B4-BE49-F238E27FC236}">
                <a16:creationId xmlns:a16="http://schemas.microsoft.com/office/drawing/2014/main" id="{CCB21609-7E58-49F1-9018-12BFC5432CEC}"/>
              </a:ext>
            </a:extLst>
          </p:cNvPr>
          <p:cNvSpPr>
            <a:spLocks xmlns:a="http://schemas.openxmlformats.org/drawingml/2006/main" noGrp="1"/>
          </p:cNvSpPr>
          <p:nvPr/>
        </p:nvSpPr>
        <p:spPr>
          <a:xfrm xmlns:a="http://schemas.openxmlformats.org/drawingml/2006/main">
            <a:off x="7178040" y="2761488"/>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5">
            <a:extLst xmlns:a="http://schemas.openxmlformats.org/drawingml/2006/main">
              <a:ext uri="{FF2B5EF4-FFF2-40B4-BE49-F238E27FC236}">
                <a16:creationId xmlns:a16="http://schemas.microsoft.com/office/drawing/2014/main" id="{13E6742C-2C8C-468F-9331-630B34E46374}"/>
              </a:ext>
            </a:extLst>
          </p:cNvPr>
          <p:cNvSpPr>
            <a:spLocks xmlns:a="http://schemas.openxmlformats.org/drawingml/2006/main" noGrp="1"/>
          </p:cNvSpPr>
          <p:nvPr/>
        </p:nvSpPr>
        <p:spPr>
          <a:xfrm xmlns:a="http://schemas.openxmlformats.org/drawingml/2006/main">
            <a:off x="4873752" y="3054096"/>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0.08</a:t>
            </a:r>
            <a:endParaRPr sz="850"/>
          </a:p>
        </p:txBody>
      </p:sp>
      <p:sp>
        <p:nvSpPr>
          <p:cNvPr id="29" name="Text 26">
            <a:extLst xmlns:a="http://schemas.openxmlformats.org/drawingml/2006/main">
              <a:ext uri="{FF2B5EF4-FFF2-40B4-BE49-F238E27FC236}">
                <a16:creationId xmlns:a16="http://schemas.microsoft.com/office/drawing/2014/main" id="{EA0DD4E3-2BF6-47E5-9C2C-3E110F5976D9}"/>
              </a:ext>
            </a:extLst>
          </p:cNvPr>
          <p:cNvSpPr>
            <a:spLocks xmlns:a="http://schemas.openxmlformats.org/drawingml/2006/main" noGrp="1"/>
          </p:cNvSpPr>
          <p:nvPr/>
        </p:nvSpPr>
        <p:spPr>
          <a:xfrm xmlns:a="http://schemas.openxmlformats.org/drawingml/2006/main">
            <a:off x="5833872" y="1874520"/>
            <a:ext cx="56692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5D4E7"/>
                </a:solidFill>
                <a:latin typeface="Inter"/>
                <a:ea typeface="Inter"/>
                <a:cs typeface="Inter"/>
              </a:rPr>
              <a:t>~145</a:t>
            </a:r>
            <a:endParaRPr sz="850"/>
          </a:p>
        </p:txBody>
      </p:sp>
      <p:sp>
        <p:nvSpPr>
          <p:cNvPr id="30" name="Text 27">
            <a:extLst xmlns:a="http://schemas.openxmlformats.org/drawingml/2006/main">
              <a:ext uri="{FF2B5EF4-FFF2-40B4-BE49-F238E27FC236}">
                <a16:creationId xmlns:a16="http://schemas.microsoft.com/office/drawing/2014/main" id="{A0FF5EF1-475E-4591-B11D-39C0EF24F843}"/>
              </a:ext>
            </a:extLst>
          </p:cNvPr>
          <p:cNvSpPr>
            <a:spLocks xmlns:a="http://schemas.openxmlformats.org/drawingml/2006/main" noGrp="1"/>
          </p:cNvSpPr>
          <p:nvPr/>
        </p:nvSpPr>
        <p:spPr>
          <a:xfrm xmlns:a="http://schemas.openxmlformats.org/drawingml/2006/main">
            <a:off x="6986016" y="2898648"/>
            <a:ext cx="53035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~6.2</a:t>
            </a:r>
            <a:endParaRPr sz="850"/>
          </a:p>
        </p:txBody>
      </p:sp>
      <p:sp>
        <p:nvSpPr>
          <p:cNvPr id="31" name="Text 28">
            <a:extLst xmlns:a="http://schemas.openxmlformats.org/drawingml/2006/main">
              <a:ext uri="{FF2B5EF4-FFF2-40B4-BE49-F238E27FC236}">
                <a16:creationId xmlns:a16="http://schemas.microsoft.com/office/drawing/2014/main" id="{EC22E1D2-44FC-40CC-BDFB-359C1AA8F5DF}"/>
              </a:ext>
            </a:extLst>
          </p:cNvPr>
          <p:cNvSpPr>
            <a:spLocks xmlns:a="http://schemas.openxmlformats.org/drawingml/2006/main" noGrp="1"/>
          </p:cNvSpPr>
          <p:nvPr/>
        </p:nvSpPr>
        <p:spPr>
          <a:xfrm xmlns:a="http://schemas.openxmlformats.org/drawingml/2006/main">
            <a:off x="4864608"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2021</a:t>
            </a:r>
            <a:endParaRPr sz="780"/>
          </a:p>
        </p:txBody>
      </p:sp>
      <p:sp>
        <p:nvSpPr>
          <p:cNvPr id="32" name="Text 29">
            <a:extLst xmlns:a="http://schemas.openxmlformats.org/drawingml/2006/main">
              <a:ext uri="{FF2B5EF4-FFF2-40B4-BE49-F238E27FC236}">
                <a16:creationId xmlns:a16="http://schemas.microsoft.com/office/drawing/2014/main" id="{2204D5EF-876D-43B6-BCC3-DC0C1AB8E324}"/>
              </a:ext>
            </a:extLst>
          </p:cNvPr>
          <p:cNvSpPr>
            <a:spLocks xmlns:a="http://schemas.openxmlformats.org/drawingml/2006/main" noGrp="1"/>
          </p:cNvSpPr>
          <p:nvPr/>
        </p:nvSpPr>
        <p:spPr>
          <a:xfrm xmlns:a="http://schemas.openxmlformats.org/drawingml/2006/main">
            <a:off x="5879592"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2022</a:t>
            </a:r>
            <a:endParaRPr sz="780"/>
          </a:p>
        </p:txBody>
      </p:sp>
      <p:sp>
        <p:nvSpPr>
          <p:cNvPr id="33" name="Text 30">
            <a:extLst xmlns:a="http://schemas.openxmlformats.org/drawingml/2006/main">
              <a:ext uri="{FF2B5EF4-FFF2-40B4-BE49-F238E27FC236}">
                <a16:creationId xmlns:a16="http://schemas.microsoft.com/office/drawing/2014/main" id="{EBDA03A2-D9EE-4E7F-8F67-8E0FC0EF9371}"/>
              </a:ext>
            </a:extLst>
          </p:cNvPr>
          <p:cNvSpPr>
            <a:spLocks xmlns:a="http://schemas.openxmlformats.org/drawingml/2006/main" noGrp="1"/>
          </p:cNvSpPr>
          <p:nvPr/>
        </p:nvSpPr>
        <p:spPr>
          <a:xfrm xmlns:a="http://schemas.openxmlformats.org/drawingml/2006/main">
            <a:off x="7004304"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2026</a:t>
            </a:r>
            <a:endParaRPr sz="780"/>
          </a:p>
        </p:txBody>
      </p:sp>
      <p:sp>
        <p:nvSpPr>
          <p:cNvPr id="34" name="Shape 31">
            <a:extLst xmlns:a="http://schemas.openxmlformats.org/drawingml/2006/main">
              <a:ext uri="{FF2B5EF4-FFF2-40B4-BE49-F238E27FC236}">
                <a16:creationId xmlns:a16="http://schemas.microsoft.com/office/drawing/2014/main" id="{84ABFA9B-D18F-411D-957D-03D202AD85A3}"/>
              </a:ext>
            </a:extLst>
          </p:cNvPr>
          <p:cNvSpPr>
            <a:spLocks xmlns:a="http://schemas.openxmlformats.org/drawingml/2006/main" noGrp="1"/>
          </p:cNvSpPr>
          <p:nvPr/>
        </p:nvSpPr>
        <p:spPr>
          <a:xfrm xmlns:a="http://schemas.openxmlformats.org/drawingml/2006/main">
            <a:off x="8302752" y="1417320"/>
            <a:ext cx="3310128" cy="2039112"/>
          </a:xfrm>
          <a:prstGeom xmlns:a="http://schemas.openxmlformats.org/drawingml/2006/main" prst="roundRect">
            <a:avLst>
              <a:gd name="adj" fmla="val 3587"/>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32">
            <a:extLst xmlns:a="http://schemas.openxmlformats.org/drawingml/2006/main">
              <a:ext uri="{FF2B5EF4-FFF2-40B4-BE49-F238E27FC236}">
                <a16:creationId xmlns:a16="http://schemas.microsoft.com/office/drawing/2014/main" id="{F70B4003-1523-4DDC-BC94-73FDDB55C211}"/>
              </a:ext>
            </a:extLst>
          </p:cNvPr>
          <p:cNvSpPr>
            <a:spLocks xmlns:a="http://schemas.openxmlformats.org/drawingml/2006/main" noGrp="1"/>
          </p:cNvSpPr>
          <p:nvPr/>
        </p:nvSpPr>
        <p:spPr>
          <a:xfrm xmlns:a="http://schemas.openxmlformats.org/drawingml/2006/main">
            <a:off x="8586216" y="1673352"/>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00">
                <a:solidFill>
                  <a:srgbClr val="F7B955"/>
                </a:solidFill>
                <a:latin typeface="Inter"/>
                <a:ea typeface="Inter"/>
                <a:cs typeface="Inter"/>
              </a:rPr>
              <a:t>MEME TOKEN · USD</a:t>
            </a:r>
            <a:endParaRPr sz="1000"/>
          </a:p>
        </p:txBody>
      </p:sp>
      <p:sp>
        <p:nvSpPr>
          <p:cNvPr id="36" name="Shape 33">
            <a:extLst xmlns:a="http://schemas.openxmlformats.org/drawingml/2006/main">
              <a:ext uri="{FF2B5EF4-FFF2-40B4-BE49-F238E27FC236}">
                <a16:creationId xmlns:a16="http://schemas.microsoft.com/office/drawing/2014/main" id="{DE576B70-73ED-4144-927E-5B92783A798F}"/>
              </a:ext>
            </a:extLst>
          </p:cNvPr>
          <p:cNvSpPr>
            <a:spLocks xmlns:a="http://schemas.openxmlformats.org/drawingml/2006/main" noGrp="1"/>
          </p:cNvSpPr>
          <p:nvPr/>
        </p:nvSpPr>
        <p:spPr>
          <a:xfrm xmlns:a="http://schemas.openxmlformats.org/drawingml/2006/main">
            <a:off x="8622792" y="2990088"/>
            <a:ext cx="2468880"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Shape 34">
            <a:extLst xmlns:a="http://schemas.openxmlformats.org/drawingml/2006/main">
              <a:ext uri="{FF2B5EF4-FFF2-40B4-BE49-F238E27FC236}">
                <a16:creationId xmlns:a16="http://schemas.microsoft.com/office/drawing/2014/main" id="{F4CFE0D2-D5B6-4BF2-AF93-887C905C0528}"/>
              </a:ext>
            </a:extLst>
          </p:cNvPr>
          <p:cNvSpPr>
            <a:spLocks xmlns:a="http://schemas.openxmlformats.org/drawingml/2006/main" noGrp="1"/>
          </p:cNvSpPr>
          <p:nvPr/>
        </p:nvSpPr>
        <p:spPr>
          <a:xfrm xmlns:a="http://schemas.openxmlformats.org/drawingml/2006/main">
            <a:off x="8622792" y="2011680"/>
            <a:ext cx="0" cy="978408"/>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Shape 35">
            <a:extLst xmlns:a="http://schemas.openxmlformats.org/drawingml/2006/main">
              <a:ext uri="{FF2B5EF4-FFF2-40B4-BE49-F238E27FC236}">
                <a16:creationId xmlns:a16="http://schemas.microsoft.com/office/drawing/2014/main" id="{7D1D679F-444C-4B60-A5E3-7788B89D8BAF}"/>
              </a:ext>
            </a:extLst>
          </p:cNvPr>
          <p:cNvSpPr>
            <a:spLocks xmlns:a="http://schemas.openxmlformats.org/drawingml/2006/main" noGrp="1"/>
          </p:cNvSpPr>
          <p:nvPr/>
        </p:nvSpPr>
        <p:spPr>
          <a:xfrm xmlns:a="http://schemas.openxmlformats.org/drawingml/2006/main">
            <a:off x="8732520" y="2139696"/>
            <a:ext cx="2020824" cy="713232"/>
          </a:xfrm>
          <a:prstGeom xmlns:a="http://schemas.openxmlformats.org/drawingml/2006/main" prst="line">
            <a:avLst/>
          </a:prstGeom>
          <a:noFill xmlns:a="http://schemas.openxmlformats.org/drawingml/2006/main"/>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39" name="Shape 36">
            <a:extLst xmlns:a="http://schemas.openxmlformats.org/drawingml/2006/main">
              <a:ext uri="{FF2B5EF4-FFF2-40B4-BE49-F238E27FC236}">
                <a16:creationId xmlns:a16="http://schemas.microsoft.com/office/drawing/2014/main" id="{CEE7C5DA-96A1-4BDA-907F-73694A3AD3C8}"/>
              </a:ext>
            </a:extLst>
          </p:cNvPr>
          <p:cNvSpPr>
            <a:spLocks xmlns:a="http://schemas.openxmlformats.org/drawingml/2006/main" noGrp="1"/>
          </p:cNvSpPr>
          <p:nvPr/>
        </p:nvSpPr>
        <p:spPr>
          <a:xfrm xmlns:a="http://schemas.openxmlformats.org/drawingml/2006/main">
            <a:off x="8668512" y="2075688"/>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0" name="Shape 37">
            <a:extLst xmlns:a="http://schemas.openxmlformats.org/drawingml/2006/main">
              <a:ext uri="{FF2B5EF4-FFF2-40B4-BE49-F238E27FC236}">
                <a16:creationId xmlns:a16="http://schemas.microsoft.com/office/drawing/2014/main" id="{19A39427-B098-432E-9957-63B8151ACDBF}"/>
              </a:ext>
            </a:extLst>
          </p:cNvPr>
          <p:cNvSpPr>
            <a:spLocks xmlns:a="http://schemas.openxmlformats.org/drawingml/2006/main" noGrp="1"/>
          </p:cNvSpPr>
          <p:nvPr/>
        </p:nvSpPr>
        <p:spPr>
          <a:xfrm xmlns:a="http://schemas.openxmlformats.org/drawingml/2006/main">
            <a:off x="9637776" y="2532888"/>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Shape 38">
            <a:extLst xmlns:a="http://schemas.openxmlformats.org/drawingml/2006/main">
              <a:ext uri="{FF2B5EF4-FFF2-40B4-BE49-F238E27FC236}">
                <a16:creationId xmlns:a16="http://schemas.microsoft.com/office/drawing/2014/main" id="{502343D0-D7CE-489B-86BA-B19345FE543C}"/>
              </a:ext>
            </a:extLst>
          </p:cNvPr>
          <p:cNvSpPr>
            <a:spLocks xmlns:a="http://schemas.openxmlformats.org/drawingml/2006/main" noGrp="1"/>
          </p:cNvSpPr>
          <p:nvPr/>
        </p:nvSpPr>
        <p:spPr>
          <a:xfrm xmlns:a="http://schemas.openxmlformats.org/drawingml/2006/main">
            <a:off x="10689336" y="2788920"/>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39">
            <a:extLst xmlns:a="http://schemas.openxmlformats.org/drawingml/2006/main">
              <a:ext uri="{FF2B5EF4-FFF2-40B4-BE49-F238E27FC236}">
                <a16:creationId xmlns:a16="http://schemas.microsoft.com/office/drawing/2014/main" id="{AFF8135F-1AFC-4004-9F3B-41071CB9EFB9}"/>
              </a:ext>
            </a:extLst>
          </p:cNvPr>
          <p:cNvSpPr>
            <a:spLocks xmlns:a="http://schemas.openxmlformats.org/drawingml/2006/main" noGrp="1"/>
          </p:cNvSpPr>
          <p:nvPr/>
        </p:nvSpPr>
        <p:spPr>
          <a:xfrm xmlns:a="http://schemas.openxmlformats.org/drawingml/2006/main">
            <a:off x="8503920" y="1892808"/>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7B955"/>
                </a:solidFill>
                <a:latin typeface="Inter"/>
                <a:ea typeface="Inter"/>
                <a:cs typeface="Inter"/>
              </a:rPr>
              <a:t>$73.43</a:t>
            </a:r>
            <a:endParaRPr sz="850"/>
          </a:p>
        </p:txBody>
      </p:sp>
      <p:sp>
        <p:nvSpPr>
          <p:cNvPr id="43" name="Text 40">
            <a:extLst xmlns:a="http://schemas.openxmlformats.org/drawingml/2006/main">
              <a:ext uri="{FF2B5EF4-FFF2-40B4-BE49-F238E27FC236}">
                <a16:creationId xmlns:a16="http://schemas.microsoft.com/office/drawing/2014/main" id="{39D581A6-C347-45D8-BD50-9C64AF083588}"/>
              </a:ext>
            </a:extLst>
          </p:cNvPr>
          <p:cNvSpPr>
            <a:spLocks xmlns:a="http://schemas.openxmlformats.org/drawingml/2006/main" noGrp="1"/>
          </p:cNvSpPr>
          <p:nvPr/>
        </p:nvSpPr>
        <p:spPr>
          <a:xfrm xmlns:a="http://schemas.openxmlformats.org/drawingml/2006/main">
            <a:off x="9409176" y="2386584"/>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~$4.8</a:t>
            </a:r>
            <a:endParaRPr sz="850"/>
          </a:p>
        </p:txBody>
      </p:sp>
      <p:sp>
        <p:nvSpPr>
          <p:cNvPr id="44" name="Text 41">
            <a:extLst xmlns:a="http://schemas.openxmlformats.org/drawingml/2006/main">
              <a:ext uri="{FF2B5EF4-FFF2-40B4-BE49-F238E27FC236}">
                <a16:creationId xmlns:a16="http://schemas.microsoft.com/office/drawing/2014/main" id="{6A7053F0-9F23-44B5-BEB6-52F71B89B153}"/>
              </a:ext>
            </a:extLst>
          </p:cNvPr>
          <p:cNvSpPr>
            <a:spLocks xmlns:a="http://schemas.openxmlformats.org/drawingml/2006/main" noGrp="1"/>
          </p:cNvSpPr>
          <p:nvPr/>
        </p:nvSpPr>
        <p:spPr>
          <a:xfrm xmlns:a="http://schemas.openxmlformats.org/drawingml/2006/main">
            <a:off x="10469880" y="290779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~$2.0</a:t>
            </a:r>
            <a:endParaRPr sz="850"/>
          </a:p>
        </p:txBody>
      </p:sp>
      <p:sp>
        <p:nvSpPr>
          <p:cNvPr id="45" name="Text 42">
            <a:extLst xmlns:a="http://schemas.openxmlformats.org/drawingml/2006/main">
              <a:ext uri="{FF2B5EF4-FFF2-40B4-BE49-F238E27FC236}">
                <a16:creationId xmlns:a16="http://schemas.microsoft.com/office/drawing/2014/main" id="{45027566-6250-4CCE-B0F3-934018A72D77}"/>
              </a:ext>
            </a:extLst>
          </p:cNvPr>
          <p:cNvSpPr>
            <a:spLocks xmlns:a="http://schemas.openxmlformats.org/drawingml/2006/main" noGrp="1"/>
          </p:cNvSpPr>
          <p:nvPr/>
        </p:nvSpPr>
        <p:spPr>
          <a:xfrm xmlns:a="http://schemas.openxmlformats.org/drawingml/2006/main">
            <a:off x="8485632"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JAN 25</a:t>
            </a:r>
            <a:endParaRPr sz="780"/>
          </a:p>
        </p:txBody>
      </p:sp>
      <p:sp>
        <p:nvSpPr>
          <p:cNvPr id="46" name="Text 43">
            <a:extLst xmlns:a="http://schemas.openxmlformats.org/drawingml/2006/main">
              <a:ext uri="{FF2B5EF4-FFF2-40B4-BE49-F238E27FC236}">
                <a16:creationId xmlns:a16="http://schemas.microsoft.com/office/drawing/2014/main" id="{D7C37DE3-9F73-4C6C-9D85-69D634FEA737}"/>
              </a:ext>
            </a:extLst>
          </p:cNvPr>
          <p:cNvSpPr>
            <a:spLocks xmlns:a="http://schemas.openxmlformats.org/drawingml/2006/main" noGrp="1"/>
          </p:cNvSpPr>
          <p:nvPr/>
        </p:nvSpPr>
        <p:spPr>
          <a:xfrm xmlns:a="http://schemas.openxmlformats.org/drawingml/2006/main">
            <a:off x="9372600"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DEC 25</a:t>
            </a:r>
            <a:endParaRPr sz="780"/>
          </a:p>
        </p:txBody>
      </p:sp>
      <p:sp>
        <p:nvSpPr>
          <p:cNvPr id="47" name="Text 44">
            <a:extLst xmlns:a="http://schemas.openxmlformats.org/drawingml/2006/main">
              <a:ext uri="{FF2B5EF4-FFF2-40B4-BE49-F238E27FC236}">
                <a16:creationId xmlns:a16="http://schemas.microsoft.com/office/drawing/2014/main" id="{E46FD72B-F4DE-45AA-A929-085351AB9DD6}"/>
              </a:ext>
            </a:extLst>
          </p:cNvPr>
          <p:cNvSpPr>
            <a:spLocks xmlns:a="http://schemas.openxmlformats.org/drawingml/2006/main" noGrp="1"/>
          </p:cNvSpPr>
          <p:nvPr/>
        </p:nvSpPr>
        <p:spPr>
          <a:xfrm xmlns:a="http://schemas.openxmlformats.org/drawingml/2006/main">
            <a:off x="10415016"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SEP 26</a:t>
            </a:r>
            <a:endParaRPr sz="780"/>
          </a:p>
        </p:txBody>
      </p:sp>
      <p:sp>
        <p:nvSpPr>
          <p:cNvPr id="48" name="Shape 45">
            <a:extLst xmlns:a="http://schemas.openxmlformats.org/drawingml/2006/main">
              <a:ext uri="{FF2B5EF4-FFF2-40B4-BE49-F238E27FC236}">
                <a16:creationId xmlns:a16="http://schemas.microsoft.com/office/drawing/2014/main" id="{F1BCB6DC-2693-4F43-B226-B6A76ACFF942}"/>
              </a:ext>
            </a:extLst>
          </p:cNvPr>
          <p:cNvSpPr>
            <a:spLocks xmlns:a="http://schemas.openxmlformats.org/drawingml/2006/main" noGrp="1"/>
          </p:cNvSpPr>
          <p:nvPr/>
        </p:nvSpPr>
        <p:spPr>
          <a:xfrm xmlns:a="http://schemas.openxmlformats.org/drawingml/2006/main">
            <a:off x="4690872" y="3785616"/>
            <a:ext cx="6922008" cy="2112264"/>
          </a:xfrm>
          <a:prstGeom xmlns:a="http://schemas.openxmlformats.org/drawingml/2006/main" prst="roundRect">
            <a:avLst>
              <a:gd name="adj" fmla="val 3463"/>
            </a:avLst>
          </a:prstGeom>
          <a:solidFill xmlns:a="http://schemas.openxmlformats.org/drawingml/2006/main">
            <a:srgbClr val="0D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46">
            <a:extLst xmlns:a="http://schemas.openxmlformats.org/drawingml/2006/main">
              <a:ext uri="{FF2B5EF4-FFF2-40B4-BE49-F238E27FC236}">
                <a16:creationId xmlns:a16="http://schemas.microsoft.com/office/drawing/2014/main" id="{54EA4B8B-FDF9-4D31-BFAC-ACB8D50200BE}"/>
              </a:ext>
            </a:extLst>
          </p:cNvPr>
          <p:cNvSpPr>
            <a:spLocks xmlns:a="http://schemas.openxmlformats.org/drawingml/2006/main" noGrp="1"/>
          </p:cNvSpPr>
          <p:nvPr/>
        </p:nvSpPr>
        <p:spPr>
          <a:xfrm xmlns:a="http://schemas.openxmlformats.org/drawingml/2006/main">
            <a:off x="5001768" y="408736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10">
                <a:solidFill>
                  <a:srgbClr val="FF6FA8"/>
                </a:solidFill>
                <a:latin typeface="Inter"/>
                <a:ea typeface="Inter"/>
                <a:cs typeface="Inter"/>
              </a:rPr>
              <a:t>THE REQUIREMENTS CHANGE</a:t>
            </a:r>
            <a:endParaRPr sz="900"/>
          </a:p>
        </p:txBody>
      </p:sp>
      <p:pic>
        <p:nvPicPr>
          <p:cNvPr id="116" name="Image 1"/>
          <p:cNvPicPr>
            <a:picLocks xmlns:a="http://schemas.openxmlformats.org/drawingml/2006/main" noChangeAspect="1"/>
          </p:cNvPicPr>
          <p:nvPr/>
        </p:nvPicPr>
        <p:blipFill>
          <a:blip xmlns:r="http://schemas.openxmlformats.org/officeDocument/2006/relationships" xmlns:a="http://schemas.openxmlformats.org/drawingml/2006/main" r:embed="R21b34ff0614d4136">
            <a:extLst>
              <a:ext uri="{96DAC541-7B7A-43D3-8B79-37D633B846F1}">
                <asvg:svgBlip xmlns:asvg="http://schemas.microsoft.com/office/drawing/2016/SVG/main" r:embed="R37f76918a52c4cb5"/>
              </a:ext>
            </a:extLst>
          </a:blip>
          <a:stretch xmlns:a="http://schemas.openxmlformats.org/drawingml/2006/main">
            <a:fillRect l="0" t="0" r="0" b="0"/>
          </a:stretch>
        </p:blipFill>
        <p:spPr>
          <a:xfrm xmlns:a="http://schemas.openxmlformats.org/drawingml/2006/main">
            <a:off x="5010912" y="4502404"/>
            <a:ext cx="228600" cy="203200"/>
          </a:xfrm>
          <a:prstGeom xmlns:a="http://schemas.openxmlformats.org/drawingml/2006/main" prst="rect">
            <a:avLst/>
          </a:prstGeom>
        </p:spPr>
      </p:pic>
      <p:sp>
        <p:nvSpPr>
          <p:cNvPr id="51" name="Text 47">
            <a:extLst xmlns:a="http://schemas.openxmlformats.org/drawingml/2006/main">
              <a:ext uri="{FF2B5EF4-FFF2-40B4-BE49-F238E27FC236}">
                <a16:creationId xmlns:a16="http://schemas.microsoft.com/office/drawing/2014/main" id="{3A698963-49F1-4022-BD8F-A9EE62B219E5}"/>
              </a:ext>
            </a:extLst>
          </p:cNvPr>
          <p:cNvSpPr>
            <a:spLocks xmlns:a="http://schemas.openxmlformats.org/drawingml/2006/main" noGrp="1"/>
          </p:cNvSpPr>
          <p:nvPr/>
        </p:nvSpPr>
        <p:spPr>
          <a:xfrm xmlns:a="http://schemas.openxmlformats.org/drawingml/2006/main">
            <a:off x="5376672" y="4480560"/>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another user see my data?</a:t>
            </a:r>
            <a:endParaRPr sz="1250"/>
          </a:p>
        </p:txBody>
      </p:sp>
      <p:sp>
        <p:nvSpPr>
          <p:cNvPr id="52" name="Shape 48">
            <a:extLst xmlns:a="http://schemas.openxmlformats.org/drawingml/2006/main">
              <a:ext uri="{FF2B5EF4-FFF2-40B4-BE49-F238E27FC236}">
                <a16:creationId xmlns:a16="http://schemas.microsoft.com/office/drawing/2014/main" id="{243BD13F-95AF-4F97-BEFE-4A5225E64667}"/>
              </a:ext>
            </a:extLst>
          </p:cNvPr>
          <p:cNvSpPr>
            <a:spLocks xmlns:a="http://schemas.openxmlformats.org/drawingml/2006/main" noGrp="1"/>
          </p:cNvSpPr>
          <p:nvPr/>
        </p:nvSpPr>
        <p:spPr>
          <a:xfrm xmlns:a="http://schemas.openxmlformats.org/drawingml/2006/main">
            <a:off x="10808208" y="4517136"/>
            <a:ext cx="146304" cy="146304"/>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Image 2"/>
          <p:cNvPicPr>
            <a:picLocks xmlns:a="http://schemas.openxmlformats.org/drawingml/2006/main" noChangeAspect="1"/>
          </p:cNvPicPr>
          <p:nvPr/>
        </p:nvPicPr>
        <p:blipFill>
          <a:blip xmlns:r="http://schemas.openxmlformats.org/officeDocument/2006/relationships" xmlns:a="http://schemas.openxmlformats.org/drawingml/2006/main" r:embed="R573a72ac9f7046f4">
            <a:extLst>
              <a:ext uri="{96DAC541-7B7A-43D3-8B79-37D633B846F1}">
                <asvg:svgBlip xmlns:asvg="http://schemas.microsoft.com/office/drawing/2016/SVG/main" r:embed="R586cae27e11f463a"/>
              </a:ext>
            </a:extLst>
          </a:blip>
          <a:stretch xmlns:a="http://schemas.openxmlformats.org/drawingml/2006/main">
            <a:fillRect l="0" t="0" r="0" b="0"/>
          </a:stretch>
        </p:blipFill>
        <p:spPr>
          <a:xfrm xmlns:a="http://schemas.openxmlformats.org/drawingml/2006/main">
            <a:off x="5025200" y="4919472"/>
            <a:ext cx="200025" cy="228600"/>
          </a:xfrm>
          <a:prstGeom xmlns:a="http://schemas.openxmlformats.org/drawingml/2006/main" prst="rect">
            <a:avLst/>
          </a:prstGeom>
        </p:spPr>
      </p:pic>
      <p:sp>
        <p:nvSpPr>
          <p:cNvPr id="54" name="Text 49">
            <a:extLst xmlns:a="http://schemas.openxmlformats.org/drawingml/2006/main">
              <a:ext uri="{FF2B5EF4-FFF2-40B4-BE49-F238E27FC236}">
                <a16:creationId xmlns:a16="http://schemas.microsoft.com/office/drawing/2014/main" id="{7D241636-0F45-47CE-97D9-5754BF1E2BCA}"/>
              </a:ext>
            </a:extLst>
          </p:cNvPr>
          <p:cNvSpPr>
            <a:spLocks xmlns:a="http://schemas.openxmlformats.org/drawingml/2006/main" noGrp="1"/>
          </p:cNvSpPr>
          <p:nvPr/>
        </p:nvSpPr>
        <p:spPr>
          <a:xfrm xmlns:a="http://schemas.openxmlformats.org/drawingml/2006/main">
            <a:off x="5376672" y="4910328"/>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the agent invoke a write tool?</a:t>
            </a:r>
            <a:endParaRPr sz="1250"/>
          </a:p>
        </p:txBody>
      </p:sp>
      <p:sp>
        <p:nvSpPr>
          <p:cNvPr id="55" name="Shape 50">
            <a:extLst xmlns:a="http://schemas.openxmlformats.org/drawingml/2006/main">
              <a:ext uri="{FF2B5EF4-FFF2-40B4-BE49-F238E27FC236}">
                <a16:creationId xmlns:a16="http://schemas.microsoft.com/office/drawing/2014/main" id="{7580A5FD-1D8A-47C3-8248-513B3AC2E9C7}"/>
              </a:ext>
            </a:extLst>
          </p:cNvPr>
          <p:cNvSpPr>
            <a:spLocks xmlns:a="http://schemas.openxmlformats.org/drawingml/2006/main" noGrp="1"/>
          </p:cNvSpPr>
          <p:nvPr/>
        </p:nvSpPr>
        <p:spPr>
          <a:xfrm xmlns:a="http://schemas.openxmlformats.org/drawingml/2006/main">
            <a:off x="10808208" y="4946904"/>
            <a:ext cx="146304" cy="146304"/>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22" name="Image 3"/>
          <p:cNvPicPr>
            <a:picLocks xmlns:a="http://schemas.openxmlformats.org/drawingml/2006/main" noChangeAspect="1"/>
          </p:cNvPicPr>
          <p:nvPr/>
        </p:nvPicPr>
        <p:blipFill>
          <a:blip xmlns:r="http://schemas.openxmlformats.org/officeDocument/2006/relationships" xmlns:a="http://schemas.openxmlformats.org/drawingml/2006/main" r:embed="R4f511f96355c48bf">
            <a:extLst>
              <a:ext uri="{96DAC541-7B7A-43D3-8B79-37D633B846F1}">
                <asvg:svgBlip xmlns:asvg="http://schemas.microsoft.com/office/drawing/2016/SVG/main" r:embed="Rad95eeadd5674a3b"/>
              </a:ext>
            </a:extLst>
          </a:blip>
          <a:stretch xmlns:a="http://schemas.openxmlformats.org/drawingml/2006/main">
            <a:fillRect l="0" t="0" r="0" b="0"/>
          </a:stretch>
        </p:blipFill>
        <p:spPr>
          <a:xfrm xmlns:a="http://schemas.openxmlformats.org/drawingml/2006/main">
            <a:off x="5010912" y="5349240"/>
            <a:ext cx="228600" cy="228600"/>
          </a:xfrm>
          <a:prstGeom xmlns:a="http://schemas.openxmlformats.org/drawingml/2006/main" prst="rect">
            <a:avLst/>
          </a:prstGeom>
        </p:spPr>
      </p:pic>
      <p:sp>
        <p:nvSpPr>
          <p:cNvPr id="57" name="Text 51">
            <a:extLst xmlns:a="http://schemas.openxmlformats.org/drawingml/2006/main">
              <a:ext uri="{FF2B5EF4-FFF2-40B4-BE49-F238E27FC236}">
                <a16:creationId xmlns:a16="http://schemas.microsoft.com/office/drawing/2014/main" id="{8045A710-45CC-45F7-88EC-A32C6DEBE6C7}"/>
              </a:ext>
            </a:extLst>
          </p:cNvPr>
          <p:cNvSpPr>
            <a:spLocks xmlns:a="http://schemas.openxmlformats.org/drawingml/2006/main" noGrp="1"/>
          </p:cNvSpPr>
          <p:nvPr/>
        </p:nvSpPr>
        <p:spPr>
          <a:xfrm xmlns:a="http://schemas.openxmlformats.org/drawingml/2006/main">
            <a:off x="5376672" y="5340096"/>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I reproduce the answer?</a:t>
            </a:r>
            <a:endParaRPr sz="1250"/>
          </a:p>
        </p:txBody>
      </p:sp>
      <p:sp>
        <p:nvSpPr>
          <p:cNvPr id="58" name="Shape 52">
            <a:extLst xmlns:a="http://schemas.openxmlformats.org/drawingml/2006/main">
              <a:ext uri="{FF2B5EF4-FFF2-40B4-BE49-F238E27FC236}">
                <a16:creationId xmlns:a16="http://schemas.microsoft.com/office/drawing/2014/main" id="{9619EAF8-88C7-4EDC-A142-643ED11DC9CC}"/>
              </a:ext>
            </a:extLst>
          </p:cNvPr>
          <p:cNvSpPr>
            <a:spLocks xmlns:a="http://schemas.openxmlformats.org/drawingml/2006/main" noGrp="1"/>
          </p:cNvSpPr>
          <p:nvPr/>
        </p:nvSpPr>
        <p:spPr>
          <a:xfrm xmlns:a="http://schemas.openxmlformats.org/drawingml/2006/main">
            <a:off x="10808208" y="5376672"/>
            <a:ext cx="146304" cy="146304"/>
          </a:xfrm>
          <a:prstGeom xmlns:a="http://schemas.openxmlformats.org/drawingml/2006/main" prst="ellipse">
            <a:avLst/>
          </a:prstGeom>
          <a:solidFill xmlns:a="http://schemas.openxmlformats.org/drawingml/2006/main">
            <a:srgbClr val="A879FF"/>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59" name="Text 53">
            <a:extLst xmlns:a="http://schemas.openxmlformats.org/drawingml/2006/main">
              <a:ext uri="{FF2B5EF4-FFF2-40B4-BE49-F238E27FC236}">
                <a16:creationId xmlns:a16="http://schemas.microsoft.com/office/drawing/2014/main" id="{B9E85CC5-9003-417E-B0E6-87AC09DCD145}"/>
              </a:ext>
            </a:extLst>
          </p:cNvPr>
          <p:cNvSpPr>
            <a:spLocks xmlns:a="http://schemas.openxmlformats.org/drawingml/2006/main" noGrp="1"/>
          </p:cNvSpPr>
          <p:nvPr/>
        </p:nvSpPr>
        <p:spPr>
          <a:xfrm xmlns:a="http://schemas.openxmlformats.org/drawingml/2006/main">
            <a:off x="8439912" y="5660136"/>
            <a:ext cx="283464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i="1">
                <a:solidFill>
                  <a:srgbClr val="72839A"/>
                </a:solidFill>
                <a:latin typeface="Inter"/>
                <a:ea typeface="Inter"/>
                <a:cs typeface="Inter"/>
              </a:rPr>
              <a:t>Milestone illustration, not a daily price series.</a:t>
            </a:r>
            <a:endParaRPr sz="780"/>
          </a:p>
        </p:txBody>
      </p:sp>
      <p:sp>
        <p:nvSpPr>
          <p:cNvPr id="60" name="Shape 54">
            <a:extLst xmlns:a="http://schemas.openxmlformats.org/drawingml/2006/main">
              <a:ext uri="{FF2B5EF4-FFF2-40B4-BE49-F238E27FC236}">
                <a16:creationId xmlns:a16="http://schemas.microsoft.com/office/drawing/2014/main" id="{AF10D755-B85E-48F5-95B3-81DC74D82497}"/>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1" name="Text 55">
            <a:extLst xmlns:a="http://schemas.openxmlformats.org/drawingml/2006/main">
              <a:ext uri="{FF2B5EF4-FFF2-40B4-BE49-F238E27FC236}">
                <a16:creationId xmlns:a16="http://schemas.microsoft.com/office/drawing/2014/main" id="{8B51A0B2-65C9-4C43-9D64-B0EE450906AE}"/>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62" name="Text 56">
            <a:extLst xmlns:a="http://schemas.openxmlformats.org/drawingml/2006/main">
              <a:ext uri="{FF2B5EF4-FFF2-40B4-BE49-F238E27FC236}">
                <a16:creationId xmlns:a16="http://schemas.microsoft.com/office/drawing/2014/main" id="{31BBD849-9694-4AAB-865D-9499CC27D481}"/>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63" name="Text 57">
            <a:extLst xmlns:a="http://schemas.openxmlformats.org/drawingml/2006/main">
              <a:ext uri="{FF2B5EF4-FFF2-40B4-BE49-F238E27FC236}">
                <a16:creationId xmlns:a16="http://schemas.microsoft.com/office/drawing/2014/main" id="{7A5E860A-17D0-402C-BAF6-EDDCA7F40DFF}"/>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05</a:t>
            </a:r>
            <a:endParaRPr sz="850"/>
          </a:p>
        </p:txBody>
      </p:sp>
    </p:spTree>
    <p:extLst>
      <p:ext uri="{BB962C8B-B14F-4D97-AF65-F5344CB8AC3E}">
        <p14:creationId xmlns:p14="http://schemas.microsoft.com/office/powerpoint/2010/main" val="10837012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2abe3e39a5274e03">
            <a:extLst>
              <a:ext uri="{96DAC541-7B7A-43D3-8B79-37D633B846F1}">
                <asvg:svgBlip xmlns:asvg="http://schemas.microsoft.com/office/drawing/2016/SVG/main" r:embed="R287461fd68c842c3"/>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01F3DB4-0586-47D7-A14D-A9DB10C5444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FROM CAPABILITY TO CONTROL</a:t>
            </a:r>
            <a:endParaRPr sz="950"/>
          </a:p>
        </p:txBody>
      </p:sp>
      <p:sp>
        <p:nvSpPr>
          <p:cNvPr id="4" name="Text 1">
            <a:extLst xmlns:a="http://schemas.openxmlformats.org/drawingml/2006/main">
              <a:ext uri="{FF2B5EF4-FFF2-40B4-BE49-F238E27FC236}">
                <a16:creationId xmlns:a16="http://schemas.microsoft.com/office/drawing/2014/main" id="{CE7A35E4-4D8D-4871-97AE-8147328F9EA0}"/>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Production expands the control surface</a:t>
            </a:r>
            <a:endParaRPr sz="2650"/>
          </a:p>
        </p:txBody>
      </p:sp>
      <p:sp>
        <p:nvSpPr>
          <p:cNvPr id="5" name="Shape 2">
            <a:extLst xmlns:a="http://schemas.openxmlformats.org/drawingml/2006/main">
              <a:ext uri="{FF2B5EF4-FFF2-40B4-BE49-F238E27FC236}">
                <a16:creationId xmlns:a16="http://schemas.microsoft.com/office/drawing/2014/main" id="{F01FE2A1-03CE-40F2-A796-D58AA966ED44}"/>
              </a:ext>
            </a:extLst>
          </p:cNvPr>
          <p:cNvSpPr>
            <a:spLocks xmlns:a="http://schemas.openxmlformats.org/drawingml/2006/main" noGrp="1"/>
          </p:cNvSpPr>
          <p:nvPr/>
        </p:nvSpPr>
        <p:spPr>
          <a:xfrm xmlns:a="http://schemas.openxmlformats.org/drawingml/2006/main">
            <a:off x="566928"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2265839B-3738-4A61-8AD7-DFC17FD744EB}"/>
              </a:ext>
            </a:extLst>
          </p:cNvPr>
          <p:cNvSpPr>
            <a:spLocks xmlns:a="http://schemas.openxmlformats.org/drawingml/2006/main" noGrp="1"/>
          </p:cNvSpPr>
          <p:nvPr/>
        </p:nvSpPr>
        <p:spPr>
          <a:xfrm xmlns:a="http://schemas.openxmlformats.org/drawingml/2006/main">
            <a:off x="731520" y="1508760"/>
            <a:ext cx="438912" cy="438912"/>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61" name="Image 1"/>
          <p:cNvPicPr>
            <a:picLocks xmlns:a="http://schemas.openxmlformats.org/drawingml/2006/main" noChangeAspect="1"/>
          </p:cNvPicPr>
          <p:nvPr/>
        </p:nvPicPr>
        <p:blipFill>
          <a:blip xmlns:r="http://schemas.openxmlformats.org/officeDocument/2006/relationships" xmlns:a="http://schemas.openxmlformats.org/drawingml/2006/main" r:embed="Rd1af80388ddb4b47">
            <a:extLst>
              <a:ext uri="{96DAC541-7B7A-43D3-8B79-37D633B846F1}">
                <asvg:svgBlip xmlns:asvg="http://schemas.microsoft.com/office/drawing/2016/SVG/main" r:embed="Rc44bb7b902ed4f69"/>
              </a:ext>
            </a:extLst>
          </a:blip>
          <a:stretch xmlns:a="http://schemas.openxmlformats.org/drawingml/2006/main">
            <a:fillRect l="0" t="0" r="0" b="0"/>
          </a:stretch>
        </p:blipFill>
        <p:spPr>
          <a:xfrm xmlns:a="http://schemas.openxmlformats.org/drawingml/2006/main">
            <a:off x="832104" y="1609344"/>
            <a:ext cx="237744" cy="237744"/>
          </a:xfrm>
          <a:prstGeom xmlns:a="http://schemas.openxmlformats.org/drawingml/2006/main" prst="rect">
            <a:avLst/>
          </a:prstGeom>
        </p:spPr>
      </p:pic>
      <p:sp>
        <p:nvSpPr>
          <p:cNvPr id="8" name="Text 4">
            <a:extLst xmlns:a="http://schemas.openxmlformats.org/drawingml/2006/main">
              <a:ext uri="{FF2B5EF4-FFF2-40B4-BE49-F238E27FC236}">
                <a16:creationId xmlns:a16="http://schemas.microsoft.com/office/drawing/2014/main" id="{6932E7DA-F812-4BA7-8006-AA8E321126EF}"/>
              </a:ext>
            </a:extLst>
          </p:cNvPr>
          <p:cNvSpPr>
            <a:spLocks xmlns:a="http://schemas.openxmlformats.org/drawingml/2006/main" noGrp="1"/>
          </p:cNvSpPr>
          <p:nvPr/>
        </p:nvSpPr>
        <p:spPr>
          <a:xfrm xmlns:a="http://schemas.openxmlformats.org/drawingml/2006/main">
            <a:off x="1280160"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Identity &amp; entitlements</a:t>
            </a:r>
            <a:endParaRPr sz="1450"/>
          </a:p>
        </p:txBody>
      </p:sp>
      <p:sp>
        <p:nvSpPr>
          <p:cNvPr id="9" name="Text 5">
            <a:extLst xmlns:a="http://schemas.openxmlformats.org/drawingml/2006/main">
              <a:ext uri="{FF2B5EF4-FFF2-40B4-BE49-F238E27FC236}">
                <a16:creationId xmlns:a16="http://schemas.microsoft.com/office/drawing/2014/main" id="{84480214-DA5B-4842-9743-E8B138615A68}"/>
              </a:ext>
            </a:extLst>
          </p:cNvPr>
          <p:cNvSpPr>
            <a:spLocks xmlns:a="http://schemas.openxmlformats.org/drawingml/2006/main" noGrp="1"/>
          </p:cNvSpPr>
          <p:nvPr/>
        </p:nvSpPr>
        <p:spPr>
          <a:xfrm xmlns:a="http://schemas.openxmlformats.org/drawingml/2006/main">
            <a:off x="1280160"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Delegated JWT · dataset grants</a:t>
            </a:r>
            <a:endParaRPr sz="1050"/>
          </a:p>
        </p:txBody>
      </p:sp>
      <p:sp>
        <p:nvSpPr>
          <p:cNvPr id="10" name="Shape 6">
            <a:extLst xmlns:a="http://schemas.openxmlformats.org/drawingml/2006/main">
              <a:ext uri="{FF2B5EF4-FFF2-40B4-BE49-F238E27FC236}">
                <a16:creationId xmlns:a16="http://schemas.microsoft.com/office/drawing/2014/main" id="{C321DA25-ED18-4C63-BF74-09F433BD5154}"/>
              </a:ext>
            </a:extLst>
          </p:cNvPr>
          <p:cNvSpPr>
            <a:spLocks xmlns:a="http://schemas.openxmlformats.org/drawingml/2006/main" noGrp="1"/>
          </p:cNvSpPr>
          <p:nvPr/>
        </p:nvSpPr>
        <p:spPr>
          <a:xfrm xmlns:a="http://schemas.openxmlformats.org/drawingml/2006/main">
            <a:off x="4352544"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7">
            <a:extLst xmlns:a="http://schemas.openxmlformats.org/drawingml/2006/main">
              <a:ext uri="{FF2B5EF4-FFF2-40B4-BE49-F238E27FC236}">
                <a16:creationId xmlns:a16="http://schemas.microsoft.com/office/drawing/2014/main" id="{58F4310B-C2B5-45E0-9B39-96970BA5F011}"/>
              </a:ext>
            </a:extLst>
          </p:cNvPr>
          <p:cNvSpPr>
            <a:spLocks xmlns:a="http://schemas.openxmlformats.org/drawingml/2006/main" noGrp="1"/>
          </p:cNvSpPr>
          <p:nvPr/>
        </p:nvSpPr>
        <p:spPr>
          <a:xfrm xmlns:a="http://schemas.openxmlformats.org/drawingml/2006/main">
            <a:off x="4517136" y="1508760"/>
            <a:ext cx="438912" cy="438912"/>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a55625daf9a541b0">
            <a:extLst>
              <a:ext uri="{96DAC541-7B7A-43D3-8B79-37D633B846F1}">
                <asvg:svgBlip xmlns:asvg="http://schemas.microsoft.com/office/drawing/2016/SVG/main" r:embed="Raedc894377544dc3"/>
              </a:ext>
            </a:extLst>
          </a:blip>
          <a:stretch xmlns:a="http://schemas.openxmlformats.org/drawingml/2006/main">
            <a:fillRect l="0" t="0" r="0" b="0"/>
          </a:stretch>
        </p:blipFill>
        <p:spPr>
          <a:xfrm xmlns:a="http://schemas.openxmlformats.org/drawingml/2006/main">
            <a:off x="4617720" y="1633118"/>
            <a:ext cx="237744" cy="190195"/>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04247129-ED64-41A4-A6DC-BF85353F4E83}"/>
              </a:ext>
            </a:extLst>
          </p:cNvPr>
          <p:cNvSpPr>
            <a:spLocks xmlns:a="http://schemas.openxmlformats.org/drawingml/2006/main" noGrp="1"/>
          </p:cNvSpPr>
          <p:nvPr/>
        </p:nvSpPr>
        <p:spPr>
          <a:xfrm xmlns:a="http://schemas.openxmlformats.org/drawingml/2006/main">
            <a:off x="5065776"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Least privilege</a:t>
            </a:r>
            <a:endParaRPr sz="1450"/>
          </a:p>
        </p:txBody>
      </p:sp>
      <p:sp>
        <p:nvSpPr>
          <p:cNvPr id="14" name="Text 9">
            <a:extLst xmlns:a="http://schemas.openxmlformats.org/drawingml/2006/main">
              <a:ext uri="{FF2B5EF4-FFF2-40B4-BE49-F238E27FC236}">
                <a16:creationId xmlns:a16="http://schemas.microsoft.com/office/drawing/2014/main" id="{AEC49314-C3EC-4102-AFFA-6686B0798D15}"/>
              </a:ext>
            </a:extLst>
          </p:cNvPr>
          <p:cNvSpPr>
            <a:spLocks xmlns:a="http://schemas.openxmlformats.org/drawingml/2006/main" noGrp="1"/>
          </p:cNvSpPr>
          <p:nvPr/>
        </p:nvSpPr>
        <p:spPr>
          <a:xfrm xmlns:a="http://schemas.openxmlformats.org/drawingml/2006/main">
            <a:off x="5065776"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Read-only SQL · exact relations</a:t>
            </a:r>
            <a:endParaRPr sz="1050"/>
          </a:p>
        </p:txBody>
      </p:sp>
      <p:sp>
        <p:nvSpPr>
          <p:cNvPr id="15" name="Shape 10">
            <a:extLst xmlns:a="http://schemas.openxmlformats.org/drawingml/2006/main">
              <a:ext uri="{FF2B5EF4-FFF2-40B4-BE49-F238E27FC236}">
                <a16:creationId xmlns:a16="http://schemas.microsoft.com/office/drawing/2014/main" id="{8F78653E-AF97-4E8A-BA2A-0C81C7C6D387}"/>
              </a:ext>
            </a:extLst>
          </p:cNvPr>
          <p:cNvSpPr>
            <a:spLocks xmlns:a="http://schemas.openxmlformats.org/drawingml/2006/main" noGrp="1"/>
          </p:cNvSpPr>
          <p:nvPr/>
        </p:nvSpPr>
        <p:spPr>
          <a:xfrm xmlns:a="http://schemas.openxmlformats.org/drawingml/2006/main">
            <a:off x="8138160"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6" name="Shape 11">
            <a:extLst xmlns:a="http://schemas.openxmlformats.org/drawingml/2006/main">
              <a:ext uri="{FF2B5EF4-FFF2-40B4-BE49-F238E27FC236}">
                <a16:creationId xmlns:a16="http://schemas.microsoft.com/office/drawing/2014/main" id="{444B0FC9-D42A-4C75-9521-F682BA657FD1}"/>
              </a:ext>
            </a:extLst>
          </p:cNvPr>
          <p:cNvSpPr>
            <a:spLocks xmlns:a="http://schemas.openxmlformats.org/drawingml/2006/main" noGrp="1"/>
          </p:cNvSpPr>
          <p:nvPr/>
        </p:nvSpPr>
        <p:spPr>
          <a:xfrm xmlns:a="http://schemas.openxmlformats.org/drawingml/2006/main">
            <a:off x="8302752" y="1508760"/>
            <a:ext cx="438912" cy="438912"/>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71" name="Image 3"/>
          <p:cNvPicPr>
            <a:picLocks xmlns:a="http://schemas.openxmlformats.org/drawingml/2006/main" noChangeAspect="1"/>
          </p:cNvPicPr>
          <p:nvPr/>
        </p:nvPicPr>
        <p:blipFill>
          <a:blip xmlns:r="http://schemas.openxmlformats.org/officeDocument/2006/relationships" xmlns:a="http://schemas.openxmlformats.org/drawingml/2006/main" r:embed="R6c815470e2224a24">
            <a:extLst>
              <a:ext uri="{96DAC541-7B7A-43D3-8B79-37D633B846F1}">
                <asvg:svgBlip xmlns:asvg="http://schemas.microsoft.com/office/drawing/2016/SVG/main" r:embed="Rbf7a89c1efdd45d5"/>
              </a:ext>
            </a:extLst>
          </a:blip>
          <a:stretch xmlns:a="http://schemas.openxmlformats.org/drawingml/2006/main">
            <a:fillRect l="0" t="0" r="0" b="0"/>
          </a:stretch>
        </p:blipFill>
        <p:spPr>
          <a:xfrm xmlns:a="http://schemas.openxmlformats.org/drawingml/2006/main">
            <a:off x="8403336" y="1609344"/>
            <a:ext cx="237744" cy="237744"/>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CE32BC5B-4616-46AD-8412-F72BF98A9BB8}"/>
              </a:ext>
            </a:extLst>
          </p:cNvPr>
          <p:cNvSpPr>
            <a:spLocks xmlns:a="http://schemas.openxmlformats.org/drawingml/2006/main" noGrp="1"/>
          </p:cNvSpPr>
          <p:nvPr/>
        </p:nvSpPr>
        <p:spPr>
          <a:xfrm xmlns:a="http://schemas.openxmlformats.org/drawingml/2006/main">
            <a:off x="8851392"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Guardrails</a:t>
            </a:r>
            <a:endParaRPr sz="1450"/>
          </a:p>
        </p:txBody>
      </p:sp>
      <p:sp>
        <p:nvSpPr>
          <p:cNvPr id="19" name="Text 13">
            <a:extLst xmlns:a="http://schemas.openxmlformats.org/drawingml/2006/main">
              <a:ext uri="{FF2B5EF4-FFF2-40B4-BE49-F238E27FC236}">
                <a16:creationId xmlns:a16="http://schemas.microsoft.com/office/drawing/2014/main" id="{87C10FB1-D3F7-417E-A672-7ABFB322372B}"/>
              </a:ext>
            </a:extLst>
          </p:cNvPr>
          <p:cNvSpPr>
            <a:spLocks xmlns:a="http://schemas.openxmlformats.org/drawingml/2006/main" noGrp="1"/>
          </p:cNvSpPr>
          <p:nvPr/>
        </p:nvSpPr>
        <p:spPr>
          <a:xfrm xmlns:a="http://schemas.openxmlformats.org/drawingml/2006/main">
            <a:off x="8851392"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AST validation · fail closed</a:t>
            </a:r>
            <a:endParaRPr sz="1050"/>
          </a:p>
        </p:txBody>
      </p:sp>
      <p:sp>
        <p:nvSpPr>
          <p:cNvPr id="20" name="Shape 14">
            <a:extLst xmlns:a="http://schemas.openxmlformats.org/drawingml/2006/main">
              <a:ext uri="{FF2B5EF4-FFF2-40B4-BE49-F238E27FC236}">
                <a16:creationId xmlns:a16="http://schemas.microsoft.com/office/drawing/2014/main" id="{56263E2C-1F88-4870-BB5B-8E81E57F3F52}"/>
              </a:ext>
            </a:extLst>
          </p:cNvPr>
          <p:cNvSpPr>
            <a:spLocks xmlns:a="http://schemas.openxmlformats.org/drawingml/2006/main" noGrp="1"/>
          </p:cNvSpPr>
          <p:nvPr/>
        </p:nvSpPr>
        <p:spPr>
          <a:xfrm xmlns:a="http://schemas.openxmlformats.org/drawingml/2006/main">
            <a:off x="566928"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1" name="Shape 15">
            <a:extLst xmlns:a="http://schemas.openxmlformats.org/drawingml/2006/main">
              <a:ext uri="{FF2B5EF4-FFF2-40B4-BE49-F238E27FC236}">
                <a16:creationId xmlns:a16="http://schemas.microsoft.com/office/drawing/2014/main" id="{A2E614FD-66F5-46CB-860F-0D86EC4B1919}"/>
              </a:ext>
            </a:extLst>
          </p:cNvPr>
          <p:cNvSpPr>
            <a:spLocks xmlns:a="http://schemas.openxmlformats.org/drawingml/2006/main" noGrp="1"/>
          </p:cNvSpPr>
          <p:nvPr/>
        </p:nvSpPr>
        <p:spPr>
          <a:xfrm xmlns:a="http://schemas.openxmlformats.org/drawingml/2006/main">
            <a:off x="731520" y="3108960"/>
            <a:ext cx="438912" cy="438912"/>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76" name="Image 4"/>
          <p:cNvPicPr>
            <a:picLocks xmlns:a="http://schemas.openxmlformats.org/drawingml/2006/main" noChangeAspect="1"/>
          </p:cNvPicPr>
          <p:nvPr/>
        </p:nvPicPr>
        <p:blipFill>
          <a:blip xmlns:r="http://schemas.openxmlformats.org/officeDocument/2006/relationships" xmlns:a="http://schemas.openxmlformats.org/drawingml/2006/main" r:embed="R82381ddc33c9485a">
            <a:extLst>
              <a:ext uri="{96DAC541-7B7A-43D3-8B79-37D633B846F1}">
                <asvg:svgBlip xmlns:asvg="http://schemas.microsoft.com/office/drawing/2016/SVG/main" r:embed="Rc95f79b60e7c4743"/>
              </a:ext>
            </a:extLst>
          </a:blip>
          <a:stretch xmlns:a="http://schemas.openxmlformats.org/drawingml/2006/main">
            <a:fillRect l="0" t="0" r="0" b="0"/>
          </a:stretch>
        </p:blipFill>
        <p:spPr>
          <a:xfrm xmlns:a="http://schemas.openxmlformats.org/drawingml/2006/main">
            <a:off x="832104" y="3222752"/>
            <a:ext cx="237744" cy="211328"/>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00DD3E5A-F84F-4862-AE5E-08C6194902B6}"/>
              </a:ext>
            </a:extLst>
          </p:cNvPr>
          <p:cNvSpPr>
            <a:spLocks xmlns:a="http://schemas.openxmlformats.org/drawingml/2006/main" noGrp="1"/>
          </p:cNvSpPr>
          <p:nvPr/>
        </p:nvSpPr>
        <p:spPr>
          <a:xfrm xmlns:a="http://schemas.openxmlformats.org/drawingml/2006/main">
            <a:off x="1280160"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Audit &amp; telemetry</a:t>
            </a:r>
            <a:endParaRPr sz="1450"/>
          </a:p>
        </p:txBody>
      </p:sp>
      <p:sp>
        <p:nvSpPr>
          <p:cNvPr id="24" name="Text 17">
            <a:extLst xmlns:a="http://schemas.openxmlformats.org/drawingml/2006/main">
              <a:ext uri="{FF2B5EF4-FFF2-40B4-BE49-F238E27FC236}">
                <a16:creationId xmlns:a16="http://schemas.microsoft.com/office/drawing/2014/main" id="{34C33EA0-9B15-4919-B5A2-93824E363AA2}"/>
              </a:ext>
            </a:extLst>
          </p:cNvPr>
          <p:cNvSpPr>
            <a:spLocks xmlns:a="http://schemas.openxmlformats.org/drawingml/2006/main" noGrp="1"/>
          </p:cNvSpPr>
          <p:nvPr/>
        </p:nvSpPr>
        <p:spPr>
          <a:xfrm xmlns:a="http://schemas.openxmlformats.org/drawingml/2006/main">
            <a:off x="1280160"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Request ID · route · outcome</a:t>
            </a:r>
            <a:endParaRPr sz="1050"/>
          </a:p>
        </p:txBody>
      </p:sp>
      <p:sp>
        <p:nvSpPr>
          <p:cNvPr id="25" name="Shape 18">
            <a:extLst xmlns:a="http://schemas.openxmlformats.org/drawingml/2006/main">
              <a:ext uri="{FF2B5EF4-FFF2-40B4-BE49-F238E27FC236}">
                <a16:creationId xmlns:a16="http://schemas.microsoft.com/office/drawing/2014/main" id="{FF261CF9-3517-402A-A651-33C965E60EDF}"/>
              </a:ext>
            </a:extLst>
          </p:cNvPr>
          <p:cNvSpPr>
            <a:spLocks xmlns:a="http://schemas.openxmlformats.org/drawingml/2006/main" noGrp="1"/>
          </p:cNvSpPr>
          <p:nvPr/>
        </p:nvSpPr>
        <p:spPr>
          <a:xfrm xmlns:a="http://schemas.openxmlformats.org/drawingml/2006/main">
            <a:off x="4352544"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6" name="Shape 19">
            <a:extLst xmlns:a="http://schemas.openxmlformats.org/drawingml/2006/main">
              <a:ext uri="{FF2B5EF4-FFF2-40B4-BE49-F238E27FC236}">
                <a16:creationId xmlns:a16="http://schemas.microsoft.com/office/drawing/2014/main" id="{D5783B24-9B9A-41CF-ADD9-FC6C93FA7828}"/>
              </a:ext>
            </a:extLst>
          </p:cNvPr>
          <p:cNvSpPr>
            <a:spLocks xmlns:a="http://schemas.openxmlformats.org/drawingml/2006/main" noGrp="1"/>
          </p:cNvSpPr>
          <p:nvPr/>
        </p:nvSpPr>
        <p:spPr>
          <a:xfrm xmlns:a="http://schemas.openxmlformats.org/drawingml/2006/main">
            <a:off x="4517136" y="3108960"/>
            <a:ext cx="438912" cy="438912"/>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1" name="Image 5"/>
          <p:cNvPicPr>
            <a:picLocks xmlns:a="http://schemas.openxmlformats.org/drawingml/2006/main" noChangeAspect="1"/>
          </p:cNvPicPr>
          <p:nvPr/>
        </p:nvPicPr>
        <p:blipFill>
          <a:blip xmlns:r="http://schemas.openxmlformats.org/officeDocument/2006/relationships" xmlns:a="http://schemas.openxmlformats.org/drawingml/2006/main" r:embed="Rabf0073787524105">
            <a:extLst>
              <a:ext uri="{96DAC541-7B7A-43D3-8B79-37D633B846F1}">
                <asvg:svgBlip xmlns:asvg="http://schemas.microsoft.com/office/drawing/2016/SVG/main" r:embed="R4af855fcd15d48e1"/>
              </a:ext>
            </a:extLst>
          </a:blip>
          <a:stretch xmlns:a="http://schemas.openxmlformats.org/drawingml/2006/main">
            <a:fillRect l="0" t="0" r="0" b="0"/>
          </a:stretch>
        </p:blipFill>
        <p:spPr>
          <a:xfrm xmlns:a="http://schemas.openxmlformats.org/drawingml/2006/main">
            <a:off x="4617720" y="3222752"/>
            <a:ext cx="237744" cy="211328"/>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3295DA71-0798-433E-89FF-6BB4DC9FF28F}"/>
              </a:ext>
            </a:extLst>
          </p:cNvPr>
          <p:cNvSpPr>
            <a:spLocks xmlns:a="http://schemas.openxmlformats.org/drawingml/2006/main" noGrp="1"/>
          </p:cNvSpPr>
          <p:nvPr/>
        </p:nvSpPr>
        <p:spPr>
          <a:xfrm xmlns:a="http://schemas.openxmlformats.org/drawingml/2006/main">
            <a:off x="5065776"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Evidence &amp; provenance</a:t>
            </a:r>
            <a:endParaRPr sz="1450"/>
          </a:p>
        </p:txBody>
      </p:sp>
      <p:sp>
        <p:nvSpPr>
          <p:cNvPr id="29" name="Text 21">
            <a:extLst xmlns:a="http://schemas.openxmlformats.org/drawingml/2006/main">
              <a:ext uri="{FF2B5EF4-FFF2-40B4-BE49-F238E27FC236}">
                <a16:creationId xmlns:a16="http://schemas.microsoft.com/office/drawing/2014/main" id="{7A95EAD9-F1AD-45E6-BA09-DA94DA9138A1}"/>
              </a:ext>
            </a:extLst>
          </p:cNvPr>
          <p:cNvSpPr>
            <a:spLocks xmlns:a="http://schemas.openxmlformats.org/drawingml/2006/main" noGrp="1"/>
          </p:cNvSpPr>
          <p:nvPr/>
        </p:nvSpPr>
        <p:spPr>
          <a:xfrm xmlns:a="http://schemas.openxmlformats.org/drawingml/2006/main">
            <a:off x="5065776"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Dataset · SQL · source metadata</a:t>
            </a:r>
            <a:endParaRPr sz="1050"/>
          </a:p>
        </p:txBody>
      </p:sp>
      <p:sp>
        <p:nvSpPr>
          <p:cNvPr id="30" name="Shape 22">
            <a:extLst xmlns:a="http://schemas.openxmlformats.org/drawingml/2006/main">
              <a:ext uri="{FF2B5EF4-FFF2-40B4-BE49-F238E27FC236}">
                <a16:creationId xmlns:a16="http://schemas.microsoft.com/office/drawing/2014/main" id="{05E0D767-9F78-414B-86B2-EB369B6FC1AB}"/>
              </a:ext>
            </a:extLst>
          </p:cNvPr>
          <p:cNvSpPr>
            <a:spLocks xmlns:a="http://schemas.openxmlformats.org/drawingml/2006/main" noGrp="1"/>
          </p:cNvSpPr>
          <p:nvPr/>
        </p:nvSpPr>
        <p:spPr>
          <a:xfrm xmlns:a="http://schemas.openxmlformats.org/drawingml/2006/main">
            <a:off x="8138160"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31" name="Shape 23">
            <a:extLst xmlns:a="http://schemas.openxmlformats.org/drawingml/2006/main">
              <a:ext uri="{FF2B5EF4-FFF2-40B4-BE49-F238E27FC236}">
                <a16:creationId xmlns:a16="http://schemas.microsoft.com/office/drawing/2014/main" id="{FEE21A79-E160-4C3A-B979-658FEB87B51F}"/>
              </a:ext>
            </a:extLst>
          </p:cNvPr>
          <p:cNvSpPr>
            <a:spLocks xmlns:a="http://schemas.openxmlformats.org/drawingml/2006/main" noGrp="1"/>
          </p:cNvSpPr>
          <p:nvPr/>
        </p:nvSpPr>
        <p:spPr>
          <a:xfrm xmlns:a="http://schemas.openxmlformats.org/drawingml/2006/main">
            <a:off x="8302752" y="3108960"/>
            <a:ext cx="438912" cy="438912"/>
          </a:xfrm>
          <a:prstGeom xmlns:a="http://schemas.openxmlformats.org/drawingml/2006/main" prst="ellipse">
            <a:avLst/>
          </a:prstGeom>
          <a:solidFill xmlns:a="http://schemas.openxmlformats.org/drawingml/2006/main">
            <a:srgbClr val="63E69C">
              <a:alpha val="18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6"/>
          <p:cNvPicPr>
            <a:picLocks xmlns:a="http://schemas.openxmlformats.org/drawingml/2006/main" noChangeAspect="1"/>
          </p:cNvPicPr>
          <p:nvPr/>
        </p:nvPicPr>
        <p:blipFill>
          <a:blip xmlns:r="http://schemas.openxmlformats.org/officeDocument/2006/relationships" xmlns:a="http://schemas.openxmlformats.org/drawingml/2006/main" r:embed="Rfa85596a37734a45">
            <a:extLst>
              <a:ext uri="{96DAC541-7B7A-43D3-8B79-37D633B846F1}">
                <asvg:svgBlip xmlns:asvg="http://schemas.microsoft.com/office/drawing/2016/SVG/main" r:embed="Re4cac93881bf4319"/>
              </a:ext>
            </a:extLst>
          </a:blip>
          <a:stretch xmlns:a="http://schemas.openxmlformats.org/drawingml/2006/main">
            <a:fillRect l="0" t="0" r="0" b="0"/>
          </a:stretch>
        </p:blipFill>
        <p:spPr>
          <a:xfrm xmlns:a="http://schemas.openxmlformats.org/drawingml/2006/main">
            <a:off x="8418195" y="3209544"/>
            <a:ext cx="208026" cy="237744"/>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13C19DAF-7604-416A-9773-A9DAAB2FC4AC}"/>
              </a:ext>
            </a:extLst>
          </p:cNvPr>
          <p:cNvSpPr>
            <a:spLocks xmlns:a="http://schemas.openxmlformats.org/drawingml/2006/main" noGrp="1"/>
          </p:cNvSpPr>
          <p:nvPr/>
        </p:nvSpPr>
        <p:spPr>
          <a:xfrm xmlns:a="http://schemas.openxmlformats.org/drawingml/2006/main">
            <a:off x="8851392"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Tests &amp; release gates</a:t>
            </a:r>
            <a:endParaRPr sz="1450"/>
          </a:p>
        </p:txBody>
      </p:sp>
      <p:sp>
        <p:nvSpPr>
          <p:cNvPr id="34" name="Text 25">
            <a:extLst xmlns:a="http://schemas.openxmlformats.org/drawingml/2006/main">
              <a:ext uri="{FF2B5EF4-FFF2-40B4-BE49-F238E27FC236}">
                <a16:creationId xmlns:a16="http://schemas.microsoft.com/office/drawing/2014/main" id="{7664AC24-C675-494A-9ED9-C8B2998D78A7}"/>
              </a:ext>
            </a:extLst>
          </p:cNvPr>
          <p:cNvSpPr>
            <a:spLocks xmlns:a="http://schemas.openxmlformats.org/drawingml/2006/main" noGrp="1"/>
          </p:cNvSpPr>
          <p:nvPr/>
        </p:nvSpPr>
        <p:spPr>
          <a:xfrm xmlns:a="http://schemas.openxmlformats.org/drawingml/2006/main">
            <a:off x="8851392"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470 passed · lint · security scans</a:t>
            </a:r>
            <a:endParaRPr sz="1050"/>
          </a:p>
        </p:txBody>
      </p:sp>
      <p:sp>
        <p:nvSpPr>
          <p:cNvPr id="35" name="Shape 26">
            <a:extLst xmlns:a="http://schemas.openxmlformats.org/drawingml/2006/main">
              <a:ext uri="{FF2B5EF4-FFF2-40B4-BE49-F238E27FC236}">
                <a16:creationId xmlns:a16="http://schemas.microsoft.com/office/drawing/2014/main" id="{B33BEDB2-853F-4A5C-8A74-C733DE59A72E}"/>
              </a:ext>
            </a:extLst>
          </p:cNvPr>
          <p:cNvSpPr>
            <a:spLocks xmlns:a="http://schemas.openxmlformats.org/drawingml/2006/main" noGrp="1"/>
          </p:cNvSpPr>
          <p:nvPr/>
        </p:nvSpPr>
        <p:spPr>
          <a:xfrm xmlns:a="http://schemas.openxmlformats.org/drawingml/2006/main">
            <a:off x="566928" y="4736592"/>
            <a:ext cx="11045952" cy="1115568"/>
          </a:xfrm>
          <a:prstGeom xmlns:a="http://schemas.openxmlformats.org/drawingml/2006/main" prst="roundRect">
            <a:avLst>
              <a:gd name="adj" fmla="val 6557"/>
            </a:avLst>
          </a:prstGeom>
          <a:solidFill xmlns:a="http://schemas.openxmlformats.org/drawingml/2006/main">
            <a:srgbClr val="0B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Shape 27">
            <a:extLst xmlns:a="http://schemas.openxmlformats.org/drawingml/2006/main">
              <a:ext uri="{FF2B5EF4-FFF2-40B4-BE49-F238E27FC236}">
                <a16:creationId xmlns:a16="http://schemas.microsoft.com/office/drawing/2014/main" id="{D2D7A1D3-0E1D-4FEB-A068-AE6521244A17}"/>
              </a:ext>
            </a:extLst>
          </p:cNvPr>
          <p:cNvSpPr>
            <a:spLocks xmlns:a="http://schemas.openxmlformats.org/drawingml/2006/main" noGrp="1"/>
          </p:cNvSpPr>
          <p:nvPr/>
        </p:nvSpPr>
        <p:spPr>
          <a:xfrm xmlns:a="http://schemas.openxmlformats.org/drawingml/2006/main">
            <a:off x="841248" y="5047488"/>
            <a:ext cx="1078992" cy="310896"/>
          </a:xfrm>
          <a:prstGeom xmlns:a="http://schemas.openxmlformats.org/drawingml/2006/main" prst="roundRect">
            <a:avLst>
              <a:gd name="adj" fmla="val 23529"/>
            </a:avLst>
          </a:prstGeom>
          <a:solidFill xmlns:a="http://schemas.openxmlformats.org/drawingml/2006/main">
            <a:srgbClr val="35D4E7">
              <a:alpha val="16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Text 28">
            <a:extLst xmlns:a="http://schemas.openxmlformats.org/drawingml/2006/main">
              <a:ext uri="{FF2B5EF4-FFF2-40B4-BE49-F238E27FC236}">
                <a16:creationId xmlns:a16="http://schemas.microsoft.com/office/drawing/2014/main" id="{BD07C4F2-2DC1-42BC-BB15-B3553193D0FD}"/>
              </a:ext>
            </a:extLst>
          </p:cNvPr>
          <p:cNvSpPr>
            <a:spLocks xmlns:a="http://schemas.openxmlformats.org/drawingml/2006/main" noGrp="1"/>
          </p:cNvSpPr>
          <p:nvPr/>
        </p:nvSpPr>
        <p:spPr>
          <a:xfrm xmlns:a="http://schemas.openxmlformats.org/drawingml/2006/main">
            <a:off x="914400" y="5056632"/>
            <a:ext cx="93268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35D4E7"/>
                </a:solidFill>
                <a:latin typeface="Inter"/>
                <a:ea typeface="Inter"/>
                <a:cs typeface="Inter"/>
              </a:rPr>
              <a:t>STARTUP</a:t>
            </a:r>
            <a:endParaRPr sz="950"/>
          </a:p>
        </p:txBody>
      </p:sp>
      <p:sp>
        <p:nvSpPr>
          <p:cNvPr id="38" name="Text 29">
            <a:extLst xmlns:a="http://schemas.openxmlformats.org/drawingml/2006/main">
              <a:ext uri="{FF2B5EF4-FFF2-40B4-BE49-F238E27FC236}">
                <a16:creationId xmlns:a16="http://schemas.microsoft.com/office/drawing/2014/main" id="{944B2911-F659-4D5F-A580-B7298C765471}"/>
              </a:ext>
            </a:extLst>
          </p:cNvPr>
          <p:cNvSpPr>
            <a:spLocks xmlns:a="http://schemas.openxmlformats.org/drawingml/2006/main" noGrp="1"/>
          </p:cNvSpPr>
          <p:nvPr/>
        </p:nvSpPr>
        <p:spPr>
          <a:xfrm xmlns:a="http://schemas.openxmlformats.org/drawingml/2006/main">
            <a:off x="2103120" y="5047488"/>
            <a:ext cx="2880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AF0F8"/>
                </a:solidFill>
                <a:latin typeface="Inter"/>
                <a:ea typeface="Inter"/>
                <a:cs typeface="Inter"/>
              </a:rPr>
              <a:t>Implement controls inside one product.</a:t>
            </a:r>
            <a:endParaRPr sz="1300"/>
          </a:p>
        </p:txBody>
      </p:sp>
      <p:sp>
        <p:nvSpPr>
          <p:cNvPr id="39" name="Shape 30">
            <a:extLst xmlns:a="http://schemas.openxmlformats.org/drawingml/2006/main">
              <a:ext uri="{FF2B5EF4-FFF2-40B4-BE49-F238E27FC236}">
                <a16:creationId xmlns:a16="http://schemas.microsoft.com/office/drawing/2014/main" id="{84C066E1-F6BE-4542-8AF6-27F2AA81AC86}"/>
              </a:ext>
            </a:extLst>
          </p:cNvPr>
          <p:cNvSpPr>
            <a:spLocks xmlns:a="http://schemas.openxmlformats.org/drawingml/2006/main" noGrp="1"/>
          </p:cNvSpPr>
          <p:nvPr/>
        </p:nvSpPr>
        <p:spPr>
          <a:xfrm xmlns:a="http://schemas.openxmlformats.org/drawingml/2006/main">
            <a:off x="5193792" y="5230368"/>
            <a:ext cx="7498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0" name="Shape 31">
            <a:extLst xmlns:a="http://schemas.openxmlformats.org/drawingml/2006/main">
              <a:ext uri="{FF2B5EF4-FFF2-40B4-BE49-F238E27FC236}">
                <a16:creationId xmlns:a16="http://schemas.microsoft.com/office/drawing/2014/main" id="{90FE0CC8-C85D-441F-BBEF-0D7B3D4AF912}"/>
              </a:ext>
            </a:extLst>
          </p:cNvPr>
          <p:cNvSpPr>
            <a:spLocks xmlns:a="http://schemas.openxmlformats.org/drawingml/2006/main" noGrp="1"/>
          </p:cNvSpPr>
          <p:nvPr/>
        </p:nvSpPr>
        <p:spPr>
          <a:xfrm xmlns:a="http://schemas.openxmlformats.org/drawingml/2006/main">
            <a:off x="6181344" y="5047488"/>
            <a:ext cx="1353312" cy="310896"/>
          </a:xfrm>
          <a:prstGeom xmlns:a="http://schemas.openxmlformats.org/drawingml/2006/main" prst="roundRect">
            <a:avLst>
              <a:gd name="adj" fmla="val 23529"/>
            </a:avLst>
          </a:prstGeom>
          <a:solidFill xmlns:a="http://schemas.openxmlformats.org/drawingml/2006/main">
            <a:srgbClr val="F7B955">
              <a:alpha val="16000"/>
            </a:srgbClr>
          </a:solidFill>
          <a:ln xmlns:a="http://schemas.openxmlformats.org/drawingml/2006/main" w="12700">
            <a:solidFill>
              <a:srgbClr val="F7B955">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Text 32">
            <a:extLst xmlns:a="http://schemas.openxmlformats.org/drawingml/2006/main">
              <a:ext uri="{FF2B5EF4-FFF2-40B4-BE49-F238E27FC236}">
                <a16:creationId xmlns:a16="http://schemas.microsoft.com/office/drawing/2014/main" id="{E631E74B-5347-479A-AA5E-BCBB286D231F}"/>
              </a:ext>
            </a:extLst>
          </p:cNvPr>
          <p:cNvSpPr>
            <a:spLocks xmlns:a="http://schemas.openxmlformats.org/drawingml/2006/main" noGrp="1"/>
          </p:cNvSpPr>
          <p:nvPr/>
        </p:nvSpPr>
        <p:spPr>
          <a:xfrm xmlns:a="http://schemas.openxmlformats.org/drawingml/2006/main">
            <a:off x="6254496" y="5056632"/>
            <a:ext cx="12070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7B955"/>
                </a:solidFill>
                <a:latin typeface="Inter"/>
                <a:ea typeface="Inter"/>
                <a:cs typeface="Inter"/>
              </a:rPr>
              <a:t>ENTERPRISE</a:t>
            </a:r>
            <a:endParaRPr sz="950"/>
          </a:p>
        </p:txBody>
      </p:sp>
      <p:sp>
        <p:nvSpPr>
          <p:cNvPr id="42" name="Text 33">
            <a:extLst xmlns:a="http://schemas.openxmlformats.org/drawingml/2006/main">
              <a:ext uri="{FF2B5EF4-FFF2-40B4-BE49-F238E27FC236}">
                <a16:creationId xmlns:a16="http://schemas.microsoft.com/office/drawing/2014/main" id="{AEB18A20-E821-4BED-B801-8106CB07B3F1}"/>
              </a:ext>
            </a:extLst>
          </p:cNvPr>
          <p:cNvSpPr>
            <a:spLocks xmlns:a="http://schemas.openxmlformats.org/drawingml/2006/main" noGrp="1"/>
          </p:cNvSpPr>
          <p:nvPr/>
        </p:nvSpPr>
        <p:spPr>
          <a:xfrm xmlns:a="http://schemas.openxmlformats.org/drawingml/2006/main">
            <a:off x="7808976" y="5047488"/>
            <a:ext cx="34015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AF0F8"/>
                </a:solidFill>
                <a:latin typeface="Inter"/>
                <a:ea typeface="Inter"/>
                <a:cs typeface="Inter"/>
              </a:rPr>
              <a:t>Enforce controls consistently across every product.</a:t>
            </a:r>
            <a:endParaRPr sz="1300"/>
          </a:p>
        </p:txBody>
      </p:sp>
      <p:sp>
        <p:nvSpPr>
          <p:cNvPr id="43" name="Shape 34">
            <a:extLst xmlns:a="http://schemas.openxmlformats.org/drawingml/2006/main">
              <a:ext uri="{FF2B5EF4-FFF2-40B4-BE49-F238E27FC236}">
                <a16:creationId xmlns:a16="http://schemas.microsoft.com/office/drawing/2014/main" id="{08614A52-2F4C-45C6-B99D-01E371639D43}"/>
              </a:ext>
            </a:extLst>
          </p:cNvPr>
          <p:cNvSpPr>
            <a:spLocks xmlns:a="http://schemas.openxmlformats.org/drawingml/2006/main" noGrp="1"/>
          </p:cNvSpPr>
          <p:nvPr/>
        </p:nvSpPr>
        <p:spPr>
          <a:xfrm xmlns:a="http://schemas.openxmlformats.org/drawingml/2006/main">
            <a:off x="3977640" y="5989320"/>
            <a:ext cx="4224528" cy="310896"/>
          </a:xfrm>
          <a:prstGeom xmlns:a="http://schemas.openxmlformats.org/drawingml/2006/main" prst="roundRect">
            <a:avLst>
              <a:gd name="adj" fmla="val 23529"/>
            </a:avLst>
          </a:prstGeom>
          <a:solidFill xmlns:a="http://schemas.openxmlformats.org/drawingml/2006/main">
            <a:srgbClr val="5B7CFF">
              <a:alpha val="14000"/>
            </a:srgbClr>
          </a:solidFill>
          <a:ln xmlns:a="http://schemas.openxmlformats.org/drawingml/2006/main" w="12700">
            <a:solidFill>
              <a:srgbClr val="5B7C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4" name="Text 35">
            <a:extLst xmlns:a="http://schemas.openxmlformats.org/drawingml/2006/main">
              <a:ext uri="{FF2B5EF4-FFF2-40B4-BE49-F238E27FC236}">
                <a16:creationId xmlns:a16="http://schemas.microsoft.com/office/drawing/2014/main" id="{12997F6F-769E-4A8B-BC76-2D2F8CE110F1}"/>
              </a:ext>
            </a:extLst>
          </p:cNvPr>
          <p:cNvSpPr>
            <a:spLocks xmlns:a="http://schemas.openxmlformats.org/drawingml/2006/main" noGrp="1"/>
          </p:cNvSpPr>
          <p:nvPr/>
        </p:nvSpPr>
        <p:spPr>
          <a:xfrm xmlns:a="http://schemas.openxmlformats.org/drawingml/2006/main">
            <a:off x="4050792" y="5998464"/>
            <a:ext cx="407822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30" b="1">
                <a:solidFill>
                  <a:srgbClr val="BFCBFF"/>
                </a:solidFill>
                <a:latin typeface="Inter"/>
                <a:ea typeface="Inter"/>
                <a:cs typeface="Inter"/>
              </a:rPr>
              <a:t>TRUST = CONTROL + EVIDENCE</a:t>
            </a:r>
            <a:endParaRPr sz="1030"/>
          </a:p>
        </p:txBody>
      </p:sp>
      <p:sp>
        <p:nvSpPr>
          <p:cNvPr id="45" name="Shape 36">
            <a:extLst xmlns:a="http://schemas.openxmlformats.org/drawingml/2006/main">
              <a:ext uri="{FF2B5EF4-FFF2-40B4-BE49-F238E27FC236}">
                <a16:creationId xmlns:a16="http://schemas.microsoft.com/office/drawing/2014/main" id="{1DE320EF-4A9D-404A-94D4-88C7885E9A91}"/>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37">
            <a:extLst xmlns:a="http://schemas.openxmlformats.org/drawingml/2006/main">
              <a:ext uri="{FF2B5EF4-FFF2-40B4-BE49-F238E27FC236}">
                <a16:creationId xmlns:a16="http://schemas.microsoft.com/office/drawing/2014/main" id="{8DC2736D-CA23-4E44-9427-C6C5F6BF9B20}"/>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BRIDGE · PRODUCT → PLATFORM</a:t>
            </a:r>
            <a:endParaRPr sz="850"/>
          </a:p>
        </p:txBody>
      </p:sp>
      <p:sp>
        <p:nvSpPr>
          <p:cNvPr id="47" name="Text 38">
            <a:extLst xmlns:a="http://schemas.openxmlformats.org/drawingml/2006/main">
              <a:ext uri="{FF2B5EF4-FFF2-40B4-BE49-F238E27FC236}">
                <a16:creationId xmlns:a16="http://schemas.microsoft.com/office/drawing/2014/main" id="{585C1AF2-80CC-4D96-B830-C8DA014F0C8F}"/>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48" name="Text 39">
            <a:extLst xmlns:a="http://schemas.openxmlformats.org/drawingml/2006/main">
              <a:ext uri="{FF2B5EF4-FFF2-40B4-BE49-F238E27FC236}">
                <a16:creationId xmlns:a16="http://schemas.microsoft.com/office/drawing/2014/main" id="{20B9E302-1A86-4A59-BABF-3729EA1FE13B}"/>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06</a:t>
            </a:r>
            <a:endParaRPr sz="850"/>
          </a:p>
        </p:txBody>
      </p:sp>
    </p:spTree>
    <p:extLst>
      <p:ext uri="{BB962C8B-B14F-4D97-AF65-F5344CB8AC3E}">
        <p14:creationId xmlns:p14="http://schemas.microsoft.com/office/powerpoint/2010/main" val="194582671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0fb46be785ef46ad">
            <a:extLst>
              <a:ext uri="{96DAC541-7B7A-43D3-8B79-37D633B846F1}">
                <asvg:svgBlip xmlns:asvg="http://schemas.microsoft.com/office/drawing/2016/SVG/main" r:embed="Rb8500fc1ae8b4eee"/>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40DC2BDB-CB02-49A1-B71F-775B7534DDE5}"/>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WHAT BUILDERS REPORT</a:t>
            </a:r>
            <a:endParaRPr sz="950"/>
          </a:p>
        </p:txBody>
      </p:sp>
      <p:sp>
        <p:nvSpPr>
          <p:cNvPr id="4" name="Text 1">
            <a:extLst xmlns:a="http://schemas.openxmlformats.org/drawingml/2006/main">
              <a:ext uri="{FF2B5EF4-FFF2-40B4-BE49-F238E27FC236}">
                <a16:creationId xmlns:a16="http://schemas.microsoft.com/office/drawing/2014/main" id="{A6A0239D-1AEB-4D27-B578-D492E255E53C}"/>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Security is not a workstream. It is the work.</a:t>
            </a:r>
            <a:endParaRPr sz="2700"/>
          </a:p>
        </p:txBody>
      </p:sp>
      <p:sp>
        <p:nvSpPr>
          <p:cNvPr id="5" name="Text 2">
            <a:extLst xmlns:a="http://schemas.openxmlformats.org/drawingml/2006/main">
              <a:ext uri="{FF2B5EF4-FFF2-40B4-BE49-F238E27FC236}">
                <a16:creationId xmlns:a16="http://schemas.microsoft.com/office/drawing/2014/main" id="{8E824390-C460-4A9B-9ECF-740A2FBEC420}"/>
              </a:ext>
            </a:extLst>
          </p:cNvPr>
          <p:cNvSpPr>
            <a:spLocks xmlns:a="http://schemas.openxmlformats.org/drawingml/2006/main" noGrp="1"/>
          </p:cNvSpPr>
          <p:nvPr/>
        </p:nvSpPr>
        <p:spPr>
          <a:xfrm xmlns:a="http://schemas.openxmlformats.org/drawingml/2006/main">
            <a:off x="621792" y="1234440"/>
            <a:ext cx="379476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800" b="1">
                <a:solidFill>
                  <a:srgbClr val="FF647C"/>
                </a:solidFill>
                <a:latin typeface="Inter"/>
                <a:ea typeface="Inter"/>
                <a:cs typeface="Inter"/>
              </a:rPr>
              <a:t>50%</a:t>
            </a:r>
            <a:endParaRPr sz="9800"/>
          </a:p>
        </p:txBody>
      </p:sp>
      <p:sp>
        <p:nvSpPr>
          <p:cNvPr id="6" name="Text 3">
            <a:extLst xmlns:a="http://schemas.openxmlformats.org/drawingml/2006/main">
              <a:ext uri="{FF2B5EF4-FFF2-40B4-BE49-F238E27FC236}">
                <a16:creationId xmlns:a16="http://schemas.microsoft.com/office/drawing/2014/main" id="{666D6F2D-8DD0-4397-8398-66B30AD46527}"/>
              </a:ext>
            </a:extLst>
          </p:cNvPr>
          <p:cNvSpPr>
            <a:spLocks xmlns:a="http://schemas.openxmlformats.org/drawingml/2006/main" noGrp="1"/>
          </p:cNvSpPr>
          <p:nvPr/>
        </p:nvSpPr>
        <p:spPr>
          <a:xfrm xmlns:a="http://schemas.openxmlformats.org/drawingml/2006/main">
            <a:off x="749808" y="2852928"/>
            <a:ext cx="3291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F7FAFF"/>
                </a:solidFill>
                <a:latin typeface="Inter"/>
                <a:ea typeface="Inter"/>
                <a:cs typeface="Inter"/>
              </a:rPr>
              <a:t>of surveyed MCP builders</a:t>
            </a:r>
            <a:endParaRPr sz="2000"/>
          </a:p>
        </p:txBody>
      </p:sp>
      <p:sp>
        <p:nvSpPr>
          <p:cNvPr id="7" name="Text 4">
            <a:extLst xmlns:a="http://schemas.openxmlformats.org/drawingml/2006/main">
              <a:ext uri="{FF2B5EF4-FFF2-40B4-BE49-F238E27FC236}">
                <a16:creationId xmlns:a16="http://schemas.microsoft.com/office/drawing/2014/main" id="{EDFB7CC2-E56A-4D53-BFB8-1D53BF1829B4}"/>
              </a:ext>
            </a:extLst>
          </p:cNvPr>
          <p:cNvSpPr>
            <a:spLocks xmlns:a="http://schemas.openxmlformats.org/drawingml/2006/main" noGrp="1"/>
          </p:cNvSpPr>
          <p:nvPr/>
        </p:nvSpPr>
        <p:spPr>
          <a:xfrm xmlns:a="http://schemas.openxmlformats.org/drawingml/2006/main">
            <a:off x="749808" y="3273552"/>
            <a:ext cx="37490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A7B5C8"/>
                </a:solidFill>
                <a:latin typeface="Inter"/>
                <a:ea typeface="Inter"/>
                <a:cs typeface="Inter"/>
              </a:rPr>
              <a:t>cite security / access control</a:t>
            </a:r>
            <a:endParaRPr sz="1800"/>
          </a:p>
          <a:p xmlns:a="http://schemas.openxmlformats.org/drawingml/2006/main">
            <a:pPr marL="0" indent="0">
              <a:buNone/>
            </a:pPr>
            <a:r>
              <a:rPr sz="1800">
                <a:solidFill>
                  <a:srgbClr val="A7B5C8"/>
                </a:solidFill>
                <a:latin typeface="Inter"/>
                <a:ea typeface="Inter"/>
                <a:cs typeface="Inter"/>
              </a:rPr>
              <a:t>as their top challenge.</a:t>
            </a:r>
            <a:endParaRPr sz="1800"/>
          </a:p>
        </p:txBody>
      </p:sp>
      <p:sp>
        <p:nvSpPr>
          <p:cNvPr id="8" name="Shape 5">
            <a:extLst xmlns:a="http://schemas.openxmlformats.org/drawingml/2006/main">
              <a:ext uri="{FF2B5EF4-FFF2-40B4-BE49-F238E27FC236}">
                <a16:creationId xmlns:a16="http://schemas.microsoft.com/office/drawing/2014/main" id="{02561DCB-D9CE-4348-AB75-47575962E704}"/>
              </a:ext>
            </a:extLst>
          </p:cNvPr>
          <p:cNvSpPr>
            <a:spLocks xmlns:a="http://schemas.openxmlformats.org/drawingml/2006/main" noGrp="1"/>
          </p:cNvSpPr>
          <p:nvPr/>
        </p:nvSpPr>
        <p:spPr>
          <a:xfrm xmlns:a="http://schemas.openxmlformats.org/drawingml/2006/main">
            <a:off x="4892040" y="1353312"/>
            <a:ext cx="6720840" cy="2029968"/>
          </a:xfrm>
          <a:prstGeom xmlns:a="http://schemas.openxmlformats.org/drawingml/2006/main" prst="roundRect">
            <a:avLst>
              <a:gd name="adj" fmla="val 3604"/>
            </a:avLst>
          </a:prstGeom>
          <a:solidFill xmlns:a="http://schemas.openxmlformats.org/drawingml/2006/main">
            <a:srgbClr val="101B2D"/>
          </a:solidFill>
          <a:ln xmlns:a="http://schemas.openxmlformats.org/drawingml/2006/main" w="12700">
            <a:solidFill>
              <a:srgbClr val="FF647C"/>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666e11a4721c458e">
            <a:extLst>
              <a:ext uri="{96DAC541-7B7A-43D3-8B79-37D633B846F1}">
                <asvg:svgBlip xmlns:asvg="http://schemas.microsoft.com/office/drawing/2016/SVG/main" r:embed="Rb72117e0ce494a6a"/>
              </a:ext>
            </a:extLst>
          </a:blip>
          <a:stretch xmlns:a="http://schemas.openxmlformats.org/drawingml/2006/main">
            <a:fillRect l="0" t="0" r="0" b="0"/>
          </a:stretch>
        </p:blipFill>
        <p:spPr>
          <a:xfrm xmlns:a="http://schemas.openxmlformats.org/drawingml/2006/main">
            <a:off x="5239512" y="1746504"/>
            <a:ext cx="566928" cy="56692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FE9DFDC5-00A8-4397-B115-8F347F2FF2F1}"/>
              </a:ext>
            </a:extLst>
          </p:cNvPr>
          <p:cNvSpPr>
            <a:spLocks xmlns:a="http://schemas.openxmlformats.org/drawingml/2006/main" noGrp="1"/>
          </p:cNvSpPr>
          <p:nvPr/>
        </p:nvSpPr>
        <p:spPr>
          <a:xfrm xmlns:a="http://schemas.openxmlformats.org/drawingml/2006/main">
            <a:off x="6089904" y="1673352"/>
            <a:ext cx="4983480" cy="10332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F7FAFF"/>
                </a:solidFill>
                <a:latin typeface="Inter"/>
                <a:ea typeface="Inter"/>
                <a:cs typeface="Inter"/>
              </a:rPr>
              <a:t>“Security and access control is the top challenge</a:t>
            </a:r>
            <a:endParaRPr sz="2100"/>
          </a:p>
          <a:p xmlns:a="http://schemas.openxmlformats.org/drawingml/2006/main">
            <a:pPr marL="0" indent="0">
              <a:buNone/>
            </a:pPr>
            <a:r>
              <a:rPr sz="2100" b="1">
                <a:solidFill>
                  <a:srgbClr val="F7FAFF"/>
                </a:solidFill>
                <a:latin typeface="Inter"/>
                <a:ea typeface="Inter"/>
                <a:cs typeface="Inter"/>
              </a:rPr>
              <a:t>for builders, cited by 50% of respondents.”</a:t>
            </a:r>
            <a:endParaRPr sz="2100"/>
          </a:p>
        </p:txBody>
      </p:sp>
      <p:sp>
        <p:nvSpPr>
          <p:cNvPr id="11" name="Text 7">
            <a:extLst xmlns:a="http://schemas.openxmlformats.org/drawingml/2006/main">
              <a:ext uri="{FF2B5EF4-FFF2-40B4-BE49-F238E27FC236}">
                <a16:creationId xmlns:a16="http://schemas.microsoft.com/office/drawing/2014/main" id="{DF081670-44B5-463A-B5FD-69B44AF25198}"/>
              </a:ext>
            </a:extLst>
          </p:cNvPr>
          <p:cNvSpPr>
            <a:spLocks xmlns:a="http://schemas.openxmlformats.org/drawingml/2006/main" noGrp="1"/>
          </p:cNvSpPr>
          <p:nvPr/>
        </p:nvSpPr>
        <p:spPr>
          <a:xfrm xmlns:a="http://schemas.openxmlformats.org/drawingml/2006/main">
            <a:off x="6099048" y="2816352"/>
            <a:ext cx="42519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72839A"/>
                </a:solidFill>
                <a:latin typeface="Inter"/>
                <a:ea typeface="Inter"/>
                <a:cs typeface="Inter"/>
              </a:rPr>
              <a:t>Zuplo · State of MCP survey · fielded Nov–Dec 2025 · self-selected, no N published</a:t>
            </a:r>
            <a:endParaRPr sz="920"/>
          </a:p>
        </p:txBody>
      </p:sp>
      <p:sp>
        <p:nvSpPr>
          <p:cNvPr id="12" name="Shape 8">
            <a:extLst xmlns:a="http://schemas.openxmlformats.org/drawingml/2006/main">
              <a:ext uri="{FF2B5EF4-FFF2-40B4-BE49-F238E27FC236}">
                <a16:creationId xmlns:a16="http://schemas.microsoft.com/office/drawing/2014/main" id="{75717B94-B27A-4899-BBE0-7380F442C5BA}"/>
              </a:ext>
            </a:extLst>
          </p:cNvPr>
          <p:cNvSpPr>
            <a:spLocks xmlns:a="http://schemas.openxmlformats.org/drawingml/2006/main" noGrp="1"/>
          </p:cNvSpPr>
          <p:nvPr/>
        </p:nvSpPr>
        <p:spPr>
          <a:xfrm xmlns:a="http://schemas.openxmlformats.org/drawingml/2006/main">
            <a:off x="4892040" y="3758184"/>
            <a:ext cx="3163824" cy="1234440"/>
          </a:xfrm>
          <a:prstGeom xmlns:a="http://schemas.openxmlformats.org/drawingml/2006/main" prst="roundRect">
            <a:avLst>
              <a:gd name="adj" fmla="val 592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9">
            <a:extLst xmlns:a="http://schemas.openxmlformats.org/drawingml/2006/main">
              <a:ext uri="{FF2B5EF4-FFF2-40B4-BE49-F238E27FC236}">
                <a16:creationId xmlns:a16="http://schemas.microsoft.com/office/drawing/2014/main" id="{751F3F50-4E2E-4E25-BC63-2E3B4C86CDE4}"/>
              </a:ext>
            </a:extLst>
          </p:cNvPr>
          <p:cNvSpPr>
            <a:spLocks xmlns:a="http://schemas.openxmlformats.org/drawingml/2006/main" noGrp="1"/>
          </p:cNvSpPr>
          <p:nvPr/>
        </p:nvSpPr>
        <p:spPr>
          <a:xfrm xmlns:a="http://schemas.openxmlformats.org/drawingml/2006/main">
            <a:off x="5166360" y="3950208"/>
            <a:ext cx="11155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600" b="1">
                <a:solidFill>
                  <a:srgbClr val="F7B955"/>
                </a:solidFill>
                <a:latin typeface="Inter"/>
                <a:ea typeface="Inter"/>
                <a:cs typeface="Inter"/>
              </a:rPr>
              <a:t>38%</a:t>
            </a:r>
            <a:endParaRPr sz="2600"/>
          </a:p>
        </p:txBody>
      </p:sp>
      <p:sp>
        <p:nvSpPr>
          <p:cNvPr id="14" name="Text 10">
            <a:extLst xmlns:a="http://schemas.openxmlformats.org/drawingml/2006/main">
              <a:ext uri="{FF2B5EF4-FFF2-40B4-BE49-F238E27FC236}">
                <a16:creationId xmlns:a16="http://schemas.microsoft.com/office/drawing/2014/main" id="{5F46CA12-C621-40BB-80B3-DBA03322134D}"/>
              </a:ext>
            </a:extLst>
          </p:cNvPr>
          <p:cNvSpPr>
            <a:spLocks xmlns:a="http://schemas.openxmlformats.org/drawingml/2006/main" noGrp="1"/>
          </p:cNvSpPr>
          <p:nvPr/>
        </p:nvSpPr>
        <p:spPr>
          <a:xfrm xmlns:a="http://schemas.openxmlformats.org/drawingml/2006/main">
            <a:off x="6291072" y="3950208"/>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b="1">
                <a:solidFill>
                  <a:srgbClr val="EAF0F8"/>
                </a:solidFill>
                <a:latin typeface="Inter"/>
                <a:ea typeface="Inter"/>
                <a:cs typeface="Inter"/>
              </a:rPr>
              <a:t>blocked by security concerns</a:t>
            </a:r>
            <a:endParaRPr sz="1080"/>
          </a:p>
        </p:txBody>
      </p:sp>
      <p:sp>
        <p:nvSpPr>
          <p:cNvPr id="15" name="Shape 11">
            <a:extLst xmlns:a="http://schemas.openxmlformats.org/drawingml/2006/main">
              <a:ext uri="{FF2B5EF4-FFF2-40B4-BE49-F238E27FC236}">
                <a16:creationId xmlns:a16="http://schemas.microsoft.com/office/drawing/2014/main" id="{E43E6DEC-6763-430F-8BA5-D6846F96B567}"/>
              </a:ext>
            </a:extLst>
          </p:cNvPr>
          <p:cNvSpPr>
            <a:spLocks xmlns:a="http://schemas.openxmlformats.org/drawingml/2006/main" noGrp="1"/>
          </p:cNvSpPr>
          <p:nvPr/>
        </p:nvSpPr>
        <p:spPr>
          <a:xfrm xmlns:a="http://schemas.openxmlformats.org/drawingml/2006/main">
            <a:off x="8348472" y="3758184"/>
            <a:ext cx="3163824" cy="1234440"/>
          </a:xfrm>
          <a:prstGeom xmlns:a="http://schemas.openxmlformats.org/drawingml/2006/main" prst="roundRect">
            <a:avLst>
              <a:gd name="adj" fmla="val 592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2">
            <a:extLst xmlns:a="http://schemas.openxmlformats.org/drawingml/2006/main">
              <a:ext uri="{FF2B5EF4-FFF2-40B4-BE49-F238E27FC236}">
                <a16:creationId xmlns:a16="http://schemas.microsoft.com/office/drawing/2014/main" id="{DBF978A7-4786-41A3-B79E-CC30833C315D}"/>
              </a:ext>
            </a:extLst>
          </p:cNvPr>
          <p:cNvSpPr>
            <a:spLocks xmlns:a="http://schemas.openxmlformats.org/drawingml/2006/main" noGrp="1"/>
          </p:cNvSpPr>
          <p:nvPr/>
        </p:nvSpPr>
        <p:spPr>
          <a:xfrm xmlns:a="http://schemas.openxmlformats.org/drawingml/2006/main">
            <a:off x="8622792" y="3950208"/>
            <a:ext cx="11155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600" b="1">
                <a:solidFill>
                  <a:srgbClr val="A879FF"/>
                </a:solidFill>
                <a:latin typeface="Inter"/>
                <a:ea typeface="Inter"/>
                <a:cs typeface="Inter"/>
              </a:rPr>
              <a:t>~24%</a:t>
            </a:r>
            <a:endParaRPr sz="2600"/>
          </a:p>
        </p:txBody>
      </p:sp>
      <p:sp>
        <p:nvSpPr>
          <p:cNvPr id="17" name="Text 13">
            <a:extLst xmlns:a="http://schemas.openxmlformats.org/drawingml/2006/main">
              <a:ext uri="{FF2B5EF4-FFF2-40B4-BE49-F238E27FC236}">
                <a16:creationId xmlns:a16="http://schemas.microsoft.com/office/drawing/2014/main" id="{380334C1-4933-4EA7-B9F9-7EF41542C6B8}"/>
              </a:ext>
            </a:extLst>
          </p:cNvPr>
          <p:cNvSpPr>
            <a:spLocks xmlns:a="http://schemas.openxmlformats.org/drawingml/2006/main" noGrp="1"/>
          </p:cNvSpPr>
          <p:nvPr/>
        </p:nvSpPr>
        <p:spPr>
          <a:xfrm xmlns:a="http://schemas.openxmlformats.org/drawingml/2006/main">
            <a:off x="9747504" y="3950208"/>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b="1">
                <a:solidFill>
                  <a:srgbClr val="EAF0F8"/>
                </a:solidFill>
                <a:latin typeface="Inter"/>
                <a:ea typeface="Inter"/>
                <a:cs typeface="Inter"/>
              </a:rPr>
              <a:t>of respondents run servers</a:t>
            </a:r>
            <a:endParaRPr sz="1080"/>
          </a:p>
          <a:p xmlns:a="http://schemas.openxmlformats.org/drawingml/2006/main">
            <a:pPr marL="0" indent="0">
              <a:buNone/>
            </a:pPr>
            <a:r>
              <a:rPr sz="1080" b="1">
                <a:solidFill>
                  <a:srgbClr val="EAF0F8"/>
                </a:solidFill>
                <a:latin typeface="Inter"/>
                <a:ea typeface="Inter"/>
                <a:cs typeface="Inter"/>
              </a:rPr>
              <a:t>with no authentication</a:t>
            </a:r>
            <a:endParaRPr sz="1080"/>
          </a:p>
        </p:txBody>
      </p:sp>
      <p:sp>
        <p:nvSpPr>
          <p:cNvPr id="18" name="Shape 14">
            <a:extLst xmlns:a="http://schemas.openxmlformats.org/drawingml/2006/main">
              <a:ext uri="{FF2B5EF4-FFF2-40B4-BE49-F238E27FC236}">
                <a16:creationId xmlns:a16="http://schemas.microsoft.com/office/drawing/2014/main" id="{F30857C0-0FB1-4400-A52C-2E42AAEAF5C8}"/>
              </a:ext>
            </a:extLst>
          </p:cNvPr>
          <p:cNvSpPr>
            <a:spLocks xmlns:a="http://schemas.openxmlformats.org/drawingml/2006/main" noGrp="1"/>
          </p:cNvSpPr>
          <p:nvPr/>
        </p:nvSpPr>
        <p:spPr>
          <a:xfrm xmlns:a="http://schemas.openxmlformats.org/drawingml/2006/main">
            <a:off x="749808" y="4608576"/>
            <a:ext cx="3639312" cy="1060704"/>
          </a:xfrm>
          <a:prstGeom xmlns:a="http://schemas.openxmlformats.org/drawingml/2006/main" prst="roundRect">
            <a:avLst>
              <a:gd name="adj" fmla="val 6897"/>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aa05bc8ed7e54543">
            <a:extLst>
              <a:ext uri="{96DAC541-7B7A-43D3-8B79-37D633B846F1}">
                <asvg:svgBlip xmlns:asvg="http://schemas.microsoft.com/office/drawing/2016/SVG/main" r:embed="R125be38f5ff84194"/>
              </a:ext>
            </a:extLst>
          </a:blip>
          <a:stretch xmlns:a="http://schemas.openxmlformats.org/drawingml/2006/main">
            <a:fillRect l="0" t="0" r="0" b="0"/>
          </a:stretch>
        </p:blipFill>
        <p:spPr>
          <a:xfrm xmlns:a="http://schemas.openxmlformats.org/drawingml/2006/main">
            <a:off x="987552" y="4882896"/>
            <a:ext cx="301752" cy="301752"/>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71563751-DBB9-4942-853F-AC429E894C3B}"/>
              </a:ext>
            </a:extLst>
          </p:cNvPr>
          <p:cNvSpPr>
            <a:spLocks xmlns:a="http://schemas.openxmlformats.org/drawingml/2006/main" noGrp="1"/>
          </p:cNvSpPr>
          <p:nvPr/>
        </p:nvSpPr>
        <p:spPr>
          <a:xfrm xmlns:a="http://schemas.openxmlformats.org/drawingml/2006/main">
            <a:off x="1463040" y="4791456"/>
            <a:ext cx="2542032"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EAF0F8"/>
                </a:solidFill>
                <a:latin typeface="Inter"/>
                <a:ea typeface="Inter"/>
                <a:cs typeface="Inter"/>
              </a:rPr>
              <a:t>Authentication standards are mature.</a:t>
            </a:r>
            <a:endParaRPr sz="1400"/>
          </a:p>
          <a:p xmlns:a="http://schemas.openxmlformats.org/drawingml/2006/main">
            <a:pPr marL="0" indent="0">
              <a:buNone/>
            </a:pPr>
            <a:r>
              <a:rPr sz="1400" b="1">
                <a:solidFill>
                  <a:srgbClr val="EAF0F8"/>
                </a:solidFill>
                <a:latin typeface="Inter"/>
                <a:ea typeface="Inter"/>
                <a:cs typeface="Inter"/>
              </a:rPr>
              <a:t>Authorization remains contextual.</a:t>
            </a:r>
          </a:p>
        </p:txBody>
      </p:sp>
      <p:sp>
        <p:nvSpPr>
          <p:cNvPr id="21" name="Shape 16">
            <a:extLst xmlns:a="http://schemas.openxmlformats.org/drawingml/2006/main">
              <a:ext uri="{FF2B5EF4-FFF2-40B4-BE49-F238E27FC236}">
                <a16:creationId xmlns:a16="http://schemas.microsoft.com/office/drawing/2014/main" id="{9D9B2885-6E7C-45DB-8398-F26E4DC91C93}"/>
              </a:ext>
            </a:extLst>
          </p:cNvPr>
          <p:cNvSpPr>
            <a:spLocks xmlns:a="http://schemas.openxmlformats.org/drawingml/2006/main" noGrp="1"/>
          </p:cNvSpPr>
          <p:nvPr/>
        </p:nvSpPr>
        <p:spPr>
          <a:xfrm xmlns:a="http://schemas.openxmlformats.org/drawingml/2006/main">
            <a:off x="4910328" y="5394960"/>
            <a:ext cx="6684264" cy="438912"/>
          </a:xfrm>
          <a:prstGeom xmlns:a="http://schemas.openxmlformats.org/drawingml/2006/main" prst="roundRect">
            <a:avLst>
              <a:gd name="adj" fmla="val 16667"/>
            </a:avLst>
          </a:prstGeom>
          <a:solidFill xmlns:a="http://schemas.openxmlformats.org/drawingml/2006/main">
            <a:srgbClr val="FF647C">
              <a:alpha val="14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7">
            <a:extLst xmlns:a="http://schemas.openxmlformats.org/drawingml/2006/main">
              <a:ext uri="{FF2B5EF4-FFF2-40B4-BE49-F238E27FC236}">
                <a16:creationId xmlns:a16="http://schemas.microsoft.com/office/drawing/2014/main" id="{B6FF10A7-6AE1-407C-89F0-68D66A3D5B08}"/>
              </a:ext>
            </a:extLst>
          </p:cNvPr>
          <p:cNvSpPr>
            <a:spLocks xmlns:a="http://schemas.openxmlformats.org/drawingml/2006/main" noGrp="1"/>
          </p:cNvSpPr>
          <p:nvPr/>
        </p:nvSpPr>
        <p:spPr>
          <a:xfrm xmlns:a="http://schemas.openxmlformats.org/drawingml/2006/main">
            <a:off x="4983480" y="5404104"/>
            <a:ext cx="653796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30" b="1">
                <a:solidFill>
                  <a:srgbClr val="FF647C"/>
                </a:solidFill>
                <a:latin typeface="Inter"/>
                <a:ea typeface="Inter"/>
                <a:cs typeface="Inter"/>
              </a:rPr>
              <a:t>MEASURED, NOT SELF-REPORTED: 40.55% OF 7,973 LIVE SERVERS EXPOSE TOOLS WITH NO AUTH · arXiv:2605.22333</a:t>
            </a:r>
            <a:endParaRPr sz="1130"/>
          </a:p>
        </p:txBody>
      </p:sp>
      <p:sp>
        <p:nvSpPr>
          <p:cNvPr id="23" name="Shape 18">
            <a:extLst xmlns:a="http://schemas.openxmlformats.org/drawingml/2006/main">
              <a:ext uri="{FF2B5EF4-FFF2-40B4-BE49-F238E27FC236}">
                <a16:creationId xmlns:a16="http://schemas.microsoft.com/office/drawing/2014/main" id="{ED56C05C-3596-444B-BEA5-1FEAF0B5DD9F}"/>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Text 19">
            <a:extLst xmlns:a="http://schemas.openxmlformats.org/drawingml/2006/main">
              <a:ext uri="{FF2B5EF4-FFF2-40B4-BE49-F238E27FC236}">
                <a16:creationId xmlns:a16="http://schemas.microsoft.com/office/drawing/2014/main" id="{02A8685C-0A3E-4490-B13C-69C77C02C30A}"/>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25" name="Text 20">
            <a:extLst xmlns:a="http://schemas.openxmlformats.org/drawingml/2006/main">
              <a:ext uri="{FF2B5EF4-FFF2-40B4-BE49-F238E27FC236}">
                <a16:creationId xmlns:a16="http://schemas.microsoft.com/office/drawing/2014/main" id="{0FE36094-6B4E-4191-BADB-DAC1F40FD68D}"/>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26" name="Text 21">
            <a:extLst xmlns:a="http://schemas.openxmlformats.org/drawingml/2006/main">
              <a:ext uri="{FF2B5EF4-FFF2-40B4-BE49-F238E27FC236}">
                <a16:creationId xmlns:a16="http://schemas.microsoft.com/office/drawing/2014/main" id="{5EEA42C9-06E3-4195-88D7-DAC789CEB92D}"/>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07</a:t>
            </a:r>
            <a:endParaRPr sz="850"/>
          </a:p>
        </p:txBody>
      </p:sp>
    </p:spTree>
    <p:extLst>
      <p:ext uri="{BB962C8B-B14F-4D97-AF65-F5344CB8AC3E}">
        <p14:creationId xmlns:p14="http://schemas.microsoft.com/office/powerpoint/2010/main" val="118975310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32fc357b3e5249be">
            <a:extLst>
              <a:ext uri="{96DAC541-7B7A-43D3-8B79-37D633B846F1}">
                <asvg:svgBlip xmlns:asvg="http://schemas.microsoft.com/office/drawing/2016/SVG/main" r:embed="R46d95ae2004b4dca"/>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23312D4F-1592-4E22-9B12-D1F5552D7A3F}"/>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THE ENTERPRISE INFLECTION POINT</a:t>
            </a:r>
            <a:endParaRPr sz="950"/>
          </a:p>
        </p:txBody>
      </p:sp>
      <p:sp>
        <p:nvSpPr>
          <p:cNvPr id="4" name="Text 1">
            <a:extLst xmlns:a="http://schemas.openxmlformats.org/drawingml/2006/main">
              <a:ext uri="{FF2B5EF4-FFF2-40B4-BE49-F238E27FC236}">
                <a16:creationId xmlns:a16="http://schemas.microsoft.com/office/drawing/2014/main" id="{0091AC09-F4A8-4451-B87E-A4673D915195}"/>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900" b="1">
                <a:solidFill>
                  <a:srgbClr val="F7FAFF"/>
                </a:solidFill>
                <a:latin typeface="Inter"/>
                <a:ea typeface="Inter"/>
                <a:cs typeface="Inter"/>
              </a:rPr>
              <a:t>“This might take longer.”</a:t>
            </a:r>
            <a:endParaRPr sz="2900"/>
          </a:p>
        </p:txBody>
      </p:sp>
      <p:sp>
        <p:nvSpPr>
          <p:cNvPr id="5" name="Shape 2">
            <a:extLst xmlns:a="http://schemas.openxmlformats.org/drawingml/2006/main">
              <a:ext uri="{FF2B5EF4-FFF2-40B4-BE49-F238E27FC236}">
                <a16:creationId xmlns:a16="http://schemas.microsoft.com/office/drawing/2014/main" id="{FA9F172F-9CB0-44FA-9C7B-45DA702AB547}"/>
              </a:ext>
            </a:extLst>
          </p:cNvPr>
          <p:cNvSpPr>
            <a:spLocks xmlns:a="http://schemas.openxmlformats.org/drawingml/2006/main" noGrp="1"/>
          </p:cNvSpPr>
          <p:nvPr/>
        </p:nvSpPr>
        <p:spPr>
          <a:xfrm xmlns:a="http://schemas.openxmlformats.org/drawingml/2006/main">
            <a:off x="566928" y="1298448"/>
            <a:ext cx="5687568" cy="4462272"/>
          </a:xfrm>
          <a:prstGeom xmlns:a="http://schemas.openxmlformats.org/drawingml/2006/main" prst="roundRect">
            <a:avLst>
              <a:gd name="adj" fmla="val 1639"/>
            </a:avLst>
          </a:prstGeom>
          <a:solidFill xmlns:a="http://schemas.openxmlformats.org/drawingml/2006/main">
            <a:srgbClr val="0E192B"/>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DA2FCB9B-1DA2-4509-A822-E4F514D5332D}"/>
              </a:ext>
            </a:extLst>
          </p:cNvPr>
          <p:cNvSpPr>
            <a:spLocks xmlns:a="http://schemas.openxmlformats.org/drawingml/2006/main" noGrp="1"/>
          </p:cNvSpPr>
          <p:nvPr/>
        </p:nvSpPr>
        <p:spPr>
          <a:xfrm xmlns:a="http://schemas.openxmlformats.org/drawingml/2006/main">
            <a:off x="850392" y="1572768"/>
            <a:ext cx="1170432" cy="310896"/>
          </a:xfrm>
          <a:prstGeom xmlns:a="http://schemas.openxmlformats.org/drawingml/2006/main" prst="roundRect">
            <a:avLst>
              <a:gd name="adj" fmla="val 23529"/>
            </a:avLst>
          </a:prstGeom>
          <a:solidFill xmlns:a="http://schemas.openxmlformats.org/drawingml/2006/main">
            <a:srgbClr val="5B7CFF">
              <a:alpha val="15000"/>
            </a:srgbClr>
          </a:solidFill>
          <a:ln xmlns:a="http://schemas.openxmlformats.org/drawingml/2006/main" w="12700">
            <a:solidFill>
              <a:srgbClr val="5B7C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683FFA0D-2141-4EAB-8624-78C57CBF234A}"/>
              </a:ext>
            </a:extLst>
          </p:cNvPr>
          <p:cNvSpPr>
            <a:spLocks xmlns:a="http://schemas.openxmlformats.org/drawingml/2006/main" noGrp="1"/>
          </p:cNvSpPr>
          <p:nvPr/>
        </p:nvSpPr>
        <p:spPr>
          <a:xfrm xmlns:a="http://schemas.openxmlformats.org/drawingml/2006/main">
            <a:off x="923544" y="1581912"/>
            <a:ext cx="102412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70" b="1">
                <a:solidFill>
                  <a:srgbClr val="C8D2FF"/>
                </a:solidFill>
                <a:latin typeface="Inter"/>
                <a:ea typeface="Inter"/>
                <a:cs typeface="Inter"/>
              </a:rPr>
              <a:t>PROJECT CHAT</a:t>
            </a:r>
            <a:endParaRPr sz="870"/>
          </a:p>
        </p:txBody>
      </p:sp>
      <p:sp>
        <p:nvSpPr>
          <p:cNvPr id="8" name="Text 5">
            <a:extLst xmlns:a="http://schemas.openxmlformats.org/drawingml/2006/main">
              <a:ext uri="{FF2B5EF4-FFF2-40B4-BE49-F238E27FC236}">
                <a16:creationId xmlns:a16="http://schemas.microsoft.com/office/drawing/2014/main" id="{6C2978EE-1215-4F02-9EF5-58B90FF07CB8}"/>
              </a:ext>
            </a:extLst>
          </p:cNvPr>
          <p:cNvSpPr>
            <a:spLocks xmlns:a="http://schemas.openxmlformats.org/drawingml/2006/main" noGrp="1"/>
          </p:cNvSpPr>
          <p:nvPr/>
        </p:nvSpPr>
        <p:spPr>
          <a:xfrm xmlns:a="http://schemas.openxmlformats.org/drawingml/2006/main">
            <a:off x="969264" y="185623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830" b="1">
                <a:solidFill>
                  <a:srgbClr val="5B7CFF"/>
                </a:solidFill>
                <a:latin typeface="Inter"/>
                <a:ea typeface="Inter"/>
                <a:cs typeface="Inter"/>
              </a:rPr>
              <a:t>Founder</a:t>
            </a:r>
            <a:endParaRPr sz="830"/>
          </a:p>
        </p:txBody>
      </p:sp>
      <p:sp>
        <p:nvSpPr>
          <p:cNvPr id="9" name="Shape 6">
            <a:extLst xmlns:a="http://schemas.openxmlformats.org/drawingml/2006/main">
              <a:ext uri="{FF2B5EF4-FFF2-40B4-BE49-F238E27FC236}">
                <a16:creationId xmlns:a16="http://schemas.microsoft.com/office/drawing/2014/main" id="{87CD80C7-3D57-4723-83F7-F7ABE16F6111}"/>
              </a:ext>
            </a:extLst>
          </p:cNvPr>
          <p:cNvSpPr>
            <a:spLocks xmlns:a="http://schemas.openxmlformats.org/drawingml/2006/main" noGrp="1"/>
          </p:cNvSpPr>
          <p:nvPr/>
        </p:nvSpPr>
        <p:spPr>
          <a:xfrm xmlns:a="http://schemas.openxmlformats.org/drawingml/2006/main">
            <a:off x="969264" y="2084832"/>
            <a:ext cx="3611880" cy="566928"/>
          </a:xfrm>
          <a:prstGeom xmlns:a="http://schemas.openxmlformats.org/drawingml/2006/main" prst="roundRect">
            <a:avLst/>
          </a:prstGeom>
          <a:solidFill xmlns:a="http://schemas.openxmlformats.org/drawingml/2006/main">
            <a:srgbClr val="5B7CFF">
              <a:alpha val="16000"/>
            </a:srgbClr>
          </a:solidFill>
          <a:ln xmlns:a="http://schemas.openxmlformats.org/drawingml/2006/main" w="12700">
            <a:solidFill>
              <a:srgbClr val="5B7CFF">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7">
            <a:extLst xmlns:a="http://schemas.openxmlformats.org/drawingml/2006/main">
              <a:ext uri="{FF2B5EF4-FFF2-40B4-BE49-F238E27FC236}">
                <a16:creationId xmlns:a16="http://schemas.microsoft.com/office/drawing/2014/main" id="{E80FECB9-609F-4817-AD0F-4C74D3146F1C}"/>
              </a:ext>
            </a:extLst>
          </p:cNvPr>
          <p:cNvSpPr>
            <a:spLocks xmlns:a="http://schemas.openxmlformats.org/drawingml/2006/main" noGrp="1"/>
          </p:cNvSpPr>
          <p:nvPr/>
        </p:nvSpPr>
        <p:spPr>
          <a:xfrm xmlns:a="http://schemas.openxmlformats.org/drawingml/2006/main">
            <a:off x="1133856" y="2194560"/>
            <a:ext cx="32826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a:solidFill>
                  <a:srgbClr val="EAF0F8"/>
                </a:solidFill>
                <a:latin typeface="Inter"/>
                <a:ea typeface="Inter"/>
                <a:cs typeface="Inter"/>
              </a:rPr>
              <a:t>Can we add enterprise SSO?</a:t>
            </a:r>
            <a:endParaRPr sz="1210"/>
          </a:p>
        </p:txBody>
      </p:sp>
      <p:sp>
        <p:nvSpPr>
          <p:cNvPr id="11" name="Text 8">
            <a:extLst xmlns:a="http://schemas.openxmlformats.org/drawingml/2006/main">
              <a:ext uri="{FF2B5EF4-FFF2-40B4-BE49-F238E27FC236}">
                <a16:creationId xmlns:a16="http://schemas.microsoft.com/office/drawing/2014/main" id="{A5F0135A-0817-4770-A5FA-D6198F62EFF3}"/>
              </a:ext>
            </a:extLst>
          </p:cNvPr>
          <p:cNvSpPr>
            <a:spLocks xmlns:a="http://schemas.openxmlformats.org/drawingml/2006/main" noGrp="1"/>
          </p:cNvSpPr>
          <p:nvPr/>
        </p:nvSpPr>
        <p:spPr>
          <a:xfrm xmlns:a="http://schemas.openxmlformats.org/drawingml/2006/main">
            <a:off x="4782312" y="263347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30" b="1">
                <a:solidFill>
                  <a:srgbClr val="3BE0B5"/>
                </a:solidFill>
                <a:latin typeface="Inter"/>
                <a:ea typeface="Inter"/>
                <a:cs typeface="Inter"/>
              </a:rPr>
              <a:t>Engineer</a:t>
            </a:r>
            <a:endParaRPr sz="830"/>
          </a:p>
        </p:txBody>
      </p:sp>
      <p:sp>
        <p:nvSpPr>
          <p:cNvPr id="12" name="Shape 9">
            <a:extLst xmlns:a="http://schemas.openxmlformats.org/drawingml/2006/main">
              <a:ext uri="{FF2B5EF4-FFF2-40B4-BE49-F238E27FC236}">
                <a16:creationId xmlns:a16="http://schemas.microsoft.com/office/drawing/2014/main" id="{B2E3E98B-A8E2-423E-BC19-1B141DAD7BC8}"/>
              </a:ext>
            </a:extLst>
          </p:cNvPr>
          <p:cNvSpPr>
            <a:spLocks xmlns:a="http://schemas.openxmlformats.org/drawingml/2006/main" noGrp="1"/>
          </p:cNvSpPr>
          <p:nvPr/>
        </p:nvSpPr>
        <p:spPr>
          <a:xfrm xmlns:a="http://schemas.openxmlformats.org/drawingml/2006/main">
            <a:off x="1965960" y="2862072"/>
            <a:ext cx="3822192" cy="566928"/>
          </a:xfrm>
          <a:prstGeom xmlns:a="http://schemas.openxmlformats.org/drawingml/2006/main" prst="roundRect">
            <a:avLst/>
          </a:prstGeom>
          <a:solidFill xmlns:a="http://schemas.openxmlformats.org/drawingml/2006/main">
            <a:srgbClr val="3BE0B5">
              <a:alpha val="16000"/>
            </a:srgbClr>
          </a:solidFill>
          <a:ln xmlns:a="http://schemas.openxmlformats.org/drawingml/2006/main" w="12700">
            <a:solidFill>
              <a:srgbClr val="3BE0B5">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0">
            <a:extLst xmlns:a="http://schemas.openxmlformats.org/drawingml/2006/main">
              <a:ext uri="{FF2B5EF4-FFF2-40B4-BE49-F238E27FC236}">
                <a16:creationId xmlns:a16="http://schemas.microsoft.com/office/drawing/2014/main" id="{64795974-C9B1-488C-A4D2-538FCADE507E}"/>
              </a:ext>
            </a:extLst>
          </p:cNvPr>
          <p:cNvSpPr>
            <a:spLocks xmlns:a="http://schemas.openxmlformats.org/drawingml/2006/main" noGrp="1"/>
          </p:cNvSpPr>
          <p:nvPr/>
        </p:nvSpPr>
        <p:spPr>
          <a:xfrm xmlns:a="http://schemas.openxmlformats.org/drawingml/2006/main">
            <a:off x="2130552" y="2971800"/>
            <a:ext cx="34930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a:solidFill>
                  <a:srgbClr val="EAF0F8"/>
                </a:solidFill>
                <a:latin typeface="Inter"/>
                <a:ea typeface="Inter"/>
                <a:cs typeface="Inter"/>
              </a:rPr>
              <a:t>Sure. That should be manageable.</a:t>
            </a:r>
            <a:endParaRPr sz="1210"/>
          </a:p>
        </p:txBody>
      </p:sp>
      <p:sp>
        <p:nvSpPr>
          <p:cNvPr id="14" name="Text 11">
            <a:extLst xmlns:a="http://schemas.openxmlformats.org/drawingml/2006/main">
              <a:ext uri="{FF2B5EF4-FFF2-40B4-BE49-F238E27FC236}">
                <a16:creationId xmlns:a16="http://schemas.microsoft.com/office/drawing/2014/main" id="{DCEDDF8F-4DA1-4713-A87F-DB6DE651AF9B}"/>
              </a:ext>
            </a:extLst>
          </p:cNvPr>
          <p:cNvSpPr>
            <a:spLocks xmlns:a="http://schemas.openxmlformats.org/drawingml/2006/main" noGrp="1"/>
          </p:cNvSpPr>
          <p:nvPr/>
        </p:nvSpPr>
        <p:spPr>
          <a:xfrm xmlns:a="http://schemas.openxmlformats.org/drawingml/2006/main">
            <a:off x="969264" y="345643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830" b="1">
                <a:solidFill>
                  <a:srgbClr val="F7B955"/>
                </a:solidFill>
                <a:latin typeface="Inter"/>
                <a:ea typeface="Inter"/>
                <a:cs typeface="Inter"/>
              </a:rPr>
              <a:t>Security</a:t>
            </a:r>
            <a:endParaRPr sz="830"/>
          </a:p>
        </p:txBody>
      </p:sp>
      <p:sp>
        <p:nvSpPr>
          <p:cNvPr id="15" name="Shape 12">
            <a:extLst xmlns:a="http://schemas.openxmlformats.org/drawingml/2006/main">
              <a:ext uri="{FF2B5EF4-FFF2-40B4-BE49-F238E27FC236}">
                <a16:creationId xmlns:a16="http://schemas.microsoft.com/office/drawing/2014/main" id="{6A42995F-E1E5-4085-80FD-BC6F07FDC255}"/>
              </a:ext>
            </a:extLst>
          </p:cNvPr>
          <p:cNvSpPr>
            <a:spLocks xmlns:a="http://schemas.openxmlformats.org/drawingml/2006/main" noGrp="1"/>
          </p:cNvSpPr>
          <p:nvPr/>
        </p:nvSpPr>
        <p:spPr>
          <a:xfrm xmlns:a="http://schemas.openxmlformats.org/drawingml/2006/main">
            <a:off x="969264" y="3685032"/>
            <a:ext cx="4645152" cy="859536"/>
          </a:xfrm>
          <a:prstGeom xmlns:a="http://schemas.openxmlformats.org/drawingml/2006/main" prst="roundRect">
            <a:avLst/>
          </a:prstGeom>
          <a:solidFill xmlns:a="http://schemas.openxmlformats.org/drawingml/2006/main">
            <a:srgbClr val="F7B955">
              <a:alpha val="16000"/>
            </a:srgbClr>
          </a:solidFill>
          <a:ln xmlns:a="http://schemas.openxmlformats.org/drawingml/2006/main" w="12700">
            <a:solidFill>
              <a:srgbClr val="F7B955">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531A7246-6B42-48DF-9288-47B4E587BB6C}"/>
              </a:ext>
            </a:extLst>
          </p:cNvPr>
          <p:cNvSpPr>
            <a:spLocks xmlns:a="http://schemas.openxmlformats.org/drawingml/2006/main" noGrp="1"/>
          </p:cNvSpPr>
          <p:nvPr/>
        </p:nvSpPr>
        <p:spPr>
          <a:xfrm xmlns:a="http://schemas.openxmlformats.org/drawingml/2006/main">
            <a:off x="1133856" y="3794760"/>
            <a:ext cx="431596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AF0F8"/>
                </a:solidFill>
                <a:latin typeface="Inter"/>
                <a:ea typeface="Inter"/>
                <a:cs typeface="Inter"/>
              </a:rPr>
              <a:t>Great. Also delegated identity, user + non-user personas, entitlements, token exchange, audit, tenant isolation, offboarding…</a:t>
            </a:r>
            <a:endParaRPr sz="1050"/>
          </a:p>
        </p:txBody>
      </p:sp>
      <p:sp>
        <p:nvSpPr>
          <p:cNvPr id="17" name="Text 14">
            <a:extLst xmlns:a="http://schemas.openxmlformats.org/drawingml/2006/main">
              <a:ext uri="{FF2B5EF4-FFF2-40B4-BE49-F238E27FC236}">
                <a16:creationId xmlns:a16="http://schemas.microsoft.com/office/drawing/2014/main" id="{18985573-1C83-4071-B880-3C42F1F19709}"/>
              </a:ext>
            </a:extLst>
          </p:cNvPr>
          <p:cNvSpPr>
            <a:spLocks xmlns:a="http://schemas.openxmlformats.org/drawingml/2006/main" noGrp="1"/>
          </p:cNvSpPr>
          <p:nvPr/>
        </p:nvSpPr>
        <p:spPr>
          <a:xfrm xmlns:a="http://schemas.openxmlformats.org/drawingml/2006/main">
            <a:off x="4645152" y="4636008"/>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30" b="1">
                <a:solidFill>
                  <a:srgbClr val="FF647C"/>
                </a:solidFill>
                <a:latin typeface="Inter"/>
                <a:ea typeface="Inter"/>
                <a:cs typeface="Inter"/>
              </a:rPr>
              <a:t>Engineer</a:t>
            </a:r>
            <a:endParaRPr sz="830"/>
          </a:p>
        </p:txBody>
      </p:sp>
      <p:sp>
        <p:nvSpPr>
          <p:cNvPr id="18" name="Shape 15">
            <a:extLst xmlns:a="http://schemas.openxmlformats.org/drawingml/2006/main">
              <a:ext uri="{FF2B5EF4-FFF2-40B4-BE49-F238E27FC236}">
                <a16:creationId xmlns:a16="http://schemas.microsoft.com/office/drawing/2014/main" id="{57ABF722-2BE3-4126-A89E-7C809053D459}"/>
              </a:ext>
            </a:extLst>
          </p:cNvPr>
          <p:cNvSpPr>
            <a:spLocks xmlns:a="http://schemas.openxmlformats.org/drawingml/2006/main" noGrp="1"/>
          </p:cNvSpPr>
          <p:nvPr/>
        </p:nvSpPr>
        <p:spPr>
          <a:xfrm xmlns:a="http://schemas.openxmlformats.org/drawingml/2006/main">
            <a:off x="2340864" y="4864608"/>
            <a:ext cx="3310128" cy="566928"/>
          </a:xfrm>
          <a:prstGeom xmlns:a="http://schemas.openxmlformats.org/drawingml/2006/main" prst="roundRect">
            <a:avLst/>
          </a:prstGeom>
          <a:solidFill xmlns:a="http://schemas.openxmlformats.org/drawingml/2006/main">
            <a:srgbClr val="FF647C">
              <a:alpha val="16000"/>
            </a:srgbClr>
          </a:solidFill>
          <a:ln xmlns:a="http://schemas.openxmlformats.org/drawingml/2006/main" w="12700">
            <a:solidFill>
              <a:srgbClr val="FF647C">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6">
            <a:extLst xmlns:a="http://schemas.openxmlformats.org/drawingml/2006/main">
              <a:ext uri="{FF2B5EF4-FFF2-40B4-BE49-F238E27FC236}">
                <a16:creationId xmlns:a16="http://schemas.microsoft.com/office/drawing/2014/main" id="{05F1C601-5584-4C9D-8EF4-17A81A23BB34}"/>
              </a:ext>
            </a:extLst>
          </p:cNvPr>
          <p:cNvSpPr>
            <a:spLocks xmlns:a="http://schemas.openxmlformats.org/drawingml/2006/main" noGrp="1"/>
          </p:cNvSpPr>
          <p:nvPr/>
        </p:nvSpPr>
        <p:spPr>
          <a:xfrm xmlns:a="http://schemas.openxmlformats.org/drawingml/2006/main">
            <a:off x="2505456" y="4974336"/>
            <a:ext cx="29809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b="1">
                <a:solidFill>
                  <a:srgbClr val="EAF0F8"/>
                </a:solidFill>
                <a:latin typeface="Inter"/>
                <a:ea typeface="Inter"/>
                <a:cs typeface="Inter"/>
              </a:rPr>
              <a:t>This might take longer.</a:t>
            </a:r>
            <a:endParaRPr sz="1210"/>
          </a:p>
        </p:txBody>
      </p:sp>
      <p:sp>
        <p:nvSpPr>
          <p:cNvPr id="20" name="Shape 17">
            <a:extLst xmlns:a="http://schemas.openxmlformats.org/drawingml/2006/main">
              <a:ext uri="{FF2B5EF4-FFF2-40B4-BE49-F238E27FC236}">
                <a16:creationId xmlns:a16="http://schemas.microsoft.com/office/drawing/2014/main" id="{0D5B2820-B15A-46B9-BE9E-9A54EA0C10ED}"/>
              </a:ext>
            </a:extLst>
          </p:cNvPr>
          <p:cNvSpPr>
            <a:spLocks xmlns:a="http://schemas.openxmlformats.org/drawingml/2006/main" noGrp="1"/>
          </p:cNvSpPr>
          <p:nvPr/>
        </p:nvSpPr>
        <p:spPr>
          <a:xfrm xmlns:a="http://schemas.openxmlformats.org/drawingml/2006/main">
            <a:off x="6601968" y="1298448"/>
            <a:ext cx="5010912" cy="4462272"/>
          </a:xfrm>
          <a:prstGeom xmlns:a="http://schemas.openxmlformats.org/drawingml/2006/main" prst="roundRect">
            <a:avLst>
              <a:gd name="adj" fmla="val 1639"/>
            </a:avLst>
          </a:prstGeom>
          <a:solidFill xmlns:a="http://schemas.openxmlformats.org/drawingml/2006/main">
            <a:srgbClr val="0D192B"/>
          </a:solidFill>
          <a:ln xmlns:a="http://schemas.openxmlformats.org/drawingml/2006/main" w="12700">
            <a:solidFill>
              <a:srgbClr val="A879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1" name="Text 18">
            <a:extLst xmlns:a="http://schemas.openxmlformats.org/drawingml/2006/main">
              <a:ext uri="{FF2B5EF4-FFF2-40B4-BE49-F238E27FC236}">
                <a16:creationId xmlns:a16="http://schemas.microsoft.com/office/drawing/2014/main" id="{E91E848E-E820-436B-9B72-C8B79D83EB2F}"/>
              </a:ext>
            </a:extLst>
          </p:cNvPr>
          <p:cNvSpPr>
            <a:spLocks xmlns:a="http://schemas.openxmlformats.org/drawingml/2006/main" noGrp="1"/>
          </p:cNvSpPr>
          <p:nvPr/>
        </p:nvSpPr>
        <p:spPr>
          <a:xfrm xmlns:a="http://schemas.openxmlformats.org/drawingml/2006/main">
            <a:off x="6922008" y="1609344"/>
            <a:ext cx="31546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10">
                <a:solidFill>
                  <a:srgbClr val="A879FF"/>
                </a:solidFill>
                <a:latin typeface="Inter"/>
                <a:ea typeface="Inter"/>
                <a:cs typeface="Inter"/>
              </a:rPr>
              <a:t>TARGET: ENTERPRISE MCP GATEWAY</a:t>
            </a:r>
            <a:endParaRPr sz="1000"/>
          </a:p>
        </p:txBody>
      </p:sp>
      <p:sp>
        <p:nvSpPr>
          <p:cNvPr id="22" name="Shape 19">
            <a:extLst xmlns:a="http://schemas.openxmlformats.org/drawingml/2006/main">
              <a:ext uri="{FF2B5EF4-FFF2-40B4-BE49-F238E27FC236}">
                <a16:creationId xmlns:a16="http://schemas.microsoft.com/office/drawing/2014/main" id="{A984D278-1959-4C04-85ED-4B0F57D81DA8}"/>
              </a:ext>
            </a:extLst>
          </p:cNvPr>
          <p:cNvSpPr>
            <a:spLocks xmlns:a="http://schemas.openxmlformats.org/drawingml/2006/main" noGrp="1"/>
          </p:cNvSpPr>
          <p:nvPr/>
        </p:nvSpPr>
        <p:spPr>
          <a:xfrm xmlns:a="http://schemas.openxmlformats.org/drawingml/2006/main">
            <a:off x="6976872" y="2039112"/>
            <a:ext cx="1353312" cy="822960"/>
          </a:xfrm>
          <a:prstGeom xmlns:a="http://schemas.openxmlformats.org/drawingml/2006/main" prst="roundRect">
            <a:avLst>
              <a:gd name="adj" fmla="val 8889"/>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Shape 20">
            <a:extLst xmlns:a="http://schemas.openxmlformats.org/drawingml/2006/main">
              <a:ext uri="{FF2B5EF4-FFF2-40B4-BE49-F238E27FC236}">
                <a16:creationId xmlns:a16="http://schemas.microsoft.com/office/drawing/2014/main" id="{4E2E7F94-F472-4D37-8B94-A4C1387B6189}"/>
              </a:ext>
            </a:extLst>
          </p:cNvPr>
          <p:cNvSpPr>
            <a:spLocks xmlns:a="http://schemas.openxmlformats.org/drawingml/2006/main" noGrp="1"/>
          </p:cNvSpPr>
          <p:nvPr/>
        </p:nvSpPr>
        <p:spPr>
          <a:xfrm xmlns:a="http://schemas.openxmlformats.org/drawingml/2006/main">
            <a:off x="7114032" y="2185416"/>
            <a:ext cx="384048" cy="384048"/>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1"/>
          <p:cNvPicPr>
            <a:picLocks xmlns:a="http://schemas.openxmlformats.org/drawingml/2006/main" noChangeAspect="1"/>
          </p:cNvPicPr>
          <p:nvPr/>
        </p:nvPicPr>
        <p:blipFill>
          <a:blip xmlns:r="http://schemas.openxmlformats.org/officeDocument/2006/relationships" xmlns:a="http://schemas.openxmlformats.org/drawingml/2006/main" r:embed="R0debd9b0f8654a32">
            <a:extLst>
              <a:ext uri="{96DAC541-7B7A-43D3-8B79-37D633B846F1}">
                <asvg:svgBlip xmlns:asvg="http://schemas.microsoft.com/office/drawing/2016/SVG/main" r:embed="R5f276cfb5bce431f"/>
              </a:ext>
            </a:extLst>
          </a:blip>
          <a:stretch xmlns:a="http://schemas.openxmlformats.org/drawingml/2006/main">
            <a:fillRect l="0" t="0" r="0" b="0"/>
          </a:stretch>
        </p:blipFill>
        <p:spPr>
          <a:xfrm xmlns:a="http://schemas.openxmlformats.org/drawingml/2006/main">
            <a:off x="7205472" y="2296973"/>
            <a:ext cx="201168" cy="160934"/>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A3B25258-698D-4187-9571-7A7B04328CCE}"/>
              </a:ext>
            </a:extLst>
          </p:cNvPr>
          <p:cNvSpPr>
            <a:spLocks xmlns:a="http://schemas.openxmlformats.org/drawingml/2006/main" noGrp="1"/>
          </p:cNvSpPr>
          <p:nvPr/>
        </p:nvSpPr>
        <p:spPr>
          <a:xfrm xmlns:a="http://schemas.openxmlformats.org/drawingml/2006/main">
            <a:off x="7598664" y="2203704"/>
            <a:ext cx="594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a:t>
            </a:r>
            <a:endParaRPr sz="1200"/>
          </a:p>
        </p:txBody>
      </p:sp>
      <p:sp>
        <p:nvSpPr>
          <p:cNvPr id="26" name="Shape 22">
            <a:extLst xmlns:a="http://schemas.openxmlformats.org/drawingml/2006/main">
              <a:ext uri="{FF2B5EF4-FFF2-40B4-BE49-F238E27FC236}">
                <a16:creationId xmlns:a16="http://schemas.microsoft.com/office/drawing/2014/main" id="{ABFF7D34-689D-40DA-96BB-9FAA9F8E9AE0}"/>
              </a:ext>
            </a:extLst>
          </p:cNvPr>
          <p:cNvSpPr>
            <a:spLocks xmlns:a="http://schemas.openxmlformats.org/drawingml/2006/main" noGrp="1"/>
          </p:cNvSpPr>
          <p:nvPr/>
        </p:nvSpPr>
        <p:spPr>
          <a:xfrm xmlns:a="http://schemas.openxmlformats.org/drawingml/2006/main">
            <a:off x="8339328" y="2441448"/>
            <a:ext cx="28346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7" name="Shape 23">
            <a:extLst xmlns:a="http://schemas.openxmlformats.org/drawingml/2006/main">
              <a:ext uri="{FF2B5EF4-FFF2-40B4-BE49-F238E27FC236}">
                <a16:creationId xmlns:a16="http://schemas.microsoft.com/office/drawing/2014/main" id="{52D5F4A6-0000-48FB-9EE0-55117EECC218}"/>
              </a:ext>
            </a:extLst>
          </p:cNvPr>
          <p:cNvSpPr>
            <a:spLocks xmlns:a="http://schemas.openxmlformats.org/drawingml/2006/main" noGrp="1"/>
          </p:cNvSpPr>
          <p:nvPr/>
        </p:nvSpPr>
        <p:spPr>
          <a:xfrm xmlns:a="http://schemas.openxmlformats.org/drawingml/2006/main">
            <a:off x="8668512" y="1901952"/>
            <a:ext cx="1984248" cy="1124712"/>
          </a:xfrm>
          <a:prstGeom xmlns:a="http://schemas.openxmlformats.org/drawingml/2006/main" prst="roundRect">
            <a:avLst>
              <a:gd name="adj" fmla="val 6504"/>
            </a:avLst>
          </a:prstGeom>
          <a:solidFill xmlns:a="http://schemas.openxmlformats.org/drawingml/2006/main">
            <a:srgbClr val="16213A"/>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2"/>
          <p:cNvPicPr>
            <a:picLocks xmlns:a="http://schemas.openxmlformats.org/drawingml/2006/main" noChangeAspect="1"/>
          </p:cNvPicPr>
          <p:nvPr/>
        </p:nvPicPr>
        <p:blipFill>
          <a:blip xmlns:r="http://schemas.openxmlformats.org/officeDocument/2006/relationships" xmlns:a="http://schemas.openxmlformats.org/drawingml/2006/main" r:embed="R041d92c958124bc7">
            <a:extLst>
              <a:ext uri="{96DAC541-7B7A-43D3-8B79-37D633B846F1}">
                <asvg:svgBlip xmlns:asvg="http://schemas.microsoft.com/office/drawing/2016/SVG/main" r:embed="R6c162c1300bc4bdf"/>
              </a:ext>
            </a:extLst>
          </a:blip>
          <a:stretch xmlns:a="http://schemas.openxmlformats.org/drawingml/2006/main">
            <a:fillRect l="0" t="0" r="0" b="0"/>
          </a:stretch>
        </p:blipFill>
        <p:spPr>
          <a:xfrm xmlns:a="http://schemas.openxmlformats.org/drawingml/2006/main">
            <a:off x="8842248" y="2167128"/>
            <a:ext cx="310896" cy="310896"/>
          </a:xfrm>
          <a:prstGeom xmlns:a="http://schemas.openxmlformats.org/drawingml/2006/main" prst="rect">
            <a:avLst/>
          </a:prstGeom>
        </p:spPr>
      </p:pic>
      <p:sp>
        <p:nvSpPr>
          <p:cNvPr id="29" name="Text 24">
            <a:extLst xmlns:a="http://schemas.openxmlformats.org/drawingml/2006/main">
              <a:ext uri="{FF2B5EF4-FFF2-40B4-BE49-F238E27FC236}">
                <a16:creationId xmlns:a16="http://schemas.microsoft.com/office/drawing/2014/main" id="{E77EC616-F0A2-4077-BD02-BC87AC5B82DD}"/>
              </a:ext>
            </a:extLst>
          </p:cNvPr>
          <p:cNvSpPr>
            <a:spLocks xmlns:a="http://schemas.openxmlformats.org/drawingml/2006/main" noGrp="1"/>
          </p:cNvSpPr>
          <p:nvPr/>
        </p:nvSpPr>
        <p:spPr>
          <a:xfrm xmlns:a="http://schemas.openxmlformats.org/drawingml/2006/main">
            <a:off x="9253728" y="2048256"/>
            <a:ext cx="1143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GATEWAY</a:t>
            </a:r>
            <a:endParaRPr sz="1250"/>
          </a:p>
        </p:txBody>
      </p:sp>
      <p:sp>
        <p:nvSpPr>
          <p:cNvPr id="30" name="Text 25">
            <a:extLst xmlns:a="http://schemas.openxmlformats.org/drawingml/2006/main">
              <a:ext uri="{FF2B5EF4-FFF2-40B4-BE49-F238E27FC236}">
                <a16:creationId xmlns:a16="http://schemas.microsoft.com/office/drawing/2014/main" id="{44A02A76-481D-4684-9B44-386A76DF910B}"/>
              </a:ext>
            </a:extLst>
          </p:cNvPr>
          <p:cNvSpPr>
            <a:spLocks xmlns:a="http://schemas.openxmlformats.org/drawingml/2006/main" noGrp="1"/>
          </p:cNvSpPr>
          <p:nvPr/>
        </p:nvSpPr>
        <p:spPr>
          <a:xfrm xmlns:a="http://schemas.openxmlformats.org/drawingml/2006/main">
            <a:off x="9253728" y="2368296"/>
            <a:ext cx="11430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A7B5C8"/>
                </a:solidFill>
                <a:latin typeface="Inter"/>
                <a:ea typeface="Inter"/>
                <a:cs typeface="Inter"/>
              </a:rPr>
              <a:t>identity · policy · audit</a:t>
            </a:r>
            <a:endParaRPr sz="870"/>
          </a:p>
        </p:txBody>
      </p:sp>
      <p:sp>
        <p:nvSpPr>
          <p:cNvPr id="31" name="Shape 26">
            <a:extLst xmlns:a="http://schemas.openxmlformats.org/drawingml/2006/main">
              <a:ext uri="{FF2B5EF4-FFF2-40B4-BE49-F238E27FC236}">
                <a16:creationId xmlns:a16="http://schemas.microsoft.com/office/drawing/2014/main" id="{7C26A11F-1621-4173-A617-7C2EC7DAA835}"/>
              </a:ext>
            </a:extLst>
          </p:cNvPr>
          <p:cNvSpPr>
            <a:spLocks xmlns:a="http://schemas.openxmlformats.org/drawingml/2006/main" noGrp="1"/>
          </p:cNvSpPr>
          <p:nvPr/>
        </p:nvSpPr>
        <p:spPr>
          <a:xfrm xmlns:a="http://schemas.openxmlformats.org/drawingml/2006/main">
            <a:off x="10661904" y="2441448"/>
            <a:ext cx="38404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2" name="Shape 27">
            <a:extLst xmlns:a="http://schemas.openxmlformats.org/drawingml/2006/main">
              <a:ext uri="{FF2B5EF4-FFF2-40B4-BE49-F238E27FC236}">
                <a16:creationId xmlns:a16="http://schemas.microsoft.com/office/drawing/2014/main" id="{1BAFE618-D04E-4305-B823-0E41D23B075F}"/>
              </a:ext>
            </a:extLst>
          </p:cNvPr>
          <p:cNvSpPr>
            <a:spLocks xmlns:a="http://schemas.openxmlformats.org/drawingml/2006/main" noGrp="1"/>
          </p:cNvSpPr>
          <p:nvPr/>
        </p:nvSpPr>
        <p:spPr>
          <a:xfrm xmlns:a="http://schemas.openxmlformats.org/drawingml/2006/main">
            <a:off x="11045951" y="2039112"/>
            <a:ext cx="457193" cy="822960"/>
          </a:xfrm>
          <a:prstGeom xmlns:a="http://schemas.openxmlformats.org/drawingml/2006/main" prst="roundRect">
            <a:avLst>
              <a:gd name="adj" fmla="val 19048"/>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33" name="Shape 28">
            <a:extLst xmlns:a="http://schemas.openxmlformats.org/drawingml/2006/main">
              <a:ext uri="{FF2B5EF4-FFF2-40B4-BE49-F238E27FC236}">
                <a16:creationId xmlns:a16="http://schemas.microsoft.com/office/drawing/2014/main" id="{6200C8D5-93E7-47AF-AC5F-F0E93BA9CAF4}"/>
              </a:ext>
            </a:extLst>
          </p:cNvPr>
          <p:cNvSpPr>
            <a:spLocks xmlns:a="http://schemas.openxmlformats.org/drawingml/2006/main" noGrp="1"/>
          </p:cNvSpPr>
          <p:nvPr/>
        </p:nvSpPr>
        <p:spPr>
          <a:xfrm xmlns:a="http://schemas.openxmlformats.org/drawingml/2006/main">
            <a:off x="11119104" y="2185416"/>
            <a:ext cx="347472" cy="347472"/>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96" name="Image 3"/>
          <p:cNvPicPr>
            <a:picLocks xmlns:a="http://schemas.openxmlformats.org/drawingml/2006/main" noChangeAspect="1"/>
          </p:cNvPicPr>
          <p:nvPr/>
        </p:nvPicPr>
        <p:blipFill>
          <a:blip xmlns:r="http://schemas.openxmlformats.org/officeDocument/2006/relationships" xmlns:a="http://schemas.openxmlformats.org/drawingml/2006/main" r:embed="R3dd8185f79104836">
            <a:extLst>
              <a:ext uri="{96DAC541-7B7A-43D3-8B79-37D633B846F1}">
                <asvg:svgBlip xmlns:asvg="http://schemas.microsoft.com/office/drawing/2016/SVG/main" r:embed="R256159e23bb54ae1"/>
              </a:ext>
            </a:extLst>
          </a:blip>
          <a:stretch xmlns:a="http://schemas.openxmlformats.org/drawingml/2006/main">
            <a:fillRect l="0" t="0" r="0" b="0"/>
          </a:stretch>
        </p:blipFill>
        <p:spPr>
          <a:xfrm xmlns:a="http://schemas.openxmlformats.org/drawingml/2006/main">
            <a:off x="11201400" y="2267712"/>
            <a:ext cx="182880" cy="182880"/>
          </a:xfrm>
          <a:prstGeom xmlns:a="http://schemas.openxmlformats.org/drawingml/2006/main" prst="rect">
            <a:avLst/>
          </a:prstGeom>
        </p:spPr>
      </p:pic>
      <p:sp>
        <p:nvSpPr>
          <p:cNvPr id="35" name="Text 29">
            <a:extLst xmlns:a="http://schemas.openxmlformats.org/drawingml/2006/main">
              <a:ext uri="{FF2B5EF4-FFF2-40B4-BE49-F238E27FC236}">
                <a16:creationId xmlns:a16="http://schemas.microsoft.com/office/drawing/2014/main" id="{29A233ED-C85A-4C73-8368-16B17692F78E}"/>
              </a:ext>
            </a:extLst>
          </p:cNvPr>
          <p:cNvSpPr>
            <a:spLocks xmlns:a="http://schemas.openxmlformats.org/drawingml/2006/main" noGrp="1"/>
          </p:cNvSpPr>
          <p:nvPr/>
        </p:nvSpPr>
        <p:spPr>
          <a:xfrm xmlns:a="http://schemas.openxmlformats.org/drawingml/2006/main">
            <a:off x="11503152" y="2203704"/>
            <a:ext cx="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endParaRPr sz="1020"/>
          </a:p>
        </p:txBody>
      </p:sp>
      <p:pic>
        <p:nvPicPr>
          <p:cNvPr id="98" name="Image 4"/>
          <p:cNvPicPr>
            <a:picLocks xmlns:a="http://schemas.openxmlformats.org/drawingml/2006/main" noChangeAspect="1"/>
          </p:cNvPicPr>
          <p:nvPr/>
        </p:nvPicPr>
        <p:blipFill>
          <a:blip xmlns:r="http://schemas.openxmlformats.org/officeDocument/2006/relationships" xmlns:a="http://schemas.openxmlformats.org/drawingml/2006/main" r:embed="R33e24315c2fa4798">
            <a:extLst>
              <a:ext uri="{96DAC541-7B7A-43D3-8B79-37D633B846F1}">
                <asvg:svgBlip xmlns:asvg="http://schemas.microsoft.com/office/drawing/2016/SVG/main" r:embed="R2ad9f23da30041d0"/>
              </a:ext>
            </a:extLst>
          </a:blip>
          <a:stretch xmlns:a="http://schemas.openxmlformats.org/drawingml/2006/main">
            <a:fillRect l="0" t="0" r="0" b="0"/>
          </a:stretch>
        </p:blipFill>
        <p:spPr>
          <a:xfrm xmlns:a="http://schemas.openxmlformats.org/drawingml/2006/main">
            <a:off x="6903720" y="3429000"/>
            <a:ext cx="256032" cy="256032"/>
          </a:xfrm>
          <a:prstGeom xmlns:a="http://schemas.openxmlformats.org/drawingml/2006/main" prst="rect">
            <a:avLst/>
          </a:prstGeom>
        </p:spPr>
      </p:pic>
      <p:sp>
        <p:nvSpPr>
          <p:cNvPr id="37" name="Text 30">
            <a:extLst xmlns:a="http://schemas.openxmlformats.org/drawingml/2006/main">
              <a:ext uri="{FF2B5EF4-FFF2-40B4-BE49-F238E27FC236}">
                <a16:creationId xmlns:a16="http://schemas.microsoft.com/office/drawing/2014/main" id="{F78FE42F-7512-40D9-8355-827E67532AE9}"/>
              </a:ext>
            </a:extLst>
          </p:cNvPr>
          <p:cNvSpPr>
            <a:spLocks xmlns:a="http://schemas.openxmlformats.org/drawingml/2006/main" noGrp="1"/>
          </p:cNvSpPr>
          <p:nvPr/>
        </p:nvSpPr>
        <p:spPr>
          <a:xfrm xmlns:a="http://schemas.openxmlformats.org/drawingml/2006/main">
            <a:off x="7260336" y="3419856"/>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Authenticate once</a:t>
            </a:r>
            <a:endParaRPr sz="1020"/>
          </a:p>
        </p:txBody>
      </p:sp>
      <p:pic>
        <p:nvPicPr>
          <p:cNvPr id="100" name="Image 5"/>
          <p:cNvPicPr>
            <a:picLocks xmlns:a="http://schemas.openxmlformats.org/drawingml/2006/main" noChangeAspect="1"/>
          </p:cNvPicPr>
          <p:nvPr/>
        </p:nvPicPr>
        <p:blipFill>
          <a:blip xmlns:r="http://schemas.openxmlformats.org/officeDocument/2006/relationships" xmlns:a="http://schemas.openxmlformats.org/drawingml/2006/main" r:embed="R3f600d875a834cb8">
            <a:extLst>
              <a:ext uri="{96DAC541-7B7A-43D3-8B79-37D633B846F1}">
                <asvg:svgBlip xmlns:asvg="http://schemas.microsoft.com/office/drawing/2016/SVG/main" r:embed="R78688f5896f84c63"/>
              </a:ext>
            </a:extLst>
          </a:blip>
          <a:stretch xmlns:a="http://schemas.openxmlformats.org/drawingml/2006/main">
            <a:fillRect l="0" t="0" r="0" b="0"/>
          </a:stretch>
        </p:blipFill>
        <p:spPr>
          <a:xfrm xmlns:a="http://schemas.openxmlformats.org/drawingml/2006/main">
            <a:off x="8897112" y="3429000"/>
            <a:ext cx="256032" cy="256032"/>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C43CDD4-6A85-49B6-A4A5-72AF97AA8E6C}"/>
              </a:ext>
            </a:extLst>
          </p:cNvPr>
          <p:cNvSpPr>
            <a:spLocks xmlns:a="http://schemas.openxmlformats.org/drawingml/2006/main" noGrp="1"/>
          </p:cNvSpPr>
          <p:nvPr/>
        </p:nvSpPr>
        <p:spPr>
          <a:xfrm xmlns:a="http://schemas.openxmlformats.org/drawingml/2006/main">
            <a:off x="9253728" y="3419856"/>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Delegate identity</a:t>
            </a:r>
            <a:endParaRPr sz="1020"/>
          </a:p>
        </p:txBody>
      </p:sp>
      <p:pic>
        <p:nvPicPr>
          <p:cNvPr id="102" name="Image 6"/>
          <p:cNvPicPr>
            <a:picLocks xmlns:a="http://schemas.openxmlformats.org/drawingml/2006/main" noChangeAspect="1"/>
          </p:cNvPicPr>
          <p:nvPr/>
        </p:nvPicPr>
        <p:blipFill>
          <a:blip xmlns:r="http://schemas.openxmlformats.org/officeDocument/2006/relationships" xmlns:a="http://schemas.openxmlformats.org/drawingml/2006/main" r:embed="Re4cca076e70f4fd5">
            <a:extLst>
              <a:ext uri="{96DAC541-7B7A-43D3-8B79-37D633B846F1}">
                <asvg:svgBlip xmlns:asvg="http://schemas.microsoft.com/office/drawing/2016/SVG/main" r:embed="Re4e2555e80e24227"/>
              </a:ext>
            </a:extLst>
          </a:blip>
          <a:stretch xmlns:a="http://schemas.openxmlformats.org/drawingml/2006/main">
            <a:fillRect l="0" t="0" r="0" b="0"/>
          </a:stretch>
        </p:blipFill>
        <p:spPr>
          <a:xfrm xmlns:a="http://schemas.openxmlformats.org/drawingml/2006/main">
            <a:off x="6903720" y="4041648"/>
            <a:ext cx="256032" cy="256032"/>
          </a:xfrm>
          <a:prstGeom xmlns:a="http://schemas.openxmlformats.org/drawingml/2006/main" prst="rect">
            <a:avLst/>
          </a:prstGeom>
        </p:spPr>
      </p:pic>
      <p:sp>
        <p:nvSpPr>
          <p:cNvPr id="41" name="Text 32">
            <a:extLst xmlns:a="http://schemas.openxmlformats.org/drawingml/2006/main">
              <a:ext uri="{FF2B5EF4-FFF2-40B4-BE49-F238E27FC236}">
                <a16:creationId xmlns:a16="http://schemas.microsoft.com/office/drawing/2014/main" id="{98D3CED2-DF37-4760-97C1-23081F7D52AA}"/>
              </a:ext>
            </a:extLst>
          </p:cNvPr>
          <p:cNvSpPr>
            <a:spLocks xmlns:a="http://schemas.openxmlformats.org/drawingml/2006/main" noGrp="1"/>
          </p:cNvSpPr>
          <p:nvPr/>
        </p:nvSpPr>
        <p:spPr>
          <a:xfrm xmlns:a="http://schemas.openxmlformats.org/drawingml/2006/main">
            <a:off x="7260336" y="4032504"/>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Enforce policy</a:t>
            </a:r>
            <a:endParaRPr sz="1020"/>
          </a:p>
        </p:txBody>
      </p:sp>
      <p:pic>
        <p:nvPicPr>
          <p:cNvPr id="104" name="Image 7"/>
          <p:cNvPicPr>
            <a:picLocks xmlns:a="http://schemas.openxmlformats.org/drawingml/2006/main" noChangeAspect="1"/>
          </p:cNvPicPr>
          <p:nvPr/>
        </p:nvPicPr>
        <p:blipFill>
          <a:blip xmlns:r="http://schemas.openxmlformats.org/officeDocument/2006/relationships" xmlns:a="http://schemas.openxmlformats.org/drawingml/2006/main" r:embed="R9296b0610b81436a">
            <a:extLst>
              <a:ext uri="{96DAC541-7B7A-43D3-8B79-37D633B846F1}">
                <asvg:svgBlip xmlns:asvg="http://schemas.microsoft.com/office/drawing/2016/SVG/main" r:embed="R243baac00ac54a8f"/>
              </a:ext>
            </a:extLst>
          </a:blip>
          <a:stretch xmlns:a="http://schemas.openxmlformats.org/drawingml/2006/main">
            <a:fillRect l="0" t="0" r="0" b="0"/>
          </a:stretch>
        </p:blipFill>
        <p:spPr>
          <a:xfrm xmlns:a="http://schemas.openxmlformats.org/drawingml/2006/main">
            <a:off x="8897112" y="4055872"/>
            <a:ext cx="256032" cy="227584"/>
          </a:xfrm>
          <a:prstGeom xmlns:a="http://schemas.openxmlformats.org/drawingml/2006/main" prst="rect">
            <a:avLst/>
          </a:prstGeom>
        </p:spPr>
      </p:pic>
      <p:sp>
        <p:nvSpPr>
          <p:cNvPr id="43" name="Text 33">
            <a:extLst xmlns:a="http://schemas.openxmlformats.org/drawingml/2006/main">
              <a:ext uri="{FF2B5EF4-FFF2-40B4-BE49-F238E27FC236}">
                <a16:creationId xmlns:a16="http://schemas.microsoft.com/office/drawing/2014/main" id="{00FFAC1F-452E-4693-80A0-F5DC5E79D208}"/>
              </a:ext>
            </a:extLst>
          </p:cNvPr>
          <p:cNvSpPr>
            <a:spLocks xmlns:a="http://schemas.openxmlformats.org/drawingml/2006/main" noGrp="1"/>
          </p:cNvSpPr>
          <p:nvPr/>
        </p:nvSpPr>
        <p:spPr>
          <a:xfrm xmlns:a="http://schemas.openxmlformats.org/drawingml/2006/main">
            <a:off x="9253728" y="4032504"/>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Unify telemetry</a:t>
            </a:r>
            <a:endParaRPr sz="1020"/>
          </a:p>
        </p:txBody>
      </p:sp>
      <p:sp>
        <p:nvSpPr>
          <p:cNvPr id="44" name="Shape 34">
            <a:extLst xmlns:a="http://schemas.openxmlformats.org/drawingml/2006/main">
              <a:ext uri="{FF2B5EF4-FFF2-40B4-BE49-F238E27FC236}">
                <a16:creationId xmlns:a16="http://schemas.microsoft.com/office/drawing/2014/main" id="{9139D486-10AD-4E86-921E-F6A267A6ABA1}"/>
              </a:ext>
            </a:extLst>
          </p:cNvPr>
          <p:cNvSpPr>
            <a:spLocks xmlns:a="http://schemas.openxmlformats.org/drawingml/2006/main" noGrp="1"/>
          </p:cNvSpPr>
          <p:nvPr/>
        </p:nvSpPr>
        <p:spPr>
          <a:xfrm xmlns:a="http://schemas.openxmlformats.org/drawingml/2006/main">
            <a:off x="6903720" y="4718304"/>
            <a:ext cx="3273552" cy="310896"/>
          </a:xfrm>
          <a:prstGeom xmlns:a="http://schemas.openxmlformats.org/drawingml/2006/main" prst="roundRect">
            <a:avLst>
              <a:gd name="adj" fmla="val 23529"/>
            </a:avLst>
          </a:prstGeom>
          <a:solidFill xmlns:a="http://schemas.openxmlformats.org/drawingml/2006/main">
            <a:srgbClr val="A879FF">
              <a:alpha val="13000"/>
            </a:srgbClr>
          </a:solidFill>
          <a:ln xmlns:a="http://schemas.openxmlformats.org/drawingml/2006/main" w="12700">
            <a:solidFill>
              <a:srgbClr val="A879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Text 35">
            <a:extLst xmlns:a="http://schemas.openxmlformats.org/drawingml/2006/main">
              <a:ext uri="{FF2B5EF4-FFF2-40B4-BE49-F238E27FC236}">
                <a16:creationId xmlns:a16="http://schemas.microsoft.com/office/drawing/2014/main" id="{87CA8C91-E981-487E-BEB6-A349CEDD879C}"/>
              </a:ext>
            </a:extLst>
          </p:cNvPr>
          <p:cNvSpPr>
            <a:spLocks xmlns:a="http://schemas.openxmlformats.org/drawingml/2006/main" noGrp="1"/>
          </p:cNvSpPr>
          <p:nvPr/>
        </p:nvSpPr>
        <p:spPr>
          <a:xfrm xmlns:a="http://schemas.openxmlformats.org/drawingml/2006/main">
            <a:off x="6976872" y="4727448"/>
            <a:ext cx="31272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D9C9FF"/>
                </a:solidFill>
                <a:latin typeface="Inter"/>
                <a:ea typeface="Inter"/>
                <a:cs typeface="Inter"/>
              </a:rPr>
              <a:t>arXiv:2608.10760 · production pattern</a:t>
            </a:r>
            <a:endParaRPr sz="860"/>
          </a:p>
        </p:txBody>
      </p:sp>
      <p:pic>
        <p:nvPicPr>
          <p:cNvPr id="108" name="Image 8"/>
          <p:cNvPicPr>
            <a:picLocks xmlns:a="http://schemas.openxmlformats.org/drawingml/2006/main" noChangeAspect="1"/>
          </p:cNvPicPr>
          <p:nvPr/>
        </p:nvPicPr>
        <p:blipFill>
          <a:blip xmlns:r="http://schemas.openxmlformats.org/officeDocument/2006/relationships" xmlns:a="http://schemas.openxmlformats.org/drawingml/2006/main" r:embed="R99b83153ffb64cff"/>
          <a:stretch xmlns:a="http://schemas.openxmlformats.org/drawingml/2006/main">
            <a:fillRect l="0" t="0" r="0" b="0"/>
          </a:stretch>
        </p:blipFill>
        <p:spPr>
          <a:xfrm xmlns:a="http://schemas.openxmlformats.org/drawingml/2006/main">
            <a:off x="10497312" y="4224528"/>
            <a:ext cx="749808" cy="749808"/>
          </a:xfrm>
          <a:prstGeom xmlns:a="http://schemas.openxmlformats.org/drawingml/2006/main" prst="rect">
            <a:avLst/>
          </a:prstGeom>
        </p:spPr>
      </p:pic>
      <p:sp>
        <p:nvSpPr>
          <p:cNvPr id="47" name="Text 36">
            <a:extLst xmlns:a="http://schemas.openxmlformats.org/drawingml/2006/main">
              <a:ext uri="{FF2B5EF4-FFF2-40B4-BE49-F238E27FC236}">
                <a16:creationId xmlns:a16="http://schemas.microsoft.com/office/drawing/2014/main" id="{A184D280-8F25-4143-8F3B-A9893E1A9337}"/>
              </a:ext>
            </a:extLst>
          </p:cNvPr>
          <p:cNvSpPr>
            <a:spLocks xmlns:a="http://schemas.openxmlformats.org/drawingml/2006/main" noGrp="1"/>
          </p:cNvSpPr>
          <p:nvPr/>
        </p:nvSpPr>
        <p:spPr>
          <a:xfrm xmlns:a="http://schemas.openxmlformats.org/drawingml/2006/main">
            <a:off x="10268712" y="5010912"/>
            <a:ext cx="1188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b="1">
                <a:solidFill>
                  <a:srgbClr val="A7B5C8"/>
                </a:solidFill>
                <a:latin typeface="Inter"/>
                <a:ea typeface="Inter"/>
                <a:cs typeface="Inter"/>
              </a:rPr>
              <a:t>OWASP MCP TOP 10</a:t>
            </a:r>
            <a:endParaRPr sz="750"/>
          </a:p>
        </p:txBody>
      </p:sp>
      <p:sp>
        <p:nvSpPr>
          <p:cNvPr id="48" name="Shape 37">
            <a:extLst xmlns:a="http://schemas.openxmlformats.org/drawingml/2006/main">
              <a:ext uri="{FF2B5EF4-FFF2-40B4-BE49-F238E27FC236}">
                <a16:creationId xmlns:a16="http://schemas.microsoft.com/office/drawing/2014/main" id="{3FABCF59-888D-4085-9362-2B77F751E0D8}"/>
              </a:ext>
            </a:extLst>
          </p:cNvPr>
          <p:cNvSpPr>
            <a:spLocks xmlns:a="http://schemas.openxmlformats.org/drawingml/2006/main" noGrp="1"/>
          </p:cNvSpPr>
          <p:nvPr/>
        </p:nvSpPr>
        <p:spPr>
          <a:xfrm xmlns:a="http://schemas.openxmlformats.org/drawingml/2006/main">
            <a:off x="6903720" y="5175504"/>
            <a:ext cx="3493008" cy="347472"/>
          </a:xfrm>
          <a:prstGeom xmlns:a="http://schemas.openxmlformats.org/drawingml/2006/main" prst="roundRect">
            <a:avLst>
              <a:gd name="adj" fmla="val 21053"/>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38">
            <a:extLst xmlns:a="http://schemas.openxmlformats.org/drawingml/2006/main">
              <a:ext uri="{FF2B5EF4-FFF2-40B4-BE49-F238E27FC236}">
                <a16:creationId xmlns:a16="http://schemas.microsoft.com/office/drawing/2014/main" id="{F1E7127F-E82F-48B4-AF15-4434FC1B88A3}"/>
              </a:ext>
            </a:extLst>
          </p:cNvPr>
          <p:cNvSpPr>
            <a:spLocks xmlns:a="http://schemas.openxmlformats.org/drawingml/2006/main" noGrp="1"/>
          </p:cNvSpPr>
          <p:nvPr/>
        </p:nvSpPr>
        <p:spPr>
          <a:xfrm xmlns:a="http://schemas.openxmlformats.org/drawingml/2006/main">
            <a:off x="6976872" y="5184648"/>
            <a:ext cx="334670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35D4E7"/>
                </a:solidFill>
                <a:latin typeface="Inter"/>
                <a:ea typeface="Inter"/>
                <a:cs typeface="Inter"/>
              </a:rPr>
              <a:t>IMPLEMENTED: STATELESS HTTP</a:t>
            </a:r>
            <a:endParaRPr sz="900"/>
          </a:p>
        </p:txBody>
      </p:sp>
      <p:sp>
        <p:nvSpPr>
          <p:cNvPr id="50" name="Text 39">
            <a:extLst xmlns:a="http://schemas.openxmlformats.org/drawingml/2006/main">
              <a:ext uri="{FF2B5EF4-FFF2-40B4-BE49-F238E27FC236}">
                <a16:creationId xmlns:a16="http://schemas.microsoft.com/office/drawing/2014/main" id="{F4DB8B88-33F1-4556-A1DF-D887905AF1E2}"/>
              </a:ext>
            </a:extLst>
          </p:cNvPr>
          <p:cNvSpPr>
            <a:spLocks xmlns:a="http://schemas.openxmlformats.org/drawingml/2006/main" noGrp="1"/>
          </p:cNvSpPr>
          <p:nvPr/>
        </p:nvSpPr>
        <p:spPr>
          <a:xfrm xmlns:a="http://schemas.openxmlformats.org/drawingml/2006/main">
            <a:off x="6903720" y="5501640"/>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Stateless requests scale cleanly; session context remains optional.</a:t>
            </a:r>
            <a:endParaRPr sz="920"/>
          </a:p>
        </p:txBody>
      </p:sp>
      <p:sp>
        <p:nvSpPr>
          <p:cNvPr id="51" name="Shape 40">
            <a:extLst xmlns:a="http://schemas.openxmlformats.org/drawingml/2006/main">
              <a:ext uri="{FF2B5EF4-FFF2-40B4-BE49-F238E27FC236}">
                <a16:creationId xmlns:a16="http://schemas.microsoft.com/office/drawing/2014/main" id="{5A4439EC-7A62-40C6-AF18-4BAA1736BB8B}"/>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52" name="Text 41">
            <a:extLst xmlns:a="http://schemas.openxmlformats.org/drawingml/2006/main">
              <a:ext uri="{FF2B5EF4-FFF2-40B4-BE49-F238E27FC236}">
                <a16:creationId xmlns:a16="http://schemas.microsoft.com/office/drawing/2014/main" id="{C4FD2D8F-9A9A-43ED-AA11-254C90E734E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53" name="Text 42">
            <a:extLst xmlns:a="http://schemas.openxmlformats.org/drawingml/2006/main">
              <a:ext uri="{FF2B5EF4-FFF2-40B4-BE49-F238E27FC236}">
                <a16:creationId xmlns:a16="http://schemas.microsoft.com/office/drawing/2014/main" id="{696A7ECD-F893-4204-BA29-2053D513BE25}"/>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54" name="Text 43">
            <a:extLst xmlns:a="http://schemas.openxmlformats.org/drawingml/2006/main">
              <a:ext uri="{FF2B5EF4-FFF2-40B4-BE49-F238E27FC236}">
                <a16:creationId xmlns:a16="http://schemas.microsoft.com/office/drawing/2014/main" id="{53EB597D-EA76-421C-9806-1C97AB6CF710}"/>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207051530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74" name="Image 0"/>
          <p:cNvPicPr>
            <a:picLocks xmlns:a="http://schemas.openxmlformats.org/drawingml/2006/main" noChangeAspect="1"/>
          </p:cNvPicPr>
          <p:nvPr/>
        </p:nvPicPr>
        <p:blipFill>
          <a:blip xmlns:r="http://schemas.openxmlformats.org/officeDocument/2006/relationships" xmlns:a="http://schemas.openxmlformats.org/drawingml/2006/main" r:embed="R6e2208bdee7c499a">
            <a:extLst>
              <a:ext uri="{96DAC541-7B7A-43D3-8B79-37D633B846F1}">
                <asvg:svgBlip xmlns:asvg="http://schemas.microsoft.com/office/drawing/2016/SVG/main" r:embed="Rdebac9cbdb68435e"/>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9AC1FDDB-5EDD-412C-8717-2744EF374E2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FROM PLAUSIBLE TO REPEATABLE</a:t>
            </a:r>
            <a:endParaRPr sz="950"/>
          </a:p>
        </p:txBody>
      </p:sp>
      <p:sp>
        <p:nvSpPr>
          <p:cNvPr id="4" name="Text 1">
            <a:extLst xmlns:a="http://schemas.openxmlformats.org/drawingml/2006/main">
              <a:ext uri="{FF2B5EF4-FFF2-40B4-BE49-F238E27FC236}">
                <a16:creationId xmlns:a16="http://schemas.microsoft.com/office/drawing/2014/main" id="{5BDAC1CB-35CC-4EFE-BBC9-EE6C7CCAFEBD}"/>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50" b="1">
                <a:solidFill>
                  <a:srgbClr val="F7FAFF"/>
                </a:solidFill>
                <a:latin typeface="Inter"/>
                <a:ea typeface="Inter"/>
                <a:cs typeface="Inter"/>
              </a:rPr>
              <a:t>Accuracy starts with routing and ends with evidence</a:t>
            </a:r>
            <a:endParaRPr sz="2550"/>
          </a:p>
        </p:txBody>
      </p:sp>
      <p:sp>
        <p:nvSpPr>
          <p:cNvPr id="5" name="Shape 2">
            <a:extLst xmlns:a="http://schemas.openxmlformats.org/drawingml/2006/main">
              <a:ext uri="{FF2B5EF4-FFF2-40B4-BE49-F238E27FC236}">
                <a16:creationId xmlns:a16="http://schemas.microsoft.com/office/drawing/2014/main" id="{6111F7DD-1E90-4E91-91ED-F393E81DCEDC}"/>
              </a:ext>
            </a:extLst>
          </p:cNvPr>
          <p:cNvSpPr>
            <a:spLocks xmlns:a="http://schemas.openxmlformats.org/drawingml/2006/main" noGrp="1"/>
          </p:cNvSpPr>
          <p:nvPr/>
        </p:nvSpPr>
        <p:spPr>
          <a:xfrm xmlns:a="http://schemas.openxmlformats.org/drawingml/2006/main">
            <a:off x="621792"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59C08F7F-D132-4A75-AAB1-7B9A1F7F5E61}"/>
              </a:ext>
            </a:extLst>
          </p:cNvPr>
          <p:cNvSpPr>
            <a:spLocks xmlns:a="http://schemas.openxmlformats.org/drawingml/2006/main" noGrp="1"/>
          </p:cNvSpPr>
          <p:nvPr/>
        </p:nvSpPr>
        <p:spPr>
          <a:xfrm xmlns:a="http://schemas.openxmlformats.org/drawingml/2006/main">
            <a:off x="795528" y="1545336"/>
            <a:ext cx="384048" cy="384048"/>
          </a:xfrm>
          <a:prstGeom xmlns:a="http://schemas.openxmlformats.org/drawingml/2006/main" prst="ellipse">
            <a:avLst/>
          </a:prstGeom>
          <a:solidFill xmlns:a="http://schemas.openxmlformats.org/drawingml/2006/main">
            <a:srgbClr val="63E69C">
              <a:alpha val="20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DC110805-5250-4913-A1C7-47526757F582}"/>
              </a:ext>
            </a:extLst>
          </p:cNvPr>
          <p:cNvSpPr>
            <a:spLocks xmlns:a="http://schemas.openxmlformats.org/drawingml/2006/main" noGrp="1"/>
          </p:cNvSpPr>
          <p:nvPr/>
        </p:nvSpPr>
        <p:spPr>
          <a:xfrm xmlns:a="http://schemas.openxmlformats.org/drawingml/2006/main">
            <a:off x="795528"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3E69C"/>
                </a:solidFill>
                <a:latin typeface="Inter"/>
                <a:ea typeface="Inter"/>
                <a:cs typeface="Inter"/>
              </a:rPr>
              <a:t>1</a:t>
            </a:r>
            <a:endParaRPr sz="1000"/>
          </a:p>
        </p:txBody>
      </p:sp>
      <p:pic>
        <p:nvPicPr>
          <p:cNvPr id="80" name="Image 1"/>
          <p:cNvPicPr>
            <a:picLocks xmlns:a="http://schemas.openxmlformats.org/drawingml/2006/main" noChangeAspect="1"/>
          </p:cNvPicPr>
          <p:nvPr/>
        </p:nvPicPr>
        <p:blipFill>
          <a:blip xmlns:r="http://schemas.openxmlformats.org/officeDocument/2006/relationships" xmlns:a="http://schemas.openxmlformats.org/drawingml/2006/main" r:embed="Re271e882f59c47cb">
            <a:extLst>
              <a:ext uri="{96DAC541-7B7A-43D3-8B79-37D633B846F1}">
                <asvg:svgBlip xmlns:asvg="http://schemas.microsoft.com/office/drawing/2016/SVG/main" r:embed="R4b1868dc2c0c45eb"/>
              </a:ext>
            </a:extLst>
          </a:blip>
          <a:stretch xmlns:a="http://schemas.openxmlformats.org/drawingml/2006/main">
            <a:fillRect l="0" t="0" r="0" b="0"/>
          </a:stretch>
        </p:blipFill>
        <p:spPr>
          <a:xfrm xmlns:a="http://schemas.openxmlformats.org/drawingml/2006/main">
            <a:off x="1289304" y="1545336"/>
            <a:ext cx="310896" cy="31089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FE106075-1CE5-450B-9DB4-1024DB29B873}"/>
              </a:ext>
            </a:extLst>
          </p:cNvPr>
          <p:cNvSpPr>
            <a:spLocks xmlns:a="http://schemas.openxmlformats.org/drawingml/2006/main" noGrp="1"/>
          </p:cNvSpPr>
          <p:nvPr/>
        </p:nvSpPr>
        <p:spPr>
          <a:xfrm xmlns:a="http://schemas.openxmlformats.org/drawingml/2006/main">
            <a:off x="1709928"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Preserve the prompt</a:t>
            </a:r>
            <a:endParaRPr sz="1310"/>
          </a:p>
        </p:txBody>
      </p:sp>
      <p:sp>
        <p:nvSpPr>
          <p:cNvPr id="10" name="Text 6">
            <a:extLst xmlns:a="http://schemas.openxmlformats.org/drawingml/2006/main">
              <a:ext uri="{FF2B5EF4-FFF2-40B4-BE49-F238E27FC236}">
                <a16:creationId xmlns:a16="http://schemas.microsoft.com/office/drawing/2014/main" id="{02D97C73-6012-401C-88C2-422C1DB42277}"/>
              </a:ext>
            </a:extLst>
          </p:cNvPr>
          <p:cNvSpPr>
            <a:spLocks xmlns:a="http://schemas.openxmlformats.org/drawingml/2006/main" noGrp="1"/>
          </p:cNvSpPr>
          <p:nvPr/>
        </p:nvSpPr>
        <p:spPr>
          <a:xfrm xmlns:a="http://schemas.openxmlformats.org/drawingml/2006/main">
            <a:off x="1709928"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Keep the user’s original wording</a:t>
            </a:r>
            <a:endParaRPr sz="940"/>
          </a:p>
        </p:txBody>
      </p:sp>
      <p:sp>
        <p:nvSpPr>
          <p:cNvPr id="11" name="Shape 7">
            <a:extLst xmlns:a="http://schemas.openxmlformats.org/drawingml/2006/main">
              <a:ext uri="{FF2B5EF4-FFF2-40B4-BE49-F238E27FC236}">
                <a16:creationId xmlns:a16="http://schemas.microsoft.com/office/drawing/2014/main" id="{124C401C-CB95-4688-9388-43CAF1AA526B}"/>
              </a:ext>
            </a:extLst>
          </p:cNvPr>
          <p:cNvSpPr>
            <a:spLocks xmlns:a="http://schemas.openxmlformats.org/drawingml/2006/main" noGrp="1"/>
          </p:cNvSpPr>
          <p:nvPr/>
        </p:nvSpPr>
        <p:spPr>
          <a:xfrm xmlns:a="http://schemas.openxmlformats.org/drawingml/2006/main">
            <a:off x="4443984"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8">
            <a:extLst xmlns:a="http://schemas.openxmlformats.org/drawingml/2006/main">
              <a:ext uri="{FF2B5EF4-FFF2-40B4-BE49-F238E27FC236}">
                <a16:creationId xmlns:a16="http://schemas.microsoft.com/office/drawing/2014/main" id="{AAD61570-4FB5-4552-8AD1-E587A5F8616F}"/>
              </a:ext>
            </a:extLst>
          </p:cNvPr>
          <p:cNvSpPr>
            <a:spLocks xmlns:a="http://schemas.openxmlformats.org/drawingml/2006/main" noGrp="1"/>
          </p:cNvSpPr>
          <p:nvPr/>
        </p:nvSpPr>
        <p:spPr>
          <a:xfrm xmlns:a="http://schemas.openxmlformats.org/drawingml/2006/main">
            <a:off x="4617720" y="1545336"/>
            <a:ext cx="384048" cy="384048"/>
          </a:xfrm>
          <a:prstGeom xmlns:a="http://schemas.openxmlformats.org/drawingml/2006/main" prst="ellipse">
            <a:avLst/>
          </a:prstGeom>
          <a:solidFill xmlns:a="http://schemas.openxmlformats.org/drawingml/2006/main">
            <a:srgbClr val="F7B955">
              <a:alpha val="20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9">
            <a:extLst xmlns:a="http://schemas.openxmlformats.org/drawingml/2006/main">
              <a:ext uri="{FF2B5EF4-FFF2-40B4-BE49-F238E27FC236}">
                <a16:creationId xmlns:a16="http://schemas.microsoft.com/office/drawing/2014/main" id="{0CF6F5E4-7F42-4B98-85AA-913F54DB7E2F}"/>
              </a:ext>
            </a:extLst>
          </p:cNvPr>
          <p:cNvSpPr>
            <a:spLocks xmlns:a="http://schemas.openxmlformats.org/drawingml/2006/main" noGrp="1"/>
          </p:cNvSpPr>
          <p:nvPr/>
        </p:nvSpPr>
        <p:spPr>
          <a:xfrm xmlns:a="http://schemas.openxmlformats.org/drawingml/2006/main">
            <a:off x="4617720"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7B955"/>
                </a:solidFill>
                <a:latin typeface="Inter"/>
                <a:ea typeface="Inter"/>
                <a:cs typeface="Inter"/>
              </a:rPr>
              <a:t>2</a:t>
            </a:r>
            <a:endParaRPr sz="1000"/>
          </a:p>
        </p:txBody>
      </p:sp>
      <p:pic>
        <p:nvPicPr>
          <p:cNvPr id="86" name="Image 2"/>
          <p:cNvPicPr>
            <a:picLocks xmlns:a="http://schemas.openxmlformats.org/drawingml/2006/main" noChangeAspect="1"/>
          </p:cNvPicPr>
          <p:nvPr/>
        </p:nvPicPr>
        <p:blipFill>
          <a:blip xmlns:r="http://schemas.openxmlformats.org/officeDocument/2006/relationships" xmlns:a="http://schemas.openxmlformats.org/drawingml/2006/main" r:embed="Rb7341384215f4ddf">
            <a:extLst>
              <a:ext uri="{96DAC541-7B7A-43D3-8B79-37D633B846F1}">
                <asvg:svgBlip xmlns:asvg="http://schemas.microsoft.com/office/drawing/2016/SVG/main" r:embed="R7cf2e3849aaf4120"/>
              </a:ext>
            </a:extLst>
          </a:blip>
          <a:stretch xmlns:a="http://schemas.openxmlformats.org/drawingml/2006/main">
            <a:fillRect l="0" t="0" r="0" b="0"/>
          </a:stretch>
        </p:blipFill>
        <p:spPr>
          <a:xfrm xmlns:a="http://schemas.openxmlformats.org/drawingml/2006/main">
            <a:off x="5111496" y="1576426"/>
            <a:ext cx="310896" cy="24871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4341DF93-BC13-4EE2-AC2C-67610A26BD15}"/>
              </a:ext>
            </a:extLst>
          </p:cNvPr>
          <p:cNvSpPr>
            <a:spLocks xmlns:a="http://schemas.openxmlformats.org/drawingml/2006/main" noGrp="1"/>
          </p:cNvSpPr>
          <p:nvPr/>
        </p:nvSpPr>
        <p:spPr>
          <a:xfrm xmlns:a="http://schemas.openxmlformats.org/drawingml/2006/main">
            <a:off x="5532120"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Explicit route</a:t>
            </a:r>
            <a:endParaRPr sz="1310"/>
          </a:p>
        </p:txBody>
      </p:sp>
      <p:sp>
        <p:nvSpPr>
          <p:cNvPr id="16" name="Text 11">
            <a:extLst xmlns:a="http://schemas.openxmlformats.org/drawingml/2006/main">
              <a:ext uri="{FF2B5EF4-FFF2-40B4-BE49-F238E27FC236}">
                <a16:creationId xmlns:a16="http://schemas.microsoft.com/office/drawing/2014/main" id="{48AEFDB6-CA49-4990-BD5A-8334F247A1DD}"/>
              </a:ext>
            </a:extLst>
          </p:cNvPr>
          <p:cNvSpPr>
            <a:spLocks xmlns:a="http://schemas.openxmlformats.org/drawingml/2006/main" noGrp="1"/>
          </p:cNvSpPr>
          <p:nvPr/>
        </p:nvSpPr>
        <p:spPr>
          <a:xfrm xmlns:a="http://schemas.openxmlformats.org/drawingml/2006/main">
            <a:off x="5532120"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Return one required next step</a:t>
            </a:r>
            <a:endParaRPr sz="940"/>
          </a:p>
        </p:txBody>
      </p:sp>
      <p:sp>
        <p:nvSpPr>
          <p:cNvPr id="17" name="Shape 12">
            <a:extLst xmlns:a="http://schemas.openxmlformats.org/drawingml/2006/main">
              <a:ext uri="{FF2B5EF4-FFF2-40B4-BE49-F238E27FC236}">
                <a16:creationId xmlns:a16="http://schemas.microsoft.com/office/drawing/2014/main" id="{820288B3-8906-457A-9936-3E4AC5CAC733}"/>
              </a:ext>
            </a:extLst>
          </p:cNvPr>
          <p:cNvSpPr>
            <a:spLocks xmlns:a="http://schemas.openxmlformats.org/drawingml/2006/main" noGrp="1"/>
          </p:cNvSpPr>
          <p:nvPr/>
        </p:nvSpPr>
        <p:spPr>
          <a:xfrm xmlns:a="http://schemas.openxmlformats.org/drawingml/2006/main">
            <a:off x="8266176"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Shape 13">
            <a:extLst xmlns:a="http://schemas.openxmlformats.org/drawingml/2006/main">
              <a:ext uri="{FF2B5EF4-FFF2-40B4-BE49-F238E27FC236}">
                <a16:creationId xmlns:a16="http://schemas.microsoft.com/office/drawing/2014/main" id="{840C91C0-46E6-4ABD-A6ED-7F8DD89193D2}"/>
              </a:ext>
            </a:extLst>
          </p:cNvPr>
          <p:cNvSpPr>
            <a:spLocks xmlns:a="http://schemas.openxmlformats.org/drawingml/2006/main" noGrp="1"/>
          </p:cNvSpPr>
          <p:nvPr/>
        </p:nvSpPr>
        <p:spPr>
          <a:xfrm xmlns:a="http://schemas.openxmlformats.org/drawingml/2006/main">
            <a:off x="8439912" y="1545336"/>
            <a:ext cx="384048" cy="384048"/>
          </a:xfrm>
          <a:prstGeom xmlns:a="http://schemas.openxmlformats.org/drawingml/2006/main" prst="ellipse">
            <a:avLst/>
          </a:prstGeom>
          <a:solidFill xmlns:a="http://schemas.openxmlformats.org/drawingml/2006/main">
            <a:srgbClr val="35D4E7">
              <a:alpha val="20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4">
            <a:extLst xmlns:a="http://schemas.openxmlformats.org/drawingml/2006/main">
              <a:ext uri="{FF2B5EF4-FFF2-40B4-BE49-F238E27FC236}">
                <a16:creationId xmlns:a16="http://schemas.microsoft.com/office/drawing/2014/main" id="{85A102A7-D2B0-4317-948A-EAC32078CC40}"/>
              </a:ext>
            </a:extLst>
          </p:cNvPr>
          <p:cNvSpPr>
            <a:spLocks xmlns:a="http://schemas.openxmlformats.org/drawingml/2006/main" noGrp="1"/>
          </p:cNvSpPr>
          <p:nvPr/>
        </p:nvSpPr>
        <p:spPr>
          <a:xfrm xmlns:a="http://schemas.openxmlformats.org/drawingml/2006/main">
            <a:off x="8439912"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5D4E7"/>
                </a:solidFill>
                <a:latin typeface="Inter"/>
                <a:ea typeface="Inter"/>
                <a:cs typeface="Inter"/>
              </a:rPr>
              <a:t>3</a:t>
            </a:r>
            <a:endParaRPr sz="1000"/>
          </a:p>
        </p:txBody>
      </p:sp>
      <p:pic>
        <p:nvPicPr>
          <p:cNvPr id="92" name="Image 3"/>
          <p:cNvPicPr>
            <a:picLocks xmlns:a="http://schemas.openxmlformats.org/drawingml/2006/main" noChangeAspect="1"/>
          </p:cNvPicPr>
          <p:nvPr/>
        </p:nvPicPr>
        <p:blipFill>
          <a:blip xmlns:r="http://schemas.openxmlformats.org/officeDocument/2006/relationships" xmlns:a="http://schemas.openxmlformats.org/drawingml/2006/main" r:embed="Rc69decdf2ad547f5">
            <a:extLst>
              <a:ext uri="{96DAC541-7B7A-43D3-8B79-37D633B846F1}">
                <asvg:svgBlip xmlns:asvg="http://schemas.microsoft.com/office/drawing/2016/SVG/main" r:embed="R53236960037744aa"/>
              </a:ext>
            </a:extLst>
          </a:blip>
          <a:stretch xmlns:a="http://schemas.openxmlformats.org/drawingml/2006/main">
            <a:fillRect l="0" t="0" r="0" b="0"/>
          </a:stretch>
        </p:blipFill>
        <p:spPr>
          <a:xfrm xmlns:a="http://schemas.openxmlformats.org/drawingml/2006/main">
            <a:off x="8933688" y="1545336"/>
            <a:ext cx="310896" cy="310896"/>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19BD3036-3804-4C43-8724-3CE44CC6966F}"/>
              </a:ext>
            </a:extLst>
          </p:cNvPr>
          <p:cNvSpPr>
            <a:spLocks xmlns:a="http://schemas.openxmlformats.org/drawingml/2006/main" noGrp="1"/>
          </p:cNvSpPr>
          <p:nvPr/>
        </p:nvSpPr>
        <p:spPr>
          <a:xfrm xmlns:a="http://schemas.openxmlformats.org/drawingml/2006/main">
            <a:off x="9354312"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Trusted template</a:t>
            </a:r>
            <a:endParaRPr sz="1310"/>
          </a:p>
        </p:txBody>
      </p:sp>
      <p:sp>
        <p:nvSpPr>
          <p:cNvPr id="22" name="Text 16">
            <a:extLst xmlns:a="http://schemas.openxmlformats.org/drawingml/2006/main">
              <a:ext uri="{FF2B5EF4-FFF2-40B4-BE49-F238E27FC236}">
                <a16:creationId xmlns:a16="http://schemas.microsoft.com/office/drawing/2014/main" id="{79816EC1-29E1-402B-B3BB-53A6A3A53B96}"/>
              </a:ext>
            </a:extLst>
          </p:cNvPr>
          <p:cNvSpPr>
            <a:spLocks xmlns:a="http://schemas.openxmlformats.org/drawingml/2006/main" noGrp="1"/>
          </p:cNvSpPr>
          <p:nvPr/>
        </p:nvSpPr>
        <p:spPr>
          <a:xfrm xmlns:a="http://schemas.openxmlformats.org/drawingml/2006/main">
            <a:off x="9354312"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21 fixed patterns before discovery</a:t>
            </a:r>
            <a:endParaRPr sz="940"/>
          </a:p>
        </p:txBody>
      </p:sp>
      <p:sp>
        <p:nvSpPr>
          <p:cNvPr id="23" name="Shape 17">
            <a:extLst xmlns:a="http://schemas.openxmlformats.org/drawingml/2006/main">
              <a:ext uri="{FF2B5EF4-FFF2-40B4-BE49-F238E27FC236}">
                <a16:creationId xmlns:a16="http://schemas.microsoft.com/office/drawing/2014/main" id="{BB715E0F-DEBA-4404-86B1-AD93BD6E4DB1}"/>
              </a:ext>
            </a:extLst>
          </p:cNvPr>
          <p:cNvSpPr>
            <a:spLocks xmlns:a="http://schemas.openxmlformats.org/drawingml/2006/main" noGrp="1"/>
          </p:cNvSpPr>
          <p:nvPr/>
        </p:nvSpPr>
        <p:spPr>
          <a:xfrm xmlns:a="http://schemas.openxmlformats.org/drawingml/2006/main">
            <a:off x="621792"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Shape 18">
            <a:extLst xmlns:a="http://schemas.openxmlformats.org/drawingml/2006/main">
              <a:ext uri="{FF2B5EF4-FFF2-40B4-BE49-F238E27FC236}">
                <a16:creationId xmlns:a16="http://schemas.microsoft.com/office/drawing/2014/main" id="{CEAF391A-E43B-4E64-A904-6DF597E82986}"/>
              </a:ext>
            </a:extLst>
          </p:cNvPr>
          <p:cNvSpPr>
            <a:spLocks xmlns:a="http://schemas.openxmlformats.org/drawingml/2006/main" noGrp="1"/>
          </p:cNvSpPr>
          <p:nvPr/>
        </p:nvSpPr>
        <p:spPr>
          <a:xfrm xmlns:a="http://schemas.openxmlformats.org/drawingml/2006/main">
            <a:off x="795528" y="3026664"/>
            <a:ext cx="384048" cy="384048"/>
          </a:xfrm>
          <a:prstGeom xmlns:a="http://schemas.openxmlformats.org/drawingml/2006/main" prst="ellipse">
            <a:avLst/>
          </a:prstGeom>
          <a:solidFill xmlns:a="http://schemas.openxmlformats.org/drawingml/2006/main">
            <a:srgbClr val="A879FF">
              <a:alpha val="20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Text 19">
            <a:extLst xmlns:a="http://schemas.openxmlformats.org/drawingml/2006/main">
              <a:ext uri="{FF2B5EF4-FFF2-40B4-BE49-F238E27FC236}">
                <a16:creationId xmlns:a16="http://schemas.microsoft.com/office/drawing/2014/main" id="{3E496B62-C7AD-4F37-8E17-55F98B4FBE16}"/>
              </a:ext>
            </a:extLst>
          </p:cNvPr>
          <p:cNvSpPr>
            <a:spLocks xmlns:a="http://schemas.openxmlformats.org/drawingml/2006/main" noGrp="1"/>
          </p:cNvSpPr>
          <p:nvPr/>
        </p:nvSpPr>
        <p:spPr>
          <a:xfrm xmlns:a="http://schemas.openxmlformats.org/drawingml/2006/main">
            <a:off x="795528"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A879FF"/>
                </a:solidFill>
                <a:latin typeface="Inter"/>
                <a:ea typeface="Inter"/>
                <a:cs typeface="Inter"/>
              </a:rPr>
              <a:t>4</a:t>
            </a:r>
            <a:endParaRPr sz="1000"/>
          </a:p>
        </p:txBody>
      </p:sp>
      <p:pic>
        <p:nvPicPr>
          <p:cNvPr id="98" name="Image 4"/>
          <p:cNvPicPr>
            <a:picLocks xmlns:a="http://schemas.openxmlformats.org/drawingml/2006/main" noChangeAspect="1"/>
          </p:cNvPicPr>
          <p:nvPr/>
        </p:nvPicPr>
        <p:blipFill>
          <a:blip xmlns:r="http://schemas.openxmlformats.org/officeDocument/2006/relationships" xmlns:a="http://schemas.openxmlformats.org/drawingml/2006/main" r:embed="Ra1dbf575bdde472f">
            <a:extLst>
              <a:ext uri="{96DAC541-7B7A-43D3-8B79-37D633B846F1}">
                <asvg:svgBlip xmlns:asvg="http://schemas.microsoft.com/office/drawing/2016/SVG/main" r:embed="Ra5368a767c6f4cd1"/>
              </a:ext>
            </a:extLst>
          </a:blip>
          <a:stretch xmlns:a="http://schemas.openxmlformats.org/drawingml/2006/main">
            <a:fillRect l="0" t="0" r="0" b="0"/>
          </a:stretch>
        </p:blipFill>
        <p:spPr>
          <a:xfrm xmlns:a="http://schemas.openxmlformats.org/drawingml/2006/main">
            <a:off x="1289304" y="3026664"/>
            <a:ext cx="310896" cy="31089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B81AC6E6-95D5-4B07-A650-C3CCD561077D}"/>
              </a:ext>
            </a:extLst>
          </p:cNvPr>
          <p:cNvSpPr>
            <a:spLocks xmlns:a="http://schemas.openxmlformats.org/drawingml/2006/main" noGrp="1"/>
          </p:cNvSpPr>
          <p:nvPr/>
        </p:nvSpPr>
        <p:spPr>
          <a:xfrm xmlns:a="http://schemas.openxmlformats.org/drawingml/2006/main">
            <a:off x="1709928"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Hybrid retrieval</a:t>
            </a:r>
            <a:endParaRPr sz="1310"/>
          </a:p>
        </p:txBody>
      </p:sp>
      <p:sp>
        <p:nvSpPr>
          <p:cNvPr id="28" name="Text 21">
            <a:extLst xmlns:a="http://schemas.openxmlformats.org/drawingml/2006/main">
              <a:ext uri="{FF2B5EF4-FFF2-40B4-BE49-F238E27FC236}">
                <a16:creationId xmlns:a16="http://schemas.microsoft.com/office/drawing/2014/main" id="{9982A59A-C313-4B83-ABA3-CA4399B829CC}"/>
              </a:ext>
            </a:extLst>
          </p:cNvPr>
          <p:cNvSpPr>
            <a:spLocks xmlns:a="http://schemas.openxmlformats.org/drawingml/2006/main" noGrp="1"/>
          </p:cNvSpPr>
          <p:nvPr/>
        </p:nvSpPr>
        <p:spPr>
          <a:xfrm xmlns:a="http://schemas.openxmlformats.org/drawingml/2006/main">
            <a:off x="1709928"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70% lexical · 30% vector</a:t>
            </a:r>
            <a:endParaRPr sz="940"/>
          </a:p>
        </p:txBody>
      </p:sp>
      <p:sp>
        <p:nvSpPr>
          <p:cNvPr id="29" name="Shape 22">
            <a:extLst xmlns:a="http://schemas.openxmlformats.org/drawingml/2006/main">
              <a:ext uri="{FF2B5EF4-FFF2-40B4-BE49-F238E27FC236}">
                <a16:creationId xmlns:a16="http://schemas.microsoft.com/office/drawing/2014/main" id="{7336543A-3D14-4E64-BCD5-6517FB28D076}"/>
              </a:ext>
            </a:extLst>
          </p:cNvPr>
          <p:cNvSpPr>
            <a:spLocks xmlns:a="http://schemas.openxmlformats.org/drawingml/2006/main" noGrp="1"/>
          </p:cNvSpPr>
          <p:nvPr/>
        </p:nvSpPr>
        <p:spPr>
          <a:xfrm xmlns:a="http://schemas.openxmlformats.org/drawingml/2006/main">
            <a:off x="4443984"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Shape 23">
            <a:extLst xmlns:a="http://schemas.openxmlformats.org/drawingml/2006/main">
              <a:ext uri="{FF2B5EF4-FFF2-40B4-BE49-F238E27FC236}">
                <a16:creationId xmlns:a16="http://schemas.microsoft.com/office/drawing/2014/main" id="{572E7916-15D1-4ED6-A7BA-58E98DE3FD4B}"/>
              </a:ext>
            </a:extLst>
          </p:cNvPr>
          <p:cNvSpPr>
            <a:spLocks xmlns:a="http://schemas.openxmlformats.org/drawingml/2006/main" noGrp="1"/>
          </p:cNvSpPr>
          <p:nvPr/>
        </p:nvSpPr>
        <p:spPr>
          <a:xfrm xmlns:a="http://schemas.openxmlformats.org/drawingml/2006/main">
            <a:off x="4617720" y="3026664"/>
            <a:ext cx="384048" cy="384048"/>
          </a:xfrm>
          <a:prstGeom xmlns:a="http://schemas.openxmlformats.org/drawingml/2006/main" prst="ellipse">
            <a:avLst/>
          </a:prstGeom>
          <a:solidFill xmlns:a="http://schemas.openxmlformats.org/drawingml/2006/main">
            <a:srgbClr val="5B7CFF">
              <a:alpha val="20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Text 24">
            <a:extLst xmlns:a="http://schemas.openxmlformats.org/drawingml/2006/main">
              <a:ext uri="{FF2B5EF4-FFF2-40B4-BE49-F238E27FC236}">
                <a16:creationId xmlns:a16="http://schemas.microsoft.com/office/drawing/2014/main" id="{6B4F5309-0F40-4E89-9CE1-85C4F62A7613}"/>
              </a:ext>
            </a:extLst>
          </p:cNvPr>
          <p:cNvSpPr>
            <a:spLocks xmlns:a="http://schemas.openxmlformats.org/drawingml/2006/main" noGrp="1"/>
          </p:cNvSpPr>
          <p:nvPr/>
        </p:nvSpPr>
        <p:spPr>
          <a:xfrm xmlns:a="http://schemas.openxmlformats.org/drawingml/2006/main">
            <a:off x="4617720"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5B7CFF"/>
                </a:solidFill>
                <a:latin typeface="Inter"/>
                <a:ea typeface="Inter"/>
                <a:cs typeface="Inter"/>
              </a:rPr>
              <a:t>5</a:t>
            </a:r>
            <a:endParaRPr sz="1000"/>
          </a:p>
        </p:txBody>
      </p:sp>
      <p:pic>
        <p:nvPicPr>
          <p:cNvPr id="104" name="Image 5"/>
          <p:cNvPicPr>
            <a:picLocks xmlns:a="http://schemas.openxmlformats.org/drawingml/2006/main" noChangeAspect="1"/>
          </p:cNvPicPr>
          <p:nvPr/>
        </p:nvPicPr>
        <p:blipFill>
          <a:blip xmlns:r="http://schemas.openxmlformats.org/officeDocument/2006/relationships" xmlns:a="http://schemas.openxmlformats.org/drawingml/2006/main" r:embed="Rd1c6e21899174fb8">
            <a:extLst>
              <a:ext uri="{96DAC541-7B7A-43D3-8B79-37D633B846F1}">
                <asvg:svgBlip xmlns:asvg="http://schemas.microsoft.com/office/drawing/2016/SVG/main" r:embed="R68039241eef74848"/>
              </a:ext>
            </a:extLst>
          </a:blip>
          <a:stretch xmlns:a="http://schemas.openxmlformats.org/drawingml/2006/main">
            <a:fillRect l="0" t="0" r="0" b="0"/>
          </a:stretch>
        </p:blipFill>
        <p:spPr>
          <a:xfrm xmlns:a="http://schemas.openxmlformats.org/drawingml/2006/main">
            <a:off x="5111496" y="3026664"/>
            <a:ext cx="310896" cy="310896"/>
          </a:xfrm>
          <a:prstGeom xmlns:a="http://schemas.openxmlformats.org/drawingml/2006/main" prst="rect">
            <a:avLst/>
          </a:prstGeom>
        </p:spPr>
      </p:pic>
      <p:sp>
        <p:nvSpPr>
          <p:cNvPr id="33" name="Text 25">
            <a:extLst xmlns:a="http://schemas.openxmlformats.org/drawingml/2006/main">
              <a:ext uri="{FF2B5EF4-FFF2-40B4-BE49-F238E27FC236}">
                <a16:creationId xmlns:a16="http://schemas.microsoft.com/office/drawing/2014/main" id="{6D3F0C57-3E8C-455A-A0CE-9C6176856726}"/>
              </a:ext>
            </a:extLst>
          </p:cNvPr>
          <p:cNvSpPr>
            <a:spLocks xmlns:a="http://schemas.openxmlformats.org/drawingml/2006/main" noGrp="1"/>
          </p:cNvSpPr>
          <p:nvPr/>
        </p:nvSpPr>
        <p:spPr>
          <a:xfrm xmlns:a="http://schemas.openxmlformats.org/drawingml/2006/main">
            <a:off x="5532120"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Schema + safety</a:t>
            </a:r>
            <a:endParaRPr sz="1310"/>
          </a:p>
        </p:txBody>
      </p:sp>
      <p:sp>
        <p:nvSpPr>
          <p:cNvPr id="34" name="Text 26">
            <a:extLst xmlns:a="http://schemas.openxmlformats.org/drawingml/2006/main">
              <a:ext uri="{FF2B5EF4-FFF2-40B4-BE49-F238E27FC236}">
                <a16:creationId xmlns:a16="http://schemas.microsoft.com/office/drawing/2014/main" id="{5294EE2B-2486-4C5E-90AD-30B14D771CB6}"/>
              </a:ext>
            </a:extLst>
          </p:cNvPr>
          <p:cNvSpPr>
            <a:spLocks xmlns:a="http://schemas.openxmlformats.org/drawingml/2006/main" noGrp="1"/>
          </p:cNvSpPr>
          <p:nvPr/>
        </p:nvSpPr>
        <p:spPr>
          <a:xfrm xmlns:a="http://schemas.openxmlformats.org/drawingml/2006/main">
            <a:off x="5532120"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Exact columns · every SQL relation</a:t>
            </a:r>
            <a:endParaRPr sz="940"/>
          </a:p>
        </p:txBody>
      </p:sp>
      <p:sp>
        <p:nvSpPr>
          <p:cNvPr id="35" name="Shape 27">
            <a:extLst xmlns:a="http://schemas.openxmlformats.org/drawingml/2006/main">
              <a:ext uri="{FF2B5EF4-FFF2-40B4-BE49-F238E27FC236}">
                <a16:creationId xmlns:a16="http://schemas.microsoft.com/office/drawing/2014/main" id="{292168C9-1DAC-4C35-A94D-BF385A29FA6D}"/>
              </a:ext>
            </a:extLst>
          </p:cNvPr>
          <p:cNvSpPr>
            <a:spLocks xmlns:a="http://schemas.openxmlformats.org/drawingml/2006/main" noGrp="1"/>
          </p:cNvSpPr>
          <p:nvPr/>
        </p:nvSpPr>
        <p:spPr>
          <a:xfrm xmlns:a="http://schemas.openxmlformats.org/drawingml/2006/main">
            <a:off x="8266176"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FF6FA8"/>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Shape 28">
            <a:extLst xmlns:a="http://schemas.openxmlformats.org/drawingml/2006/main">
              <a:ext uri="{FF2B5EF4-FFF2-40B4-BE49-F238E27FC236}">
                <a16:creationId xmlns:a16="http://schemas.microsoft.com/office/drawing/2014/main" id="{DF1B2DA4-ACB5-40DC-A4C7-9B8E60CE6E87}"/>
              </a:ext>
            </a:extLst>
          </p:cNvPr>
          <p:cNvSpPr>
            <a:spLocks xmlns:a="http://schemas.openxmlformats.org/drawingml/2006/main" noGrp="1"/>
          </p:cNvSpPr>
          <p:nvPr/>
        </p:nvSpPr>
        <p:spPr>
          <a:xfrm xmlns:a="http://schemas.openxmlformats.org/drawingml/2006/main">
            <a:off x="8439912" y="3026664"/>
            <a:ext cx="384048" cy="384048"/>
          </a:xfrm>
          <a:prstGeom xmlns:a="http://schemas.openxmlformats.org/drawingml/2006/main" prst="ellipse">
            <a:avLst/>
          </a:prstGeom>
          <a:solidFill xmlns:a="http://schemas.openxmlformats.org/drawingml/2006/main">
            <a:srgbClr val="FF6FA8">
              <a:alpha val="20000"/>
            </a:srgbClr>
          </a:solidFill>
          <a:ln xmlns:a="http://schemas.openxmlformats.org/drawingml/2006/main" w="12700">
            <a:solidFill>
              <a:srgbClr val="FF6FA8">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Text 29">
            <a:extLst xmlns:a="http://schemas.openxmlformats.org/drawingml/2006/main">
              <a:ext uri="{FF2B5EF4-FFF2-40B4-BE49-F238E27FC236}">
                <a16:creationId xmlns:a16="http://schemas.microsoft.com/office/drawing/2014/main" id="{9AF28FB9-6E3A-40C1-9CFF-459DA994A2B0}"/>
              </a:ext>
            </a:extLst>
          </p:cNvPr>
          <p:cNvSpPr>
            <a:spLocks xmlns:a="http://schemas.openxmlformats.org/drawingml/2006/main" noGrp="1"/>
          </p:cNvSpPr>
          <p:nvPr/>
        </p:nvSpPr>
        <p:spPr>
          <a:xfrm xmlns:a="http://schemas.openxmlformats.org/drawingml/2006/main">
            <a:off x="8439912"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6FA8"/>
                </a:solidFill>
                <a:latin typeface="Inter"/>
                <a:ea typeface="Inter"/>
                <a:cs typeface="Inter"/>
              </a:rPr>
              <a:t>6</a:t>
            </a:r>
            <a:endParaRPr sz="1000"/>
          </a:p>
        </p:txBody>
      </p:sp>
      <p:pic>
        <p:nvPicPr>
          <p:cNvPr id="110" name="Image 6"/>
          <p:cNvPicPr>
            <a:picLocks xmlns:a="http://schemas.openxmlformats.org/drawingml/2006/main" noChangeAspect="1"/>
          </p:cNvPicPr>
          <p:nvPr/>
        </p:nvPicPr>
        <p:blipFill>
          <a:blip xmlns:r="http://schemas.openxmlformats.org/officeDocument/2006/relationships" xmlns:a="http://schemas.openxmlformats.org/drawingml/2006/main" r:embed="R5bfcf219abdd4ab2">
            <a:extLst>
              <a:ext uri="{96DAC541-7B7A-43D3-8B79-37D633B846F1}">
                <asvg:svgBlip xmlns:asvg="http://schemas.microsoft.com/office/drawing/2016/SVG/main" r:embed="R42e3eb2d611949b3"/>
              </a:ext>
            </a:extLst>
          </a:blip>
          <a:stretch xmlns:a="http://schemas.openxmlformats.org/drawingml/2006/main">
            <a:fillRect l="0" t="0" r="0" b="0"/>
          </a:stretch>
        </p:blipFill>
        <p:spPr>
          <a:xfrm xmlns:a="http://schemas.openxmlformats.org/drawingml/2006/main">
            <a:off x="8953119" y="3026664"/>
            <a:ext cx="272034" cy="310896"/>
          </a:xfrm>
          <a:prstGeom xmlns:a="http://schemas.openxmlformats.org/drawingml/2006/main" prst="rect">
            <a:avLst/>
          </a:prstGeom>
        </p:spPr>
      </p:pic>
      <p:sp>
        <p:nvSpPr>
          <p:cNvPr id="39" name="Text 30">
            <a:extLst xmlns:a="http://schemas.openxmlformats.org/drawingml/2006/main">
              <a:ext uri="{FF2B5EF4-FFF2-40B4-BE49-F238E27FC236}">
                <a16:creationId xmlns:a16="http://schemas.microsoft.com/office/drawing/2014/main" id="{E58C82BC-5C46-4808-A6AD-89E751A18386}"/>
              </a:ext>
            </a:extLst>
          </p:cNvPr>
          <p:cNvSpPr>
            <a:spLocks xmlns:a="http://schemas.openxmlformats.org/drawingml/2006/main" noGrp="1"/>
          </p:cNvSpPr>
          <p:nvPr/>
        </p:nvSpPr>
        <p:spPr>
          <a:xfrm xmlns:a="http://schemas.openxmlformats.org/drawingml/2006/main">
            <a:off x="9354312"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Execute + evidence</a:t>
            </a:r>
            <a:endParaRPr sz="1310"/>
          </a:p>
        </p:txBody>
      </p:sp>
      <p:sp>
        <p:nvSpPr>
          <p:cNvPr id="40" name="Text 31">
            <a:extLst xmlns:a="http://schemas.openxmlformats.org/drawingml/2006/main">
              <a:ext uri="{FF2B5EF4-FFF2-40B4-BE49-F238E27FC236}">
                <a16:creationId xmlns:a16="http://schemas.microsoft.com/office/drawing/2014/main" id="{0B4B0FA5-22A7-4114-A02D-C7C4BD162881}"/>
              </a:ext>
            </a:extLst>
          </p:cNvPr>
          <p:cNvSpPr>
            <a:spLocks xmlns:a="http://schemas.openxmlformats.org/drawingml/2006/main" noGrp="1"/>
          </p:cNvSpPr>
          <p:nvPr/>
        </p:nvSpPr>
        <p:spPr>
          <a:xfrm xmlns:a="http://schemas.openxmlformats.org/drawingml/2006/main">
            <a:off x="9354312"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Authorize · read-only · request ID</a:t>
            </a:r>
            <a:endParaRPr sz="940"/>
          </a:p>
        </p:txBody>
      </p:sp>
      <p:sp>
        <p:nvSpPr>
          <p:cNvPr id="41" name="Shape 32">
            <a:extLst xmlns:a="http://schemas.openxmlformats.org/drawingml/2006/main">
              <a:ext uri="{FF2B5EF4-FFF2-40B4-BE49-F238E27FC236}">
                <a16:creationId xmlns:a16="http://schemas.microsoft.com/office/drawing/2014/main" id="{76CFCE24-0ECC-457D-8417-D0580AA0975C}"/>
              </a:ext>
            </a:extLst>
          </p:cNvPr>
          <p:cNvSpPr>
            <a:spLocks xmlns:a="http://schemas.openxmlformats.org/drawingml/2006/main" noGrp="1"/>
          </p:cNvSpPr>
          <p:nvPr/>
        </p:nvSpPr>
        <p:spPr>
          <a:xfrm xmlns:a="http://schemas.openxmlformats.org/drawingml/2006/main">
            <a:off x="621792" y="4553712"/>
            <a:ext cx="7461504" cy="1097280"/>
          </a:xfrm>
          <a:prstGeom xmlns:a="http://schemas.openxmlformats.org/drawingml/2006/main" prst="roundRect">
            <a:avLst>
              <a:gd name="adj" fmla="val 6667"/>
            </a:avLst>
          </a:prstGeom>
          <a:solidFill xmlns:a="http://schemas.openxmlformats.org/drawingml/2006/main">
            <a:srgbClr val="0B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33">
            <a:extLst xmlns:a="http://schemas.openxmlformats.org/drawingml/2006/main">
              <a:ext uri="{FF2B5EF4-FFF2-40B4-BE49-F238E27FC236}">
                <a16:creationId xmlns:a16="http://schemas.microsoft.com/office/drawing/2014/main" id="{018C3BDD-77AC-4080-BE00-30D935FAC465}"/>
              </a:ext>
            </a:extLst>
          </p:cNvPr>
          <p:cNvSpPr>
            <a:spLocks xmlns:a="http://schemas.openxmlformats.org/drawingml/2006/main" noGrp="1"/>
          </p:cNvSpPr>
          <p:nvPr/>
        </p:nvSpPr>
        <p:spPr>
          <a:xfrm xmlns:a="http://schemas.openxmlformats.org/drawingml/2006/main">
            <a:off x="896112" y="4818888"/>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10">
                <a:solidFill>
                  <a:srgbClr val="72839A"/>
                </a:solidFill>
                <a:latin typeface="Inter"/>
                <a:ea typeface="Inter"/>
                <a:cs typeface="Inter"/>
              </a:rPr>
              <a:t>CONFIDENCE GATE</a:t>
            </a:r>
            <a:endParaRPr sz="900"/>
          </a:p>
        </p:txBody>
      </p:sp>
      <p:sp>
        <p:nvSpPr>
          <p:cNvPr id="43" name="Shape 34">
            <a:extLst xmlns:a="http://schemas.openxmlformats.org/drawingml/2006/main">
              <a:ext uri="{FF2B5EF4-FFF2-40B4-BE49-F238E27FC236}">
                <a16:creationId xmlns:a16="http://schemas.microsoft.com/office/drawing/2014/main" id="{CC3AF1F6-3DDC-4D52-8A38-7C00ED23C8D2}"/>
              </a:ext>
            </a:extLst>
          </p:cNvPr>
          <p:cNvSpPr>
            <a:spLocks xmlns:a="http://schemas.openxmlformats.org/drawingml/2006/main" noGrp="1"/>
          </p:cNvSpPr>
          <p:nvPr/>
        </p:nvSpPr>
        <p:spPr>
          <a:xfrm xmlns:a="http://schemas.openxmlformats.org/drawingml/2006/main">
            <a:off x="2468880" y="4837176"/>
            <a:ext cx="557784" cy="219456"/>
          </a:xfrm>
          <a:prstGeom xmlns:a="http://schemas.openxmlformats.org/drawingml/2006/main" prst="rect">
            <a:avLst/>
          </a:prstGeom>
          <a:solidFill xmlns:a="http://schemas.openxmlformats.org/drawingml/2006/main">
            <a:srgbClr val="FF647C"/>
          </a:solidFill>
          <a:ln xmlns:a="http://schemas.openxmlformats.org/drawingml/2006/main" w="12700">
            <a:solidFill>
              <a:srgbClr val="FF647C"/>
            </a:solidFill>
            <a:prstDash val="solid"/>
          </a:ln>
        </p:spPr>
        <p:txBody>
          <a:bodyPr xmlns:a="http://schemas.openxmlformats.org/drawingml/2006/main"/>
          <a:lstStyle xmlns:a="http://schemas.openxmlformats.org/drawingml/2006/main"/>
          <a:p xmlns:a="http://schemas.openxmlformats.org/drawingml/2006/main">
            <a:endParaRPr/>
          </a:p>
        </p:txBody>
      </p:sp>
      <p:sp>
        <p:nvSpPr>
          <p:cNvPr id="44" name="Shape 35">
            <a:extLst xmlns:a="http://schemas.openxmlformats.org/drawingml/2006/main">
              <a:ext uri="{FF2B5EF4-FFF2-40B4-BE49-F238E27FC236}">
                <a16:creationId xmlns:a16="http://schemas.microsoft.com/office/drawing/2014/main" id="{F6EACB3C-3550-4FE5-90B7-618E76D67476}"/>
              </a:ext>
            </a:extLst>
          </p:cNvPr>
          <p:cNvSpPr>
            <a:spLocks xmlns:a="http://schemas.openxmlformats.org/drawingml/2006/main" noGrp="1"/>
          </p:cNvSpPr>
          <p:nvPr/>
        </p:nvSpPr>
        <p:spPr>
          <a:xfrm xmlns:a="http://schemas.openxmlformats.org/drawingml/2006/main">
            <a:off x="3099816" y="4837176"/>
            <a:ext cx="557784" cy="219456"/>
          </a:xfrm>
          <a:prstGeom xmlns:a="http://schemas.openxmlformats.org/drawingml/2006/main" prst="rect">
            <a:avLst/>
          </a:prstGeom>
          <a:solidFill xmlns:a="http://schemas.openxmlformats.org/drawingml/2006/main">
            <a:srgbClr val="FF9E64"/>
          </a:solidFill>
          <a:ln xmlns:a="http://schemas.openxmlformats.org/drawingml/2006/main" w="12700">
            <a:solidFill>
              <a:srgbClr val="FF9E64"/>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Shape 36">
            <a:extLst xmlns:a="http://schemas.openxmlformats.org/drawingml/2006/main">
              <a:ext uri="{FF2B5EF4-FFF2-40B4-BE49-F238E27FC236}">
                <a16:creationId xmlns:a16="http://schemas.microsoft.com/office/drawing/2014/main" id="{0C34119A-6AD6-4A16-BE14-5533A3DB3F35}"/>
              </a:ext>
            </a:extLst>
          </p:cNvPr>
          <p:cNvSpPr>
            <a:spLocks xmlns:a="http://schemas.openxmlformats.org/drawingml/2006/main" noGrp="1"/>
          </p:cNvSpPr>
          <p:nvPr/>
        </p:nvSpPr>
        <p:spPr>
          <a:xfrm xmlns:a="http://schemas.openxmlformats.org/drawingml/2006/main">
            <a:off x="3730752" y="4837176"/>
            <a:ext cx="557784" cy="219456"/>
          </a:xfrm>
          <a:prstGeom xmlns:a="http://schemas.openxmlformats.org/drawingml/2006/main" prst="rect">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Shape 37">
            <a:extLst xmlns:a="http://schemas.openxmlformats.org/drawingml/2006/main">
              <a:ext uri="{FF2B5EF4-FFF2-40B4-BE49-F238E27FC236}">
                <a16:creationId xmlns:a16="http://schemas.microsoft.com/office/drawing/2014/main" id="{59064561-237E-4A72-AB2E-5EE38AE71A96}"/>
              </a:ext>
            </a:extLst>
          </p:cNvPr>
          <p:cNvSpPr>
            <a:spLocks xmlns:a="http://schemas.openxmlformats.org/drawingml/2006/main" noGrp="1"/>
          </p:cNvSpPr>
          <p:nvPr/>
        </p:nvSpPr>
        <p:spPr>
          <a:xfrm xmlns:a="http://schemas.openxmlformats.org/drawingml/2006/main">
            <a:off x="4361688" y="4837176"/>
            <a:ext cx="557784" cy="219456"/>
          </a:xfrm>
          <a:prstGeom xmlns:a="http://schemas.openxmlformats.org/drawingml/2006/main" prst="rect">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47" name="Shape 38">
            <a:extLst xmlns:a="http://schemas.openxmlformats.org/drawingml/2006/main">
              <a:ext uri="{FF2B5EF4-FFF2-40B4-BE49-F238E27FC236}">
                <a16:creationId xmlns:a16="http://schemas.microsoft.com/office/drawing/2014/main" id="{A201AC82-EDB9-433D-9CDC-6B13334B769C}"/>
              </a:ext>
            </a:extLst>
          </p:cNvPr>
          <p:cNvSpPr>
            <a:spLocks xmlns:a="http://schemas.openxmlformats.org/drawingml/2006/main" noGrp="1"/>
          </p:cNvSpPr>
          <p:nvPr/>
        </p:nvSpPr>
        <p:spPr>
          <a:xfrm xmlns:a="http://schemas.openxmlformats.org/drawingml/2006/main">
            <a:off x="4992624" y="4837176"/>
            <a:ext cx="557784" cy="219456"/>
          </a:xfrm>
          <a:prstGeom xmlns:a="http://schemas.openxmlformats.org/drawingml/2006/main" prst="rect">
            <a:avLst/>
          </a:prstGeom>
          <a:solidFill xmlns:a="http://schemas.openxmlformats.org/drawingml/2006/main">
            <a:srgbClr val="3BE0B5"/>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Shape 39">
            <a:extLst xmlns:a="http://schemas.openxmlformats.org/drawingml/2006/main">
              <a:ext uri="{FF2B5EF4-FFF2-40B4-BE49-F238E27FC236}">
                <a16:creationId xmlns:a16="http://schemas.microsoft.com/office/drawing/2014/main" id="{844D6E33-9F19-42D4-A495-0A73300875EE}"/>
              </a:ext>
            </a:extLst>
          </p:cNvPr>
          <p:cNvSpPr>
            <a:spLocks xmlns:a="http://schemas.openxmlformats.org/drawingml/2006/main" noGrp="1"/>
          </p:cNvSpPr>
          <p:nvPr/>
        </p:nvSpPr>
        <p:spPr>
          <a:xfrm xmlns:a="http://schemas.openxmlformats.org/drawingml/2006/main">
            <a:off x="5623560" y="4837176"/>
            <a:ext cx="557784" cy="219456"/>
          </a:xfrm>
          <a:prstGeom xmlns:a="http://schemas.openxmlformats.org/drawingml/2006/main" prst="rect">
            <a:avLst/>
          </a:prstGeom>
          <a:solidFill xmlns:a="http://schemas.openxmlformats.org/drawingml/2006/main">
            <a:srgbClr val="63E69C"/>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40">
            <a:extLst xmlns:a="http://schemas.openxmlformats.org/drawingml/2006/main">
              <a:ext uri="{FF2B5EF4-FFF2-40B4-BE49-F238E27FC236}">
                <a16:creationId xmlns:a16="http://schemas.microsoft.com/office/drawing/2014/main" id="{03D90A67-366A-495B-ADB8-B8D68DC95C0B}"/>
              </a:ext>
            </a:extLst>
          </p:cNvPr>
          <p:cNvSpPr>
            <a:spLocks xmlns:a="http://schemas.openxmlformats.org/drawingml/2006/main" noGrp="1"/>
          </p:cNvSpPr>
          <p:nvPr/>
        </p:nvSpPr>
        <p:spPr>
          <a:xfrm xmlns:a="http://schemas.openxmlformats.org/drawingml/2006/main">
            <a:off x="2450592" y="5129784"/>
            <a:ext cx="731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80">
                <a:solidFill>
                  <a:srgbClr val="72839A"/>
                </a:solidFill>
                <a:latin typeface="Inter"/>
                <a:ea typeface="Inter"/>
                <a:cs typeface="Inter"/>
              </a:rPr>
              <a:t>LOW</a:t>
            </a:r>
            <a:endParaRPr sz="780"/>
          </a:p>
        </p:txBody>
      </p:sp>
      <p:sp>
        <p:nvSpPr>
          <p:cNvPr id="50" name="Text 41">
            <a:extLst xmlns:a="http://schemas.openxmlformats.org/drawingml/2006/main">
              <a:ext uri="{FF2B5EF4-FFF2-40B4-BE49-F238E27FC236}">
                <a16:creationId xmlns:a16="http://schemas.microsoft.com/office/drawing/2014/main" id="{9670BF5A-544C-4FCE-8446-64C3C009F7C7}"/>
              </a:ext>
            </a:extLst>
          </p:cNvPr>
          <p:cNvSpPr>
            <a:spLocks xmlns:a="http://schemas.openxmlformats.org/drawingml/2006/main" noGrp="1"/>
          </p:cNvSpPr>
          <p:nvPr/>
        </p:nvSpPr>
        <p:spPr>
          <a:xfrm xmlns:a="http://schemas.openxmlformats.org/drawingml/2006/main">
            <a:off x="5559552" y="5129784"/>
            <a:ext cx="731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a:solidFill>
                  <a:srgbClr val="72839A"/>
                </a:solidFill>
                <a:latin typeface="Inter"/>
                <a:ea typeface="Inter"/>
                <a:cs typeface="Inter"/>
              </a:rPr>
              <a:t>HIGH</a:t>
            </a:r>
            <a:endParaRPr sz="780"/>
          </a:p>
        </p:txBody>
      </p:sp>
      <p:pic>
        <p:nvPicPr>
          <p:cNvPr id="123" name="Image 7"/>
          <p:cNvPicPr>
            <a:picLocks xmlns:a="http://schemas.openxmlformats.org/drawingml/2006/main" noChangeAspect="1"/>
          </p:cNvPicPr>
          <p:nvPr/>
        </p:nvPicPr>
        <p:blipFill>
          <a:blip xmlns:r="http://schemas.openxmlformats.org/officeDocument/2006/relationships" xmlns:a="http://schemas.openxmlformats.org/drawingml/2006/main" r:embed="Rfc09b0718bb8471e">
            <a:extLst>
              <a:ext uri="{96DAC541-7B7A-43D3-8B79-37D633B846F1}">
                <asvg:svgBlip xmlns:asvg="http://schemas.microsoft.com/office/drawing/2016/SVG/main" r:embed="R044ac2e8ba8340c2"/>
              </a:ext>
            </a:extLst>
          </a:blip>
          <a:stretch xmlns:a="http://schemas.openxmlformats.org/drawingml/2006/main">
            <a:fillRect l="0" t="0" r="0" b="0"/>
          </a:stretch>
        </p:blipFill>
        <p:spPr>
          <a:xfrm xmlns:a="http://schemas.openxmlformats.org/drawingml/2006/main">
            <a:off x="6611112" y="4791456"/>
            <a:ext cx="310896" cy="310896"/>
          </a:xfrm>
          <a:prstGeom xmlns:a="http://schemas.openxmlformats.org/drawingml/2006/main" prst="rect">
            <a:avLst/>
          </a:prstGeom>
        </p:spPr>
      </p:pic>
      <p:sp>
        <p:nvSpPr>
          <p:cNvPr id="52" name="Text 42">
            <a:extLst xmlns:a="http://schemas.openxmlformats.org/drawingml/2006/main">
              <a:ext uri="{FF2B5EF4-FFF2-40B4-BE49-F238E27FC236}">
                <a16:creationId xmlns:a16="http://schemas.microsoft.com/office/drawing/2014/main" id="{16A42ED8-15FE-422E-8D67-39492379BE80}"/>
              </a:ext>
            </a:extLst>
          </p:cNvPr>
          <p:cNvSpPr>
            <a:spLocks xmlns:a="http://schemas.openxmlformats.org/drawingml/2006/main" noGrp="1"/>
          </p:cNvSpPr>
          <p:nvPr/>
        </p:nvSpPr>
        <p:spPr>
          <a:xfrm xmlns:a="http://schemas.openxmlformats.org/drawingml/2006/main">
            <a:off x="7040880" y="4754880"/>
            <a:ext cx="84124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940"/>
          </a:bodyPr>
          <a:lstStyle xmlns:a="http://schemas.openxmlformats.org/drawingml/2006/main"/>
          <a:p xmlns:a="http://schemas.openxmlformats.org/drawingml/2006/main">
            <a:pPr marL="0" indent="0">
              <a:buNone/>
            </a:pPr>
            <a:r>
              <a:rPr sz="1100" b="1">
                <a:solidFill>
                  <a:srgbClr val="EAF0F8"/>
                </a:solidFill>
                <a:latin typeface="Inter"/>
                <a:ea typeface="Inter"/>
                <a:cs typeface="Inter"/>
              </a:rPr>
              <a:t>No confident match?</a:t>
            </a:r>
            <a:endParaRPr sz="1100"/>
          </a:p>
          <a:p xmlns:a="http://schemas.openxmlformats.org/drawingml/2006/main">
            <a:pPr marL="0" indent="0">
              <a:buNone/>
            </a:pPr>
            <a:r>
              <a:rPr sz="1100" b="1">
                <a:solidFill>
                  <a:srgbClr val="EAF0F8"/>
                </a:solidFill>
                <a:latin typeface="Inter"/>
                <a:ea typeface="Inter"/>
                <a:cs typeface="Inter"/>
              </a:rPr>
              <a:t>Ask or stop.</a:t>
            </a:r>
          </a:p>
        </p:txBody>
      </p:sp>
      <p:sp>
        <p:nvSpPr>
          <p:cNvPr id="53" name="Shape 43">
            <a:extLst xmlns:a="http://schemas.openxmlformats.org/drawingml/2006/main">
              <a:ext uri="{FF2B5EF4-FFF2-40B4-BE49-F238E27FC236}">
                <a16:creationId xmlns:a16="http://schemas.microsoft.com/office/drawing/2014/main" id="{D9B58A33-7F2F-4731-8AC6-DC1909C96002}"/>
              </a:ext>
            </a:extLst>
          </p:cNvPr>
          <p:cNvSpPr>
            <a:spLocks xmlns:a="http://schemas.openxmlformats.org/drawingml/2006/main" noGrp="1"/>
          </p:cNvSpPr>
          <p:nvPr/>
        </p:nvSpPr>
        <p:spPr>
          <a:xfrm xmlns:a="http://schemas.openxmlformats.org/drawingml/2006/main">
            <a:off x="8394192" y="4553712"/>
            <a:ext cx="3218688" cy="1097280"/>
          </a:xfrm>
          <a:prstGeom xmlns:a="http://schemas.openxmlformats.org/drawingml/2006/main" prst="roundRect">
            <a:avLst>
              <a:gd name="adj" fmla="val 6667"/>
            </a:avLst>
          </a:prstGeom>
          <a:solidFill xmlns:a="http://schemas.openxmlformats.org/drawingml/2006/main">
            <a:srgbClr val="15182D"/>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54" name="Text 44">
            <a:extLst xmlns:a="http://schemas.openxmlformats.org/drawingml/2006/main">
              <a:ext uri="{FF2B5EF4-FFF2-40B4-BE49-F238E27FC236}">
                <a16:creationId xmlns:a16="http://schemas.microsoft.com/office/drawing/2014/main" id="{EA8EAF50-7705-42F9-96AE-0536A60BB6B7}"/>
              </a:ext>
            </a:extLst>
          </p:cNvPr>
          <p:cNvSpPr>
            <a:spLocks xmlns:a="http://schemas.openxmlformats.org/drawingml/2006/main" noGrp="1"/>
          </p:cNvSpPr>
          <p:nvPr/>
        </p:nvSpPr>
        <p:spPr>
          <a:xfrm xmlns:a="http://schemas.openxmlformats.org/drawingml/2006/main">
            <a:off x="8659368" y="4791456"/>
            <a:ext cx="11338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00">
                <a:solidFill>
                  <a:srgbClr val="63E69C"/>
                </a:solidFill>
                <a:latin typeface="Inter"/>
                <a:ea typeface="Inter"/>
                <a:cs typeface="Inter"/>
              </a:rPr>
              <a:t>SERVER</a:t>
            </a:r>
            <a:endParaRPr sz="900"/>
          </a:p>
        </p:txBody>
      </p:sp>
      <p:sp>
        <p:nvSpPr>
          <p:cNvPr id="55" name="Text 45">
            <a:extLst xmlns:a="http://schemas.openxmlformats.org/drawingml/2006/main">
              <a:ext uri="{FF2B5EF4-FFF2-40B4-BE49-F238E27FC236}">
                <a16:creationId xmlns:a16="http://schemas.microsoft.com/office/drawing/2014/main" id="{81F21E52-AAFF-4611-AFA3-3B26FA90E169}"/>
              </a:ext>
            </a:extLst>
          </p:cNvPr>
          <p:cNvSpPr>
            <a:spLocks xmlns:a="http://schemas.openxmlformats.org/drawingml/2006/main" noGrp="1"/>
          </p:cNvSpPr>
          <p:nvPr/>
        </p:nvSpPr>
        <p:spPr>
          <a:xfrm xmlns:a="http://schemas.openxmlformats.org/drawingml/2006/main">
            <a:off x="8659368" y="5102352"/>
            <a:ext cx="13258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EAF0F8"/>
                </a:solidFill>
                <a:latin typeface="Inter"/>
                <a:ea typeface="Inter"/>
                <a:cs typeface="Inter"/>
              </a:rPr>
              <a:t>returns next step</a:t>
            </a:r>
            <a:endParaRPr sz="1150"/>
          </a:p>
        </p:txBody>
      </p:sp>
      <p:sp>
        <p:nvSpPr>
          <p:cNvPr id="56" name="Shape 46">
            <a:extLst xmlns:a="http://schemas.openxmlformats.org/drawingml/2006/main">
              <a:ext uri="{FF2B5EF4-FFF2-40B4-BE49-F238E27FC236}">
                <a16:creationId xmlns:a16="http://schemas.microsoft.com/office/drawing/2014/main" id="{1904A91E-850C-49B5-8449-C1701D7A6C19}"/>
              </a:ext>
            </a:extLst>
          </p:cNvPr>
          <p:cNvSpPr>
            <a:spLocks xmlns:a="http://schemas.openxmlformats.org/drawingml/2006/main" noGrp="1"/>
          </p:cNvSpPr>
          <p:nvPr/>
        </p:nvSpPr>
        <p:spPr>
          <a:xfrm xmlns:a="http://schemas.openxmlformats.org/drawingml/2006/main">
            <a:off x="9939528" y="5074920"/>
            <a:ext cx="393192"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7" name="Text 47">
            <a:extLst xmlns:a="http://schemas.openxmlformats.org/drawingml/2006/main">
              <a:ext uri="{FF2B5EF4-FFF2-40B4-BE49-F238E27FC236}">
                <a16:creationId xmlns:a16="http://schemas.microsoft.com/office/drawing/2014/main" id="{054402F3-796D-41E4-BCFC-9103ED849C42}"/>
              </a:ext>
            </a:extLst>
          </p:cNvPr>
          <p:cNvSpPr>
            <a:spLocks xmlns:a="http://schemas.openxmlformats.org/drawingml/2006/main" noGrp="1"/>
          </p:cNvSpPr>
          <p:nvPr/>
        </p:nvSpPr>
        <p:spPr>
          <a:xfrm xmlns:a="http://schemas.openxmlformats.org/drawingml/2006/main">
            <a:off x="10479024" y="4791456"/>
            <a:ext cx="530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00">
                <a:solidFill>
                  <a:srgbClr val="5B7CFF"/>
                </a:solidFill>
                <a:latin typeface="Inter"/>
                <a:ea typeface="Inter"/>
                <a:cs typeface="Inter"/>
              </a:rPr>
              <a:t>CLIENT</a:t>
            </a:r>
            <a:endParaRPr sz="900"/>
          </a:p>
        </p:txBody>
      </p:sp>
      <p:sp>
        <p:nvSpPr>
          <p:cNvPr id="58" name="Text 48">
            <a:extLst xmlns:a="http://schemas.openxmlformats.org/drawingml/2006/main">
              <a:ext uri="{FF2B5EF4-FFF2-40B4-BE49-F238E27FC236}">
                <a16:creationId xmlns:a16="http://schemas.microsoft.com/office/drawing/2014/main" id="{83EFA4F0-539B-4046-9459-4752FCA70D2E}"/>
              </a:ext>
            </a:extLst>
          </p:cNvPr>
          <p:cNvSpPr>
            <a:spLocks xmlns:a="http://schemas.openxmlformats.org/drawingml/2006/main" noGrp="1"/>
          </p:cNvSpPr>
          <p:nvPr/>
        </p:nvSpPr>
        <p:spPr>
          <a:xfrm xmlns:a="http://schemas.openxmlformats.org/drawingml/2006/main">
            <a:off x="10479024" y="5102352"/>
            <a:ext cx="8686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10" b="1">
                <a:solidFill>
                  <a:srgbClr val="EAF0F8"/>
                </a:solidFill>
                <a:latin typeface="Inter"/>
                <a:ea typeface="Inter"/>
                <a:cs typeface="Inter"/>
              </a:rPr>
              <a:t>calls next tool</a:t>
            </a:r>
            <a:endParaRPr sz="1010"/>
          </a:p>
        </p:txBody>
      </p:sp>
      <p:sp>
        <p:nvSpPr>
          <p:cNvPr id="59" name="Text 49">
            <a:extLst xmlns:a="http://schemas.openxmlformats.org/drawingml/2006/main">
              <a:ext uri="{FF2B5EF4-FFF2-40B4-BE49-F238E27FC236}">
                <a16:creationId xmlns:a16="http://schemas.microsoft.com/office/drawing/2014/main" id="{80701CD0-C065-4380-B847-6BCC9C8E480C}"/>
              </a:ext>
            </a:extLst>
          </p:cNvPr>
          <p:cNvSpPr>
            <a:spLocks xmlns:a="http://schemas.openxmlformats.org/drawingml/2006/main" noGrp="1"/>
          </p:cNvSpPr>
          <p:nvPr/>
        </p:nvSpPr>
        <p:spPr>
          <a:xfrm xmlns:a="http://schemas.openxmlformats.org/drawingml/2006/main">
            <a:off x="7616952" y="5687568"/>
            <a:ext cx="3977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i="1">
                <a:solidFill>
                  <a:srgbClr val="72839A"/>
                </a:solidFill>
                <a:latin typeface="Inter"/>
                <a:ea typeface="Inter"/>
                <a:cs typeface="Inter"/>
              </a:rPr>
              <a:t>Routing guidance is advisory; SQL safety and authorization are enforced.</a:t>
            </a:r>
            <a:endParaRPr sz="780"/>
          </a:p>
        </p:txBody>
      </p:sp>
      <p:sp>
        <p:nvSpPr>
          <p:cNvPr id="60" name="Shape 50">
            <a:extLst xmlns:a="http://schemas.openxmlformats.org/drawingml/2006/main">
              <a:ext uri="{FF2B5EF4-FFF2-40B4-BE49-F238E27FC236}">
                <a16:creationId xmlns:a16="http://schemas.microsoft.com/office/drawing/2014/main" id="{FFAA4F87-B888-4F99-903E-C223293CFE4F}"/>
              </a:ext>
            </a:extLst>
          </p:cNvPr>
          <p:cNvSpPr>
            <a:spLocks xmlns:a="http://schemas.openxmlformats.org/drawingml/2006/main" noGrp="1"/>
          </p:cNvSpPr>
          <p:nvPr/>
        </p:nvSpPr>
        <p:spPr>
          <a:xfrm xmlns:a="http://schemas.openxmlformats.org/drawingml/2006/main">
            <a:off x="2313432" y="5916168"/>
            <a:ext cx="7552944" cy="329184"/>
          </a:xfrm>
          <a:prstGeom xmlns:a="http://schemas.openxmlformats.org/drawingml/2006/main" prst="roundRect">
            <a:avLst>
              <a:gd name="adj" fmla="val 22222"/>
            </a:avLst>
          </a:prstGeom>
          <a:solidFill xmlns:a="http://schemas.openxmlformats.org/drawingml/2006/main">
            <a:srgbClr val="35D4E7">
              <a:alpha val="12000"/>
            </a:srgbClr>
          </a:solidFill>
          <a:ln xmlns:a="http://schemas.openxmlformats.org/drawingml/2006/main" w="12700">
            <a:solidFill>
              <a:srgbClr val="35D4E7">
                <a:alpha val="32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1" name="Text 51">
            <a:extLst xmlns:a="http://schemas.openxmlformats.org/drawingml/2006/main">
              <a:ext uri="{FF2B5EF4-FFF2-40B4-BE49-F238E27FC236}">
                <a16:creationId xmlns:a16="http://schemas.microsoft.com/office/drawing/2014/main" id="{EC4670F4-0758-4A65-83C3-96C2899905BF}"/>
              </a:ext>
            </a:extLst>
          </p:cNvPr>
          <p:cNvSpPr>
            <a:spLocks xmlns:a="http://schemas.openxmlformats.org/drawingml/2006/main" noGrp="1"/>
          </p:cNvSpPr>
          <p:nvPr/>
        </p:nvSpPr>
        <p:spPr>
          <a:xfrm xmlns:a="http://schemas.openxmlformats.org/drawingml/2006/main">
            <a:off x="2386584" y="5925312"/>
            <a:ext cx="74066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70" b="1">
                <a:solidFill>
                  <a:srgbClr val="35D4E7"/>
                </a:solidFill>
                <a:latin typeface="Inter"/>
                <a:ea typeface="Inter"/>
                <a:cs typeface="Inter"/>
              </a:rPr>
              <a:t>REPEATABILITY COMES FROM THE ROUTE AND THE EVIDENCE</a:t>
            </a:r>
            <a:endParaRPr sz="970"/>
          </a:p>
        </p:txBody>
      </p:sp>
      <p:sp>
        <p:nvSpPr>
          <p:cNvPr id="62" name="Shape 52">
            <a:extLst xmlns:a="http://schemas.openxmlformats.org/drawingml/2006/main">
              <a:ext uri="{FF2B5EF4-FFF2-40B4-BE49-F238E27FC236}">
                <a16:creationId xmlns:a16="http://schemas.microsoft.com/office/drawing/2014/main" id="{40B0AA9E-C18D-42C7-824C-E70B4163A83C}"/>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3" name="Text 53">
            <a:extLst xmlns:a="http://schemas.openxmlformats.org/drawingml/2006/main">
              <a:ext uri="{FF2B5EF4-FFF2-40B4-BE49-F238E27FC236}">
                <a16:creationId xmlns:a16="http://schemas.microsoft.com/office/drawing/2014/main" id="{89F5F37F-9CB1-4E0D-96B0-19D957FDCD69}"/>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64" name="Text 54">
            <a:extLst xmlns:a="http://schemas.openxmlformats.org/drawingml/2006/main">
              <a:ext uri="{FF2B5EF4-FFF2-40B4-BE49-F238E27FC236}">
                <a16:creationId xmlns:a16="http://schemas.microsoft.com/office/drawing/2014/main" id="{CECD7E6D-9740-495E-95C8-B5E99A0461C4}"/>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65" name="Text 55">
            <a:extLst xmlns:a="http://schemas.openxmlformats.org/drawingml/2006/main">
              <a:ext uri="{FF2B5EF4-FFF2-40B4-BE49-F238E27FC236}">
                <a16:creationId xmlns:a16="http://schemas.microsoft.com/office/drawing/2014/main" id="{4E778191-509B-4B61-BDEC-96F3878FFE6B}"/>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09</a:t>
            </a:r>
            <a:endParaRPr sz="850"/>
          </a:p>
        </p:txBody>
      </p:sp>
    </p:spTree>
    <p:extLst>
      <p:ext uri="{BB962C8B-B14F-4D97-AF65-F5344CB8AC3E}">
        <p14:creationId xmlns:p14="http://schemas.microsoft.com/office/powerpoint/2010/main" val="120793062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63" name="Image 0"/>
          <p:cNvPicPr>
            <a:picLocks xmlns:a="http://schemas.openxmlformats.org/drawingml/2006/main" noChangeAspect="1"/>
          </p:cNvPicPr>
          <p:nvPr/>
        </p:nvPicPr>
        <p:blipFill>
          <a:blip xmlns:r="http://schemas.openxmlformats.org/officeDocument/2006/relationships" xmlns:a="http://schemas.openxmlformats.org/drawingml/2006/main" r:embed="R6f4c8357c31548eb">
            <a:extLst>
              <a:ext uri="{96DAC541-7B7A-43D3-8B79-37D633B846F1}">
                <asvg:svgBlip xmlns:asvg="http://schemas.microsoft.com/office/drawing/2016/SVG/main" r:embed="R712e517d75cb47b2"/>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DF3A6E48-3655-4B6E-A179-72E9D159E04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LICENSE AND ACCESS</a:t>
            </a:r>
            <a:endParaRPr sz="950"/>
          </a:p>
        </p:txBody>
      </p:sp>
      <p:sp>
        <p:nvSpPr>
          <p:cNvPr id="4" name="Text 1">
            <a:extLst xmlns:a="http://schemas.openxmlformats.org/drawingml/2006/main">
              <a:ext uri="{FF2B5EF4-FFF2-40B4-BE49-F238E27FC236}">
                <a16:creationId xmlns:a16="http://schemas.microsoft.com/office/drawing/2014/main" id="{DA3CD34E-CEF6-4D96-B6B0-9495DA3BADDE}"/>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900" b="1">
                <a:solidFill>
                  <a:srgbClr val="F7FAFF"/>
                </a:solidFill>
                <a:latin typeface="Inter"/>
                <a:ea typeface="Inter"/>
                <a:cs typeface="Inter"/>
              </a:rPr>
              <a:t>The data contract enters the routing layer</a:t>
            </a:r>
            <a:endParaRPr sz="2900"/>
          </a:p>
        </p:txBody>
      </p:sp>
      <p:sp>
        <p:nvSpPr>
          <p:cNvPr id="5" name="Shape 2">
            <a:extLst xmlns:a="http://schemas.openxmlformats.org/drawingml/2006/main">
              <a:ext uri="{FF2B5EF4-FFF2-40B4-BE49-F238E27FC236}">
                <a16:creationId xmlns:a16="http://schemas.microsoft.com/office/drawing/2014/main" id="{3DBE6F5C-74AE-4435-959E-5ED72141E9D3}"/>
              </a:ext>
            </a:extLst>
          </p:cNvPr>
          <p:cNvSpPr>
            <a:spLocks xmlns:a="http://schemas.openxmlformats.org/drawingml/2006/main" noGrp="1"/>
          </p:cNvSpPr>
          <p:nvPr/>
        </p:nvSpPr>
        <p:spPr>
          <a:xfrm xmlns:a="http://schemas.openxmlformats.org/drawingml/2006/main">
            <a:off x="566928" y="1335024"/>
            <a:ext cx="3794760" cy="4526280"/>
          </a:xfrm>
          <a:prstGeom xmlns:a="http://schemas.openxmlformats.org/drawingml/2006/main" prst="roundRect">
            <a:avLst>
              <a:gd name="adj" fmla="val 1928"/>
            </a:avLst>
          </a:prstGeom>
          <a:solidFill xmlns:a="http://schemas.openxmlformats.org/drawingml/2006/main">
            <a:srgbClr val="131722"/>
          </a:solidFill>
          <a:ln xmlns:a="http://schemas.openxmlformats.org/drawingml/2006/main" w="12700">
            <a:solidFill>
              <a:srgbClr val="FF647C"/>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67" name="Image 1"/>
          <p:cNvPicPr>
            <a:picLocks xmlns:a="http://schemas.openxmlformats.org/drawingml/2006/main" noChangeAspect="1"/>
          </p:cNvPicPr>
          <p:nvPr/>
        </p:nvPicPr>
        <p:blipFill>
          <a:blip xmlns:r="http://schemas.openxmlformats.org/officeDocument/2006/relationships" xmlns:a="http://schemas.openxmlformats.org/drawingml/2006/main" r:embed="R914ea072706a4935">
            <a:extLst>
              <a:ext uri="{96DAC541-7B7A-43D3-8B79-37D633B846F1}">
                <asvg:svgBlip xmlns:asvg="http://schemas.microsoft.com/office/drawing/2016/SVG/main" r:embed="R2ae82a99806c4145"/>
              </a:ext>
            </a:extLst>
          </a:blip>
          <a:stretch xmlns:a="http://schemas.openxmlformats.org/drawingml/2006/main">
            <a:fillRect l="0" t="0" r="0" b="0"/>
          </a:stretch>
        </p:blipFill>
        <p:spPr>
          <a:xfrm xmlns:a="http://schemas.openxmlformats.org/drawingml/2006/main">
            <a:off x="946404" y="1673352"/>
            <a:ext cx="356616" cy="475488"/>
          </a:xfrm>
          <a:prstGeom xmlns:a="http://schemas.openxmlformats.org/drawingml/2006/main" prst="rect">
            <a:avLst/>
          </a:prstGeom>
        </p:spPr>
      </p:pic>
      <p:sp>
        <p:nvSpPr>
          <p:cNvPr id="7" name="Text 3">
            <a:extLst xmlns:a="http://schemas.openxmlformats.org/drawingml/2006/main">
              <a:ext uri="{FF2B5EF4-FFF2-40B4-BE49-F238E27FC236}">
                <a16:creationId xmlns:a16="http://schemas.microsoft.com/office/drawing/2014/main" id="{821FD0D8-36DA-430D-BB3B-073E94DAF94A}"/>
              </a:ext>
            </a:extLst>
          </p:cNvPr>
          <p:cNvSpPr>
            <a:spLocks xmlns:a="http://schemas.openxmlformats.org/drawingml/2006/main" noGrp="1"/>
          </p:cNvSpPr>
          <p:nvPr/>
        </p:nvSpPr>
        <p:spPr>
          <a:xfrm xmlns:a="http://schemas.openxmlformats.org/drawingml/2006/main">
            <a:off x="1536192" y="1700784"/>
            <a:ext cx="23408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100">
                <a:solidFill>
                  <a:srgbClr val="FF647C"/>
                </a:solidFill>
                <a:latin typeface="Inter"/>
                <a:ea typeface="Inter"/>
                <a:cs typeface="Inter"/>
              </a:rPr>
              <a:t>VENDOR DATA AGREEMENT</a:t>
            </a:r>
            <a:endParaRPr sz="1100"/>
          </a:p>
        </p:txBody>
      </p:sp>
      <p:pic>
        <p:nvPicPr>
          <p:cNvPr id="69" name="Image 2"/>
          <p:cNvPicPr>
            <a:picLocks xmlns:a="http://schemas.openxmlformats.org/drawingml/2006/main" noChangeAspect="1"/>
          </p:cNvPicPr>
          <p:nvPr/>
        </p:nvPicPr>
        <p:blipFill>
          <a:blip xmlns:r="http://schemas.openxmlformats.org/officeDocument/2006/relationships" xmlns:a="http://schemas.openxmlformats.org/drawingml/2006/main" r:embed="R5bb0e7bc85dc4dab">
            <a:extLst>
              <a:ext uri="{96DAC541-7B7A-43D3-8B79-37D633B846F1}">
                <asvg:svgBlip xmlns:asvg="http://schemas.microsoft.com/office/drawing/2016/SVG/main" r:embed="R83eac6229e5f4393"/>
              </a:ext>
            </a:extLst>
          </a:blip>
          <a:stretch xmlns:a="http://schemas.openxmlformats.org/drawingml/2006/main">
            <a:fillRect l="0" t="0" r="0" b="0"/>
          </a:stretch>
        </p:blipFill>
        <p:spPr>
          <a:xfrm xmlns:a="http://schemas.openxmlformats.org/drawingml/2006/main">
            <a:off x="914400" y="2322576"/>
            <a:ext cx="219456" cy="219456"/>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B66D42B8-5009-45DF-9961-27888EFE6055}"/>
              </a:ext>
            </a:extLst>
          </p:cNvPr>
          <p:cNvSpPr>
            <a:spLocks xmlns:a="http://schemas.openxmlformats.org/drawingml/2006/main" noGrp="1"/>
          </p:cNvSpPr>
          <p:nvPr/>
        </p:nvSpPr>
        <p:spPr>
          <a:xfrm xmlns:a="http://schemas.openxmlformats.org/drawingml/2006/main">
            <a:off x="1280160" y="229514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AI processing restricted</a:t>
            </a:r>
            <a:endParaRPr sz="1240"/>
          </a:p>
        </p:txBody>
      </p:sp>
      <p:pic>
        <p:nvPicPr>
          <p:cNvPr id="71" name="Image 3"/>
          <p:cNvPicPr>
            <a:picLocks xmlns:a="http://schemas.openxmlformats.org/drawingml/2006/main" noChangeAspect="1"/>
          </p:cNvPicPr>
          <p:nvPr/>
        </p:nvPicPr>
        <p:blipFill>
          <a:blip xmlns:r="http://schemas.openxmlformats.org/officeDocument/2006/relationships" xmlns:a="http://schemas.openxmlformats.org/drawingml/2006/main" r:embed="R5bb0e7bc85dc4dab">
            <a:extLst>
              <a:ext uri="{96DAC541-7B7A-43D3-8B79-37D633B846F1}">
                <asvg:svgBlip xmlns:asvg="http://schemas.microsoft.com/office/drawing/2016/SVG/main" r:embed="R83eac6229e5f4393"/>
              </a:ext>
            </a:extLst>
          </a:blip>
          <a:stretch xmlns:a="http://schemas.openxmlformats.org/drawingml/2006/main">
            <a:fillRect l="0" t="0" r="0" b="0"/>
          </a:stretch>
        </p:blipFill>
        <p:spPr>
          <a:xfrm xmlns:a="http://schemas.openxmlformats.org/drawingml/2006/main">
            <a:off x="914400" y="2834640"/>
            <a:ext cx="219456" cy="219456"/>
          </a:xfrm>
          <a:prstGeom xmlns:a="http://schemas.openxmlformats.org/drawingml/2006/main" prst="rect">
            <a:avLst/>
          </a:prstGeom>
        </p:spPr>
      </p:pic>
      <p:sp>
        <p:nvSpPr>
          <p:cNvPr id="11" name="Text 5">
            <a:extLst xmlns:a="http://schemas.openxmlformats.org/drawingml/2006/main">
              <a:ext uri="{FF2B5EF4-FFF2-40B4-BE49-F238E27FC236}">
                <a16:creationId xmlns:a16="http://schemas.microsoft.com/office/drawing/2014/main" id="{D462551A-6B49-471E-858E-C56C7A60374D}"/>
              </a:ext>
            </a:extLst>
          </p:cNvPr>
          <p:cNvSpPr>
            <a:spLocks xmlns:a="http://schemas.openxmlformats.org/drawingml/2006/main" noGrp="1"/>
          </p:cNvSpPr>
          <p:nvPr/>
        </p:nvSpPr>
        <p:spPr>
          <a:xfrm xmlns:a="http://schemas.openxmlformats.org/drawingml/2006/main">
            <a:off x="1280160" y="2807208"/>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No model training</a:t>
            </a:r>
            <a:endParaRPr sz="1240"/>
          </a:p>
        </p:txBody>
      </p:sp>
      <p:pic>
        <p:nvPicPr>
          <p:cNvPr id="73" name="Image 4"/>
          <p:cNvPicPr>
            <a:picLocks xmlns:a="http://schemas.openxmlformats.org/drawingml/2006/main" noChangeAspect="1"/>
          </p:cNvPicPr>
          <p:nvPr/>
        </p:nvPicPr>
        <p:blipFill>
          <a:blip xmlns:r="http://schemas.openxmlformats.org/officeDocument/2006/relationships" xmlns:a="http://schemas.openxmlformats.org/drawingml/2006/main" r:embed="R5bb0e7bc85dc4dab">
            <a:extLst>
              <a:ext uri="{96DAC541-7B7A-43D3-8B79-37D633B846F1}">
                <asvg:svgBlip xmlns:asvg="http://schemas.microsoft.com/office/drawing/2016/SVG/main" r:embed="R83eac6229e5f4393"/>
              </a:ext>
            </a:extLst>
          </a:blip>
          <a:stretch xmlns:a="http://schemas.openxmlformats.org/drawingml/2006/main">
            <a:fillRect l="0" t="0" r="0" b="0"/>
          </a:stretch>
        </p:blipFill>
        <p:spPr>
          <a:xfrm xmlns:a="http://schemas.openxmlformats.org/drawingml/2006/main">
            <a:off x="914400" y="3346704"/>
            <a:ext cx="219456" cy="219456"/>
          </a:xfrm>
          <a:prstGeom xmlns:a="http://schemas.openxmlformats.org/drawingml/2006/main" prst="rect">
            <a:avLst/>
          </a:prstGeom>
        </p:spPr>
      </p:pic>
      <p:sp>
        <p:nvSpPr>
          <p:cNvPr id="13" name="Text 6">
            <a:extLst xmlns:a="http://schemas.openxmlformats.org/drawingml/2006/main">
              <a:ext uri="{FF2B5EF4-FFF2-40B4-BE49-F238E27FC236}">
                <a16:creationId xmlns:a16="http://schemas.microsoft.com/office/drawing/2014/main" id="{E2BD7819-9A1E-4B9D-90B0-79349E6A9292}"/>
              </a:ext>
            </a:extLst>
          </p:cNvPr>
          <p:cNvSpPr>
            <a:spLocks xmlns:a="http://schemas.openxmlformats.org/drawingml/2006/main" noGrp="1"/>
          </p:cNvSpPr>
          <p:nvPr/>
        </p:nvSpPr>
        <p:spPr>
          <a:xfrm xmlns:a="http://schemas.openxmlformats.org/drawingml/2006/main">
            <a:off x="1280160" y="3319272"/>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Licensed users only</a:t>
            </a:r>
            <a:endParaRPr sz="1240"/>
          </a:p>
        </p:txBody>
      </p:sp>
      <p:pic>
        <p:nvPicPr>
          <p:cNvPr id="75" name="Image 5"/>
          <p:cNvPicPr>
            <a:picLocks xmlns:a="http://schemas.openxmlformats.org/drawingml/2006/main" noChangeAspect="1"/>
          </p:cNvPicPr>
          <p:nvPr/>
        </p:nvPicPr>
        <p:blipFill>
          <a:blip xmlns:r="http://schemas.openxmlformats.org/officeDocument/2006/relationships" xmlns:a="http://schemas.openxmlformats.org/drawingml/2006/main" r:embed="R5bb0e7bc85dc4dab">
            <a:extLst>
              <a:ext uri="{96DAC541-7B7A-43D3-8B79-37D633B846F1}">
                <asvg:svgBlip xmlns:asvg="http://schemas.microsoft.com/office/drawing/2016/SVG/main" r:embed="R83eac6229e5f4393"/>
              </a:ext>
            </a:extLst>
          </a:blip>
          <a:stretch xmlns:a="http://schemas.openxmlformats.org/drawingml/2006/main">
            <a:fillRect l="0" t="0" r="0" b="0"/>
          </a:stretch>
        </p:blipFill>
        <p:spPr>
          <a:xfrm xmlns:a="http://schemas.openxmlformats.org/drawingml/2006/main">
            <a:off x="914400" y="3858768"/>
            <a:ext cx="219456" cy="219456"/>
          </a:xfrm>
          <a:prstGeom xmlns:a="http://schemas.openxmlformats.org/drawingml/2006/main" prst="rect">
            <a:avLst/>
          </a:prstGeom>
        </p:spPr>
      </p:pic>
      <p:sp>
        <p:nvSpPr>
          <p:cNvPr id="15" name="Text 7">
            <a:extLst xmlns:a="http://schemas.openxmlformats.org/drawingml/2006/main">
              <a:ext uri="{FF2B5EF4-FFF2-40B4-BE49-F238E27FC236}">
                <a16:creationId xmlns:a16="http://schemas.microsoft.com/office/drawing/2014/main" id="{229BA583-5B2C-44D3-867E-0FED65A5FB11}"/>
              </a:ext>
            </a:extLst>
          </p:cNvPr>
          <p:cNvSpPr>
            <a:spLocks xmlns:a="http://schemas.openxmlformats.org/drawingml/2006/main" noGrp="1"/>
          </p:cNvSpPr>
          <p:nvPr/>
        </p:nvSpPr>
        <p:spPr>
          <a:xfrm xmlns:a="http://schemas.openxmlformats.org/drawingml/2006/main">
            <a:off x="1280160" y="3831336"/>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No raw redistribution</a:t>
            </a:r>
            <a:endParaRPr sz="1240"/>
          </a:p>
        </p:txBody>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5bb0e7bc85dc4dab">
            <a:extLst>
              <a:ext uri="{96DAC541-7B7A-43D3-8B79-37D633B846F1}">
                <asvg:svgBlip xmlns:asvg="http://schemas.microsoft.com/office/drawing/2016/SVG/main" r:embed="R83eac6229e5f4393"/>
              </a:ext>
            </a:extLst>
          </a:blip>
          <a:stretch xmlns:a="http://schemas.openxmlformats.org/drawingml/2006/main">
            <a:fillRect l="0" t="0" r="0" b="0"/>
          </a:stretch>
        </p:blipFill>
        <p:spPr>
          <a:xfrm xmlns:a="http://schemas.openxmlformats.org/drawingml/2006/main">
            <a:off x="914400" y="4370832"/>
            <a:ext cx="219456" cy="219456"/>
          </a:xfrm>
          <a:prstGeom xmlns:a="http://schemas.openxmlformats.org/drawingml/2006/main" prst="rect">
            <a:avLst/>
          </a:prstGeom>
        </p:spPr>
      </p:pic>
      <p:sp>
        <p:nvSpPr>
          <p:cNvPr id="17" name="Text 8">
            <a:extLst xmlns:a="http://schemas.openxmlformats.org/drawingml/2006/main">
              <a:ext uri="{FF2B5EF4-FFF2-40B4-BE49-F238E27FC236}">
                <a16:creationId xmlns:a16="http://schemas.microsoft.com/office/drawing/2014/main" id="{44869675-5D6C-436C-A943-B994BC1B3E3C}"/>
              </a:ext>
            </a:extLst>
          </p:cNvPr>
          <p:cNvSpPr>
            <a:spLocks xmlns:a="http://schemas.openxmlformats.org/drawingml/2006/main" noGrp="1"/>
          </p:cNvSpPr>
          <p:nvPr/>
        </p:nvSpPr>
        <p:spPr>
          <a:xfrm xmlns:a="http://schemas.openxmlformats.org/drawingml/2006/main">
            <a:off x="1280160" y="4343400"/>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Use of derived data controlled</a:t>
            </a:r>
            <a:endParaRPr sz="1240"/>
          </a:p>
        </p:txBody>
      </p:sp>
      <p:sp>
        <p:nvSpPr>
          <p:cNvPr id="18" name="Text 9">
            <a:extLst xmlns:a="http://schemas.openxmlformats.org/drawingml/2006/main">
              <a:ext uri="{FF2B5EF4-FFF2-40B4-BE49-F238E27FC236}">
                <a16:creationId xmlns:a16="http://schemas.microsoft.com/office/drawing/2014/main" id="{EEB43060-BBDC-4859-9179-D0C1FF8F84B2}"/>
              </a:ext>
            </a:extLst>
          </p:cNvPr>
          <p:cNvSpPr>
            <a:spLocks xmlns:a="http://schemas.openxmlformats.org/drawingml/2006/main" noGrp="1"/>
          </p:cNvSpPr>
          <p:nvPr/>
        </p:nvSpPr>
        <p:spPr>
          <a:xfrm xmlns:a="http://schemas.openxmlformats.org/drawingml/2006/main">
            <a:off x="896112" y="5084064"/>
            <a:ext cx="314553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7FAFF"/>
                </a:solidFill>
                <a:latin typeface="Inter"/>
                <a:ea typeface="Inter"/>
                <a:cs typeface="Inter"/>
              </a:rPr>
              <a:t>The policy must shape routing</a:t>
            </a:r>
            <a:endParaRPr sz="1500"/>
          </a:p>
          <a:p xmlns:a="http://schemas.openxmlformats.org/drawingml/2006/main">
            <a:pPr marL="0" indent="0" algn="ctr">
              <a:buNone/>
            </a:pPr>
            <a:r>
              <a:rPr sz="1500" b="1">
                <a:solidFill>
                  <a:srgbClr val="F7FAFF"/>
                </a:solidFill>
                <a:latin typeface="Inter"/>
                <a:ea typeface="Inter"/>
                <a:cs typeface="Inter"/>
              </a:rPr>
              <a:t>before the model sees the data.</a:t>
            </a:r>
            <a:endParaRPr sz="1500"/>
          </a:p>
        </p:txBody>
      </p:sp>
      <p:sp>
        <p:nvSpPr>
          <p:cNvPr id="19" name="Text 10">
            <a:extLst xmlns:a="http://schemas.openxmlformats.org/drawingml/2006/main">
              <a:ext uri="{FF2B5EF4-FFF2-40B4-BE49-F238E27FC236}">
                <a16:creationId xmlns:a16="http://schemas.microsoft.com/office/drawing/2014/main" id="{950B4A1B-575E-40BE-B9DB-7DB49F57957A}"/>
              </a:ext>
            </a:extLst>
          </p:cNvPr>
          <p:cNvSpPr>
            <a:spLocks xmlns:a="http://schemas.openxmlformats.org/drawingml/2006/main" noGrp="1"/>
          </p:cNvSpPr>
          <p:nvPr/>
        </p:nvSpPr>
        <p:spPr>
          <a:xfrm xmlns:a="http://schemas.openxmlformats.org/drawingml/2006/main">
            <a:off x="4800600" y="1371600"/>
            <a:ext cx="6629400" cy="7040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300" b="1">
                <a:solidFill>
                  <a:srgbClr val="F7FAFF"/>
                </a:solidFill>
                <a:latin typeface="Inter"/>
                <a:ea typeface="Inter"/>
                <a:cs typeface="Inter"/>
              </a:rPr>
              <a:t>Separate relevance from permission.</a:t>
            </a:r>
            <a:endParaRPr sz="2300"/>
          </a:p>
        </p:txBody>
      </p:sp>
      <p:sp>
        <p:nvSpPr>
          <p:cNvPr id="20" name="Shape 11">
            <a:extLst xmlns:a="http://schemas.openxmlformats.org/drawingml/2006/main">
              <a:ext uri="{FF2B5EF4-FFF2-40B4-BE49-F238E27FC236}">
                <a16:creationId xmlns:a16="http://schemas.microsoft.com/office/drawing/2014/main" id="{6A75EAD1-56E2-4D3D-B34C-344C27033CF9}"/>
              </a:ext>
            </a:extLst>
          </p:cNvPr>
          <p:cNvSpPr>
            <a:spLocks xmlns:a="http://schemas.openxmlformats.org/drawingml/2006/main" noGrp="1"/>
          </p:cNvSpPr>
          <p:nvPr/>
        </p:nvSpPr>
        <p:spPr>
          <a:xfrm xmlns:a="http://schemas.openxmlformats.org/drawingml/2006/main">
            <a:off x="4800600" y="2432304"/>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82" name="Image 7"/>
          <p:cNvPicPr>
            <a:picLocks xmlns:a="http://schemas.openxmlformats.org/drawingml/2006/main" noChangeAspect="1"/>
          </p:cNvPicPr>
          <p:nvPr/>
        </p:nvPicPr>
        <p:blipFill>
          <a:blip xmlns:r="http://schemas.openxmlformats.org/officeDocument/2006/relationships" xmlns:a="http://schemas.openxmlformats.org/drawingml/2006/main" r:embed="Rfdc6fc8c6bd84eab">
            <a:extLst>
              <a:ext uri="{96DAC541-7B7A-43D3-8B79-37D633B846F1}">
                <asvg:svgBlip xmlns:asvg="http://schemas.microsoft.com/office/drawing/2016/SVG/main" r:embed="Rf8c587a82cf64a56"/>
              </a:ext>
            </a:extLst>
          </a:blip>
          <a:stretch xmlns:a="http://schemas.openxmlformats.org/drawingml/2006/main">
            <a:fillRect l="0" t="0" r="0" b="0"/>
          </a:stretch>
        </p:blipFill>
        <p:spPr>
          <a:xfrm xmlns:a="http://schemas.openxmlformats.org/drawingml/2006/main">
            <a:off x="4983480" y="2658872"/>
            <a:ext cx="292608" cy="260096"/>
          </a:xfrm>
          <a:prstGeom xmlns:a="http://schemas.openxmlformats.org/drawingml/2006/main" prst="rect">
            <a:avLst/>
          </a:prstGeom>
        </p:spPr>
      </p:pic>
      <p:sp>
        <p:nvSpPr>
          <p:cNvPr id="22" name="Text 12">
            <a:extLst xmlns:a="http://schemas.openxmlformats.org/drawingml/2006/main">
              <a:ext uri="{FF2B5EF4-FFF2-40B4-BE49-F238E27FC236}">
                <a16:creationId xmlns:a16="http://schemas.microsoft.com/office/drawing/2014/main" id="{FD83992A-71C7-4958-BB57-4F6A2DE053C9}"/>
              </a:ext>
            </a:extLst>
          </p:cNvPr>
          <p:cNvSpPr>
            <a:spLocks xmlns:a="http://schemas.openxmlformats.org/drawingml/2006/main" noGrp="1"/>
          </p:cNvSpPr>
          <p:nvPr/>
        </p:nvSpPr>
        <p:spPr>
          <a:xfrm xmlns:a="http://schemas.openxmlformats.org/drawingml/2006/main">
            <a:off x="5422392" y="2551176"/>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Terminal denial</a:t>
            </a:r>
            <a:endParaRPr sz="1180"/>
          </a:p>
        </p:txBody>
      </p:sp>
      <p:sp>
        <p:nvSpPr>
          <p:cNvPr id="23" name="Text 13">
            <a:extLst xmlns:a="http://schemas.openxmlformats.org/drawingml/2006/main">
              <a:ext uri="{FF2B5EF4-FFF2-40B4-BE49-F238E27FC236}">
                <a16:creationId xmlns:a16="http://schemas.microsoft.com/office/drawing/2014/main" id="{86C4E4A8-1A2C-4E02-AB31-79EC29DDA97A}"/>
              </a:ext>
            </a:extLst>
          </p:cNvPr>
          <p:cNvSpPr>
            <a:spLocks xmlns:a="http://schemas.openxmlformats.org/drawingml/2006/main" noGrp="1"/>
          </p:cNvSpPr>
          <p:nvPr/>
        </p:nvSpPr>
        <p:spPr>
          <a:xfrm xmlns:a="http://schemas.openxmlformats.org/drawingml/2006/main">
            <a:off x="5422392" y="2862072"/>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access_denied · next_action: stop</a:t>
            </a:r>
            <a:endParaRPr sz="880"/>
          </a:p>
        </p:txBody>
      </p:sp>
      <p:sp>
        <p:nvSpPr>
          <p:cNvPr id="24" name="Shape 14">
            <a:extLst xmlns:a="http://schemas.openxmlformats.org/drawingml/2006/main">
              <a:ext uri="{FF2B5EF4-FFF2-40B4-BE49-F238E27FC236}">
                <a16:creationId xmlns:a16="http://schemas.microsoft.com/office/drawing/2014/main" id="{09B6ADA7-0809-4266-A62A-14469253E8BB}"/>
              </a:ext>
            </a:extLst>
          </p:cNvPr>
          <p:cNvSpPr>
            <a:spLocks xmlns:a="http://schemas.openxmlformats.org/drawingml/2006/main" noGrp="1"/>
          </p:cNvSpPr>
          <p:nvPr/>
        </p:nvSpPr>
        <p:spPr>
          <a:xfrm xmlns:a="http://schemas.openxmlformats.org/drawingml/2006/main">
            <a:off x="8202168" y="2432304"/>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8"/>
          <p:cNvPicPr>
            <a:picLocks xmlns:a="http://schemas.openxmlformats.org/drawingml/2006/main" noChangeAspect="1"/>
          </p:cNvPicPr>
          <p:nvPr/>
        </p:nvPicPr>
        <p:blipFill>
          <a:blip xmlns:r="http://schemas.openxmlformats.org/officeDocument/2006/relationships" xmlns:a="http://schemas.openxmlformats.org/drawingml/2006/main" r:embed="Rb6d6613a64934f16">
            <a:extLst>
              <a:ext uri="{96DAC541-7B7A-43D3-8B79-37D633B846F1}">
                <asvg:svgBlip xmlns:asvg="http://schemas.microsoft.com/office/drawing/2016/SVG/main" r:embed="R4e13566568a0444e"/>
              </a:ext>
            </a:extLst>
          </a:blip>
          <a:stretch xmlns:a="http://schemas.openxmlformats.org/drawingml/2006/main">
            <a:fillRect l="0" t="0" r="0" b="0"/>
          </a:stretch>
        </p:blipFill>
        <p:spPr>
          <a:xfrm xmlns:a="http://schemas.openxmlformats.org/drawingml/2006/main">
            <a:off x="8385048" y="2658872"/>
            <a:ext cx="292608" cy="260096"/>
          </a:xfrm>
          <a:prstGeom xmlns:a="http://schemas.openxmlformats.org/drawingml/2006/main" prst="rect">
            <a:avLst/>
          </a:prstGeom>
        </p:spPr>
      </p:pic>
      <p:sp>
        <p:nvSpPr>
          <p:cNvPr id="26" name="Text 15">
            <a:extLst xmlns:a="http://schemas.openxmlformats.org/drawingml/2006/main">
              <a:ext uri="{FF2B5EF4-FFF2-40B4-BE49-F238E27FC236}">
                <a16:creationId xmlns:a16="http://schemas.microsoft.com/office/drawing/2014/main" id="{F2DB2D23-928F-468B-AC42-7C446813E5DB}"/>
              </a:ext>
            </a:extLst>
          </p:cNvPr>
          <p:cNvSpPr>
            <a:spLocks xmlns:a="http://schemas.openxmlformats.org/drawingml/2006/main" noGrp="1"/>
          </p:cNvSpPr>
          <p:nvPr/>
        </p:nvSpPr>
        <p:spPr>
          <a:xfrm xmlns:a="http://schemas.openxmlformats.org/drawingml/2006/main">
            <a:off x="8823960" y="2551176"/>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Metadata only</a:t>
            </a:r>
            <a:endParaRPr sz="1180"/>
          </a:p>
        </p:txBody>
      </p:sp>
      <p:sp>
        <p:nvSpPr>
          <p:cNvPr id="27" name="Text 16">
            <a:extLst xmlns:a="http://schemas.openxmlformats.org/drawingml/2006/main">
              <a:ext uri="{FF2B5EF4-FFF2-40B4-BE49-F238E27FC236}">
                <a16:creationId xmlns:a16="http://schemas.microsoft.com/office/drawing/2014/main" id="{1DE798AB-1435-434C-9701-EDE1EE32CBC3}"/>
              </a:ext>
            </a:extLst>
          </p:cNvPr>
          <p:cNvSpPr>
            <a:spLocks xmlns:a="http://schemas.openxmlformats.org/drawingml/2006/main" noGrp="1"/>
          </p:cNvSpPr>
          <p:nvPr/>
        </p:nvSpPr>
        <p:spPr>
          <a:xfrm xmlns:a="http://schemas.openxmlformats.org/drawingml/2006/main">
            <a:off x="8823960" y="2862072"/>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Discover without raw content</a:t>
            </a:r>
            <a:endParaRPr sz="880"/>
          </a:p>
        </p:txBody>
      </p:sp>
      <p:sp>
        <p:nvSpPr>
          <p:cNvPr id="28" name="Shape 17">
            <a:extLst xmlns:a="http://schemas.openxmlformats.org/drawingml/2006/main">
              <a:ext uri="{FF2B5EF4-FFF2-40B4-BE49-F238E27FC236}">
                <a16:creationId xmlns:a16="http://schemas.microsoft.com/office/drawing/2014/main" id="{8C372B24-E0B8-4431-8DDF-5A3B5182A077}"/>
              </a:ext>
            </a:extLst>
          </p:cNvPr>
          <p:cNvSpPr>
            <a:spLocks xmlns:a="http://schemas.openxmlformats.org/drawingml/2006/main" noGrp="1"/>
          </p:cNvSpPr>
          <p:nvPr/>
        </p:nvSpPr>
        <p:spPr>
          <a:xfrm xmlns:a="http://schemas.openxmlformats.org/drawingml/2006/main">
            <a:off x="4800600" y="3493008"/>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9"/>
          <p:cNvPicPr>
            <a:picLocks xmlns:a="http://schemas.openxmlformats.org/drawingml/2006/main" noChangeAspect="1"/>
          </p:cNvPicPr>
          <p:nvPr/>
        </p:nvPicPr>
        <p:blipFill>
          <a:blip xmlns:r="http://schemas.openxmlformats.org/officeDocument/2006/relationships" xmlns:a="http://schemas.openxmlformats.org/drawingml/2006/main" r:embed="R2a1157fdc955462e">
            <a:extLst>
              <a:ext uri="{96DAC541-7B7A-43D3-8B79-37D633B846F1}">
                <asvg:svgBlip xmlns:asvg="http://schemas.microsoft.com/office/drawing/2016/SVG/main" r:embed="R10b543de922e4e64"/>
              </a:ext>
            </a:extLst>
          </a:blip>
          <a:stretch xmlns:a="http://schemas.openxmlformats.org/drawingml/2006/main">
            <a:fillRect l="0" t="0" r="0" b="0"/>
          </a:stretch>
        </p:blipFill>
        <p:spPr>
          <a:xfrm xmlns:a="http://schemas.openxmlformats.org/drawingml/2006/main">
            <a:off x="5001768" y="3703320"/>
            <a:ext cx="256032" cy="292608"/>
          </a:xfrm>
          <a:prstGeom xmlns:a="http://schemas.openxmlformats.org/drawingml/2006/main" prst="rect">
            <a:avLst/>
          </a:prstGeom>
        </p:spPr>
      </p:pic>
      <p:sp>
        <p:nvSpPr>
          <p:cNvPr id="30" name="Text 18">
            <a:extLst xmlns:a="http://schemas.openxmlformats.org/drawingml/2006/main">
              <a:ext uri="{FF2B5EF4-FFF2-40B4-BE49-F238E27FC236}">
                <a16:creationId xmlns:a16="http://schemas.microsoft.com/office/drawing/2014/main" id="{40CB5AA6-4704-4902-8374-D84BF865422F}"/>
              </a:ext>
            </a:extLst>
          </p:cNvPr>
          <p:cNvSpPr>
            <a:spLocks xmlns:a="http://schemas.openxmlformats.org/drawingml/2006/main" noGrp="1"/>
          </p:cNvSpPr>
          <p:nvPr/>
        </p:nvSpPr>
        <p:spPr>
          <a:xfrm xmlns:a="http://schemas.openxmlformats.org/drawingml/2006/main">
            <a:off x="5422392" y="3611880"/>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Compute beside data</a:t>
            </a:r>
            <a:endParaRPr sz="1180"/>
          </a:p>
        </p:txBody>
      </p:sp>
      <p:sp>
        <p:nvSpPr>
          <p:cNvPr id="31" name="Text 19">
            <a:extLst xmlns:a="http://schemas.openxmlformats.org/drawingml/2006/main">
              <a:ext uri="{FF2B5EF4-FFF2-40B4-BE49-F238E27FC236}">
                <a16:creationId xmlns:a16="http://schemas.microsoft.com/office/drawing/2014/main" id="{0FFD0185-BF7B-438C-A6E6-1ED858A42D20}"/>
              </a:ext>
            </a:extLst>
          </p:cNvPr>
          <p:cNvSpPr>
            <a:spLocks xmlns:a="http://schemas.openxmlformats.org/drawingml/2006/main" noGrp="1"/>
          </p:cNvSpPr>
          <p:nvPr/>
        </p:nvSpPr>
        <p:spPr>
          <a:xfrm xmlns:a="http://schemas.openxmlformats.org/drawingml/2006/main">
            <a:off x="5422392" y="3922776"/>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Return approved aggregates</a:t>
            </a:r>
            <a:endParaRPr sz="880"/>
          </a:p>
        </p:txBody>
      </p:sp>
      <p:sp>
        <p:nvSpPr>
          <p:cNvPr id="32" name="Shape 20">
            <a:extLst xmlns:a="http://schemas.openxmlformats.org/drawingml/2006/main">
              <a:ext uri="{FF2B5EF4-FFF2-40B4-BE49-F238E27FC236}">
                <a16:creationId xmlns:a16="http://schemas.microsoft.com/office/drawing/2014/main" id="{CE5EBF17-1F82-4C1C-BFE4-746644E099F8}"/>
              </a:ext>
            </a:extLst>
          </p:cNvPr>
          <p:cNvSpPr>
            <a:spLocks xmlns:a="http://schemas.openxmlformats.org/drawingml/2006/main" noGrp="1"/>
          </p:cNvSpPr>
          <p:nvPr/>
        </p:nvSpPr>
        <p:spPr>
          <a:xfrm xmlns:a="http://schemas.openxmlformats.org/drawingml/2006/main">
            <a:off x="8202168" y="3493008"/>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Image 10"/>
          <p:cNvPicPr>
            <a:picLocks xmlns:a="http://schemas.openxmlformats.org/drawingml/2006/main" noChangeAspect="1"/>
          </p:cNvPicPr>
          <p:nvPr/>
        </p:nvPicPr>
        <p:blipFill>
          <a:blip xmlns:r="http://schemas.openxmlformats.org/officeDocument/2006/relationships" xmlns:a="http://schemas.openxmlformats.org/drawingml/2006/main" r:embed="R1b03a5176595402b">
            <a:extLst>
              <a:ext uri="{96DAC541-7B7A-43D3-8B79-37D633B846F1}">
                <asvg:svgBlip xmlns:asvg="http://schemas.microsoft.com/office/drawing/2016/SVG/main" r:embed="R0244f73dd7094894"/>
              </a:ext>
            </a:extLst>
          </a:blip>
          <a:stretch xmlns:a="http://schemas.openxmlformats.org/drawingml/2006/main">
            <a:fillRect l="0" t="0" r="0" b="0"/>
          </a:stretch>
        </p:blipFill>
        <p:spPr>
          <a:xfrm xmlns:a="http://schemas.openxmlformats.org/drawingml/2006/main">
            <a:off x="8403336" y="3703320"/>
            <a:ext cx="256032" cy="292608"/>
          </a:xfrm>
          <a:prstGeom xmlns:a="http://schemas.openxmlformats.org/drawingml/2006/main" prst="rect">
            <a:avLst/>
          </a:prstGeom>
        </p:spPr>
      </p:pic>
      <p:sp>
        <p:nvSpPr>
          <p:cNvPr id="34" name="Text 21">
            <a:extLst xmlns:a="http://schemas.openxmlformats.org/drawingml/2006/main">
              <a:ext uri="{FF2B5EF4-FFF2-40B4-BE49-F238E27FC236}">
                <a16:creationId xmlns:a16="http://schemas.microsoft.com/office/drawing/2014/main" id="{0740476F-9233-4036-838B-96DF07B93976}"/>
              </a:ext>
            </a:extLst>
          </p:cNvPr>
          <p:cNvSpPr>
            <a:spLocks xmlns:a="http://schemas.openxmlformats.org/drawingml/2006/main" noGrp="1"/>
          </p:cNvSpPr>
          <p:nvPr/>
        </p:nvSpPr>
        <p:spPr>
          <a:xfrm xmlns:a="http://schemas.openxmlformats.org/drawingml/2006/main">
            <a:off x="8823960" y="3611880"/>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Private inference</a:t>
            </a:r>
            <a:endParaRPr sz="1180"/>
          </a:p>
        </p:txBody>
      </p:sp>
      <p:sp>
        <p:nvSpPr>
          <p:cNvPr id="35" name="Text 22">
            <a:extLst xmlns:a="http://schemas.openxmlformats.org/drawingml/2006/main">
              <a:ext uri="{FF2B5EF4-FFF2-40B4-BE49-F238E27FC236}">
                <a16:creationId xmlns:a16="http://schemas.microsoft.com/office/drawing/2014/main" id="{36811F16-8D00-45CC-8225-96DAFC388B90}"/>
              </a:ext>
            </a:extLst>
          </p:cNvPr>
          <p:cNvSpPr>
            <a:spLocks xmlns:a="http://schemas.openxmlformats.org/drawingml/2006/main" noGrp="1"/>
          </p:cNvSpPr>
          <p:nvPr/>
        </p:nvSpPr>
        <p:spPr>
          <a:xfrm xmlns:a="http://schemas.openxmlformats.org/drawingml/2006/main">
            <a:off x="8823960" y="3922776"/>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No-retention endpoints</a:t>
            </a:r>
            <a:endParaRPr sz="880"/>
          </a:p>
        </p:txBody>
      </p:sp>
      <p:sp>
        <p:nvSpPr>
          <p:cNvPr id="36" name="Shape 23">
            <a:extLst xmlns:a="http://schemas.openxmlformats.org/drawingml/2006/main">
              <a:ext uri="{FF2B5EF4-FFF2-40B4-BE49-F238E27FC236}">
                <a16:creationId xmlns:a16="http://schemas.microsoft.com/office/drawing/2014/main" id="{6074480E-786B-4393-AB59-ADC64F2649AA}"/>
              </a:ext>
            </a:extLst>
          </p:cNvPr>
          <p:cNvSpPr>
            <a:spLocks xmlns:a="http://schemas.openxmlformats.org/drawingml/2006/main" noGrp="1"/>
          </p:cNvSpPr>
          <p:nvPr/>
        </p:nvSpPr>
        <p:spPr>
          <a:xfrm xmlns:a="http://schemas.openxmlformats.org/drawingml/2006/main">
            <a:off x="4800600" y="4553712"/>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8" name="Image 11"/>
          <p:cNvPicPr>
            <a:picLocks xmlns:a="http://schemas.openxmlformats.org/drawingml/2006/main" noChangeAspect="1"/>
          </p:cNvPicPr>
          <p:nvPr/>
        </p:nvPicPr>
        <p:blipFill>
          <a:blip xmlns:r="http://schemas.openxmlformats.org/officeDocument/2006/relationships" xmlns:a="http://schemas.openxmlformats.org/drawingml/2006/main" r:embed="Rc3c7cb809e26469d">
            <a:extLst>
              <a:ext uri="{96DAC541-7B7A-43D3-8B79-37D633B846F1}">
                <asvg:svgBlip xmlns:asvg="http://schemas.microsoft.com/office/drawing/2016/SVG/main" r:embed="R212ac1b2e5554eab"/>
              </a:ext>
            </a:extLst>
          </a:blip>
          <a:stretch xmlns:a="http://schemas.openxmlformats.org/drawingml/2006/main">
            <a:fillRect l="0" t="0" r="0" b="0"/>
          </a:stretch>
        </p:blipFill>
        <p:spPr>
          <a:xfrm xmlns:a="http://schemas.openxmlformats.org/drawingml/2006/main">
            <a:off x="4983480" y="4780280"/>
            <a:ext cx="292608" cy="260096"/>
          </a:xfrm>
          <a:prstGeom xmlns:a="http://schemas.openxmlformats.org/drawingml/2006/main" prst="rect">
            <a:avLst/>
          </a:prstGeom>
        </p:spPr>
      </p:pic>
      <p:sp>
        <p:nvSpPr>
          <p:cNvPr id="38" name="Text 24">
            <a:extLst xmlns:a="http://schemas.openxmlformats.org/drawingml/2006/main">
              <a:ext uri="{FF2B5EF4-FFF2-40B4-BE49-F238E27FC236}">
                <a16:creationId xmlns:a16="http://schemas.microsoft.com/office/drawing/2014/main" id="{05AE2329-5494-4B46-9BF4-787254343484}"/>
              </a:ext>
            </a:extLst>
          </p:cNvPr>
          <p:cNvSpPr>
            <a:spLocks xmlns:a="http://schemas.openxmlformats.org/drawingml/2006/main" noGrp="1"/>
          </p:cNvSpPr>
          <p:nvPr/>
        </p:nvSpPr>
        <p:spPr>
          <a:xfrm xmlns:a="http://schemas.openxmlformats.org/drawingml/2006/main">
            <a:off x="5422392" y="4672584"/>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Governed views</a:t>
            </a:r>
            <a:endParaRPr sz="1180"/>
          </a:p>
        </p:txBody>
      </p:sp>
      <p:sp>
        <p:nvSpPr>
          <p:cNvPr id="39" name="Text 25">
            <a:extLst xmlns:a="http://schemas.openxmlformats.org/drawingml/2006/main">
              <a:ext uri="{FF2B5EF4-FFF2-40B4-BE49-F238E27FC236}">
                <a16:creationId xmlns:a16="http://schemas.microsoft.com/office/drawing/2014/main" id="{6B87DE60-0E45-490E-91BB-1FAF3828FD8D}"/>
              </a:ext>
            </a:extLst>
          </p:cNvPr>
          <p:cNvSpPr>
            <a:spLocks xmlns:a="http://schemas.openxmlformats.org/drawingml/2006/main" noGrp="1"/>
          </p:cNvSpPr>
          <p:nvPr/>
        </p:nvSpPr>
        <p:spPr>
          <a:xfrm xmlns:a="http://schemas.openxmlformats.org/drawingml/2006/main">
            <a:off x="5422392"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Approved derived products</a:t>
            </a:r>
            <a:endParaRPr sz="880"/>
          </a:p>
        </p:txBody>
      </p:sp>
      <p:sp>
        <p:nvSpPr>
          <p:cNvPr id="40" name="Shape 26">
            <a:extLst xmlns:a="http://schemas.openxmlformats.org/drawingml/2006/main">
              <a:ext uri="{FF2B5EF4-FFF2-40B4-BE49-F238E27FC236}">
                <a16:creationId xmlns:a16="http://schemas.microsoft.com/office/drawing/2014/main" id="{BE6E3609-F2B9-4838-95B0-B6BECCA21D33}"/>
              </a:ext>
            </a:extLst>
          </p:cNvPr>
          <p:cNvSpPr>
            <a:spLocks xmlns:a="http://schemas.openxmlformats.org/drawingml/2006/main" noGrp="1"/>
          </p:cNvSpPr>
          <p:nvPr/>
        </p:nvSpPr>
        <p:spPr>
          <a:xfrm xmlns:a="http://schemas.openxmlformats.org/drawingml/2006/main">
            <a:off x="8202168" y="4553712"/>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12"/>
          <p:cNvPicPr>
            <a:picLocks xmlns:a="http://schemas.openxmlformats.org/drawingml/2006/main" noChangeAspect="1"/>
          </p:cNvPicPr>
          <p:nvPr/>
        </p:nvPicPr>
        <p:blipFill>
          <a:blip xmlns:r="http://schemas.openxmlformats.org/officeDocument/2006/relationships" xmlns:a="http://schemas.openxmlformats.org/drawingml/2006/main" r:embed="R76282dd0d494465c">
            <a:extLst>
              <a:ext uri="{96DAC541-7B7A-43D3-8B79-37D633B846F1}">
                <asvg:svgBlip xmlns:asvg="http://schemas.microsoft.com/office/drawing/2016/SVG/main" r:embed="R68551ad5cd3244bb"/>
              </a:ext>
            </a:extLst>
          </a:blip>
          <a:stretch xmlns:a="http://schemas.openxmlformats.org/drawingml/2006/main">
            <a:fillRect l="0" t="0" r="0" b="0"/>
          </a:stretch>
        </p:blipFill>
        <p:spPr>
          <a:xfrm xmlns:a="http://schemas.openxmlformats.org/drawingml/2006/main">
            <a:off x="8403336" y="4764024"/>
            <a:ext cx="256032" cy="292608"/>
          </a:xfrm>
          <a:prstGeom xmlns:a="http://schemas.openxmlformats.org/drawingml/2006/main" prst="rect">
            <a:avLst/>
          </a:prstGeom>
        </p:spPr>
      </p:pic>
      <p:sp>
        <p:nvSpPr>
          <p:cNvPr id="42" name="Text 27">
            <a:extLst xmlns:a="http://schemas.openxmlformats.org/drawingml/2006/main">
              <a:ext uri="{FF2B5EF4-FFF2-40B4-BE49-F238E27FC236}">
                <a16:creationId xmlns:a16="http://schemas.microsoft.com/office/drawing/2014/main" id="{A1F4AD81-41DD-428B-9EE9-3C6CAEA94E8D}"/>
              </a:ext>
            </a:extLst>
          </p:cNvPr>
          <p:cNvSpPr>
            <a:spLocks xmlns:a="http://schemas.openxmlformats.org/drawingml/2006/main" noGrp="1"/>
          </p:cNvSpPr>
          <p:nvPr/>
        </p:nvSpPr>
        <p:spPr>
          <a:xfrm xmlns:a="http://schemas.openxmlformats.org/drawingml/2006/main">
            <a:off x="8823960" y="4672584"/>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Synthetic evals</a:t>
            </a:r>
            <a:endParaRPr sz="1180"/>
          </a:p>
        </p:txBody>
      </p:sp>
      <p:sp>
        <p:nvSpPr>
          <p:cNvPr id="43" name="Text 28">
            <a:extLst xmlns:a="http://schemas.openxmlformats.org/drawingml/2006/main">
              <a:ext uri="{FF2B5EF4-FFF2-40B4-BE49-F238E27FC236}">
                <a16:creationId xmlns:a16="http://schemas.microsoft.com/office/drawing/2014/main" id="{95F0E24B-59F3-4891-95D4-9D2E3BA00546}"/>
              </a:ext>
            </a:extLst>
          </p:cNvPr>
          <p:cNvSpPr>
            <a:spLocks xmlns:a="http://schemas.openxmlformats.org/drawingml/2006/main" noGrp="1"/>
          </p:cNvSpPr>
          <p:nvPr/>
        </p:nvSpPr>
        <p:spPr>
          <a:xfrm xmlns:a="http://schemas.openxmlformats.org/drawingml/2006/main">
            <a:off x="8823960"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Test without licensed records</a:t>
            </a:r>
            <a:endParaRPr sz="880"/>
          </a:p>
        </p:txBody>
      </p:sp>
      <p:sp>
        <p:nvSpPr>
          <p:cNvPr id="44" name="Shape 29">
            <a:extLst xmlns:a="http://schemas.openxmlformats.org/drawingml/2006/main">
              <a:ext uri="{FF2B5EF4-FFF2-40B4-BE49-F238E27FC236}">
                <a16:creationId xmlns:a16="http://schemas.microsoft.com/office/drawing/2014/main" id="{80508A93-D0C8-41F1-9AAD-99D051BB77E6}"/>
              </a:ext>
            </a:extLst>
          </p:cNvPr>
          <p:cNvSpPr>
            <a:spLocks xmlns:a="http://schemas.openxmlformats.org/drawingml/2006/main" noGrp="1"/>
          </p:cNvSpPr>
          <p:nvPr/>
        </p:nvSpPr>
        <p:spPr>
          <a:xfrm xmlns:a="http://schemas.openxmlformats.org/drawingml/2006/main">
            <a:off x="6446520" y="5696712"/>
            <a:ext cx="4343400" cy="393192"/>
          </a:xfrm>
          <a:prstGeom xmlns:a="http://schemas.openxmlformats.org/drawingml/2006/main" prst="roundRect">
            <a:avLst>
              <a:gd name="adj" fmla="val 18605"/>
            </a:avLst>
          </a:prstGeom>
          <a:solidFill xmlns:a="http://schemas.openxmlformats.org/drawingml/2006/main">
            <a:srgbClr val="F7B955">
              <a:alpha val="15000"/>
            </a:srgbClr>
          </a:solidFill>
          <a:ln xmlns:a="http://schemas.openxmlformats.org/drawingml/2006/main" w="12700">
            <a:solidFill>
              <a:srgbClr val="F7B955">
                <a:alpha val="38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Text 30">
            <a:extLst xmlns:a="http://schemas.openxmlformats.org/drawingml/2006/main">
              <a:ext uri="{FF2B5EF4-FFF2-40B4-BE49-F238E27FC236}">
                <a16:creationId xmlns:a16="http://schemas.microsoft.com/office/drawing/2014/main" id="{624E2C9E-B815-4905-B67C-9DDF97E722DF}"/>
              </a:ext>
            </a:extLst>
          </p:cNvPr>
          <p:cNvSpPr>
            <a:spLocks xmlns:a="http://schemas.openxmlformats.org/drawingml/2006/main" noGrp="1"/>
          </p:cNvSpPr>
          <p:nvPr/>
        </p:nvSpPr>
        <p:spPr>
          <a:xfrm xmlns:a="http://schemas.openxmlformats.org/drawingml/2006/main">
            <a:off x="6519672" y="5705856"/>
            <a:ext cx="4197096" cy="3749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40" b="1">
                <a:solidFill>
                  <a:srgbClr val="F7B955"/>
                </a:solidFill>
                <a:latin typeface="Inter"/>
                <a:ea typeface="Inter"/>
                <a:cs typeface="Inter"/>
              </a:rPr>
              <a:t>CONTRACT TERMS BECOME POLICY INPUTS</a:t>
            </a:r>
            <a:endParaRPr sz="1040"/>
          </a:p>
        </p:txBody>
      </p:sp>
      <p:sp>
        <p:nvSpPr>
          <p:cNvPr id="46" name="Shape 31">
            <a:extLst xmlns:a="http://schemas.openxmlformats.org/drawingml/2006/main">
              <a:ext uri="{FF2B5EF4-FFF2-40B4-BE49-F238E27FC236}">
                <a16:creationId xmlns:a16="http://schemas.microsoft.com/office/drawing/2014/main" id="{5D0B8E89-C83B-44A7-9C2C-6574BBBF7249}"/>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7" name="Text 32">
            <a:extLst xmlns:a="http://schemas.openxmlformats.org/drawingml/2006/main">
              <a:ext uri="{FF2B5EF4-FFF2-40B4-BE49-F238E27FC236}">
                <a16:creationId xmlns:a16="http://schemas.microsoft.com/office/drawing/2014/main" id="{9D22F23D-D1CE-4A9E-97C6-10D34F595DF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48" name="Text 33">
            <a:extLst xmlns:a="http://schemas.openxmlformats.org/drawingml/2006/main">
              <a:ext uri="{FF2B5EF4-FFF2-40B4-BE49-F238E27FC236}">
                <a16:creationId xmlns:a16="http://schemas.microsoft.com/office/drawing/2014/main" id="{D0C2E174-C8BD-4C67-9314-2C45C6A0183E}"/>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49" name="Text 34">
            <a:extLst xmlns:a="http://schemas.openxmlformats.org/drawingml/2006/main">
              <a:ext uri="{FF2B5EF4-FFF2-40B4-BE49-F238E27FC236}">
                <a16:creationId xmlns:a16="http://schemas.microsoft.com/office/drawing/2014/main" id="{E9BFC96D-79F1-48FF-9D99-1EB8030082BC}"/>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10</a:t>
            </a:r>
            <a:endParaRPr sz="850"/>
          </a:p>
        </p:txBody>
      </p:sp>
    </p:spTree>
    <p:extLst>
      <p:ext uri="{BB962C8B-B14F-4D97-AF65-F5344CB8AC3E}">
        <p14:creationId xmlns:p14="http://schemas.microsoft.com/office/powerpoint/2010/main" val="179509572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94" name="Image 0"/>
          <p:cNvPicPr>
            <a:picLocks xmlns:a="http://schemas.openxmlformats.org/drawingml/2006/main" noChangeAspect="1"/>
          </p:cNvPicPr>
          <p:nvPr/>
        </p:nvPicPr>
        <p:blipFill>
          <a:blip xmlns:r="http://schemas.openxmlformats.org/officeDocument/2006/relationships" xmlns:a="http://schemas.openxmlformats.org/drawingml/2006/main" r:embed="Re57092adf7b14a89">
            <a:extLst>
              <a:ext uri="{96DAC541-7B7A-43D3-8B79-37D633B846F1}">
                <asvg:svgBlip xmlns:asvg="http://schemas.microsoft.com/office/drawing/2016/SVG/main" r:embed="R10e869caa39645a5"/>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73F6EF8B-A9CD-4766-9610-6F605EBD6786}"/>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TARGET STATE · CENTRAL GOVERNANCE</a:t>
            </a:r>
            <a:endParaRPr sz="950"/>
          </a:p>
        </p:txBody>
      </p:sp>
      <p:sp>
        <p:nvSpPr>
          <p:cNvPr id="4" name="Text 1">
            <a:extLst xmlns:a="http://schemas.openxmlformats.org/drawingml/2006/main">
              <a:ext uri="{FF2B5EF4-FFF2-40B4-BE49-F238E27FC236}">
                <a16:creationId xmlns:a16="http://schemas.microsoft.com/office/drawing/2014/main" id="{554785B0-4B16-4D2C-A37E-D9333D113983}"/>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The platform around a domain MCP server</a:t>
            </a:r>
            <a:endParaRPr sz="2700"/>
          </a:p>
        </p:txBody>
      </p:sp>
      <p:sp>
        <p:nvSpPr>
          <p:cNvPr id="5" name="Text 2">
            <a:extLst xmlns:a="http://schemas.openxmlformats.org/drawingml/2006/main">
              <a:ext uri="{FF2B5EF4-FFF2-40B4-BE49-F238E27FC236}">
                <a16:creationId xmlns:a16="http://schemas.microsoft.com/office/drawing/2014/main" id="{7A65A612-8EB6-4EE5-B717-BBE6543A09FC}"/>
              </a:ext>
            </a:extLst>
          </p:cNvPr>
          <p:cNvSpPr>
            <a:spLocks xmlns:a="http://schemas.openxmlformats.org/drawingml/2006/main" noGrp="1"/>
          </p:cNvSpPr>
          <p:nvPr/>
        </p:nvSpPr>
        <p:spPr>
          <a:xfrm xmlns:a="http://schemas.openxmlformats.org/drawingml/2006/main">
            <a:off x="594360" y="1216152"/>
            <a:ext cx="2103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b="1" spc="100">
                <a:solidFill>
                  <a:srgbClr val="72839A"/>
                </a:solidFill>
                <a:latin typeface="Inter"/>
                <a:ea typeface="Inter"/>
                <a:cs typeface="Inter"/>
              </a:rPr>
              <a:t>CHANNELS + PERSONAS</a:t>
            </a:r>
            <a:endParaRPr sz="870"/>
          </a:p>
        </p:txBody>
      </p:sp>
      <p:sp>
        <p:nvSpPr>
          <p:cNvPr id="6" name="Shape 3">
            <a:extLst xmlns:a="http://schemas.openxmlformats.org/drawingml/2006/main">
              <a:ext uri="{FF2B5EF4-FFF2-40B4-BE49-F238E27FC236}">
                <a16:creationId xmlns:a16="http://schemas.microsoft.com/office/drawing/2014/main" id="{AF3F07C0-9010-43D7-AFE6-81D55C435DD5}"/>
              </a:ext>
            </a:extLst>
          </p:cNvPr>
          <p:cNvSpPr>
            <a:spLocks xmlns:a="http://schemas.openxmlformats.org/drawingml/2006/main" noGrp="1"/>
          </p:cNvSpPr>
          <p:nvPr/>
        </p:nvSpPr>
        <p:spPr>
          <a:xfrm xmlns:a="http://schemas.openxmlformats.org/drawingml/2006/main">
            <a:off x="594360"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99" name="Image 1"/>
          <p:cNvPicPr>
            <a:picLocks xmlns:a="http://schemas.openxmlformats.org/drawingml/2006/main" noChangeAspect="1"/>
          </p:cNvPicPr>
          <p:nvPr/>
        </p:nvPicPr>
        <p:blipFill>
          <a:blip xmlns:r="http://schemas.openxmlformats.org/officeDocument/2006/relationships" xmlns:a="http://schemas.openxmlformats.org/drawingml/2006/main" r:embed="Rdb36c29065314669">
            <a:extLst>
              <a:ext uri="{96DAC541-7B7A-43D3-8B79-37D633B846F1}">
                <asvg:svgBlip xmlns:asvg="http://schemas.microsoft.com/office/drawing/2016/SVG/main" r:embed="Rdd6247fa7797483e"/>
              </a:ext>
            </a:extLst>
          </a:blip>
          <a:stretch xmlns:a="http://schemas.openxmlformats.org/drawingml/2006/main">
            <a:fillRect l="0" t="0" r="0" b="0"/>
          </a:stretch>
        </p:blipFill>
        <p:spPr>
          <a:xfrm xmlns:a="http://schemas.openxmlformats.org/drawingml/2006/main">
            <a:off x="749808" y="1708099"/>
            <a:ext cx="256032" cy="204826"/>
          </a:xfrm>
          <a:prstGeom xmlns:a="http://schemas.openxmlformats.org/drawingml/2006/main" prst="rect">
            <a:avLst/>
          </a:prstGeom>
        </p:spPr>
      </p:pic>
      <p:sp>
        <p:nvSpPr>
          <p:cNvPr id="8" name="Text 4">
            <a:extLst xmlns:a="http://schemas.openxmlformats.org/drawingml/2006/main">
              <a:ext uri="{FF2B5EF4-FFF2-40B4-BE49-F238E27FC236}">
                <a16:creationId xmlns:a16="http://schemas.microsoft.com/office/drawing/2014/main" id="{7C8ABEF6-3C1E-45FB-BC58-569BFD53D458}"/>
              </a:ext>
            </a:extLst>
          </p:cNvPr>
          <p:cNvSpPr>
            <a:spLocks xmlns:a="http://schemas.openxmlformats.org/drawingml/2006/main" noGrp="1"/>
          </p:cNvSpPr>
          <p:nvPr/>
        </p:nvSpPr>
        <p:spPr>
          <a:xfrm xmlns:a="http://schemas.openxmlformats.org/drawingml/2006/main">
            <a:off x="1106424"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Chat / Teams</a:t>
            </a:r>
            <a:endParaRPr sz="1030"/>
          </a:p>
        </p:txBody>
      </p:sp>
      <p:sp>
        <p:nvSpPr>
          <p:cNvPr id="9" name="Shape 5">
            <a:extLst xmlns:a="http://schemas.openxmlformats.org/drawingml/2006/main">
              <a:ext uri="{FF2B5EF4-FFF2-40B4-BE49-F238E27FC236}">
                <a16:creationId xmlns:a16="http://schemas.microsoft.com/office/drawing/2014/main" id="{8238BAD7-AFA9-4AD4-8E30-4940F5A102A3}"/>
              </a:ext>
            </a:extLst>
          </p:cNvPr>
          <p:cNvSpPr>
            <a:spLocks xmlns:a="http://schemas.openxmlformats.org/drawingml/2006/main" noGrp="1"/>
          </p:cNvSpPr>
          <p:nvPr/>
        </p:nvSpPr>
        <p:spPr>
          <a:xfrm xmlns:a="http://schemas.openxmlformats.org/drawingml/2006/main">
            <a:off x="2505456"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2"/>
          <p:cNvPicPr>
            <a:picLocks xmlns:a="http://schemas.openxmlformats.org/drawingml/2006/main" noChangeAspect="1"/>
          </p:cNvPicPr>
          <p:nvPr/>
        </p:nvPicPr>
        <p:blipFill>
          <a:blip xmlns:r="http://schemas.openxmlformats.org/officeDocument/2006/relationships" xmlns:a="http://schemas.openxmlformats.org/drawingml/2006/main" r:embed="R80ae3bfdadf74887">
            <a:extLst>
              <a:ext uri="{96DAC541-7B7A-43D3-8B79-37D633B846F1}">
                <asvg:svgBlip xmlns:asvg="http://schemas.microsoft.com/office/drawing/2016/SVG/main" r:embed="R87a39713b5174388"/>
              </a:ext>
            </a:extLst>
          </a:blip>
          <a:stretch xmlns:a="http://schemas.openxmlformats.org/drawingml/2006/main">
            <a:fillRect l="0" t="0" r="0" b="0"/>
          </a:stretch>
        </p:blipFill>
        <p:spPr>
          <a:xfrm xmlns:a="http://schemas.openxmlformats.org/drawingml/2006/main">
            <a:off x="2660904" y="1708099"/>
            <a:ext cx="256032" cy="204826"/>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EDC067EF-D8AA-4468-AA3E-C7860ACDC429}"/>
              </a:ext>
            </a:extLst>
          </p:cNvPr>
          <p:cNvSpPr>
            <a:spLocks xmlns:a="http://schemas.openxmlformats.org/drawingml/2006/main" noGrp="1"/>
          </p:cNvSpPr>
          <p:nvPr/>
        </p:nvSpPr>
        <p:spPr>
          <a:xfrm xmlns:a="http://schemas.openxmlformats.org/drawingml/2006/main">
            <a:off x="3017520"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IDE</a:t>
            </a:r>
            <a:endParaRPr sz="1030"/>
          </a:p>
        </p:txBody>
      </p:sp>
      <p:sp>
        <p:nvSpPr>
          <p:cNvPr id="12" name="Shape 7">
            <a:extLst xmlns:a="http://schemas.openxmlformats.org/drawingml/2006/main">
              <a:ext uri="{FF2B5EF4-FFF2-40B4-BE49-F238E27FC236}">
                <a16:creationId xmlns:a16="http://schemas.microsoft.com/office/drawing/2014/main" id="{E6DF0461-CD28-4A95-9541-2DD842C2F8B6}"/>
              </a:ext>
            </a:extLst>
          </p:cNvPr>
          <p:cNvSpPr>
            <a:spLocks xmlns:a="http://schemas.openxmlformats.org/drawingml/2006/main" noGrp="1"/>
          </p:cNvSpPr>
          <p:nvPr/>
        </p:nvSpPr>
        <p:spPr>
          <a:xfrm xmlns:a="http://schemas.openxmlformats.org/drawingml/2006/main">
            <a:off x="4416552"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05" name="Image 3"/>
          <p:cNvPicPr>
            <a:picLocks xmlns:a="http://schemas.openxmlformats.org/drawingml/2006/main" noChangeAspect="1"/>
          </p:cNvPicPr>
          <p:nvPr/>
        </p:nvPicPr>
        <p:blipFill>
          <a:blip xmlns:r="http://schemas.openxmlformats.org/officeDocument/2006/relationships" xmlns:a="http://schemas.openxmlformats.org/drawingml/2006/main" r:embed="Rcf4e9212d658466c">
            <a:extLst>
              <a:ext uri="{96DAC541-7B7A-43D3-8B79-37D633B846F1}">
                <asvg:svgBlip xmlns:asvg="http://schemas.microsoft.com/office/drawing/2016/SVG/main" r:embed="R6ffec70392cc496d"/>
              </a:ext>
            </a:extLst>
          </a:blip>
          <a:stretch xmlns:a="http://schemas.openxmlformats.org/drawingml/2006/main">
            <a:fillRect l="0" t="0" r="0" b="0"/>
          </a:stretch>
        </p:blipFill>
        <p:spPr>
          <a:xfrm xmlns:a="http://schemas.openxmlformats.org/drawingml/2006/main">
            <a:off x="4604004" y="1682496"/>
            <a:ext cx="192024" cy="256032"/>
          </a:xfrm>
          <a:prstGeom xmlns:a="http://schemas.openxmlformats.org/drawingml/2006/main" prst="rect">
            <a:avLst/>
          </a:prstGeom>
        </p:spPr>
      </p:pic>
      <p:sp>
        <p:nvSpPr>
          <p:cNvPr id="14" name="Text 8">
            <a:extLst xmlns:a="http://schemas.openxmlformats.org/drawingml/2006/main">
              <a:ext uri="{FF2B5EF4-FFF2-40B4-BE49-F238E27FC236}">
                <a16:creationId xmlns:a16="http://schemas.microsoft.com/office/drawing/2014/main" id="{BB24D499-9440-455B-8870-3589F8F133E1}"/>
              </a:ext>
            </a:extLst>
          </p:cNvPr>
          <p:cNvSpPr>
            <a:spLocks xmlns:a="http://schemas.openxmlformats.org/drawingml/2006/main" noGrp="1"/>
          </p:cNvSpPr>
          <p:nvPr/>
        </p:nvSpPr>
        <p:spPr>
          <a:xfrm xmlns:a="http://schemas.openxmlformats.org/drawingml/2006/main">
            <a:off x="4928616"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Apps</a:t>
            </a:r>
            <a:endParaRPr sz="1030"/>
          </a:p>
        </p:txBody>
      </p:sp>
      <p:sp>
        <p:nvSpPr>
          <p:cNvPr id="15" name="Shape 9">
            <a:extLst xmlns:a="http://schemas.openxmlformats.org/drawingml/2006/main">
              <a:ext uri="{FF2B5EF4-FFF2-40B4-BE49-F238E27FC236}">
                <a16:creationId xmlns:a16="http://schemas.microsoft.com/office/drawing/2014/main" id="{602D932A-CF7A-4A4B-8270-B905E236E200}"/>
              </a:ext>
            </a:extLst>
          </p:cNvPr>
          <p:cNvSpPr>
            <a:spLocks xmlns:a="http://schemas.openxmlformats.org/drawingml/2006/main" noGrp="1"/>
          </p:cNvSpPr>
          <p:nvPr/>
        </p:nvSpPr>
        <p:spPr>
          <a:xfrm xmlns:a="http://schemas.openxmlformats.org/drawingml/2006/main">
            <a:off x="6327648"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08" name="Image 4"/>
          <p:cNvPicPr>
            <a:picLocks xmlns:a="http://schemas.openxmlformats.org/drawingml/2006/main" noChangeAspect="1"/>
          </p:cNvPicPr>
          <p:nvPr/>
        </p:nvPicPr>
        <p:blipFill>
          <a:blip xmlns:r="http://schemas.openxmlformats.org/officeDocument/2006/relationships" xmlns:a="http://schemas.openxmlformats.org/drawingml/2006/main" r:embed="R7f8719faf2474fc5">
            <a:extLst>
              <a:ext uri="{96DAC541-7B7A-43D3-8B79-37D633B846F1}">
                <asvg:svgBlip xmlns:asvg="http://schemas.microsoft.com/office/drawing/2016/SVG/main" r:embed="R01a82c0e1d6941a9"/>
              </a:ext>
            </a:extLst>
          </a:blip>
          <a:stretch xmlns:a="http://schemas.openxmlformats.org/drawingml/2006/main">
            <a:fillRect l="0" t="0" r="0" b="0"/>
          </a:stretch>
        </p:blipFill>
        <p:spPr>
          <a:xfrm xmlns:a="http://schemas.openxmlformats.org/drawingml/2006/main">
            <a:off x="6483096" y="1682496"/>
            <a:ext cx="256032" cy="256032"/>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84011834-57A9-4975-83F8-341A30F897E0}"/>
              </a:ext>
            </a:extLst>
          </p:cNvPr>
          <p:cNvSpPr>
            <a:spLocks xmlns:a="http://schemas.openxmlformats.org/drawingml/2006/main" noGrp="1"/>
          </p:cNvSpPr>
          <p:nvPr/>
        </p:nvSpPr>
        <p:spPr>
          <a:xfrm xmlns:a="http://schemas.openxmlformats.org/drawingml/2006/main">
            <a:off x="6839712"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Automation</a:t>
            </a:r>
            <a:endParaRPr sz="1030"/>
          </a:p>
        </p:txBody>
      </p:sp>
      <p:sp>
        <p:nvSpPr>
          <p:cNvPr id="18" name="Shape 11">
            <a:extLst xmlns:a="http://schemas.openxmlformats.org/drawingml/2006/main">
              <a:ext uri="{FF2B5EF4-FFF2-40B4-BE49-F238E27FC236}">
                <a16:creationId xmlns:a16="http://schemas.microsoft.com/office/drawing/2014/main" id="{6A4C8F8B-D069-48F6-9B1A-0559B93944F3}"/>
              </a:ext>
            </a:extLst>
          </p:cNvPr>
          <p:cNvSpPr>
            <a:spLocks xmlns:a="http://schemas.openxmlformats.org/drawingml/2006/main" noGrp="1"/>
          </p:cNvSpPr>
          <p:nvPr/>
        </p:nvSpPr>
        <p:spPr>
          <a:xfrm xmlns:a="http://schemas.openxmlformats.org/drawingml/2006/main">
            <a:off x="8430768" y="1490472"/>
            <a:ext cx="3182112" cy="713232"/>
          </a:xfrm>
          <a:prstGeom xmlns:a="http://schemas.openxmlformats.org/drawingml/2006/main" prst="roundRect">
            <a:avLst>
              <a:gd name="adj" fmla="val 10256"/>
            </a:avLst>
          </a:prstGeom>
          <a:solidFill xmlns:a="http://schemas.openxmlformats.org/drawingml/2006/main">
            <a:srgbClr val="141B2A"/>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5"/>
          <p:cNvPicPr>
            <a:picLocks xmlns:a="http://schemas.openxmlformats.org/drawingml/2006/main" noChangeAspect="1"/>
          </p:cNvPicPr>
          <p:nvPr/>
        </p:nvPicPr>
        <p:blipFill>
          <a:blip xmlns:r="http://schemas.openxmlformats.org/officeDocument/2006/relationships" xmlns:a="http://schemas.openxmlformats.org/drawingml/2006/main" r:embed="Rbc14f78120954f57">
            <a:extLst>
              <a:ext uri="{96DAC541-7B7A-43D3-8B79-37D633B846F1}">
                <asvg:svgBlip xmlns:asvg="http://schemas.microsoft.com/office/drawing/2016/SVG/main" r:embed="R7f80e27fb6a24c99"/>
              </a:ext>
            </a:extLst>
          </a:blip>
          <a:stretch xmlns:a="http://schemas.openxmlformats.org/drawingml/2006/main">
            <a:fillRect l="0" t="0" r="0" b="0"/>
          </a:stretch>
        </p:blipFill>
        <p:spPr>
          <a:xfrm xmlns:a="http://schemas.openxmlformats.org/drawingml/2006/main">
            <a:off x="8650224" y="1708099"/>
            <a:ext cx="256032" cy="204826"/>
          </a:xfrm>
          <a:prstGeom xmlns:a="http://schemas.openxmlformats.org/drawingml/2006/main" prst="rect">
            <a:avLst/>
          </a:prstGeom>
        </p:spPr>
      </p:pic>
      <p:sp>
        <p:nvSpPr>
          <p:cNvPr id="20" name="Text 12">
            <a:extLst xmlns:a="http://schemas.openxmlformats.org/drawingml/2006/main">
              <a:ext uri="{FF2B5EF4-FFF2-40B4-BE49-F238E27FC236}">
                <a16:creationId xmlns:a16="http://schemas.microsoft.com/office/drawing/2014/main" id="{B7A44212-2FDD-4D07-899C-4AE49AA69824}"/>
              </a:ext>
            </a:extLst>
          </p:cNvPr>
          <p:cNvSpPr>
            <a:spLocks xmlns:a="http://schemas.openxmlformats.org/drawingml/2006/main" noGrp="1"/>
          </p:cNvSpPr>
          <p:nvPr/>
        </p:nvSpPr>
        <p:spPr>
          <a:xfrm xmlns:a="http://schemas.openxmlformats.org/drawingml/2006/main">
            <a:off x="9052560" y="1655064"/>
            <a:ext cx="202996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b="1">
                <a:solidFill>
                  <a:srgbClr val="EAF0F8"/>
                </a:solidFill>
                <a:latin typeface="Inter"/>
                <a:ea typeface="Inter"/>
                <a:cs typeface="Inter"/>
              </a:rPr>
              <a:t>User + agent identities</a:t>
            </a:r>
            <a:endParaRPr sz="1120"/>
          </a:p>
        </p:txBody>
      </p:sp>
      <p:sp>
        <p:nvSpPr>
          <p:cNvPr id="21" name="Shape 13">
            <a:extLst xmlns:a="http://schemas.openxmlformats.org/drawingml/2006/main">
              <a:ext uri="{FF2B5EF4-FFF2-40B4-BE49-F238E27FC236}">
                <a16:creationId xmlns:a16="http://schemas.microsoft.com/office/drawing/2014/main" id="{415BAEC6-85AD-4570-ADCC-674971342CF5}"/>
              </a:ext>
            </a:extLst>
          </p:cNvPr>
          <p:cNvSpPr>
            <a:spLocks xmlns:a="http://schemas.openxmlformats.org/drawingml/2006/main" noGrp="1"/>
          </p:cNvSpPr>
          <p:nvPr/>
        </p:nvSpPr>
        <p:spPr>
          <a:xfrm xmlns:a="http://schemas.openxmlformats.org/drawingml/2006/main">
            <a:off x="594360" y="2532888"/>
            <a:ext cx="11018520" cy="1234440"/>
          </a:xfrm>
          <a:prstGeom xmlns:a="http://schemas.openxmlformats.org/drawingml/2006/main" prst="roundRect">
            <a:avLst>
              <a:gd name="adj" fmla="val 5926"/>
            </a:avLst>
          </a:prstGeom>
          <a:solidFill xmlns:a="http://schemas.openxmlformats.org/drawingml/2006/main">
            <a:srgbClr val="13213A"/>
          </a:solidFill>
          <a:ln xmlns:a="http://schemas.openxmlformats.org/drawingml/2006/main" w="12700">
            <a:solidFill>
              <a:srgbClr val="5B7C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2" name="Text 14">
            <a:extLst xmlns:a="http://schemas.openxmlformats.org/drawingml/2006/main">
              <a:ext uri="{FF2B5EF4-FFF2-40B4-BE49-F238E27FC236}">
                <a16:creationId xmlns:a16="http://schemas.microsoft.com/office/drawing/2014/main" id="{954CA539-343F-4FF9-B689-18A07B5A5E54}"/>
              </a:ext>
            </a:extLst>
          </p:cNvPr>
          <p:cNvSpPr>
            <a:spLocks xmlns:a="http://schemas.openxmlformats.org/drawingml/2006/main" noGrp="1"/>
          </p:cNvSpPr>
          <p:nvPr/>
        </p:nvSpPr>
        <p:spPr>
          <a:xfrm xmlns:a="http://schemas.openxmlformats.org/drawingml/2006/main">
            <a:off x="896112" y="2788920"/>
            <a:ext cx="23317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5B7CFF"/>
                </a:solidFill>
                <a:latin typeface="Inter"/>
                <a:ea typeface="Inter"/>
                <a:cs typeface="Inter"/>
              </a:rPr>
              <a:t>ENTERPRISE AI / MCP GATEWAY</a:t>
            </a:r>
            <a:endParaRPr sz="1200"/>
          </a:p>
        </p:txBody>
      </p:sp>
      <p:pic>
        <p:nvPicPr>
          <p:cNvPr id="115" name="Image 6"/>
          <p:cNvPicPr>
            <a:picLocks xmlns:a="http://schemas.openxmlformats.org/drawingml/2006/main" noChangeAspect="1"/>
          </p:cNvPicPr>
          <p:nvPr/>
        </p:nvPicPr>
        <p:blipFill>
          <a:blip xmlns:r="http://schemas.openxmlformats.org/officeDocument/2006/relationships" xmlns:a="http://schemas.openxmlformats.org/drawingml/2006/main" r:embed="R3e485ef7b4eb41e7">
            <a:extLst>
              <a:ext uri="{96DAC541-7B7A-43D3-8B79-37D633B846F1}">
                <asvg:svgBlip xmlns:asvg="http://schemas.microsoft.com/office/drawing/2016/SVG/main" r:embed="Ra04681dd8bb04bb0"/>
              </a:ext>
            </a:extLst>
          </a:blip>
          <a:stretch xmlns:a="http://schemas.openxmlformats.org/drawingml/2006/main">
            <a:fillRect l="0" t="0" r="0" b="0"/>
          </a:stretch>
        </p:blipFill>
        <p:spPr>
          <a:xfrm xmlns:a="http://schemas.openxmlformats.org/drawingml/2006/main">
            <a:off x="3182112" y="2770632"/>
            <a:ext cx="283464" cy="283464"/>
          </a:xfrm>
          <a:prstGeom xmlns:a="http://schemas.openxmlformats.org/drawingml/2006/main" prst="rect">
            <a:avLst/>
          </a:prstGeom>
        </p:spPr>
      </p:pic>
      <p:sp>
        <p:nvSpPr>
          <p:cNvPr id="24" name="Text 15">
            <a:extLst xmlns:a="http://schemas.openxmlformats.org/drawingml/2006/main">
              <a:ext uri="{FF2B5EF4-FFF2-40B4-BE49-F238E27FC236}">
                <a16:creationId xmlns:a16="http://schemas.microsoft.com/office/drawing/2014/main" id="{B342121A-DE17-4A0A-BAEB-D46DA3680F77}"/>
              </a:ext>
            </a:extLst>
          </p:cNvPr>
          <p:cNvSpPr>
            <a:spLocks xmlns:a="http://schemas.openxmlformats.org/drawingml/2006/main" noGrp="1"/>
          </p:cNvSpPr>
          <p:nvPr/>
        </p:nvSpPr>
        <p:spPr>
          <a:xfrm xmlns:a="http://schemas.openxmlformats.org/drawingml/2006/main">
            <a:off x="3557016"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Auth + delegation</a:t>
            </a:r>
            <a:endParaRPr sz="940"/>
          </a:p>
        </p:txBody>
      </p:sp>
      <p:pic>
        <p:nvPicPr>
          <p:cNvPr id="117" name="Image 7"/>
          <p:cNvPicPr>
            <a:picLocks xmlns:a="http://schemas.openxmlformats.org/drawingml/2006/main" noChangeAspect="1"/>
          </p:cNvPicPr>
          <p:nvPr/>
        </p:nvPicPr>
        <p:blipFill>
          <a:blip xmlns:r="http://schemas.openxmlformats.org/officeDocument/2006/relationships" xmlns:a="http://schemas.openxmlformats.org/drawingml/2006/main" r:embed="R3a7b67423ed04a9f">
            <a:extLst>
              <a:ext uri="{96DAC541-7B7A-43D3-8B79-37D633B846F1}">
                <asvg:svgBlip xmlns:asvg="http://schemas.microsoft.com/office/drawing/2016/SVG/main" r:embed="Rb5ff90b2baf743a5"/>
              </a:ext>
            </a:extLst>
          </a:blip>
          <a:stretch xmlns:a="http://schemas.openxmlformats.org/drawingml/2006/main">
            <a:fillRect l="0" t="0" r="0" b="0"/>
          </a:stretch>
        </p:blipFill>
        <p:spPr>
          <a:xfrm xmlns:a="http://schemas.openxmlformats.org/drawingml/2006/main">
            <a:off x="4800600" y="2770632"/>
            <a:ext cx="283464" cy="283464"/>
          </a:xfrm>
          <a:prstGeom xmlns:a="http://schemas.openxmlformats.org/drawingml/2006/main" prst="rect">
            <a:avLst/>
          </a:prstGeom>
        </p:spPr>
      </p:pic>
      <p:sp>
        <p:nvSpPr>
          <p:cNvPr id="26" name="Text 16">
            <a:extLst xmlns:a="http://schemas.openxmlformats.org/drawingml/2006/main">
              <a:ext uri="{FF2B5EF4-FFF2-40B4-BE49-F238E27FC236}">
                <a16:creationId xmlns:a16="http://schemas.microsoft.com/office/drawing/2014/main" id="{15222017-9EEA-4A8D-B111-8C6C7F476FDF}"/>
              </a:ext>
            </a:extLst>
          </p:cNvPr>
          <p:cNvSpPr>
            <a:spLocks xmlns:a="http://schemas.openxmlformats.org/drawingml/2006/main" noGrp="1"/>
          </p:cNvSpPr>
          <p:nvPr/>
        </p:nvSpPr>
        <p:spPr>
          <a:xfrm xmlns:a="http://schemas.openxmlformats.org/drawingml/2006/main">
            <a:off x="5175504"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Policy + entitlements</a:t>
            </a:r>
            <a:endParaRPr sz="940"/>
          </a:p>
        </p:txBody>
      </p:sp>
      <p:pic>
        <p:nvPicPr>
          <p:cNvPr id="119" name="Image 8"/>
          <p:cNvPicPr>
            <a:picLocks xmlns:a="http://schemas.openxmlformats.org/drawingml/2006/main" noChangeAspect="1"/>
          </p:cNvPicPr>
          <p:nvPr/>
        </p:nvPicPr>
        <p:blipFill>
          <a:blip xmlns:r="http://schemas.openxmlformats.org/officeDocument/2006/relationships" xmlns:a="http://schemas.openxmlformats.org/drawingml/2006/main" r:embed="Red719644e2654268">
            <a:extLst>
              <a:ext uri="{96DAC541-7B7A-43D3-8B79-37D633B846F1}">
                <asvg:svgBlip xmlns:asvg="http://schemas.microsoft.com/office/drawing/2016/SVG/main" r:embed="Rc33a7d69b4044908"/>
              </a:ext>
            </a:extLst>
          </a:blip>
          <a:stretch xmlns:a="http://schemas.openxmlformats.org/drawingml/2006/main">
            <a:fillRect l="0" t="0" r="0" b="0"/>
          </a:stretch>
        </p:blipFill>
        <p:spPr>
          <a:xfrm xmlns:a="http://schemas.openxmlformats.org/drawingml/2006/main">
            <a:off x="6419088" y="2786380"/>
            <a:ext cx="283464" cy="251968"/>
          </a:xfrm>
          <a:prstGeom xmlns:a="http://schemas.openxmlformats.org/drawingml/2006/main" prst="rect">
            <a:avLst/>
          </a:prstGeom>
        </p:spPr>
      </p:pic>
      <p:sp>
        <p:nvSpPr>
          <p:cNvPr id="28" name="Text 17">
            <a:extLst xmlns:a="http://schemas.openxmlformats.org/drawingml/2006/main">
              <a:ext uri="{FF2B5EF4-FFF2-40B4-BE49-F238E27FC236}">
                <a16:creationId xmlns:a16="http://schemas.microsoft.com/office/drawing/2014/main" id="{A0A2E04A-553E-40A9-84F2-F096B1E590D6}"/>
              </a:ext>
            </a:extLst>
          </p:cNvPr>
          <p:cNvSpPr>
            <a:spLocks xmlns:a="http://schemas.openxmlformats.org/drawingml/2006/main" noGrp="1"/>
          </p:cNvSpPr>
          <p:nvPr/>
        </p:nvSpPr>
        <p:spPr>
          <a:xfrm xmlns:a="http://schemas.openxmlformats.org/drawingml/2006/main">
            <a:off x="6793992"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Registry + discovery</a:t>
            </a:r>
            <a:endParaRPr sz="940"/>
          </a:p>
        </p:txBody>
      </p:sp>
      <p:pic>
        <p:nvPicPr>
          <p:cNvPr id="121" name="Image 9"/>
          <p:cNvPicPr>
            <a:picLocks xmlns:a="http://schemas.openxmlformats.org/drawingml/2006/main" noChangeAspect="1"/>
          </p:cNvPicPr>
          <p:nvPr/>
        </p:nvPicPr>
        <p:blipFill>
          <a:blip xmlns:r="http://schemas.openxmlformats.org/officeDocument/2006/relationships" xmlns:a="http://schemas.openxmlformats.org/drawingml/2006/main" r:embed="R6fe91198d2154651">
            <a:extLst>
              <a:ext uri="{96DAC541-7B7A-43D3-8B79-37D633B846F1}">
                <asvg:svgBlip xmlns:asvg="http://schemas.microsoft.com/office/drawing/2016/SVG/main" r:embed="Rb01461020586460c"/>
              </a:ext>
            </a:extLst>
          </a:blip>
          <a:stretch xmlns:a="http://schemas.openxmlformats.org/drawingml/2006/main">
            <a:fillRect l="0" t="0" r="0" b="0"/>
          </a:stretch>
        </p:blipFill>
        <p:spPr>
          <a:xfrm xmlns:a="http://schemas.openxmlformats.org/drawingml/2006/main">
            <a:off x="8037576" y="2770632"/>
            <a:ext cx="283464" cy="283464"/>
          </a:xfrm>
          <a:prstGeom xmlns:a="http://schemas.openxmlformats.org/drawingml/2006/main" prst="rect">
            <a:avLst/>
          </a:prstGeom>
        </p:spPr>
      </p:pic>
      <p:sp>
        <p:nvSpPr>
          <p:cNvPr id="30" name="Text 18">
            <a:extLst xmlns:a="http://schemas.openxmlformats.org/drawingml/2006/main">
              <a:ext uri="{FF2B5EF4-FFF2-40B4-BE49-F238E27FC236}">
                <a16:creationId xmlns:a16="http://schemas.microsoft.com/office/drawing/2014/main" id="{EB905741-6093-4C21-9301-90C3C1D0834B}"/>
              </a:ext>
            </a:extLst>
          </p:cNvPr>
          <p:cNvSpPr>
            <a:spLocks xmlns:a="http://schemas.openxmlformats.org/drawingml/2006/main" noGrp="1"/>
          </p:cNvSpPr>
          <p:nvPr/>
        </p:nvSpPr>
        <p:spPr>
          <a:xfrm xmlns:a="http://schemas.openxmlformats.org/drawingml/2006/main">
            <a:off x="8412480"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Guardrails</a:t>
            </a:r>
            <a:endParaRPr sz="940"/>
          </a:p>
        </p:txBody>
      </p:sp>
      <p:pic>
        <p:nvPicPr>
          <p:cNvPr id="123" name="Image 10"/>
          <p:cNvPicPr>
            <a:picLocks xmlns:a="http://schemas.openxmlformats.org/drawingml/2006/main" noChangeAspect="1"/>
          </p:cNvPicPr>
          <p:nvPr/>
        </p:nvPicPr>
        <p:blipFill>
          <a:blip xmlns:r="http://schemas.openxmlformats.org/officeDocument/2006/relationships" xmlns:a="http://schemas.openxmlformats.org/drawingml/2006/main" r:embed="R6b3658a99d3b4241">
            <a:extLst>
              <a:ext uri="{96DAC541-7B7A-43D3-8B79-37D633B846F1}">
                <asvg:svgBlip xmlns:asvg="http://schemas.microsoft.com/office/drawing/2016/SVG/main" r:embed="R19768f76c2e44d59"/>
              </a:ext>
            </a:extLst>
          </a:blip>
          <a:stretch xmlns:a="http://schemas.openxmlformats.org/drawingml/2006/main">
            <a:fillRect l="0" t="0" r="0" b="0"/>
          </a:stretch>
        </p:blipFill>
        <p:spPr>
          <a:xfrm xmlns:a="http://schemas.openxmlformats.org/drawingml/2006/main">
            <a:off x="9656064" y="2786380"/>
            <a:ext cx="283464" cy="251968"/>
          </a:xfrm>
          <a:prstGeom xmlns:a="http://schemas.openxmlformats.org/drawingml/2006/main" prst="rect">
            <a:avLst/>
          </a:prstGeom>
        </p:spPr>
      </p:pic>
      <p:sp>
        <p:nvSpPr>
          <p:cNvPr id="32" name="Text 19">
            <a:extLst xmlns:a="http://schemas.openxmlformats.org/drawingml/2006/main">
              <a:ext uri="{FF2B5EF4-FFF2-40B4-BE49-F238E27FC236}">
                <a16:creationId xmlns:a16="http://schemas.microsoft.com/office/drawing/2014/main" id="{484F2CC5-CA4C-4FA0-BE3A-4F5B9634F8B7}"/>
              </a:ext>
            </a:extLst>
          </p:cNvPr>
          <p:cNvSpPr>
            <a:spLocks xmlns:a="http://schemas.openxmlformats.org/drawingml/2006/main" noGrp="1"/>
          </p:cNvSpPr>
          <p:nvPr/>
        </p:nvSpPr>
        <p:spPr>
          <a:xfrm xmlns:a="http://schemas.openxmlformats.org/drawingml/2006/main">
            <a:off x="10030968"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Audit + telemetry</a:t>
            </a:r>
            <a:endParaRPr sz="940"/>
          </a:p>
        </p:txBody>
      </p:sp>
      <p:sp>
        <p:nvSpPr>
          <p:cNvPr id="33" name="Text 20">
            <a:extLst xmlns:a="http://schemas.openxmlformats.org/drawingml/2006/main">
              <a:ext uri="{FF2B5EF4-FFF2-40B4-BE49-F238E27FC236}">
                <a16:creationId xmlns:a16="http://schemas.microsoft.com/office/drawing/2014/main" id="{2D192EAE-78CF-4E6D-8A5C-77A6407C0CAB}"/>
              </a:ext>
            </a:extLst>
          </p:cNvPr>
          <p:cNvSpPr>
            <a:spLocks xmlns:a="http://schemas.openxmlformats.org/drawingml/2006/main" noGrp="1"/>
          </p:cNvSpPr>
          <p:nvPr/>
        </p:nvSpPr>
        <p:spPr>
          <a:xfrm xmlns:a="http://schemas.openxmlformats.org/drawingml/2006/main">
            <a:off x="3182112" y="3255264"/>
            <a:ext cx="701344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One policy boundary · many downstream identities · one audit trail</a:t>
            </a:r>
            <a:endParaRPr sz="920"/>
          </a:p>
        </p:txBody>
      </p:sp>
      <p:sp>
        <p:nvSpPr>
          <p:cNvPr id="34" name="Text 21">
            <a:extLst xmlns:a="http://schemas.openxmlformats.org/drawingml/2006/main">
              <a:ext uri="{FF2B5EF4-FFF2-40B4-BE49-F238E27FC236}">
                <a16:creationId xmlns:a16="http://schemas.microsoft.com/office/drawing/2014/main" id="{0B915EDB-55DB-46A0-8C02-BCA432926D54}"/>
              </a:ext>
            </a:extLst>
          </p:cNvPr>
          <p:cNvSpPr>
            <a:spLocks xmlns:a="http://schemas.openxmlformats.org/drawingml/2006/main" noGrp="1"/>
          </p:cNvSpPr>
          <p:nvPr/>
        </p:nvSpPr>
        <p:spPr>
          <a:xfrm xmlns:a="http://schemas.openxmlformats.org/drawingml/2006/main">
            <a:off x="594360" y="4050792"/>
            <a:ext cx="21945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70"/>
          </a:p>
        </p:txBody>
      </p:sp>
      <p:sp>
        <p:nvSpPr>
          <p:cNvPr id="35" name="Shape 22">
            <a:extLst xmlns:a="http://schemas.openxmlformats.org/drawingml/2006/main">
              <a:ext uri="{FF2B5EF4-FFF2-40B4-BE49-F238E27FC236}">
                <a16:creationId xmlns:a16="http://schemas.microsoft.com/office/drawing/2014/main" id="{F10C0097-E687-408A-903B-17E06BCB7760}"/>
              </a:ext>
            </a:extLst>
          </p:cNvPr>
          <p:cNvSpPr>
            <a:spLocks xmlns:a="http://schemas.openxmlformats.org/drawingml/2006/main" noGrp="1"/>
          </p:cNvSpPr>
          <p:nvPr/>
        </p:nvSpPr>
        <p:spPr>
          <a:xfrm xmlns:a="http://schemas.openxmlformats.org/drawingml/2006/main">
            <a:off x="594360"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128" name="Image 11"/>
          <p:cNvPicPr>
            <a:picLocks xmlns:a="http://schemas.openxmlformats.org/drawingml/2006/main" noChangeAspect="1"/>
          </p:cNvPicPr>
          <p:nvPr/>
        </p:nvPicPr>
        <p:blipFill>
          <a:blip xmlns:r="http://schemas.openxmlformats.org/officeDocument/2006/relationships" xmlns:a="http://schemas.openxmlformats.org/drawingml/2006/main" r:embed="Rc0a066b160ff46a9">
            <a:extLst>
              <a:ext uri="{96DAC541-7B7A-43D3-8B79-37D633B846F1}">
                <asvg:svgBlip xmlns:asvg="http://schemas.microsoft.com/office/drawing/2016/SVG/main" r:embed="R72cdead9b2344ee0"/>
              </a:ext>
            </a:extLst>
          </a:blip>
          <a:stretch xmlns:a="http://schemas.openxmlformats.org/drawingml/2006/main">
            <a:fillRect l="0" t="0" r="0" b="0"/>
          </a:stretch>
        </p:blipFill>
        <p:spPr>
          <a:xfrm xmlns:a="http://schemas.openxmlformats.org/drawingml/2006/main">
            <a:off x="758952" y="4535424"/>
            <a:ext cx="256032" cy="256032"/>
          </a:xfrm>
          <a:prstGeom xmlns:a="http://schemas.openxmlformats.org/drawingml/2006/main" prst="rect">
            <a:avLst/>
          </a:prstGeom>
        </p:spPr>
      </p:pic>
      <p:sp>
        <p:nvSpPr>
          <p:cNvPr id="37" name="Text 23">
            <a:extLst xmlns:a="http://schemas.openxmlformats.org/drawingml/2006/main">
              <a:ext uri="{FF2B5EF4-FFF2-40B4-BE49-F238E27FC236}">
                <a16:creationId xmlns:a16="http://schemas.microsoft.com/office/drawing/2014/main" id="{0A650F33-A6DC-4F42-A4C5-F43C3A2F0C72}"/>
              </a:ext>
            </a:extLst>
          </p:cNvPr>
          <p:cNvSpPr>
            <a:spLocks xmlns:a="http://schemas.openxmlformats.org/drawingml/2006/main" noGrp="1"/>
          </p:cNvSpPr>
          <p:nvPr/>
        </p:nvSpPr>
        <p:spPr>
          <a:xfrm xmlns:a="http://schemas.openxmlformats.org/drawingml/2006/main">
            <a:off x="1106424"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Domain data</a:t>
            </a:r>
            <a:endParaRPr sz="1020"/>
          </a:p>
        </p:txBody>
      </p:sp>
      <p:sp>
        <p:nvSpPr>
          <p:cNvPr id="38" name="Shape 24">
            <a:extLst xmlns:a="http://schemas.openxmlformats.org/drawingml/2006/main">
              <a:ext uri="{FF2B5EF4-FFF2-40B4-BE49-F238E27FC236}">
                <a16:creationId xmlns:a16="http://schemas.microsoft.com/office/drawing/2014/main" id="{535E9368-8DB9-42F2-9773-26B6B99BB6BE}"/>
              </a:ext>
            </a:extLst>
          </p:cNvPr>
          <p:cNvSpPr>
            <a:spLocks xmlns:a="http://schemas.openxmlformats.org/drawingml/2006/main" noGrp="1"/>
          </p:cNvSpPr>
          <p:nvPr/>
        </p:nvSpPr>
        <p:spPr>
          <a:xfrm xmlns:a="http://schemas.openxmlformats.org/drawingml/2006/main">
            <a:off x="2734056"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1" name="Image 12"/>
          <p:cNvPicPr>
            <a:picLocks xmlns:a="http://schemas.openxmlformats.org/drawingml/2006/main" noChangeAspect="1"/>
          </p:cNvPicPr>
          <p:nvPr/>
        </p:nvPicPr>
        <p:blipFill>
          <a:blip xmlns:r="http://schemas.openxmlformats.org/officeDocument/2006/relationships" xmlns:a="http://schemas.openxmlformats.org/drawingml/2006/main" r:embed="Rf0fe83bb3f134479">
            <a:extLst>
              <a:ext uri="{96DAC541-7B7A-43D3-8B79-37D633B846F1}">
                <asvg:svgBlip xmlns:asvg="http://schemas.microsoft.com/office/drawing/2016/SVG/main" r:embed="R338e6ee5f75646ad"/>
              </a:ext>
            </a:extLst>
          </a:blip>
          <a:stretch xmlns:a="http://schemas.openxmlformats.org/drawingml/2006/main">
            <a:fillRect l="0" t="0" r="0" b="0"/>
          </a:stretch>
        </p:blipFill>
        <p:spPr>
          <a:xfrm xmlns:a="http://schemas.openxmlformats.org/drawingml/2006/main">
            <a:off x="2898648" y="4535424"/>
            <a:ext cx="256032" cy="256032"/>
          </a:xfrm>
          <a:prstGeom xmlns:a="http://schemas.openxmlformats.org/drawingml/2006/main" prst="rect">
            <a:avLst/>
          </a:prstGeom>
        </p:spPr>
      </p:pic>
      <p:sp>
        <p:nvSpPr>
          <p:cNvPr id="40" name="Text 25">
            <a:extLst xmlns:a="http://schemas.openxmlformats.org/drawingml/2006/main">
              <a:ext uri="{FF2B5EF4-FFF2-40B4-BE49-F238E27FC236}">
                <a16:creationId xmlns:a16="http://schemas.microsoft.com/office/drawing/2014/main" id="{0BB5A30E-BE5A-46EE-97F1-5CEB215F6813}"/>
              </a:ext>
            </a:extLst>
          </p:cNvPr>
          <p:cNvSpPr>
            <a:spLocks xmlns:a="http://schemas.openxmlformats.org/drawingml/2006/main" noGrp="1"/>
          </p:cNvSpPr>
          <p:nvPr/>
        </p:nvSpPr>
        <p:spPr>
          <a:xfrm xmlns:a="http://schemas.openxmlformats.org/drawingml/2006/main">
            <a:off x="3246120"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Analytics</a:t>
            </a:r>
            <a:endParaRPr sz="1020"/>
          </a:p>
        </p:txBody>
      </p:sp>
      <p:sp>
        <p:nvSpPr>
          <p:cNvPr id="41" name="Shape 26">
            <a:extLst xmlns:a="http://schemas.openxmlformats.org/drawingml/2006/main">
              <a:ext uri="{FF2B5EF4-FFF2-40B4-BE49-F238E27FC236}">
                <a16:creationId xmlns:a16="http://schemas.microsoft.com/office/drawing/2014/main" id="{481327ED-C4F0-49A7-87AA-E2EB290E51E3}"/>
              </a:ext>
            </a:extLst>
          </p:cNvPr>
          <p:cNvSpPr>
            <a:spLocks xmlns:a="http://schemas.openxmlformats.org/drawingml/2006/main" noGrp="1"/>
          </p:cNvSpPr>
          <p:nvPr/>
        </p:nvSpPr>
        <p:spPr>
          <a:xfrm xmlns:a="http://schemas.openxmlformats.org/drawingml/2006/main">
            <a:off x="4873752"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4" name="Image 13"/>
          <p:cNvPicPr>
            <a:picLocks xmlns:a="http://schemas.openxmlformats.org/drawingml/2006/main" noChangeAspect="1"/>
          </p:cNvPicPr>
          <p:nvPr/>
        </p:nvPicPr>
        <p:blipFill>
          <a:blip xmlns:r="http://schemas.openxmlformats.org/officeDocument/2006/relationships" xmlns:a="http://schemas.openxmlformats.org/drawingml/2006/main" r:embed="Rb430e892eb0a4c54">
            <a:extLst>
              <a:ext uri="{96DAC541-7B7A-43D3-8B79-37D633B846F1}">
                <asvg:svgBlip xmlns:asvg="http://schemas.microsoft.com/office/drawing/2016/SVG/main" r:embed="R2f079cbffd564547"/>
              </a:ext>
            </a:extLst>
          </a:blip>
          <a:stretch xmlns:a="http://schemas.openxmlformats.org/drawingml/2006/main">
            <a:fillRect l="0" t="0" r="0" b="0"/>
          </a:stretch>
        </p:blipFill>
        <p:spPr>
          <a:xfrm xmlns:a="http://schemas.openxmlformats.org/drawingml/2006/main">
            <a:off x="5070348" y="4535424"/>
            <a:ext cx="192024" cy="256032"/>
          </a:xfrm>
          <a:prstGeom xmlns:a="http://schemas.openxmlformats.org/drawingml/2006/main" prst="rect">
            <a:avLst/>
          </a:prstGeom>
        </p:spPr>
      </p:pic>
      <p:sp>
        <p:nvSpPr>
          <p:cNvPr id="43" name="Text 27">
            <a:extLst xmlns:a="http://schemas.openxmlformats.org/drawingml/2006/main">
              <a:ext uri="{FF2B5EF4-FFF2-40B4-BE49-F238E27FC236}">
                <a16:creationId xmlns:a16="http://schemas.microsoft.com/office/drawing/2014/main" id="{334CFD3E-7E21-4BD9-97C0-561CB92AFF74}"/>
              </a:ext>
            </a:extLst>
          </p:cNvPr>
          <p:cNvSpPr>
            <a:spLocks xmlns:a="http://schemas.openxmlformats.org/drawingml/2006/main" noGrp="1"/>
          </p:cNvSpPr>
          <p:nvPr/>
        </p:nvSpPr>
        <p:spPr>
          <a:xfrm xmlns:a="http://schemas.openxmlformats.org/drawingml/2006/main">
            <a:off x="5385816"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Productivity</a:t>
            </a:r>
            <a:endParaRPr sz="1020"/>
          </a:p>
        </p:txBody>
      </p:sp>
      <p:sp>
        <p:nvSpPr>
          <p:cNvPr id="44" name="Shape 28">
            <a:extLst xmlns:a="http://schemas.openxmlformats.org/drawingml/2006/main">
              <a:ext uri="{FF2B5EF4-FFF2-40B4-BE49-F238E27FC236}">
                <a16:creationId xmlns:a16="http://schemas.microsoft.com/office/drawing/2014/main" id="{95C7D3D3-6A9C-45AD-8D3D-B502B18D12DB}"/>
              </a:ext>
            </a:extLst>
          </p:cNvPr>
          <p:cNvSpPr>
            <a:spLocks xmlns:a="http://schemas.openxmlformats.org/drawingml/2006/main" noGrp="1"/>
          </p:cNvSpPr>
          <p:nvPr/>
        </p:nvSpPr>
        <p:spPr>
          <a:xfrm xmlns:a="http://schemas.openxmlformats.org/drawingml/2006/main">
            <a:off x="7013448"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pic>
        <p:nvPicPr>
          <p:cNvPr id="137" name="Image 14"/>
          <p:cNvPicPr>
            <a:picLocks xmlns:a="http://schemas.openxmlformats.org/drawingml/2006/main" noChangeAspect="1"/>
          </p:cNvPicPr>
          <p:nvPr/>
        </p:nvPicPr>
        <p:blipFill>
          <a:blip xmlns:r="http://schemas.openxmlformats.org/officeDocument/2006/relationships" xmlns:a="http://schemas.openxmlformats.org/drawingml/2006/main" r:embed="R0a438766c468415d">
            <a:extLst>
              <a:ext uri="{96DAC541-7B7A-43D3-8B79-37D633B846F1}">
                <asvg:svgBlip xmlns:asvg="http://schemas.microsoft.com/office/drawing/2016/SVG/main" r:embed="R1c076f2160c6462b"/>
              </a:ext>
            </a:extLst>
          </a:blip>
          <a:stretch xmlns:a="http://schemas.openxmlformats.org/drawingml/2006/main">
            <a:fillRect l="0" t="0" r="0" b="0"/>
          </a:stretch>
        </p:blipFill>
        <p:spPr>
          <a:xfrm xmlns:a="http://schemas.openxmlformats.org/drawingml/2006/main">
            <a:off x="7194042" y="4535424"/>
            <a:ext cx="224028" cy="256032"/>
          </a:xfrm>
          <a:prstGeom xmlns:a="http://schemas.openxmlformats.org/drawingml/2006/main" prst="rect">
            <a:avLst/>
          </a:prstGeom>
        </p:spPr>
      </p:pic>
      <p:sp>
        <p:nvSpPr>
          <p:cNvPr id="46" name="Text 29">
            <a:extLst xmlns:a="http://schemas.openxmlformats.org/drawingml/2006/main">
              <a:ext uri="{FF2B5EF4-FFF2-40B4-BE49-F238E27FC236}">
                <a16:creationId xmlns:a16="http://schemas.microsoft.com/office/drawing/2014/main" id="{560414E6-D7BC-4E8F-9906-5BC8847F8878}"/>
              </a:ext>
            </a:extLst>
          </p:cNvPr>
          <p:cNvSpPr>
            <a:spLocks xmlns:a="http://schemas.openxmlformats.org/drawingml/2006/main" noGrp="1"/>
          </p:cNvSpPr>
          <p:nvPr/>
        </p:nvSpPr>
        <p:spPr>
          <a:xfrm xmlns:a="http://schemas.openxmlformats.org/drawingml/2006/main">
            <a:off x="7525512"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Internal APIs</a:t>
            </a:r>
            <a:endParaRPr sz="1020"/>
          </a:p>
        </p:txBody>
      </p:sp>
      <p:sp>
        <p:nvSpPr>
          <p:cNvPr id="47" name="Shape 30">
            <a:extLst xmlns:a="http://schemas.openxmlformats.org/drawingml/2006/main">
              <a:ext uri="{FF2B5EF4-FFF2-40B4-BE49-F238E27FC236}">
                <a16:creationId xmlns:a16="http://schemas.microsoft.com/office/drawing/2014/main" id="{112A537B-AB38-4AEC-9ECA-D6BD65AFB76C}"/>
              </a:ext>
            </a:extLst>
          </p:cNvPr>
          <p:cNvSpPr>
            <a:spLocks xmlns:a="http://schemas.openxmlformats.org/drawingml/2006/main" noGrp="1"/>
          </p:cNvSpPr>
          <p:nvPr/>
        </p:nvSpPr>
        <p:spPr>
          <a:xfrm xmlns:a="http://schemas.openxmlformats.org/drawingml/2006/main">
            <a:off x="594360" y="5404104"/>
            <a:ext cx="8138160" cy="566928"/>
          </a:xfrm>
          <a:prstGeom xmlns:a="http://schemas.openxmlformats.org/drawingml/2006/main" prst="roundRect">
            <a:avLst>
              <a:gd name="adj" fmla="val 12903"/>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Text 31">
            <a:extLst xmlns:a="http://schemas.openxmlformats.org/drawingml/2006/main">
              <a:ext uri="{FF2B5EF4-FFF2-40B4-BE49-F238E27FC236}">
                <a16:creationId xmlns:a16="http://schemas.microsoft.com/office/drawing/2014/main" id="{2620B98D-E58E-42BB-96A3-49686090E864}"/>
              </a:ext>
            </a:extLst>
          </p:cNvPr>
          <p:cNvSpPr>
            <a:spLocks xmlns:a="http://schemas.openxmlformats.org/drawingml/2006/main" noGrp="1"/>
          </p:cNvSpPr>
          <p:nvPr/>
        </p:nvSpPr>
        <p:spPr>
          <a:xfrm xmlns:a="http://schemas.openxmlformats.org/drawingml/2006/main">
            <a:off x="841248" y="5596128"/>
            <a:ext cx="1298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100">
                <a:solidFill>
                  <a:srgbClr val="72839A"/>
                </a:solidFill>
                <a:latin typeface="Inter"/>
                <a:ea typeface="Inter"/>
                <a:cs typeface="Inter"/>
              </a:rPr>
              <a:t>SYSTEMS + DATA</a:t>
            </a:r>
            <a:endParaRPr sz="850"/>
          </a:p>
        </p:txBody>
      </p:sp>
      <p:sp>
        <p:nvSpPr>
          <p:cNvPr id="49" name="Text 32">
            <a:extLst xmlns:a="http://schemas.openxmlformats.org/drawingml/2006/main">
              <a:ext uri="{FF2B5EF4-FFF2-40B4-BE49-F238E27FC236}">
                <a16:creationId xmlns:a16="http://schemas.microsoft.com/office/drawing/2014/main" id="{7C75F1F0-FD1F-4E5A-BC20-5CD6CA35A6EA}"/>
              </a:ext>
            </a:extLst>
          </p:cNvPr>
          <p:cNvSpPr>
            <a:spLocks xmlns:a="http://schemas.openxmlformats.org/drawingml/2006/main" noGrp="1"/>
          </p:cNvSpPr>
          <p:nvPr/>
        </p:nvSpPr>
        <p:spPr>
          <a:xfrm xmlns:a="http://schemas.openxmlformats.org/drawingml/2006/main">
            <a:off x="2331720" y="5559552"/>
            <a:ext cx="58978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Licensed data  ·  Data platform  ·  SaaS  ·  Operational systems</a:t>
            </a:r>
            <a:endParaRPr sz="1050"/>
          </a:p>
        </p:txBody>
      </p:sp>
      <p:sp>
        <p:nvSpPr>
          <p:cNvPr id="50" name="Shape 33">
            <a:extLst xmlns:a="http://schemas.openxmlformats.org/drawingml/2006/main">
              <a:ext uri="{FF2B5EF4-FFF2-40B4-BE49-F238E27FC236}">
                <a16:creationId xmlns:a16="http://schemas.microsoft.com/office/drawing/2014/main" id="{0E58C1ED-64F1-4934-B011-ACDF7E4B7390}"/>
              </a:ext>
            </a:extLst>
          </p:cNvPr>
          <p:cNvSpPr>
            <a:spLocks xmlns:a="http://schemas.openxmlformats.org/drawingml/2006/main" noGrp="1"/>
          </p:cNvSpPr>
          <p:nvPr/>
        </p:nvSpPr>
        <p:spPr>
          <a:xfrm xmlns:a="http://schemas.openxmlformats.org/drawingml/2006/main">
            <a:off x="9162288" y="4315968"/>
            <a:ext cx="2450592" cy="1655064"/>
          </a:xfrm>
          <a:prstGeom xmlns:a="http://schemas.openxmlformats.org/drawingml/2006/main" prst="roundRect">
            <a:avLst>
              <a:gd name="adj" fmla="val 4420"/>
            </a:avLst>
          </a:prstGeom>
          <a:solidFill xmlns:a="http://schemas.openxmlformats.org/drawingml/2006/main">
            <a:srgbClr val="121A2B"/>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Text 34">
            <a:extLst xmlns:a="http://schemas.openxmlformats.org/drawingml/2006/main">
              <a:ext uri="{FF2B5EF4-FFF2-40B4-BE49-F238E27FC236}">
                <a16:creationId xmlns:a16="http://schemas.microsoft.com/office/drawing/2014/main" id="{AA3E92BF-9451-4C42-80DF-7919C54FB8C1}"/>
              </a:ext>
            </a:extLst>
          </p:cNvPr>
          <p:cNvSpPr>
            <a:spLocks xmlns:a="http://schemas.openxmlformats.org/drawingml/2006/main" noGrp="1"/>
          </p:cNvSpPr>
          <p:nvPr/>
        </p:nvSpPr>
        <p:spPr>
          <a:xfrm xmlns:a="http://schemas.openxmlformats.org/drawingml/2006/main">
            <a:off x="9418320" y="458114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b="1" spc="100">
                <a:solidFill>
                  <a:srgbClr val="F7B955"/>
                </a:solidFill>
                <a:latin typeface="Inter"/>
                <a:ea typeface="Inter"/>
                <a:cs typeface="Inter"/>
              </a:rPr>
              <a:t>CROSS-CUTTING</a:t>
            </a:r>
            <a:endParaRPr sz="870"/>
          </a:p>
        </p:txBody>
      </p:sp>
      <p:pic>
        <p:nvPicPr>
          <p:cNvPr id="144" name="Image 15"/>
          <p:cNvPicPr>
            <a:picLocks xmlns:a="http://schemas.openxmlformats.org/drawingml/2006/main" noChangeAspect="1"/>
          </p:cNvPicPr>
          <p:nvPr/>
        </p:nvPicPr>
        <p:blipFill>
          <a:blip xmlns:r="http://schemas.openxmlformats.org/officeDocument/2006/relationships" xmlns:a="http://schemas.openxmlformats.org/drawingml/2006/main" r:embed="Rd290fd7f11d84e45">
            <a:extLst>
              <a:ext uri="{96DAC541-7B7A-43D3-8B79-37D633B846F1}">
                <asvg:svgBlip xmlns:asvg="http://schemas.microsoft.com/office/drawing/2016/SVG/main" r:embed="R5c099e288beb4daa"/>
              </a:ext>
            </a:extLst>
          </a:blip>
          <a:stretch xmlns:a="http://schemas.openxmlformats.org/drawingml/2006/main">
            <a:fillRect l="0" t="0" r="0" b="0"/>
          </a:stretch>
        </p:blipFill>
        <p:spPr>
          <a:xfrm xmlns:a="http://schemas.openxmlformats.org/drawingml/2006/main">
            <a:off x="9418320" y="4929632"/>
            <a:ext cx="182880" cy="162560"/>
          </a:xfrm>
          <a:prstGeom xmlns:a="http://schemas.openxmlformats.org/drawingml/2006/main" prst="rect">
            <a:avLst/>
          </a:prstGeom>
        </p:spPr>
      </p:pic>
      <p:sp>
        <p:nvSpPr>
          <p:cNvPr id="53" name="Text 35">
            <a:extLst xmlns:a="http://schemas.openxmlformats.org/drawingml/2006/main">
              <a:ext uri="{FF2B5EF4-FFF2-40B4-BE49-F238E27FC236}">
                <a16:creationId xmlns:a16="http://schemas.microsoft.com/office/drawing/2014/main" id="{BBB0B7BD-F382-4D44-9802-F9CE2C5AD250}"/>
              </a:ext>
            </a:extLst>
          </p:cNvPr>
          <p:cNvSpPr>
            <a:spLocks xmlns:a="http://schemas.openxmlformats.org/drawingml/2006/main" noGrp="1"/>
          </p:cNvSpPr>
          <p:nvPr/>
        </p:nvSpPr>
        <p:spPr>
          <a:xfrm xmlns:a="http://schemas.openxmlformats.org/drawingml/2006/main">
            <a:off x="9692640" y="4901184"/>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Catalogue + lineage</a:t>
            </a:r>
            <a:endParaRPr sz="920"/>
          </a:p>
        </p:txBody>
      </p:sp>
      <p:pic>
        <p:nvPicPr>
          <p:cNvPr id="146" name="Image 16"/>
          <p:cNvPicPr>
            <a:picLocks xmlns:a="http://schemas.openxmlformats.org/drawingml/2006/main" noChangeAspect="1"/>
          </p:cNvPicPr>
          <p:nvPr/>
        </p:nvPicPr>
        <p:blipFill>
          <a:blip xmlns:r="http://schemas.openxmlformats.org/officeDocument/2006/relationships" xmlns:a="http://schemas.openxmlformats.org/drawingml/2006/main" r:embed="Rce67ad20b1454a9e">
            <a:extLst>
              <a:ext uri="{96DAC541-7B7A-43D3-8B79-37D633B846F1}">
                <asvg:svgBlip xmlns:asvg="http://schemas.microsoft.com/office/drawing/2016/SVG/main" r:embed="Rfd75d139c9ec4131"/>
              </a:ext>
            </a:extLst>
          </a:blip>
          <a:stretch xmlns:a="http://schemas.openxmlformats.org/drawingml/2006/main">
            <a:fillRect l="0" t="0" r="0" b="0"/>
          </a:stretch>
        </p:blipFill>
        <p:spPr>
          <a:xfrm xmlns:a="http://schemas.openxmlformats.org/drawingml/2006/main">
            <a:off x="9429750" y="5230368"/>
            <a:ext cx="160020" cy="182880"/>
          </a:xfrm>
          <a:prstGeom xmlns:a="http://schemas.openxmlformats.org/drawingml/2006/main" prst="rect">
            <a:avLst/>
          </a:prstGeom>
        </p:spPr>
      </p:pic>
      <p:sp>
        <p:nvSpPr>
          <p:cNvPr id="55" name="Text 36">
            <a:extLst xmlns:a="http://schemas.openxmlformats.org/drawingml/2006/main">
              <a:ext uri="{FF2B5EF4-FFF2-40B4-BE49-F238E27FC236}">
                <a16:creationId xmlns:a16="http://schemas.microsoft.com/office/drawing/2014/main" id="{0E0E06A5-4862-444E-A2FD-6A90BF8AC50F}"/>
              </a:ext>
            </a:extLst>
          </p:cNvPr>
          <p:cNvSpPr>
            <a:spLocks xmlns:a="http://schemas.openxmlformats.org/drawingml/2006/main" noGrp="1"/>
          </p:cNvSpPr>
          <p:nvPr/>
        </p:nvSpPr>
        <p:spPr>
          <a:xfrm xmlns:a="http://schemas.openxmlformats.org/drawingml/2006/main">
            <a:off x="9692640" y="5212080"/>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Evals + regression</a:t>
            </a:r>
            <a:endParaRPr sz="920"/>
          </a:p>
        </p:txBody>
      </p:sp>
      <p:pic>
        <p:nvPicPr>
          <p:cNvPr id="148" name="Image 17"/>
          <p:cNvPicPr>
            <a:picLocks xmlns:a="http://schemas.openxmlformats.org/drawingml/2006/main" noChangeAspect="1"/>
          </p:cNvPicPr>
          <p:nvPr/>
        </p:nvPicPr>
        <p:blipFill>
          <a:blip xmlns:r="http://schemas.openxmlformats.org/officeDocument/2006/relationships" xmlns:a="http://schemas.openxmlformats.org/drawingml/2006/main" r:embed="Rcfc46897c8174630">
            <a:extLst>
              <a:ext uri="{96DAC541-7B7A-43D3-8B79-37D633B846F1}">
                <asvg:svgBlip xmlns:asvg="http://schemas.microsoft.com/office/drawing/2016/SVG/main" r:embed="Rcdaca4f936294752"/>
              </a:ext>
            </a:extLst>
          </a:blip>
          <a:stretch xmlns:a="http://schemas.openxmlformats.org/drawingml/2006/main">
            <a:fillRect l="0" t="0" r="0" b="0"/>
          </a:stretch>
        </p:blipFill>
        <p:spPr>
          <a:xfrm xmlns:a="http://schemas.openxmlformats.org/drawingml/2006/main">
            <a:off x="9418320" y="5559552"/>
            <a:ext cx="182880" cy="146304"/>
          </a:xfrm>
          <a:prstGeom xmlns:a="http://schemas.openxmlformats.org/drawingml/2006/main" prst="rect">
            <a:avLst/>
          </a:prstGeom>
        </p:spPr>
      </p:pic>
      <p:sp>
        <p:nvSpPr>
          <p:cNvPr id="57" name="Text 37">
            <a:extLst xmlns:a="http://schemas.openxmlformats.org/drawingml/2006/main">
              <a:ext uri="{FF2B5EF4-FFF2-40B4-BE49-F238E27FC236}">
                <a16:creationId xmlns:a16="http://schemas.microsoft.com/office/drawing/2014/main" id="{E8744B14-4B7F-41BB-AECE-C0707E3F5F8C}"/>
              </a:ext>
            </a:extLst>
          </p:cNvPr>
          <p:cNvSpPr>
            <a:spLocks xmlns:a="http://schemas.openxmlformats.org/drawingml/2006/main" noGrp="1"/>
          </p:cNvSpPr>
          <p:nvPr/>
        </p:nvSpPr>
        <p:spPr>
          <a:xfrm xmlns:a="http://schemas.openxmlformats.org/drawingml/2006/main">
            <a:off x="9692640" y="5522976"/>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SIEM + observability</a:t>
            </a:r>
            <a:endParaRPr sz="920"/>
          </a:p>
        </p:txBody>
      </p:sp>
      <p:sp>
        <p:nvSpPr>
          <p:cNvPr id="58" name="Shape 38">
            <a:extLst xmlns:a="http://schemas.openxmlformats.org/drawingml/2006/main">
              <a:ext uri="{FF2B5EF4-FFF2-40B4-BE49-F238E27FC236}">
                <a16:creationId xmlns:a16="http://schemas.microsoft.com/office/drawing/2014/main" id="{4C41FE41-C0E2-4AD2-B12D-2509518BB195}"/>
              </a:ext>
            </a:extLst>
          </p:cNvPr>
          <p:cNvSpPr>
            <a:spLocks xmlns:a="http://schemas.openxmlformats.org/drawingml/2006/main" noGrp="1"/>
          </p:cNvSpPr>
          <p:nvPr/>
        </p:nvSpPr>
        <p:spPr>
          <a:xfrm xmlns:a="http://schemas.openxmlformats.org/drawingml/2006/main">
            <a:off x="1389888"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9" name="Shape 39">
            <a:extLst xmlns:a="http://schemas.openxmlformats.org/drawingml/2006/main">
              <a:ext uri="{FF2B5EF4-FFF2-40B4-BE49-F238E27FC236}">
                <a16:creationId xmlns:a16="http://schemas.microsoft.com/office/drawing/2014/main" id="{CAB76694-A0D2-454F-AB50-65F83594A06B}"/>
              </a:ext>
            </a:extLst>
          </p:cNvPr>
          <p:cNvSpPr>
            <a:spLocks xmlns:a="http://schemas.openxmlformats.org/drawingml/2006/main" noGrp="1"/>
          </p:cNvSpPr>
          <p:nvPr/>
        </p:nvSpPr>
        <p:spPr>
          <a:xfrm xmlns:a="http://schemas.openxmlformats.org/drawingml/2006/main">
            <a:off x="3300984"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0" name="Shape 40">
            <a:extLst xmlns:a="http://schemas.openxmlformats.org/drawingml/2006/main">
              <a:ext uri="{FF2B5EF4-FFF2-40B4-BE49-F238E27FC236}">
                <a16:creationId xmlns:a16="http://schemas.microsoft.com/office/drawing/2014/main" id="{2E73441F-55F5-4545-9440-AA1CB30B389A}"/>
              </a:ext>
            </a:extLst>
          </p:cNvPr>
          <p:cNvSpPr>
            <a:spLocks xmlns:a="http://schemas.openxmlformats.org/drawingml/2006/main" noGrp="1"/>
          </p:cNvSpPr>
          <p:nvPr/>
        </p:nvSpPr>
        <p:spPr>
          <a:xfrm xmlns:a="http://schemas.openxmlformats.org/drawingml/2006/main">
            <a:off x="5212080"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1" name="Shape 41">
            <a:extLst xmlns:a="http://schemas.openxmlformats.org/drawingml/2006/main">
              <a:ext uri="{FF2B5EF4-FFF2-40B4-BE49-F238E27FC236}">
                <a16:creationId xmlns:a16="http://schemas.microsoft.com/office/drawing/2014/main" id="{4F81DA21-FC78-4659-B704-9990B2B754FA}"/>
              </a:ext>
            </a:extLst>
          </p:cNvPr>
          <p:cNvSpPr>
            <a:spLocks xmlns:a="http://schemas.openxmlformats.org/drawingml/2006/main" noGrp="1"/>
          </p:cNvSpPr>
          <p:nvPr/>
        </p:nvSpPr>
        <p:spPr>
          <a:xfrm xmlns:a="http://schemas.openxmlformats.org/drawingml/2006/main">
            <a:off x="7123176"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2" name="Shape 42">
            <a:extLst xmlns:a="http://schemas.openxmlformats.org/drawingml/2006/main">
              <a:ext uri="{FF2B5EF4-FFF2-40B4-BE49-F238E27FC236}">
                <a16:creationId xmlns:a16="http://schemas.microsoft.com/office/drawing/2014/main" id="{5DCCBDC2-768A-40E1-B187-166AE70E573B}"/>
              </a:ext>
            </a:extLst>
          </p:cNvPr>
          <p:cNvSpPr>
            <a:spLocks xmlns:a="http://schemas.openxmlformats.org/drawingml/2006/main" noGrp="1"/>
          </p:cNvSpPr>
          <p:nvPr/>
        </p:nvSpPr>
        <p:spPr>
          <a:xfrm xmlns:a="http://schemas.openxmlformats.org/drawingml/2006/main">
            <a:off x="1536192"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3" name="Shape 43">
            <a:extLst xmlns:a="http://schemas.openxmlformats.org/drawingml/2006/main">
              <a:ext uri="{FF2B5EF4-FFF2-40B4-BE49-F238E27FC236}">
                <a16:creationId xmlns:a16="http://schemas.microsoft.com/office/drawing/2014/main" id="{F98F2CA1-C1B6-4833-81BC-0A641D76515B}"/>
              </a:ext>
            </a:extLst>
          </p:cNvPr>
          <p:cNvSpPr>
            <a:spLocks xmlns:a="http://schemas.openxmlformats.org/drawingml/2006/main" noGrp="1"/>
          </p:cNvSpPr>
          <p:nvPr/>
        </p:nvSpPr>
        <p:spPr>
          <a:xfrm xmlns:a="http://schemas.openxmlformats.org/drawingml/2006/main">
            <a:off x="3675888"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4" name="Shape 44">
            <a:extLst xmlns:a="http://schemas.openxmlformats.org/drawingml/2006/main">
              <a:ext uri="{FF2B5EF4-FFF2-40B4-BE49-F238E27FC236}">
                <a16:creationId xmlns:a16="http://schemas.microsoft.com/office/drawing/2014/main" id="{3EBAC907-8BDA-4B36-A19A-EA800A3445CB}"/>
              </a:ext>
            </a:extLst>
          </p:cNvPr>
          <p:cNvSpPr>
            <a:spLocks xmlns:a="http://schemas.openxmlformats.org/drawingml/2006/main" noGrp="1"/>
          </p:cNvSpPr>
          <p:nvPr/>
        </p:nvSpPr>
        <p:spPr>
          <a:xfrm xmlns:a="http://schemas.openxmlformats.org/drawingml/2006/main">
            <a:off x="5815584"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5" name="Shape 45">
            <a:extLst xmlns:a="http://schemas.openxmlformats.org/drawingml/2006/main">
              <a:ext uri="{FF2B5EF4-FFF2-40B4-BE49-F238E27FC236}">
                <a16:creationId xmlns:a16="http://schemas.microsoft.com/office/drawing/2014/main" id="{851ECA87-C650-43F5-83AB-347AAF351069}"/>
              </a:ext>
            </a:extLst>
          </p:cNvPr>
          <p:cNvSpPr>
            <a:spLocks xmlns:a="http://schemas.openxmlformats.org/drawingml/2006/main" noGrp="1"/>
          </p:cNvSpPr>
          <p:nvPr/>
        </p:nvSpPr>
        <p:spPr>
          <a:xfrm xmlns:a="http://schemas.openxmlformats.org/drawingml/2006/main">
            <a:off x="7955280"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6" name="Shape 46">
            <a:extLst xmlns:a="http://schemas.openxmlformats.org/drawingml/2006/main">
              <a:ext uri="{FF2B5EF4-FFF2-40B4-BE49-F238E27FC236}">
                <a16:creationId xmlns:a16="http://schemas.microsoft.com/office/drawing/2014/main" id="{2DCE5E8C-5C33-477C-86C7-FBA879714F00}"/>
              </a:ext>
            </a:extLst>
          </p:cNvPr>
          <p:cNvSpPr>
            <a:spLocks xmlns:a="http://schemas.openxmlformats.org/drawingml/2006/main" noGrp="1"/>
          </p:cNvSpPr>
          <p:nvPr/>
        </p:nvSpPr>
        <p:spPr>
          <a:xfrm xmlns:a="http://schemas.openxmlformats.org/drawingml/2006/main">
            <a:off x="1536192"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7" name="Shape 47">
            <a:extLst xmlns:a="http://schemas.openxmlformats.org/drawingml/2006/main">
              <a:ext uri="{FF2B5EF4-FFF2-40B4-BE49-F238E27FC236}">
                <a16:creationId xmlns:a16="http://schemas.microsoft.com/office/drawing/2014/main" id="{97725E26-D2B7-4F8A-AD89-8C8C157F807C}"/>
              </a:ext>
            </a:extLst>
          </p:cNvPr>
          <p:cNvSpPr>
            <a:spLocks xmlns:a="http://schemas.openxmlformats.org/drawingml/2006/main" noGrp="1"/>
          </p:cNvSpPr>
          <p:nvPr/>
        </p:nvSpPr>
        <p:spPr>
          <a:xfrm xmlns:a="http://schemas.openxmlformats.org/drawingml/2006/main">
            <a:off x="3675888"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8" name="Shape 48">
            <a:extLst xmlns:a="http://schemas.openxmlformats.org/drawingml/2006/main">
              <a:ext uri="{FF2B5EF4-FFF2-40B4-BE49-F238E27FC236}">
                <a16:creationId xmlns:a16="http://schemas.microsoft.com/office/drawing/2014/main" id="{307E6EE2-359D-46E9-A97C-5F19ED6A6E46}"/>
              </a:ext>
            </a:extLst>
          </p:cNvPr>
          <p:cNvSpPr>
            <a:spLocks xmlns:a="http://schemas.openxmlformats.org/drawingml/2006/main" noGrp="1"/>
          </p:cNvSpPr>
          <p:nvPr/>
        </p:nvSpPr>
        <p:spPr>
          <a:xfrm xmlns:a="http://schemas.openxmlformats.org/drawingml/2006/main">
            <a:off x="5815584"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9" name="Shape 49">
            <a:extLst xmlns:a="http://schemas.openxmlformats.org/drawingml/2006/main">
              <a:ext uri="{FF2B5EF4-FFF2-40B4-BE49-F238E27FC236}">
                <a16:creationId xmlns:a16="http://schemas.microsoft.com/office/drawing/2014/main" id="{A7B5CCE1-BB1E-4CA6-AA1F-41A37251D677}"/>
              </a:ext>
            </a:extLst>
          </p:cNvPr>
          <p:cNvSpPr>
            <a:spLocks xmlns:a="http://schemas.openxmlformats.org/drawingml/2006/main" noGrp="1"/>
          </p:cNvSpPr>
          <p:nvPr/>
        </p:nvSpPr>
        <p:spPr>
          <a:xfrm xmlns:a="http://schemas.openxmlformats.org/drawingml/2006/main">
            <a:off x="7955280"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70" name="Shape 50">
            <a:extLst xmlns:a="http://schemas.openxmlformats.org/drawingml/2006/main">
              <a:ext uri="{FF2B5EF4-FFF2-40B4-BE49-F238E27FC236}">
                <a16:creationId xmlns:a16="http://schemas.microsoft.com/office/drawing/2014/main" id="{E5D74683-E4A7-4CDF-AD4C-F5B32B8B7CC5}"/>
              </a:ext>
            </a:extLst>
          </p:cNvPr>
          <p:cNvSpPr>
            <a:spLocks xmlns:a="http://schemas.openxmlformats.org/drawingml/2006/main" noGrp="1"/>
          </p:cNvSpPr>
          <p:nvPr/>
        </p:nvSpPr>
        <p:spPr>
          <a:xfrm xmlns:a="http://schemas.openxmlformats.org/drawingml/2006/main">
            <a:off x="3849624" y="6044184"/>
            <a:ext cx="4498848" cy="320040"/>
          </a:xfrm>
          <a:prstGeom xmlns:a="http://schemas.openxmlformats.org/drawingml/2006/main" prst="roundRect">
            <a:avLst>
              <a:gd name="adj" fmla="val 22857"/>
            </a:avLst>
          </a:prstGeom>
          <a:solidFill xmlns:a="http://schemas.openxmlformats.org/drawingml/2006/main">
            <a:srgbClr val="3BE0B5">
              <a:alpha val="13000"/>
            </a:srgbClr>
          </a:solidFill>
          <a:ln xmlns:a="http://schemas.openxmlformats.org/drawingml/2006/main" w="12700">
            <a:solidFill>
              <a:srgbClr val="3BE0B5">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1" name="Text 51">
            <a:extLst xmlns:a="http://schemas.openxmlformats.org/drawingml/2006/main">
              <a:ext uri="{FF2B5EF4-FFF2-40B4-BE49-F238E27FC236}">
                <a16:creationId xmlns:a16="http://schemas.microsoft.com/office/drawing/2014/main" id="{DF9AF5AB-A5A1-4E08-8D1D-734DF8E7C418}"/>
              </a:ext>
            </a:extLst>
          </p:cNvPr>
          <p:cNvSpPr>
            <a:spLocks xmlns:a="http://schemas.openxmlformats.org/drawingml/2006/main" noGrp="1"/>
          </p:cNvSpPr>
          <p:nvPr/>
        </p:nvSpPr>
        <p:spPr>
          <a:xfrm xmlns:a="http://schemas.openxmlformats.org/drawingml/2006/main">
            <a:off x="3922776" y="6053328"/>
            <a:ext cx="4352544"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E0B5"/>
                </a:solidFill>
                <a:latin typeface="Inter"/>
                <a:ea typeface="Inter"/>
                <a:cs typeface="Inter"/>
              </a:rPr>
              <a:t>HORIZONTAL CONTROLS · DOMAIN RULES IN SERVERS</a:t>
            </a:r>
            <a:endParaRPr sz="1020"/>
          </a:p>
        </p:txBody>
      </p:sp>
      <p:sp>
        <p:nvSpPr>
          <p:cNvPr id="72" name="Shape 52">
            <a:extLst xmlns:a="http://schemas.openxmlformats.org/drawingml/2006/main">
              <a:ext uri="{FF2B5EF4-FFF2-40B4-BE49-F238E27FC236}">
                <a16:creationId xmlns:a16="http://schemas.microsoft.com/office/drawing/2014/main" id="{CD756713-4D44-4574-A9D8-C2694301D78C}"/>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73" name="Text 53">
            <a:extLst xmlns:a="http://schemas.openxmlformats.org/drawingml/2006/main">
              <a:ext uri="{FF2B5EF4-FFF2-40B4-BE49-F238E27FC236}">
                <a16:creationId xmlns:a16="http://schemas.microsoft.com/office/drawing/2014/main" id="{52F09B70-0EA7-49EC-A38C-A2576633C58E}"/>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74" name="Text 54">
            <a:extLst xmlns:a="http://schemas.openxmlformats.org/drawingml/2006/main">
              <a:ext uri="{FF2B5EF4-FFF2-40B4-BE49-F238E27FC236}">
                <a16:creationId xmlns:a16="http://schemas.microsoft.com/office/drawing/2014/main" id="{33751BAC-769A-4100-8852-2984F015EEC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5" name="Text 55">
            <a:extLst xmlns:a="http://schemas.openxmlformats.org/drawingml/2006/main">
              <a:ext uri="{FF2B5EF4-FFF2-40B4-BE49-F238E27FC236}">
                <a16:creationId xmlns:a16="http://schemas.microsoft.com/office/drawing/2014/main" id="{C6ABDE7A-E895-4D38-8E94-6CD19F261D1E}"/>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11</a:t>
            </a:r>
            <a:endParaRPr sz="850"/>
          </a:p>
        </p:txBody>
      </p:sp>
    </p:spTree>
    <p:extLst>
      <p:ext uri="{BB962C8B-B14F-4D97-AF65-F5344CB8AC3E}">
        <p14:creationId xmlns:p14="http://schemas.microsoft.com/office/powerpoint/2010/main" val="59318454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fd2ba09dd134445a">
            <a:extLst>
              <a:ext uri="{96DAC541-7B7A-43D3-8B79-37D633B846F1}">
                <asvg:svgBlip xmlns:asvg="http://schemas.microsoft.com/office/drawing/2016/SVG/main" r:embed="Rddbdda686f864e7f"/>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B77C14D-7E64-4448-91F7-C8B4CB45FB4F}"/>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ONE IDEA TO TAKE HOME</a:t>
            </a:r>
            <a:endParaRPr sz="950"/>
          </a:p>
        </p:txBody>
      </p:sp>
      <p:sp>
        <p:nvSpPr>
          <p:cNvPr id="4" name="Text 1">
            <a:extLst xmlns:a="http://schemas.openxmlformats.org/drawingml/2006/main">
              <a:ext uri="{FF2B5EF4-FFF2-40B4-BE49-F238E27FC236}">
                <a16:creationId xmlns:a16="http://schemas.microsoft.com/office/drawing/2014/main" id="{85FEC1AA-B4A8-4F09-9641-719E1499C9D4}"/>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The dividing line</a:t>
            </a:r>
            <a:endParaRPr sz="3100"/>
          </a:p>
        </p:txBody>
      </p:sp>
      <p:sp>
        <p:nvSpPr>
          <p:cNvPr id="5" name="Shape 2">
            <a:extLst xmlns:a="http://schemas.openxmlformats.org/drawingml/2006/main">
              <a:ext uri="{FF2B5EF4-FFF2-40B4-BE49-F238E27FC236}">
                <a16:creationId xmlns:a16="http://schemas.microsoft.com/office/drawing/2014/main" id="{2E6E58A7-1AFE-4BF4-8D2A-E8F52D0878E7}"/>
              </a:ext>
            </a:extLst>
          </p:cNvPr>
          <p:cNvSpPr>
            <a:spLocks xmlns:a="http://schemas.openxmlformats.org/drawingml/2006/main" noGrp="1"/>
          </p:cNvSpPr>
          <p:nvPr/>
        </p:nvSpPr>
        <p:spPr>
          <a:xfrm xmlns:a="http://schemas.openxmlformats.org/drawingml/2006/main">
            <a:off x="594360" y="1344168"/>
            <a:ext cx="5285232" cy="3246120"/>
          </a:xfrm>
          <a:prstGeom xmlns:a="http://schemas.openxmlformats.org/drawingml/2006/main" prst="roundRect">
            <a:avLst>
              <a:gd name="adj" fmla="val 2254"/>
            </a:avLst>
          </a:prstGeom>
          <a:solidFill xmlns:a="http://schemas.openxmlformats.org/drawingml/2006/main">
            <a:srgbClr val="0B192B"/>
          </a:solidFill>
          <a:ln xmlns:a="http://schemas.openxmlformats.org/drawingml/2006/main" w="12700">
            <a:solidFill>
              <a:srgbClr val="35D4E7"/>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6392A863-0DDE-40CF-BB95-CD806799D668}"/>
              </a:ext>
            </a:extLst>
          </p:cNvPr>
          <p:cNvSpPr>
            <a:spLocks xmlns:a="http://schemas.openxmlformats.org/drawingml/2006/main" noGrp="1"/>
          </p:cNvSpPr>
          <p:nvPr/>
        </p:nvSpPr>
        <p:spPr>
          <a:xfrm xmlns:a="http://schemas.openxmlformats.org/drawingml/2006/main">
            <a:off x="896112" y="1664208"/>
            <a:ext cx="1115568" cy="310896"/>
          </a:xfrm>
          <a:prstGeom xmlns:a="http://schemas.openxmlformats.org/drawingml/2006/main" prst="roundRect">
            <a:avLst>
              <a:gd name="adj" fmla="val 23529"/>
            </a:avLst>
          </a:prstGeom>
          <a:solidFill xmlns:a="http://schemas.openxmlformats.org/drawingml/2006/main">
            <a:srgbClr val="35D4E7">
              <a:alpha val="17000"/>
            </a:srgbClr>
          </a:solidFill>
          <a:ln xmlns:a="http://schemas.openxmlformats.org/drawingml/2006/main" w="12700">
            <a:solidFill>
              <a:srgbClr val="35D4E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46470DD1-9B11-4E50-BEFE-3EDFB2F699FC}"/>
              </a:ext>
            </a:extLst>
          </p:cNvPr>
          <p:cNvSpPr>
            <a:spLocks xmlns:a="http://schemas.openxmlformats.org/drawingml/2006/main" noGrp="1"/>
          </p:cNvSpPr>
          <p:nvPr/>
        </p:nvSpPr>
        <p:spPr>
          <a:xfrm xmlns:a="http://schemas.openxmlformats.org/drawingml/2006/main">
            <a:off x="969264" y="1673352"/>
            <a:ext cx="96926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35D4E7"/>
                </a:solidFill>
                <a:latin typeface="Inter"/>
                <a:ea typeface="Inter"/>
                <a:cs typeface="Inter"/>
              </a:rPr>
              <a:t>STARTUP</a:t>
            </a:r>
            <a:endParaRPr sz="950"/>
          </a:p>
        </p:txBody>
      </p:sp>
      <p:sp>
        <p:nvSpPr>
          <p:cNvPr id="8" name="Text 5">
            <a:extLst xmlns:a="http://schemas.openxmlformats.org/drawingml/2006/main">
              <a:ext uri="{FF2B5EF4-FFF2-40B4-BE49-F238E27FC236}">
                <a16:creationId xmlns:a16="http://schemas.microsoft.com/office/drawing/2014/main" id="{48D22849-4685-465D-9B0E-08ADF2834CFC}"/>
              </a:ext>
            </a:extLst>
          </p:cNvPr>
          <p:cNvSpPr>
            <a:spLocks xmlns:a="http://schemas.openxmlformats.org/drawingml/2006/main" noGrp="1"/>
          </p:cNvSpPr>
          <p:nvPr/>
        </p:nvSpPr>
        <p:spPr>
          <a:xfrm xmlns:a="http://schemas.openxmlformats.org/drawingml/2006/main">
            <a:off x="896112" y="2212848"/>
            <a:ext cx="440740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Control the route</a:t>
            </a:r>
            <a:endParaRPr sz="3100"/>
          </a:p>
          <a:p xmlns:a="http://schemas.openxmlformats.org/drawingml/2006/main">
            <a:pPr marL="0" indent="0">
              <a:buNone/>
            </a:pPr>
            <a:r>
              <a:rPr sz="3100" b="1">
                <a:solidFill>
                  <a:srgbClr val="F7FAFF"/>
                </a:solidFill>
                <a:latin typeface="Inter"/>
                <a:ea typeface="Inter"/>
                <a:cs typeface="Inter"/>
              </a:rPr>
              <a:t>and the output.</a:t>
            </a:r>
          </a:p>
        </p:txBody>
      </p:sp>
      <p:sp>
        <p:nvSpPr>
          <p:cNvPr id="9" name="Text 6">
            <a:extLst xmlns:a="http://schemas.openxmlformats.org/drawingml/2006/main">
              <a:ext uri="{FF2B5EF4-FFF2-40B4-BE49-F238E27FC236}">
                <a16:creationId xmlns:a16="http://schemas.microsoft.com/office/drawing/2014/main" id="{DCA4CDDB-E7C1-4D75-B93E-33C8179932B5}"/>
              </a:ext>
            </a:extLst>
          </p:cNvPr>
          <p:cNvSpPr>
            <a:spLocks xmlns:a="http://schemas.openxmlformats.org/drawingml/2006/main" noGrp="1"/>
          </p:cNvSpPr>
          <p:nvPr/>
        </p:nvSpPr>
        <p:spPr>
          <a:xfrm xmlns:a="http://schemas.openxmlformats.org/drawingml/2006/main">
            <a:off x="896112" y="3767328"/>
            <a:ext cx="437083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A7B5C8"/>
                </a:solidFill>
                <a:latin typeface="Inter"/>
                <a:ea typeface="Inter"/>
                <a:cs typeface="Inter"/>
              </a:rPr>
              <a:t>Client loop · routing · accuracy · UX · cost</a:t>
            </a:r>
            <a:endParaRPr sz="1250"/>
          </a:p>
        </p:txBody>
      </p:sp>
      <p:sp>
        <p:nvSpPr>
          <p:cNvPr id="10" name="Shape 7">
            <a:extLst xmlns:a="http://schemas.openxmlformats.org/drawingml/2006/main">
              <a:ext uri="{FF2B5EF4-FFF2-40B4-BE49-F238E27FC236}">
                <a16:creationId xmlns:a16="http://schemas.microsoft.com/office/drawing/2014/main" id="{FC6E92DB-93D7-4C2A-970C-034219EA09DA}"/>
              </a:ext>
            </a:extLst>
          </p:cNvPr>
          <p:cNvSpPr>
            <a:spLocks xmlns:a="http://schemas.openxmlformats.org/drawingml/2006/main" noGrp="1"/>
          </p:cNvSpPr>
          <p:nvPr/>
        </p:nvSpPr>
        <p:spPr>
          <a:xfrm xmlns:a="http://schemas.openxmlformats.org/drawingml/2006/main">
            <a:off x="6309360" y="1344168"/>
            <a:ext cx="5285232" cy="3246120"/>
          </a:xfrm>
          <a:prstGeom xmlns:a="http://schemas.openxmlformats.org/drawingml/2006/main" prst="roundRect">
            <a:avLst>
              <a:gd name="adj" fmla="val 2254"/>
            </a:avLst>
          </a:prstGeom>
          <a:solidFill xmlns:a="http://schemas.openxmlformats.org/drawingml/2006/main">
            <a:srgbClr val="171927"/>
          </a:solidFill>
          <a:ln xmlns:a="http://schemas.openxmlformats.org/drawingml/2006/main" w="12700">
            <a:solidFill>
              <a:srgbClr val="F7B95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8">
            <a:extLst xmlns:a="http://schemas.openxmlformats.org/drawingml/2006/main">
              <a:ext uri="{FF2B5EF4-FFF2-40B4-BE49-F238E27FC236}">
                <a16:creationId xmlns:a16="http://schemas.microsoft.com/office/drawing/2014/main" id="{21C45CF0-0AFE-48E9-A0E2-6274C5C4D6FF}"/>
              </a:ext>
            </a:extLst>
          </p:cNvPr>
          <p:cNvSpPr>
            <a:spLocks xmlns:a="http://schemas.openxmlformats.org/drawingml/2006/main" noGrp="1"/>
          </p:cNvSpPr>
          <p:nvPr/>
        </p:nvSpPr>
        <p:spPr>
          <a:xfrm xmlns:a="http://schemas.openxmlformats.org/drawingml/2006/main">
            <a:off x="6611112" y="1664208"/>
            <a:ext cx="1353312" cy="310896"/>
          </a:xfrm>
          <a:prstGeom xmlns:a="http://schemas.openxmlformats.org/drawingml/2006/main" prst="roundRect">
            <a:avLst>
              <a:gd name="adj" fmla="val 23529"/>
            </a:avLst>
          </a:prstGeom>
          <a:solidFill xmlns:a="http://schemas.openxmlformats.org/drawingml/2006/main">
            <a:srgbClr val="F7B955">
              <a:alpha val="17000"/>
            </a:srgbClr>
          </a:solidFill>
          <a:ln xmlns:a="http://schemas.openxmlformats.org/drawingml/2006/main" w="12700">
            <a:solidFill>
              <a:srgbClr val="F7B955">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9">
            <a:extLst xmlns:a="http://schemas.openxmlformats.org/drawingml/2006/main">
              <a:ext uri="{FF2B5EF4-FFF2-40B4-BE49-F238E27FC236}">
                <a16:creationId xmlns:a16="http://schemas.microsoft.com/office/drawing/2014/main" id="{AE4B508C-E29A-4C6E-BEED-C404ED8C7E49}"/>
              </a:ext>
            </a:extLst>
          </p:cNvPr>
          <p:cNvSpPr>
            <a:spLocks xmlns:a="http://schemas.openxmlformats.org/drawingml/2006/main" noGrp="1"/>
          </p:cNvSpPr>
          <p:nvPr/>
        </p:nvSpPr>
        <p:spPr>
          <a:xfrm xmlns:a="http://schemas.openxmlformats.org/drawingml/2006/main">
            <a:off x="6684264" y="1673352"/>
            <a:ext cx="12070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7B955"/>
                </a:solidFill>
                <a:latin typeface="Inter"/>
                <a:ea typeface="Inter"/>
                <a:cs typeface="Inter"/>
              </a:rPr>
              <a:t>ENTERPRISE</a:t>
            </a:r>
            <a:endParaRPr sz="950"/>
          </a:p>
        </p:txBody>
      </p:sp>
      <p:sp>
        <p:nvSpPr>
          <p:cNvPr id="13" name="Text 10">
            <a:extLst xmlns:a="http://schemas.openxmlformats.org/drawingml/2006/main">
              <a:ext uri="{FF2B5EF4-FFF2-40B4-BE49-F238E27FC236}">
                <a16:creationId xmlns:a16="http://schemas.microsoft.com/office/drawing/2014/main" id="{75FFA643-DA91-4672-9273-543F79218402}"/>
              </a:ext>
            </a:extLst>
          </p:cNvPr>
          <p:cNvSpPr>
            <a:spLocks xmlns:a="http://schemas.openxmlformats.org/drawingml/2006/main" noGrp="1"/>
          </p:cNvSpPr>
          <p:nvPr/>
        </p:nvSpPr>
        <p:spPr>
          <a:xfrm xmlns:a="http://schemas.openxmlformats.org/drawingml/2006/main">
            <a:off x="6611112" y="2167128"/>
            <a:ext cx="4480560" cy="12070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7FAFF"/>
                </a:solidFill>
                <a:latin typeface="Inter"/>
                <a:ea typeface="Inter"/>
                <a:cs typeface="Inter"/>
              </a:rPr>
              <a:t>Control every identity, tool and dataset,</a:t>
            </a:r>
            <a:endParaRPr sz="2500"/>
          </a:p>
          <a:p xmlns:a="http://schemas.openxmlformats.org/drawingml/2006/main">
            <a:pPr marL="0" indent="0">
              <a:buNone/>
            </a:pPr>
            <a:r>
              <a:rPr sz="2500" b="1">
                <a:solidFill>
                  <a:srgbClr val="F7FAFF"/>
                </a:solidFill>
                <a:latin typeface="Inter"/>
                <a:ea typeface="Inter"/>
                <a:cs typeface="Inter"/>
              </a:rPr>
              <a:t>then retain the evidence.</a:t>
            </a:r>
          </a:p>
        </p:txBody>
      </p:sp>
      <p:sp>
        <p:nvSpPr>
          <p:cNvPr id="14" name="Text 11">
            <a:extLst xmlns:a="http://schemas.openxmlformats.org/drawingml/2006/main">
              <a:ext uri="{FF2B5EF4-FFF2-40B4-BE49-F238E27FC236}">
                <a16:creationId xmlns:a16="http://schemas.microsoft.com/office/drawing/2014/main" id="{9BEA85F4-8792-4235-8960-51B55F758B77}"/>
              </a:ext>
            </a:extLst>
          </p:cNvPr>
          <p:cNvSpPr>
            <a:spLocks xmlns:a="http://schemas.openxmlformats.org/drawingml/2006/main" noGrp="1"/>
          </p:cNvSpPr>
          <p:nvPr/>
        </p:nvSpPr>
        <p:spPr>
          <a:xfrm xmlns:a="http://schemas.openxmlformats.org/drawingml/2006/main">
            <a:off x="6611112" y="3767328"/>
            <a:ext cx="4498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a:solidFill>
                  <a:srgbClr val="A7B5C8"/>
                </a:solidFill>
                <a:latin typeface="Inter"/>
                <a:ea typeface="Inter"/>
                <a:cs typeface="Inter"/>
              </a:rPr>
              <a:t>Authorization · licensing · policy · audit · operations</a:t>
            </a:r>
            <a:endParaRPr sz="1180"/>
          </a:p>
        </p:txBody>
      </p:sp>
      <p:sp>
        <p:nvSpPr>
          <p:cNvPr id="15" name="Shape 12">
            <a:extLst xmlns:a="http://schemas.openxmlformats.org/drawingml/2006/main">
              <a:ext uri="{FF2B5EF4-FFF2-40B4-BE49-F238E27FC236}">
                <a16:creationId xmlns:a16="http://schemas.microsoft.com/office/drawing/2014/main" id="{CA364D6E-9894-4AC5-8F8F-73067DE1806A}"/>
              </a:ext>
            </a:extLst>
          </p:cNvPr>
          <p:cNvSpPr>
            <a:spLocks xmlns:a="http://schemas.openxmlformats.org/drawingml/2006/main" noGrp="1"/>
          </p:cNvSpPr>
          <p:nvPr/>
        </p:nvSpPr>
        <p:spPr>
          <a:xfrm xmlns:a="http://schemas.openxmlformats.org/drawingml/2006/main">
            <a:off x="749808" y="4956048"/>
            <a:ext cx="1874520" cy="384048"/>
          </a:xfrm>
          <a:prstGeom xmlns:a="http://schemas.openxmlformats.org/drawingml/2006/main" prst="roundRect">
            <a:avLst>
              <a:gd name="adj" fmla="val 19048"/>
            </a:avLst>
          </a:prstGeom>
          <a:solidFill xmlns:a="http://schemas.openxmlformats.org/drawingml/2006/main">
            <a:srgbClr val="35D4E7">
              <a:alpha val="16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DB8E99B6-B789-4BBF-98BF-E3B62587360C}"/>
              </a:ext>
            </a:extLst>
          </p:cNvPr>
          <p:cNvSpPr>
            <a:spLocks xmlns:a="http://schemas.openxmlformats.org/drawingml/2006/main" noGrp="1"/>
          </p:cNvSpPr>
          <p:nvPr/>
        </p:nvSpPr>
        <p:spPr>
          <a:xfrm xmlns:a="http://schemas.openxmlformats.org/drawingml/2006/main">
            <a:off x="822960"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35D4E7"/>
                </a:solidFill>
                <a:latin typeface="Inter"/>
                <a:ea typeface="Inter"/>
                <a:cs typeface="Inter"/>
              </a:rPr>
              <a:t>MAKE IT WORK</a:t>
            </a:r>
            <a:endParaRPr sz="910"/>
          </a:p>
        </p:txBody>
      </p:sp>
      <p:sp>
        <p:nvSpPr>
          <p:cNvPr id="17" name="Shape 14">
            <a:extLst xmlns:a="http://schemas.openxmlformats.org/drawingml/2006/main">
              <a:ext uri="{FF2B5EF4-FFF2-40B4-BE49-F238E27FC236}">
                <a16:creationId xmlns:a16="http://schemas.microsoft.com/office/drawing/2014/main" id="{581D4EFC-8C0C-4A18-B1CF-6E9C1AA04F9C}"/>
              </a:ext>
            </a:extLst>
          </p:cNvPr>
          <p:cNvSpPr>
            <a:spLocks xmlns:a="http://schemas.openxmlformats.org/drawingml/2006/main" noGrp="1"/>
          </p:cNvSpPr>
          <p:nvPr/>
        </p:nvSpPr>
        <p:spPr>
          <a:xfrm xmlns:a="http://schemas.openxmlformats.org/drawingml/2006/main">
            <a:off x="2660904" y="5148072"/>
            <a:ext cx="21945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18" name="Shape 15">
            <a:extLst xmlns:a="http://schemas.openxmlformats.org/drawingml/2006/main">
              <a:ext uri="{FF2B5EF4-FFF2-40B4-BE49-F238E27FC236}">
                <a16:creationId xmlns:a16="http://schemas.microsoft.com/office/drawing/2014/main" id="{5E76AF3E-5266-4936-8DBD-A1B57CF6331C}"/>
              </a:ext>
            </a:extLst>
          </p:cNvPr>
          <p:cNvSpPr>
            <a:spLocks xmlns:a="http://schemas.openxmlformats.org/drawingml/2006/main" noGrp="1"/>
          </p:cNvSpPr>
          <p:nvPr/>
        </p:nvSpPr>
        <p:spPr>
          <a:xfrm xmlns:a="http://schemas.openxmlformats.org/drawingml/2006/main">
            <a:off x="2962656" y="4956048"/>
            <a:ext cx="1874520" cy="384048"/>
          </a:xfrm>
          <a:prstGeom xmlns:a="http://schemas.openxmlformats.org/drawingml/2006/main" prst="roundRect">
            <a:avLst>
              <a:gd name="adj" fmla="val 19048"/>
            </a:avLst>
          </a:prstGeom>
          <a:solidFill xmlns:a="http://schemas.openxmlformats.org/drawingml/2006/main">
            <a:srgbClr val="5B7CFF">
              <a:alpha val="16000"/>
            </a:srgbClr>
          </a:solidFill>
          <a:ln xmlns:a="http://schemas.openxmlformats.org/drawingml/2006/main" w="12700">
            <a:solidFill>
              <a:srgbClr val="5B7CFF">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6">
            <a:extLst xmlns:a="http://schemas.openxmlformats.org/drawingml/2006/main">
              <a:ext uri="{FF2B5EF4-FFF2-40B4-BE49-F238E27FC236}">
                <a16:creationId xmlns:a16="http://schemas.microsoft.com/office/drawing/2014/main" id="{9AEF5FDE-7DF7-43D2-A304-644ACC20D946}"/>
              </a:ext>
            </a:extLst>
          </p:cNvPr>
          <p:cNvSpPr>
            <a:spLocks xmlns:a="http://schemas.openxmlformats.org/drawingml/2006/main" noGrp="1"/>
          </p:cNvSpPr>
          <p:nvPr/>
        </p:nvSpPr>
        <p:spPr>
          <a:xfrm xmlns:a="http://schemas.openxmlformats.org/drawingml/2006/main">
            <a:off x="3035808"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5B7CFF"/>
                </a:solidFill>
                <a:latin typeface="Inter"/>
                <a:ea typeface="Inter"/>
                <a:cs typeface="Inter"/>
              </a:rPr>
              <a:t>MAKE IT REPEATABLE</a:t>
            </a:r>
            <a:endParaRPr sz="910"/>
          </a:p>
        </p:txBody>
      </p:sp>
      <p:sp>
        <p:nvSpPr>
          <p:cNvPr id="20" name="Shape 17">
            <a:extLst xmlns:a="http://schemas.openxmlformats.org/drawingml/2006/main">
              <a:ext uri="{FF2B5EF4-FFF2-40B4-BE49-F238E27FC236}">
                <a16:creationId xmlns:a16="http://schemas.microsoft.com/office/drawing/2014/main" id="{96CF6CE1-5146-48C9-8DF4-69A0FC6D5420}"/>
              </a:ext>
            </a:extLst>
          </p:cNvPr>
          <p:cNvSpPr>
            <a:spLocks xmlns:a="http://schemas.openxmlformats.org/drawingml/2006/main" noGrp="1"/>
          </p:cNvSpPr>
          <p:nvPr/>
        </p:nvSpPr>
        <p:spPr>
          <a:xfrm xmlns:a="http://schemas.openxmlformats.org/drawingml/2006/main">
            <a:off x="4873752" y="5148072"/>
            <a:ext cx="21945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1" name="Shape 18">
            <a:extLst xmlns:a="http://schemas.openxmlformats.org/drawingml/2006/main">
              <a:ext uri="{FF2B5EF4-FFF2-40B4-BE49-F238E27FC236}">
                <a16:creationId xmlns:a16="http://schemas.microsoft.com/office/drawing/2014/main" id="{D2E1BCE6-91DD-4432-8E5E-8186694921BE}"/>
              </a:ext>
            </a:extLst>
          </p:cNvPr>
          <p:cNvSpPr>
            <a:spLocks xmlns:a="http://schemas.openxmlformats.org/drawingml/2006/main" noGrp="1"/>
          </p:cNvSpPr>
          <p:nvPr/>
        </p:nvSpPr>
        <p:spPr>
          <a:xfrm xmlns:a="http://schemas.openxmlformats.org/drawingml/2006/main">
            <a:off x="5175504" y="4956048"/>
            <a:ext cx="1874520" cy="384048"/>
          </a:xfrm>
          <a:prstGeom xmlns:a="http://schemas.openxmlformats.org/drawingml/2006/main" prst="roundRect">
            <a:avLst>
              <a:gd name="adj" fmla="val 19048"/>
            </a:avLst>
          </a:prstGeom>
          <a:solidFill xmlns:a="http://schemas.openxmlformats.org/drawingml/2006/main">
            <a:srgbClr val="F7B955">
              <a:alpha val="16000"/>
            </a:srgbClr>
          </a:solidFill>
          <a:ln xmlns:a="http://schemas.openxmlformats.org/drawingml/2006/main" w="12700">
            <a:solidFill>
              <a:srgbClr val="F7B955">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9">
            <a:extLst xmlns:a="http://schemas.openxmlformats.org/drawingml/2006/main">
              <a:ext uri="{FF2B5EF4-FFF2-40B4-BE49-F238E27FC236}">
                <a16:creationId xmlns:a16="http://schemas.microsoft.com/office/drawing/2014/main" id="{3B017986-BE82-4C79-A666-80EB15B886E6}"/>
              </a:ext>
            </a:extLst>
          </p:cNvPr>
          <p:cNvSpPr>
            <a:spLocks xmlns:a="http://schemas.openxmlformats.org/drawingml/2006/main" noGrp="1"/>
          </p:cNvSpPr>
          <p:nvPr/>
        </p:nvSpPr>
        <p:spPr>
          <a:xfrm xmlns:a="http://schemas.openxmlformats.org/drawingml/2006/main">
            <a:off x="5248656"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F7B955"/>
                </a:solidFill>
                <a:latin typeface="Inter"/>
                <a:ea typeface="Inter"/>
                <a:cs typeface="Inter"/>
              </a:rPr>
              <a:t>MAKE IT GOVERNABLE</a:t>
            </a:r>
            <a:endParaRPr sz="910"/>
          </a:p>
        </p:txBody>
      </p:sp>
      <p:sp>
        <p:nvSpPr>
          <p:cNvPr id="23" name="Shape 20">
            <a:extLst xmlns:a="http://schemas.openxmlformats.org/drawingml/2006/main">
              <a:ext uri="{FF2B5EF4-FFF2-40B4-BE49-F238E27FC236}">
                <a16:creationId xmlns:a16="http://schemas.microsoft.com/office/drawing/2014/main" id="{3C7AE435-5182-48C2-BB02-B1DE05F4C7F9}"/>
              </a:ext>
            </a:extLst>
          </p:cNvPr>
          <p:cNvSpPr>
            <a:spLocks xmlns:a="http://schemas.openxmlformats.org/drawingml/2006/main" noGrp="1"/>
          </p:cNvSpPr>
          <p:nvPr/>
        </p:nvSpPr>
        <p:spPr>
          <a:xfrm xmlns:a="http://schemas.openxmlformats.org/drawingml/2006/main">
            <a:off x="7589520" y="4773168"/>
            <a:ext cx="4005072" cy="1298448"/>
          </a:xfrm>
          <a:prstGeom xmlns:a="http://schemas.openxmlformats.org/drawingml/2006/main" prst="roundRect">
            <a:avLst>
              <a:gd name="adj" fmla="val 5634"/>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62" name="Image 1"/>
          <p:cNvPicPr>
            <a:picLocks xmlns:a="http://schemas.openxmlformats.org/drawingml/2006/main" noChangeAspect="1"/>
          </p:cNvPicPr>
          <p:nvPr/>
        </p:nvPicPr>
        <p:blipFill>
          <a:blip xmlns:r="http://schemas.openxmlformats.org/officeDocument/2006/relationships" xmlns:a="http://schemas.openxmlformats.org/drawingml/2006/main" r:embed="Rb40cc111a00647de"/>
          <a:stretch xmlns:a="http://schemas.openxmlformats.org/drawingml/2006/main">
            <a:fillRect l="0" t="0" r="0" b="0"/>
          </a:stretch>
        </p:blipFill>
        <p:spPr>
          <a:xfrm xmlns:a="http://schemas.openxmlformats.org/drawingml/2006/main">
            <a:off x="7818120" y="4983480"/>
            <a:ext cx="850392" cy="850392"/>
          </a:xfrm>
          <a:prstGeom xmlns:a="http://schemas.openxmlformats.org/drawingml/2006/main" prst="rect">
            <a:avLst/>
          </a:prstGeom>
        </p:spPr>
      </p:pic>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a2003dec8c9b4ebc"/>
          <a:stretch xmlns:a="http://schemas.openxmlformats.org/drawingml/2006/main">
            <a:fillRect l="0" t="0" r="0" b="0"/>
          </a:stretch>
        </p:blipFill>
        <p:spPr>
          <a:xfrm xmlns:a="http://schemas.openxmlformats.org/drawingml/2006/main">
            <a:off x="8924544" y="4983480"/>
            <a:ext cx="850392" cy="850392"/>
          </a:xfrm>
          <a:prstGeom xmlns:a="http://schemas.openxmlformats.org/drawingml/2006/main" prst="rect">
            <a:avLst/>
          </a:prstGeom>
        </p:spPr>
      </p:pic>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4f1b40157c07414b">
            <a:extLst>
              <a:ext uri="{96DAC541-7B7A-43D3-8B79-37D633B846F1}">
                <asvg:svgBlip xmlns:asvg="http://schemas.microsoft.com/office/drawing/2016/SVG/main" r:embed="R0ff1344f3e7548d6"/>
              </a:ext>
            </a:extLst>
          </a:blip>
          <a:stretch xmlns:a="http://schemas.openxmlformats.org/drawingml/2006/main">
            <a:fillRect l="0" t="0" r="0" b="0"/>
          </a:stretch>
        </p:blipFill>
        <p:spPr>
          <a:xfrm xmlns:a="http://schemas.openxmlformats.org/drawingml/2006/main">
            <a:off x="10059543" y="4974336"/>
            <a:ext cx="272034" cy="31089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879678C3-F575-4B92-BC2B-32EC40A212C2}"/>
              </a:ext>
            </a:extLst>
          </p:cNvPr>
          <p:cNvSpPr>
            <a:spLocks xmlns:a="http://schemas.openxmlformats.org/drawingml/2006/main" noGrp="1"/>
          </p:cNvSpPr>
          <p:nvPr/>
        </p:nvSpPr>
        <p:spPr>
          <a:xfrm xmlns:a="http://schemas.openxmlformats.org/drawingml/2006/main">
            <a:off x="10442448" y="4919472"/>
            <a:ext cx="960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50" b="1">
                <a:solidFill>
                  <a:srgbClr val="F7FAFF"/>
                </a:solidFill>
                <a:latin typeface="Inter"/>
                <a:ea typeface="Inter"/>
                <a:cs typeface="Inter"/>
              </a:rPr>
              <a:t>Continue the conversation</a:t>
            </a:r>
            <a:endParaRPr sz="1050"/>
          </a:p>
        </p:txBody>
      </p:sp>
      <p:sp>
        <p:nvSpPr>
          <p:cNvPr id="28" name="Text 22">
            <a:extLst xmlns:a="http://schemas.openxmlformats.org/drawingml/2006/main">
              <a:ext uri="{FF2B5EF4-FFF2-40B4-BE49-F238E27FC236}">
                <a16:creationId xmlns:a16="http://schemas.microsoft.com/office/drawing/2014/main" id="{DC888B53-1DE2-4FD4-9331-C5E44D53DE11}"/>
              </a:ext>
            </a:extLst>
          </p:cNvPr>
          <p:cNvSpPr>
            <a:spLocks xmlns:a="http://schemas.openxmlformats.org/drawingml/2006/main" noGrp="1"/>
          </p:cNvSpPr>
          <p:nvPr/>
        </p:nvSpPr>
        <p:spPr>
          <a:xfrm xmlns:a="http://schemas.openxmlformats.org/drawingml/2006/main">
            <a:off x="7754112" y="5861304"/>
            <a:ext cx="93268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72839A"/>
                </a:solidFill>
                <a:latin typeface="Inter"/>
                <a:ea typeface="Inter"/>
                <a:cs typeface="Inter"/>
              </a:rPr>
              <a:t>Portfolio</a:t>
            </a:r>
            <a:endParaRPr sz="790"/>
          </a:p>
        </p:txBody>
      </p:sp>
      <p:sp>
        <p:nvSpPr>
          <p:cNvPr id="29" name="Text 23">
            <a:extLst xmlns:a="http://schemas.openxmlformats.org/drawingml/2006/main">
              <a:ext uri="{FF2B5EF4-FFF2-40B4-BE49-F238E27FC236}">
                <a16:creationId xmlns:a16="http://schemas.microsoft.com/office/drawing/2014/main" id="{5A69D834-3C83-4DF5-AA52-3BEC13F09B63}"/>
              </a:ext>
            </a:extLst>
          </p:cNvPr>
          <p:cNvSpPr>
            <a:spLocks xmlns:a="http://schemas.openxmlformats.org/drawingml/2006/main" noGrp="1"/>
          </p:cNvSpPr>
          <p:nvPr/>
        </p:nvSpPr>
        <p:spPr>
          <a:xfrm xmlns:a="http://schemas.openxmlformats.org/drawingml/2006/main">
            <a:off x="8887968" y="5861304"/>
            <a:ext cx="93268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72839A"/>
                </a:solidFill>
                <a:latin typeface="Inter"/>
                <a:ea typeface="Inter"/>
                <a:cs typeface="Inter"/>
              </a:rPr>
              <a:t>LinkedIn</a:t>
            </a:r>
            <a:endParaRPr sz="790"/>
          </a:p>
        </p:txBody>
      </p:sp>
      <p:sp>
        <p:nvSpPr>
          <p:cNvPr id="30" name="Text 24">
            <a:extLst xmlns:a="http://schemas.openxmlformats.org/drawingml/2006/main">
              <a:ext uri="{FF2B5EF4-FFF2-40B4-BE49-F238E27FC236}">
                <a16:creationId xmlns:a16="http://schemas.microsoft.com/office/drawing/2014/main" id="{A8B4B342-2034-4BEB-B240-DC46A5E5677F}"/>
              </a:ext>
            </a:extLst>
          </p:cNvPr>
          <p:cNvSpPr>
            <a:spLocks xmlns:a="http://schemas.openxmlformats.org/drawingml/2006/main" noGrp="1"/>
          </p:cNvSpPr>
          <p:nvPr/>
        </p:nvSpPr>
        <p:spPr>
          <a:xfrm xmlns:a="http://schemas.openxmlformats.org/drawingml/2006/main">
            <a:off x="10049256" y="5394960"/>
            <a:ext cx="13075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kolygri.github.io</a:t>
            </a:r>
            <a:endParaRPr sz="920"/>
          </a:p>
        </p:txBody>
      </p:sp>
      <p:sp>
        <p:nvSpPr>
          <p:cNvPr id="31" name="Text 25">
            <a:extLst xmlns:a="http://schemas.openxmlformats.org/drawingml/2006/main">
              <a:ext uri="{FF2B5EF4-FFF2-40B4-BE49-F238E27FC236}">
                <a16:creationId xmlns:a16="http://schemas.microsoft.com/office/drawing/2014/main" id="{81C69067-F024-4A39-AF1C-72BC46E4857C}"/>
              </a:ext>
            </a:extLst>
          </p:cNvPr>
          <p:cNvSpPr>
            <a:spLocks xmlns:a="http://schemas.openxmlformats.org/drawingml/2006/main" noGrp="1"/>
          </p:cNvSpPr>
          <p:nvPr/>
        </p:nvSpPr>
        <p:spPr>
          <a:xfrm xmlns:a="http://schemas.openxmlformats.org/drawingml/2006/main">
            <a:off x="749808" y="5797296"/>
            <a:ext cx="18288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130">
                <a:solidFill>
                  <a:srgbClr val="F7FAFF"/>
                </a:solidFill>
                <a:latin typeface="Inter"/>
                <a:ea typeface="Inter"/>
                <a:cs typeface="Inter"/>
              </a:rPr>
              <a:t>THANK YOU</a:t>
            </a:r>
            <a:endParaRPr sz="1600"/>
          </a:p>
        </p:txBody>
      </p:sp>
      <p:sp>
        <p:nvSpPr>
          <p:cNvPr id="32" name="Shape 26">
            <a:extLst xmlns:a="http://schemas.openxmlformats.org/drawingml/2006/main">
              <a:ext uri="{FF2B5EF4-FFF2-40B4-BE49-F238E27FC236}">
                <a16:creationId xmlns:a16="http://schemas.microsoft.com/office/drawing/2014/main" id="{5D6FF57B-B4E5-476D-BAC2-8DDD0C7A4FB3}"/>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3" name="Text 27">
            <a:extLst xmlns:a="http://schemas.openxmlformats.org/drawingml/2006/main">
              <a:ext uri="{FF2B5EF4-FFF2-40B4-BE49-F238E27FC236}">
                <a16:creationId xmlns:a16="http://schemas.microsoft.com/office/drawing/2014/main" id="{5549CBD0-5A87-471C-AD35-BC25FB901741}"/>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CLOSE</a:t>
            </a:r>
            <a:endParaRPr sz="850"/>
          </a:p>
        </p:txBody>
      </p:sp>
      <p:sp>
        <p:nvSpPr>
          <p:cNvPr id="34" name="Text 28">
            <a:extLst xmlns:a="http://schemas.openxmlformats.org/drawingml/2006/main">
              <a:ext uri="{FF2B5EF4-FFF2-40B4-BE49-F238E27FC236}">
                <a16:creationId xmlns:a16="http://schemas.microsoft.com/office/drawing/2014/main" id="{5B9930BB-3DC6-4804-83D3-532043C8EFD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35" name="Text 29">
            <a:extLst xmlns:a="http://schemas.openxmlformats.org/drawingml/2006/main">
              <a:ext uri="{FF2B5EF4-FFF2-40B4-BE49-F238E27FC236}">
                <a16:creationId xmlns:a16="http://schemas.microsoft.com/office/drawing/2014/main" id="{7B2D3B42-AA43-49E3-AFF0-28176914410F}"/>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12</a:t>
            </a:r>
            <a:endParaRPr sz="850"/>
          </a:p>
        </p:txBody>
      </p:sp>
    </p:spTree>
    <p:extLst>
      <p:ext uri="{BB962C8B-B14F-4D97-AF65-F5344CB8AC3E}">
        <p14:creationId xmlns:p14="http://schemas.microsoft.com/office/powerpoint/2010/main" val="42888720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2026-09-29T17:08:23.4000000Z</dcterms:created>
  <dcterms:modified xsi:type="dcterms:W3CDTF">2026-09-29T17:08:23.4000000Z</dcterms:modified>
</coreProperties>
</file>